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321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Apertura (20 s). Presentamos el seguimiento del Proyecto Barbería Big-Boys en la semana 9 de 14: roadmap, plan semanal, diseño (arquitectura 4+1, modelo de datos y casos de uso), casos de prueba y riesgos.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(50 s) Estamos en la semana 9 de 14, con el 62% del plazo transcurrido. El diseño está terminado y validado. Lo atrasado es el desarrollo: pausamos el código el 06-10 para cerrar la documentación y retomamos el 13-10 con la API y la migración a PostgreSQL, que es la ruta crítica.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 min) Roadmap completo desde la semana 1 (10 de agosto) hasta la defensa en la semana 16. En verde lo realizado: inicio, planificación y diseño. En rojo, la pausa del desarrollo en la semana actual. En azul lo planificado: desarrollo hasta el 30-10, QA y despliegue en noviembre, entrega final el 13-11 y defensa el 27-11.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 min 30 s) Detalle semanal desde la Fase 2. Diseño cerrado en S9 y aprobación en S10. Desarrollo: API y PostgreSQL desde el 13-10, luego Webpay y «Mis datos»; sistema integrado el 30-10. QA: plan y casos de prueba en S11, pruebas funcionales y de seguridad en S12-S13 y UAT en S14. Despliegue: ambiente en S12, producción en S13 y marcha blanca en S14. Cierre: entrega el 13-11 y defensa el 27-11.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 min) Plan semana a semana de lo que resta. Esta semana cerramos la documentación y revocamos la clave de correo que quedó expuesta en el prototipo. La semana 11 es la más cargada: API, pasarela, «Mis datos», casos de prueba y la presentación de avance del 23-10.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 min) La arquitectura se documentó con el modelo 4+1: vista lógica, de procesos, de desarrollo y física, más la vista de escenarios con los casos de uso. Web y app consumen una única API REST con una base relacional PostgreSQL como fuente única de verdad, lo que evita la duplicidad de datos y de agendamiento.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 min) Modelo relacional obligatorio, en PostgreSQL, que reemplaza Firestore. 26 tablas: sucursal, servicio, barbero, cliente, reserva, pago, turno por orden de llegada, atención, y las tablas de privacidad (consentimiento, solicitudes de derechos, auditoría). La base impide la doble reserva, exige que el cajero registre cada atención y que solo el Dueño cree perfiles de colaboradores. No se guardan datos de tarjetas.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 min) De los 41 casos de uso, estos son los principales. El cliente agenda y paga el abono; el administrador de sucursal (cajero/a) registra la llegada, confirma el servicio e inicia y cierra la atención; el barbero solo consulta sus atenciones y ganancias; y solo el Dueño crea los perfiles de los colaboradores.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 min) Casos de prueba trazados a casos de uso y requisitos. Seis ya están aprobados porque las reglas viven en la base de datos: doble reserva, reprogramación, registro por el cajero, alta de colaboradores solo por el Dueño, consulta del barbero y plazo legal. Los funcionales con la pasarela y la seguridad de acceso se ejecutan en S12 y S13.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 min) Matriz 3 por 3 con los riesgos actuales. El más crítico es el atraso de la API y la migración, porque es la ruta crítica. En riesgo alto también están la credencial expuesta en el prototipo y la integración con Webpay. El resto es medio o bajo y está controlado.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(45 s) Cada riesgo tiene una estrategia, una acción concreta, un responsable y una semana. Lo inmediato es revocar la clave expuesta esta misma semana y controlar el avance de la API el 23-10.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(30 s) Cierre: próximos pasos y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69680" y="9939"/>
            <a:ext cx="3322015" cy="6858000"/>
          </a:xfrm>
          <a:prstGeom prst="rect">
            <a:avLst/>
          </a:prstGeom>
          <a:solidFill>
            <a:srgbClr val="1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18320" y="1005840"/>
            <a:ext cx="2194560" cy="2194560"/>
          </a:xfrm>
          <a:prstGeom prst="ellipse">
            <a:avLst/>
          </a:prstGeom>
          <a:noFill/>
          <a:ln w="19050">
            <a:solidFill>
              <a:srgbClr val="234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966960" y="3657600"/>
            <a:ext cx="1371600" cy="1371600"/>
          </a:xfrm>
          <a:prstGeom prst="ellipse">
            <a:avLst/>
          </a:prstGeom>
          <a:noFill/>
          <a:ln w="19050">
            <a:solidFill>
              <a:srgbClr val="234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5120640"/>
            <a:ext cx="731520" cy="731520"/>
          </a:xfrm>
          <a:prstGeom prst="ellipse">
            <a:avLst/>
          </a:prstGeom>
          <a:noFill/>
          <a:ln w="19050">
            <a:solidFill>
              <a:srgbClr val="234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869680" y="0"/>
            <a:ext cx="18288" cy="6858000"/>
          </a:xfrm>
          <a:prstGeom prst="rect">
            <a:avLst/>
          </a:prstGeom>
          <a:solidFill>
            <a:srgbClr val="234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7772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8FB2DE"/>
                </a:solidFill>
                <a:latin typeface="Calibri"/>
              </a:rPr>
              <a:t>SEGUIMIENTO DE PROYECTO ·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8046720" cy="1554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Roadmap y seguimiento</a:t>
            </a:r>
          </a:p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Proyecto Barbería Big-Boys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786384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 i="1">
                <a:solidFill>
                  <a:srgbClr val="C3D3E8"/>
                </a:solidFill>
                <a:latin typeface="Calibri"/>
              </a:rPr>
              <a:t>Sistema de agendamiento y gestión (web + app móvil)</a:t>
            </a:r>
          </a:p>
          <a:p>
            <a:pPr algn="l"/>
            <a:r>
              <a:rPr sz="1500" b="0" i="1">
                <a:solidFill>
                  <a:srgbClr val="C3D3E8"/>
                </a:solidFill>
                <a:latin typeface="Calibri"/>
              </a:rPr>
              <a:t>Estado al 9 de octubre de 2026 · semana actual S9 de S14 (S1 = 10 al 16 de agosto)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572000"/>
            <a:ext cx="2926080" cy="18288"/>
          </a:xfrm>
          <a:prstGeom prst="rect">
            <a:avLst/>
          </a:prstGeom>
          <a:solidFill>
            <a:srgbClr val="8FB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709160"/>
            <a:ext cx="80467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8FB2DE"/>
                </a:solidFill>
                <a:latin typeface="Calibri"/>
              </a:rPr>
              <a:t>Equipo:  </a:t>
            </a:r>
            <a:r>
              <a:rPr sz="1300" b="0" i="0">
                <a:solidFill>
                  <a:srgbClr val="8FB2DE"/>
                </a:solidFill>
                <a:latin typeface="Calibri"/>
              </a:rPr>
              <a:t>Yerko Rosales / Jonathan Ojeda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80467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8FB2DE"/>
                </a:solidFill>
                <a:latin typeface="Calibri"/>
              </a:rPr>
              <a:t>Curso / Sección / Profesor:  </a:t>
            </a:r>
            <a:r>
              <a:rPr sz="1300" b="0" i="0">
                <a:solidFill>
                  <a:srgbClr val="8FB2DE"/>
                </a:solidFill>
                <a:latin typeface="Calibri"/>
              </a:rPr>
              <a:t>Capstone · CAPSTONE_011V / Fernando Herrera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49240"/>
            <a:ext cx="8046720" cy="2369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8FB2DE"/>
                </a:solidFill>
                <a:latin typeface="Calibri"/>
              </a:rPr>
              <a:t>Entrega final:  </a:t>
            </a:r>
            <a:r>
              <a:rPr sz="1300" b="0" i="0" dirty="0">
                <a:solidFill>
                  <a:srgbClr val="8FB2DE"/>
                </a:solidFill>
                <a:latin typeface="Calibri"/>
              </a:rPr>
              <a:t>13 de </a:t>
            </a:r>
            <a:r>
              <a:rPr sz="1300" b="0" i="0" dirty="0" err="1">
                <a:solidFill>
                  <a:srgbClr val="8FB2DE"/>
                </a:solidFill>
                <a:latin typeface="Calibri"/>
              </a:rPr>
              <a:t>noviembre</a:t>
            </a:r>
            <a:r>
              <a:rPr sz="1300" b="0" i="0" dirty="0">
                <a:solidFill>
                  <a:srgbClr val="8FB2DE"/>
                </a:solidFill>
                <a:latin typeface="Calibri"/>
              </a:rPr>
              <a:t> de 2026 (S14)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RESUMEN EJECUTIVO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 i="0">
                <a:solidFill>
                  <a:srgbClr val="1E2430"/>
                </a:solidFill>
                <a:latin typeface="Cambria"/>
              </a:rPr>
              <a:t>Dónde estamos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43584"/>
            <a:ext cx="110642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1">
                <a:solidFill>
                  <a:srgbClr val="5B6472"/>
                </a:solidFill>
                <a:latin typeface="Calibri"/>
              </a:rPr>
              <a:t>Semana actual S9 (05/10 al 11/10-2026) · enfoque Waterfall (cascada) con hitos de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SEGUIMIENTO DE PROYECTO · PROYECTO BARBERÍA BIG-BOYS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262432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10512"/>
            <a:ext cx="2624328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600" b="1" i="0">
                <a:solidFill>
                  <a:srgbClr val="13294B"/>
                </a:solidFill>
                <a:latin typeface="Cambria"/>
              </a:rPr>
              <a:t>S9 de S14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235000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50" b="0" i="0">
                <a:solidFill>
                  <a:srgbClr val="1E2430"/>
                </a:solidFill>
                <a:latin typeface="Calibri"/>
              </a:rPr>
              <a:t>semana actual del proyecto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1691640"/>
            <a:ext cx="262432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55848" y="1810512"/>
            <a:ext cx="2624328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600" b="1" i="0">
                <a:solidFill>
                  <a:srgbClr val="13294B"/>
                </a:solidFill>
                <a:latin typeface="Cambria"/>
              </a:rPr>
              <a:t>62%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377440"/>
            <a:ext cx="235000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50" b="0" i="0">
                <a:solidFill>
                  <a:srgbClr val="1E2430"/>
                </a:solidFill>
                <a:latin typeface="Calibri"/>
              </a:rPr>
              <a:t>del plazo transcurrido (14-08 al 13-11)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5" y="1691640"/>
            <a:ext cx="262432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63055" y="1810512"/>
            <a:ext cx="2624328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600" b="1" i="0">
                <a:solidFill>
                  <a:srgbClr val="13294B"/>
                </a:solidFill>
                <a:latin typeface="Cambria"/>
              </a:rPr>
              <a:t>35 días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2377440"/>
            <a:ext cx="235000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50" b="0" i="0">
                <a:solidFill>
                  <a:srgbClr val="1E2430"/>
                </a:solidFill>
                <a:latin typeface="Calibri"/>
              </a:rPr>
              <a:t>restantes hasta la entrega final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70263" y="1691640"/>
            <a:ext cx="262432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70263" y="1810512"/>
            <a:ext cx="2624328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600" b="1" i="0">
                <a:solidFill>
                  <a:srgbClr val="13294B"/>
                </a:solidFill>
                <a:latin typeface="Cambria"/>
              </a:rPr>
              <a:t>22 / 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7424" y="2377440"/>
            <a:ext cx="2350008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50" b="0" i="0">
                <a:solidFill>
                  <a:srgbClr val="1E2430"/>
                </a:solidFill>
                <a:latin typeface="Calibri"/>
              </a:rPr>
              <a:t>pruebas de base de datos aprobadas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54680"/>
            <a:ext cx="11064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77240" y="3429000"/>
            <a:ext cx="182880" cy="182880"/>
          </a:xfrm>
          <a:prstGeom prst="ellipse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3154680"/>
            <a:ext cx="1828800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50" b="1" i="0">
                <a:solidFill>
                  <a:srgbClr val="1E2430"/>
                </a:solidFill>
                <a:latin typeface="Calibri"/>
              </a:rPr>
              <a:t>Realizado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154680"/>
            <a:ext cx="8595360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0" i="0">
                <a:solidFill>
                  <a:srgbClr val="5B6472"/>
                </a:solidFill>
                <a:latin typeface="Calibri"/>
              </a:rPr>
              <a:t>Fase 1 completa (Acta, ERS, presentación) · planes de gestión · diseño UX/UI · arquitectura 4+1 (35 diagramas) · modelo relacional de 26 tablas con script DDL validado · 41 casos de uso especificados.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977640"/>
            <a:ext cx="11064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77240" y="4251960"/>
            <a:ext cx="182880" cy="182880"/>
          </a:xfrm>
          <a:prstGeom prst="ellipse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3977640"/>
            <a:ext cx="1828800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50" b="1" i="0">
                <a:solidFill>
                  <a:srgbClr val="1E2430"/>
                </a:solidFill>
                <a:latin typeface="Calibri"/>
              </a:rPr>
              <a:t>En progreso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977640"/>
            <a:ext cx="8595360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0" i="0">
                <a:solidFill>
                  <a:srgbClr val="5B6472"/>
                </a:solidFill>
                <a:latin typeface="Calibri"/>
              </a:rPr>
              <a:t>Cumplimiento anticipado de la Ley N° 21.719 (Anexo A) y aprobación del diseño (H3, 16-10) · seguimiento semanal y control de cambios (SC-01 a SC-17).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800600"/>
            <a:ext cx="11064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77240" y="5074920"/>
            <a:ext cx="182880" cy="18288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" y="4800600"/>
            <a:ext cx="1828800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50" b="1" i="0">
                <a:solidFill>
                  <a:srgbClr val="1E2430"/>
                </a:solidFill>
                <a:latin typeface="Calibri"/>
              </a:rPr>
              <a:t>Atrasado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800600"/>
            <a:ext cx="8595360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0" i="0">
                <a:solidFill>
                  <a:srgbClr val="5B6472"/>
                </a:solidFill>
                <a:latin typeface="Calibri"/>
              </a:rPr>
              <a:t>Desarrollo en pausa (stand by) desde el 06-10 para cerrar la documentación: la API y la migración de Firestore a PostgreSQL se reprograman al 13-10 (SC-08). Es la ruta crítica.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77240" y="5897880"/>
            <a:ext cx="182880" cy="182880"/>
          </a:xfrm>
          <a:prstGeom prst="ellipse">
            <a:avLst/>
          </a:prstGeom>
          <a:solidFill>
            <a:srgbClr val="1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97280" y="5623560"/>
            <a:ext cx="1828800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50" b="1" i="0">
                <a:solidFill>
                  <a:srgbClr val="1E2430"/>
                </a:solidFill>
                <a:latin typeface="Calibri"/>
              </a:rPr>
              <a:t>Planificado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623560"/>
            <a:ext cx="8595360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0" i="0">
                <a:solidFill>
                  <a:srgbClr val="5B6472"/>
                </a:solidFill>
                <a:latin typeface="Calibri"/>
              </a:rPr>
              <a:t>API e integración (S10–S12) · pruebas y QA (S11–S14) · despliegue y marcha blanca (S12–S14) · entrega final 13-11 y defensa 27-11.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ROADMAP · PROYECTO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 i="0">
                <a:solidFill>
                  <a:srgbClr val="1E2430"/>
                </a:solidFill>
                <a:latin typeface="Cambria"/>
              </a:rPr>
              <a:t>Roadmap S1 a S16: inicio del proyecto hasta el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43584"/>
            <a:ext cx="110642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1">
                <a:solidFill>
                  <a:srgbClr val="5B6472"/>
                </a:solidFill>
                <a:latin typeface="Calibri"/>
              </a:rPr>
              <a:t>Columnas: meses separados por semana (S1 = 10 al 16 de agosto). Filas: fases Waterfall (Project Management Institute [PMI], 2021). La columna roja es la semana actual.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SEGUIMIENTO DE PROYECTO · PROYECTO BARBERÍA BIG-BOYS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7146036" y="1691640"/>
            <a:ext cx="561784" cy="4791456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60903" y="1691640"/>
            <a:ext cx="1667065" cy="25603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Agosto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6257" y="1691640"/>
            <a:ext cx="2228850" cy="25603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Septiembre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93395" y="1691640"/>
            <a:ext cx="2790634" cy="25603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Octubre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02318" y="1691640"/>
            <a:ext cx="2228850" cy="25603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Noviembre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60903" y="1965960"/>
            <a:ext cx="543496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650" b="1" i="0">
                <a:solidFill>
                  <a:srgbClr val="13294B"/>
                </a:solidFill>
                <a:latin typeface="Calibri"/>
              </a:rPr>
              <a:t>S1</a:t>
            </a:r>
          </a:p>
          <a:p>
            <a:pPr algn="ctr"/>
            <a:r>
              <a:rPr sz="650" b="0" i="0">
                <a:solidFill>
                  <a:srgbClr val="13294B"/>
                </a:solidFill>
                <a:latin typeface="Calibri"/>
              </a:rPr>
              <a:t>10/08–16/08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22688" y="1965960"/>
            <a:ext cx="543496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650" b="1" i="0">
                <a:solidFill>
                  <a:srgbClr val="13294B"/>
                </a:solidFill>
                <a:latin typeface="Calibri"/>
              </a:rPr>
              <a:t>S2</a:t>
            </a:r>
          </a:p>
          <a:p>
            <a:pPr algn="ctr"/>
            <a:r>
              <a:rPr sz="650" b="0" i="0">
                <a:solidFill>
                  <a:srgbClr val="13294B"/>
                </a:solidFill>
                <a:latin typeface="Calibri"/>
              </a:rPr>
              <a:t>17/08–23/08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84473" y="1965960"/>
            <a:ext cx="543496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650" b="1" i="0">
                <a:solidFill>
                  <a:srgbClr val="13294B"/>
                </a:solidFill>
                <a:latin typeface="Calibri"/>
              </a:rPr>
              <a:t>S3</a:t>
            </a:r>
          </a:p>
          <a:p>
            <a:pPr algn="ctr"/>
            <a:r>
              <a:rPr sz="650" b="0" i="0">
                <a:solidFill>
                  <a:srgbClr val="13294B"/>
                </a:solidFill>
                <a:latin typeface="Calibri"/>
              </a:rPr>
              <a:t>24/08–30/08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257" y="1965960"/>
            <a:ext cx="543496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650" b="1" i="0">
                <a:solidFill>
                  <a:srgbClr val="13294B"/>
                </a:solidFill>
                <a:latin typeface="Calibri"/>
              </a:rPr>
              <a:t>S4</a:t>
            </a:r>
          </a:p>
          <a:p>
            <a:pPr algn="ctr"/>
            <a:r>
              <a:rPr sz="650" b="0" i="0">
                <a:solidFill>
                  <a:srgbClr val="13294B"/>
                </a:solidFill>
                <a:latin typeface="Calibri"/>
              </a:rPr>
              <a:t>31/08–06/09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08042" y="1965960"/>
            <a:ext cx="543496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650" b="1" i="0">
                <a:solidFill>
                  <a:srgbClr val="13294B"/>
                </a:solidFill>
                <a:latin typeface="Calibri"/>
              </a:rPr>
              <a:t>S5</a:t>
            </a:r>
          </a:p>
          <a:p>
            <a:pPr algn="ctr"/>
            <a:r>
              <a:rPr sz="650" b="0" i="0">
                <a:solidFill>
                  <a:srgbClr val="13294B"/>
                </a:solidFill>
                <a:latin typeface="Calibri"/>
              </a:rPr>
              <a:t>07/09–13/09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69826" y="1965960"/>
            <a:ext cx="543496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650" b="1" i="0">
                <a:solidFill>
                  <a:srgbClr val="13294B"/>
                </a:solidFill>
                <a:latin typeface="Calibri"/>
              </a:rPr>
              <a:t>S6</a:t>
            </a:r>
          </a:p>
          <a:p>
            <a:pPr algn="ctr"/>
            <a:r>
              <a:rPr sz="650" b="0" i="0">
                <a:solidFill>
                  <a:srgbClr val="13294B"/>
                </a:solidFill>
                <a:latin typeface="Calibri"/>
              </a:rPr>
              <a:t>14/09–20/09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1611" y="1965960"/>
            <a:ext cx="543496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650" b="1" i="0">
                <a:solidFill>
                  <a:srgbClr val="13294B"/>
                </a:solidFill>
                <a:latin typeface="Calibri"/>
              </a:rPr>
              <a:t>S7</a:t>
            </a:r>
          </a:p>
          <a:p>
            <a:pPr algn="ctr"/>
            <a:r>
              <a:rPr sz="650" b="0" i="0">
                <a:solidFill>
                  <a:srgbClr val="13294B"/>
                </a:solidFill>
                <a:latin typeface="Calibri"/>
              </a:rPr>
              <a:t>21/09–27/09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93395" y="1965960"/>
            <a:ext cx="543496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650" b="1" i="0">
                <a:solidFill>
                  <a:srgbClr val="13294B"/>
                </a:solidFill>
                <a:latin typeface="Calibri"/>
              </a:rPr>
              <a:t>S8</a:t>
            </a:r>
          </a:p>
          <a:p>
            <a:pPr algn="ctr"/>
            <a:r>
              <a:rPr sz="650" b="0" i="0">
                <a:solidFill>
                  <a:srgbClr val="13294B"/>
                </a:solidFill>
                <a:latin typeface="Calibri"/>
              </a:rPr>
              <a:t>28/09–04/10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55180" y="1965960"/>
            <a:ext cx="543496" cy="2743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S9 HOY</a:t>
            </a:r>
          </a:p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05/10–11/10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16964" y="1965960"/>
            <a:ext cx="543496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650" b="1" i="0">
                <a:solidFill>
                  <a:srgbClr val="13294B"/>
                </a:solidFill>
                <a:latin typeface="Calibri"/>
              </a:rPr>
              <a:t>S10</a:t>
            </a:r>
          </a:p>
          <a:p>
            <a:pPr algn="ctr"/>
            <a:r>
              <a:rPr sz="650" b="0" i="0">
                <a:solidFill>
                  <a:srgbClr val="13294B"/>
                </a:solidFill>
                <a:latin typeface="Calibri"/>
              </a:rPr>
              <a:t>12/10–18/10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8749" y="1965960"/>
            <a:ext cx="543496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650" b="1" i="0">
                <a:solidFill>
                  <a:srgbClr val="13294B"/>
                </a:solidFill>
                <a:latin typeface="Calibri"/>
              </a:rPr>
              <a:t>S11</a:t>
            </a:r>
          </a:p>
          <a:p>
            <a:pPr algn="ctr"/>
            <a:r>
              <a:rPr sz="650" b="0" i="0">
                <a:solidFill>
                  <a:srgbClr val="13294B"/>
                </a:solidFill>
                <a:latin typeface="Calibri"/>
              </a:rPr>
              <a:t>19/10–25/10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40533" y="1965960"/>
            <a:ext cx="543496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650" b="1" i="0">
                <a:solidFill>
                  <a:srgbClr val="13294B"/>
                </a:solidFill>
                <a:latin typeface="Calibri"/>
              </a:rPr>
              <a:t>S12</a:t>
            </a:r>
          </a:p>
          <a:p>
            <a:pPr algn="ctr"/>
            <a:r>
              <a:rPr sz="650" b="0" i="0">
                <a:solidFill>
                  <a:srgbClr val="13294B"/>
                </a:solidFill>
                <a:latin typeface="Calibri"/>
              </a:rPr>
              <a:t>26/10–01/11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02318" y="1965960"/>
            <a:ext cx="543496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650" b="1" i="0">
                <a:solidFill>
                  <a:srgbClr val="13294B"/>
                </a:solidFill>
                <a:latin typeface="Calibri"/>
              </a:rPr>
              <a:t>S13</a:t>
            </a:r>
          </a:p>
          <a:p>
            <a:pPr algn="ctr"/>
            <a:r>
              <a:rPr sz="650" b="0" i="0">
                <a:solidFill>
                  <a:srgbClr val="13294B"/>
                </a:solidFill>
                <a:latin typeface="Calibri"/>
              </a:rPr>
              <a:t>02/11–08/11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4102" y="1965960"/>
            <a:ext cx="543496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650" b="1" i="0">
                <a:solidFill>
                  <a:srgbClr val="13294B"/>
                </a:solidFill>
                <a:latin typeface="Calibri"/>
              </a:rPr>
              <a:t>S14</a:t>
            </a:r>
          </a:p>
          <a:p>
            <a:pPr algn="ctr"/>
            <a:r>
              <a:rPr sz="650" b="0" i="0">
                <a:solidFill>
                  <a:srgbClr val="13294B"/>
                </a:solidFill>
                <a:latin typeface="Calibri"/>
              </a:rPr>
              <a:t>09/11–15/11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25887" y="1965960"/>
            <a:ext cx="543496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650" b="1" i="0">
                <a:solidFill>
                  <a:srgbClr val="13294B"/>
                </a:solidFill>
                <a:latin typeface="Calibri"/>
              </a:rPr>
              <a:t>S15</a:t>
            </a:r>
          </a:p>
          <a:p>
            <a:pPr algn="ctr"/>
            <a:r>
              <a:rPr sz="650" b="0" i="0">
                <a:solidFill>
                  <a:srgbClr val="13294B"/>
                </a:solidFill>
                <a:latin typeface="Calibri"/>
              </a:rPr>
              <a:t>16/11–22/11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87671" y="1965960"/>
            <a:ext cx="543496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650" b="1" i="0">
                <a:solidFill>
                  <a:srgbClr val="13294B"/>
                </a:solidFill>
                <a:latin typeface="Calibri"/>
              </a:rPr>
              <a:t>S16</a:t>
            </a:r>
          </a:p>
          <a:p>
            <a:pPr algn="ctr"/>
            <a:r>
              <a:rPr sz="650" b="0" i="0">
                <a:solidFill>
                  <a:srgbClr val="13294B"/>
                </a:solidFill>
                <a:latin typeface="Calibri"/>
              </a:rPr>
              <a:t>23/11–29/11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1691640"/>
            <a:ext cx="2057400" cy="548640"/>
          </a:xfrm>
          <a:prstGeom prst="rect">
            <a:avLst/>
          </a:prstGeom>
          <a:solidFill>
            <a:srgbClr val="1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1691640"/>
            <a:ext cx="2011679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FASE / SEMANA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276856"/>
            <a:ext cx="2057400" cy="512063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3503" y="2276856"/>
            <a:ext cx="1965960" cy="51206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E2430"/>
                </a:solidFill>
                <a:latin typeface="Calibri"/>
              </a:rPr>
              <a:t>Inicio y planificación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0903" y="22768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22688" y="22768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784473" y="22768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46257" y="22768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908042" y="22768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469826" y="22768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31611" y="22768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93395" y="22768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155180" y="22768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16964" y="22768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278749" y="22768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840533" y="22768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402318" y="22768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964102" y="22768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525887" y="22768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1087671" y="22768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48640" y="2825496"/>
            <a:ext cx="2057400" cy="512063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03503" y="2825496"/>
            <a:ext cx="1965960" cy="51206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E2430"/>
                </a:solidFill>
                <a:latin typeface="Calibri"/>
              </a:rPr>
              <a:t>a) Diseño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60903" y="28254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222688" y="28254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784473" y="28254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346257" y="28254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908042" y="28254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469826" y="28254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031611" y="28254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593395" y="28254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155180" y="28254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716964" y="28254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278749" y="28254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840533" y="28254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402318" y="28254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964102" y="28254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0525887" y="28254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1087671" y="28254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48640" y="3374136"/>
            <a:ext cx="2057400" cy="512063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03503" y="3374136"/>
            <a:ext cx="1965960" cy="51206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E2430"/>
                </a:solidFill>
                <a:latin typeface="Calibri"/>
              </a:rPr>
              <a:t>b) Desarrollo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60903" y="337413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3222688" y="337413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3784473" y="337413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346257" y="337413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4908042" y="337413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469826" y="337413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031611" y="337413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593395" y="337413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7155180" y="337413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7716964" y="337413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278749" y="337413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8840533" y="337413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402318" y="337413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964102" y="337413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525887" y="337413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1087671" y="337413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548640" y="3922775"/>
            <a:ext cx="2057400" cy="512063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03503" y="3922775"/>
            <a:ext cx="1965960" cy="51206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E2430"/>
                </a:solidFill>
                <a:latin typeface="Calibri"/>
              </a:rPr>
              <a:t>c) Pruebas / QA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660903" y="3922775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222688" y="3922775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3784473" y="3922775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4346257" y="3922775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908042" y="3922775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469826" y="3922775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6031611" y="3922775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6593395" y="3922775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7155180" y="3922775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7716964" y="3922775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8278749" y="3922775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8840533" y="3922775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9402318" y="3922775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9964102" y="3922775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0525887" y="3922775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11087671" y="3922775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48640" y="4471416"/>
            <a:ext cx="2057400" cy="512063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03503" y="4471416"/>
            <a:ext cx="1965960" cy="51206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E2430"/>
                </a:solidFill>
                <a:latin typeface="Calibri"/>
              </a:rPr>
              <a:t>d) Despliegue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660903" y="447141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3222688" y="447141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3784473" y="447141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4346257" y="447141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4908042" y="447141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5469826" y="447141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6031611" y="447141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6593395" y="447141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7155180" y="447141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7716964" y="447141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8278749" y="447141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8840533" y="447141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9402318" y="447141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9964102" y="447141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10525887" y="447141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11087671" y="447141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548640" y="5020056"/>
            <a:ext cx="2057400" cy="512063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03503" y="5020056"/>
            <a:ext cx="1965960" cy="51206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E2430"/>
                </a:solidFill>
                <a:latin typeface="Calibri"/>
              </a:rPr>
              <a:t>e) Presentación final (cierre)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660903" y="50200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222688" y="50200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784473" y="50200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4346257" y="50200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4908042" y="50200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5469826" y="50200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6031611" y="50200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6593395" y="50200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7155180" y="50200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7716964" y="50200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8278749" y="50200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8840533" y="50200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9402318" y="50200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9964102" y="50200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10525887" y="50200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11087671" y="502005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548640" y="5568696"/>
            <a:ext cx="2057400" cy="512063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603503" y="5568696"/>
            <a:ext cx="1965960" cy="51206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E2430"/>
                </a:solidFill>
                <a:latin typeface="Calibri"/>
              </a:rPr>
              <a:t>Hitos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660903" y="55686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3222688" y="55686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3784473" y="55686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4346257" y="55686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4908042" y="55686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5469826" y="55686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6031611" y="55686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6593395" y="55686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7155180" y="55686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7716964" y="55686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8278749" y="55686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8840533" y="55686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9402318" y="55686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9964102" y="55686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10525887" y="55686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11087671" y="5568696"/>
            <a:ext cx="543496" cy="51206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2688336" y="2350008"/>
            <a:ext cx="2173986" cy="36576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Kick-off, Acta, RACI, ERS · presentación F1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935474" y="2350008"/>
            <a:ext cx="2735770" cy="36576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EDT, cronograma, planes, costos y KPIs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744396" y="2350008"/>
            <a:ext cx="3859339" cy="365760"/>
          </a:xfrm>
          <a:prstGeom prst="rect">
            <a:avLst/>
          </a:prstGeom>
          <a:solidFill>
            <a:srgbClr val="1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Seguimiento semanal y control de cambios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373689" y="2898648"/>
            <a:ext cx="3297555" cy="36576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UX/UI, arquitectura 4+1, modelo de datos, casos de uso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7744396" y="2898648"/>
            <a:ext cx="488632" cy="365760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Ley 21.719 · H3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497258" y="3447288"/>
            <a:ext cx="1612201" cy="36576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Prototipos web y app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182612" y="3447288"/>
            <a:ext cx="488632" cy="36576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Stand by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744396" y="3447288"/>
            <a:ext cx="1612201" cy="365760"/>
          </a:xfrm>
          <a:prstGeom prst="rect">
            <a:avLst/>
          </a:prstGeom>
          <a:solidFill>
            <a:srgbClr val="1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API, PostgreSQL, Webpay, «Mis datos»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182612" y="3995927"/>
            <a:ext cx="488632" cy="36576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BD 22/22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8306181" y="3995927"/>
            <a:ext cx="488632" cy="365760"/>
          </a:xfrm>
          <a:prstGeom prst="rect">
            <a:avLst/>
          </a:prstGeom>
          <a:solidFill>
            <a:srgbClr val="1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Plan y CP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8867965" y="3995927"/>
            <a:ext cx="1612201" cy="365760"/>
          </a:xfrm>
          <a:prstGeom prst="rect">
            <a:avLst/>
          </a:prstGeom>
          <a:solidFill>
            <a:srgbClr val="1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Funcionales, integración, seguridad, UAT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867965" y="4544568"/>
            <a:ext cx="488632" cy="365760"/>
          </a:xfrm>
          <a:prstGeom prst="rect">
            <a:avLst/>
          </a:prstGeom>
          <a:solidFill>
            <a:srgbClr val="1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Ambiente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429750" y="4544568"/>
            <a:ext cx="1050417" cy="365760"/>
          </a:xfrm>
          <a:prstGeom prst="rect">
            <a:avLst/>
          </a:prstGeom>
          <a:solidFill>
            <a:srgbClr val="1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Producción y marcha blanca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429750" y="5093208"/>
            <a:ext cx="1050417" cy="365760"/>
          </a:xfrm>
          <a:prstGeom prst="rect">
            <a:avLst/>
          </a:prstGeom>
          <a:solidFill>
            <a:srgbClr val="1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Informe final y entrega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553319" y="5093208"/>
            <a:ext cx="1050417" cy="365760"/>
          </a:xfrm>
          <a:prstGeom prst="rect">
            <a:avLst/>
          </a:prstGeom>
          <a:solidFill>
            <a:srgbClr val="1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Defensa</a:t>
            </a:r>
          </a:p>
        </p:txBody>
      </p:sp>
      <p:sp>
        <p:nvSpPr>
          <p:cNvPr id="171" name="Diamond 170"/>
          <p:cNvSpPr/>
          <p:nvPr/>
        </p:nvSpPr>
        <p:spPr>
          <a:xfrm>
            <a:off x="4508277" y="5623560"/>
            <a:ext cx="219456" cy="219456"/>
          </a:xfrm>
          <a:prstGeom prst="diamond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4245673" y="5843016"/>
            <a:ext cx="74466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1" i="0">
                <a:solidFill>
                  <a:srgbClr val="13294B"/>
                </a:solidFill>
                <a:latin typeface="Calibri"/>
              </a:rPr>
              <a:t>H1</a:t>
            </a:r>
          </a:p>
        </p:txBody>
      </p:sp>
      <p:sp>
        <p:nvSpPr>
          <p:cNvPr id="173" name="Diamond 172"/>
          <p:cNvSpPr/>
          <p:nvPr/>
        </p:nvSpPr>
        <p:spPr>
          <a:xfrm>
            <a:off x="5070062" y="5623560"/>
            <a:ext cx="219456" cy="219456"/>
          </a:xfrm>
          <a:prstGeom prst="diamond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4807458" y="5843016"/>
            <a:ext cx="74466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1" i="0">
                <a:solidFill>
                  <a:srgbClr val="13294B"/>
                </a:solidFill>
                <a:latin typeface="Calibri"/>
              </a:rPr>
              <a:t>H2</a:t>
            </a:r>
          </a:p>
        </p:txBody>
      </p:sp>
      <p:sp>
        <p:nvSpPr>
          <p:cNvPr id="175" name="Diamond 174"/>
          <p:cNvSpPr/>
          <p:nvPr/>
        </p:nvSpPr>
        <p:spPr>
          <a:xfrm>
            <a:off x="7878984" y="5623560"/>
            <a:ext cx="219456" cy="219456"/>
          </a:xfrm>
          <a:prstGeom prst="diamond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7616380" y="5843016"/>
            <a:ext cx="74466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1" i="0">
                <a:solidFill>
                  <a:srgbClr val="13294B"/>
                </a:solidFill>
                <a:latin typeface="Calibri"/>
              </a:rPr>
              <a:t>H3·H4</a:t>
            </a:r>
          </a:p>
        </p:txBody>
      </p:sp>
      <p:sp>
        <p:nvSpPr>
          <p:cNvPr id="177" name="Diamond 176"/>
          <p:cNvSpPr/>
          <p:nvPr/>
        </p:nvSpPr>
        <p:spPr>
          <a:xfrm>
            <a:off x="8440769" y="5623560"/>
            <a:ext cx="219456" cy="219456"/>
          </a:xfrm>
          <a:prstGeom prst="diamond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8178165" y="5843016"/>
            <a:ext cx="74466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1" i="0">
                <a:solidFill>
                  <a:srgbClr val="13294B"/>
                </a:solidFill>
                <a:latin typeface="Calibri"/>
              </a:rPr>
              <a:t>H5</a:t>
            </a:r>
          </a:p>
        </p:txBody>
      </p:sp>
      <p:sp>
        <p:nvSpPr>
          <p:cNvPr id="179" name="Diamond 178"/>
          <p:cNvSpPr/>
          <p:nvPr/>
        </p:nvSpPr>
        <p:spPr>
          <a:xfrm>
            <a:off x="9002553" y="5623560"/>
            <a:ext cx="219456" cy="219456"/>
          </a:xfrm>
          <a:prstGeom prst="diamond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8739949" y="5843016"/>
            <a:ext cx="74466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1" i="0">
                <a:solidFill>
                  <a:srgbClr val="13294B"/>
                </a:solidFill>
                <a:latin typeface="Calibri"/>
              </a:rPr>
              <a:t>H6</a:t>
            </a:r>
          </a:p>
        </p:txBody>
      </p:sp>
      <p:sp>
        <p:nvSpPr>
          <p:cNvPr id="181" name="Diamond 180"/>
          <p:cNvSpPr/>
          <p:nvPr/>
        </p:nvSpPr>
        <p:spPr>
          <a:xfrm>
            <a:off x="10126122" y="5623560"/>
            <a:ext cx="219456" cy="219456"/>
          </a:xfrm>
          <a:prstGeom prst="diamond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863518" y="5843016"/>
            <a:ext cx="74466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1" i="0">
                <a:solidFill>
                  <a:srgbClr val="13294B"/>
                </a:solidFill>
                <a:latin typeface="Calibri"/>
              </a:rPr>
              <a:t>H7·H8</a:t>
            </a:r>
          </a:p>
        </p:txBody>
      </p:sp>
      <p:sp>
        <p:nvSpPr>
          <p:cNvPr id="183" name="Diamond 182"/>
          <p:cNvSpPr/>
          <p:nvPr/>
        </p:nvSpPr>
        <p:spPr>
          <a:xfrm>
            <a:off x="11249691" y="5623560"/>
            <a:ext cx="219456" cy="219456"/>
          </a:xfrm>
          <a:prstGeom prst="diamond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10987087" y="5843016"/>
            <a:ext cx="744664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1" i="0">
                <a:solidFill>
                  <a:srgbClr val="13294B"/>
                </a:solidFill>
                <a:latin typeface="Calibri"/>
              </a:rPr>
              <a:t>H9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548640" y="6190488"/>
            <a:ext cx="228600" cy="201168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822959" y="6144768"/>
            <a:ext cx="1554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E2430"/>
                </a:solidFill>
                <a:latin typeface="Calibri"/>
              </a:rPr>
              <a:t>Realizado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2377440" y="6190488"/>
            <a:ext cx="228600" cy="201168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2651760" y="6144768"/>
            <a:ext cx="1554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E2430"/>
                </a:solidFill>
                <a:latin typeface="Calibri"/>
              </a:rPr>
              <a:t>En progreso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4206240" y="6190488"/>
            <a:ext cx="228600" cy="201168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4480559" y="6144768"/>
            <a:ext cx="1554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E2430"/>
                </a:solidFill>
                <a:latin typeface="Calibri"/>
              </a:rPr>
              <a:t>Atrasado / en pausa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035040" y="6190488"/>
            <a:ext cx="228600" cy="201168"/>
          </a:xfrm>
          <a:prstGeom prst="rect">
            <a:avLst/>
          </a:prstGeom>
          <a:solidFill>
            <a:srgbClr val="1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6309359" y="6144768"/>
            <a:ext cx="1554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E2430"/>
                </a:solidFill>
                <a:latin typeface="Calibri"/>
              </a:rPr>
              <a:t>Planificado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955279" y="6108192"/>
            <a:ext cx="3749039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 i="0">
                <a:solidFill>
                  <a:srgbClr val="5B6472"/>
                </a:solidFill>
                <a:latin typeface="Calibri"/>
              </a:rPr>
              <a:t>H1 Cierre F1 · H2 Avance F2 · H3 Diseño aprobado · H4 Cierre F2 · H5 Avance 23-10 · H6 Sistema integrado · H7 UAT · H8 Entrega final · H9 Defensa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ROADMAP · DESDE LA FASE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 i="0">
                <a:solidFill>
                  <a:srgbClr val="1E2430"/>
                </a:solidFill>
                <a:latin typeface="Cambria"/>
              </a:rPr>
              <a:t>Roadmap S5 a S16: qué hacemos cada semana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43584"/>
            <a:ext cx="110642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1">
                <a:solidFill>
                  <a:srgbClr val="5B6472"/>
                </a:solidFill>
                <a:latin typeface="Calibri"/>
              </a:rPr>
              <a:t>Desde el inicio de la Fase 2 (07-09-2026) hasta el cierre. Cada celda indica la actividad de la semana; el color, su estado.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SEGUIMIENTO DE PROYECTO · PROYECTO BARBERÍA BIG-BOYS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373624" y="1600200"/>
            <a:ext cx="783336" cy="4407407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49424" y="1600200"/>
            <a:ext cx="2331720" cy="25603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Septiembre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99432" y="1600200"/>
            <a:ext cx="3898392" cy="25603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Octubre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16112" y="1600200"/>
            <a:ext cx="3115056" cy="25603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Noviembre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9424" y="1874519"/>
            <a:ext cx="765048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700" b="1" i="0">
                <a:solidFill>
                  <a:srgbClr val="13294B"/>
                </a:solidFill>
                <a:latin typeface="Calibri"/>
              </a:rPr>
              <a:t>S5</a:t>
            </a:r>
          </a:p>
          <a:p>
            <a:pPr algn="ctr"/>
            <a:r>
              <a:rPr sz="700" b="0" i="0">
                <a:solidFill>
                  <a:srgbClr val="13294B"/>
                </a:solidFill>
                <a:latin typeface="Calibri"/>
              </a:rPr>
              <a:t>07/09–13/09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32760" y="1874519"/>
            <a:ext cx="765048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700" b="1" i="0">
                <a:solidFill>
                  <a:srgbClr val="13294B"/>
                </a:solidFill>
                <a:latin typeface="Calibri"/>
              </a:rPr>
              <a:t>S6</a:t>
            </a:r>
          </a:p>
          <a:p>
            <a:pPr algn="ctr"/>
            <a:r>
              <a:rPr sz="700" b="0" i="0">
                <a:solidFill>
                  <a:srgbClr val="13294B"/>
                </a:solidFill>
                <a:latin typeface="Calibri"/>
              </a:rPr>
              <a:t>14/09–20/09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16096" y="1874519"/>
            <a:ext cx="765048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700" b="1" i="0">
                <a:solidFill>
                  <a:srgbClr val="13294B"/>
                </a:solidFill>
                <a:latin typeface="Calibri"/>
              </a:rPr>
              <a:t>S7</a:t>
            </a:r>
          </a:p>
          <a:p>
            <a:pPr algn="ctr"/>
            <a:r>
              <a:rPr sz="700" b="0" i="0">
                <a:solidFill>
                  <a:srgbClr val="13294B"/>
                </a:solidFill>
                <a:latin typeface="Calibri"/>
              </a:rPr>
              <a:t>21/09–27/09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99432" y="1874519"/>
            <a:ext cx="765048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700" b="1" i="0">
                <a:solidFill>
                  <a:srgbClr val="13294B"/>
                </a:solidFill>
                <a:latin typeface="Calibri"/>
              </a:rPr>
              <a:t>S8</a:t>
            </a:r>
          </a:p>
          <a:p>
            <a:pPr algn="ctr"/>
            <a:r>
              <a:rPr sz="700" b="0" i="0">
                <a:solidFill>
                  <a:srgbClr val="13294B"/>
                </a:solidFill>
                <a:latin typeface="Calibri"/>
              </a:rPr>
              <a:t>28/09–04/10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82768" y="1874519"/>
            <a:ext cx="765048" cy="2743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S9 HOY</a:t>
            </a:r>
          </a:p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05/10–11/10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6104" y="1874519"/>
            <a:ext cx="765048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700" b="1" i="0">
                <a:solidFill>
                  <a:srgbClr val="13294B"/>
                </a:solidFill>
                <a:latin typeface="Calibri"/>
              </a:rPr>
              <a:t>S10</a:t>
            </a:r>
          </a:p>
          <a:p>
            <a:pPr algn="ctr"/>
            <a:r>
              <a:rPr sz="700" b="0" i="0">
                <a:solidFill>
                  <a:srgbClr val="13294B"/>
                </a:solidFill>
                <a:latin typeface="Calibri"/>
              </a:rPr>
              <a:t>12/10–18/10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874519"/>
            <a:ext cx="765048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700" b="1" i="0">
                <a:solidFill>
                  <a:srgbClr val="13294B"/>
                </a:solidFill>
                <a:latin typeface="Calibri"/>
              </a:rPr>
              <a:t>S11</a:t>
            </a:r>
          </a:p>
          <a:p>
            <a:pPr algn="ctr"/>
            <a:r>
              <a:rPr sz="700" b="0" i="0">
                <a:solidFill>
                  <a:srgbClr val="13294B"/>
                </a:solidFill>
                <a:latin typeface="Calibri"/>
              </a:rPr>
              <a:t>19/10–25/10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32776" y="1874519"/>
            <a:ext cx="765048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700" b="1" i="0">
                <a:solidFill>
                  <a:srgbClr val="13294B"/>
                </a:solidFill>
                <a:latin typeface="Calibri"/>
              </a:rPr>
              <a:t>S12</a:t>
            </a:r>
          </a:p>
          <a:p>
            <a:pPr algn="ctr"/>
            <a:r>
              <a:rPr sz="700" b="0" i="0">
                <a:solidFill>
                  <a:srgbClr val="13294B"/>
                </a:solidFill>
                <a:latin typeface="Calibri"/>
              </a:rPr>
              <a:t>26/10–01/11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16112" y="1874519"/>
            <a:ext cx="765048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700" b="1" i="0">
                <a:solidFill>
                  <a:srgbClr val="13294B"/>
                </a:solidFill>
                <a:latin typeface="Calibri"/>
              </a:rPr>
              <a:t>S13</a:t>
            </a:r>
          </a:p>
          <a:p>
            <a:pPr algn="ctr"/>
            <a:r>
              <a:rPr sz="700" b="0" i="0">
                <a:solidFill>
                  <a:srgbClr val="13294B"/>
                </a:solidFill>
                <a:latin typeface="Calibri"/>
              </a:rPr>
              <a:t>02/11–08/11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99448" y="1874519"/>
            <a:ext cx="765048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700" b="1" i="0">
                <a:solidFill>
                  <a:srgbClr val="13294B"/>
                </a:solidFill>
                <a:latin typeface="Calibri"/>
              </a:rPr>
              <a:t>S14</a:t>
            </a:r>
          </a:p>
          <a:p>
            <a:pPr algn="ctr"/>
            <a:r>
              <a:rPr sz="700" b="0" i="0">
                <a:solidFill>
                  <a:srgbClr val="13294B"/>
                </a:solidFill>
                <a:latin typeface="Calibri"/>
              </a:rPr>
              <a:t>09/11–15/11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82784" y="1874519"/>
            <a:ext cx="765048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700" b="1" i="0">
                <a:solidFill>
                  <a:srgbClr val="13294B"/>
                </a:solidFill>
                <a:latin typeface="Calibri"/>
              </a:rPr>
              <a:t>S15</a:t>
            </a:r>
          </a:p>
          <a:p>
            <a:pPr algn="ctr"/>
            <a:r>
              <a:rPr sz="700" b="0" i="0">
                <a:solidFill>
                  <a:srgbClr val="13294B"/>
                </a:solidFill>
                <a:latin typeface="Calibri"/>
              </a:rPr>
              <a:t>16/11–22/11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66120" y="1874519"/>
            <a:ext cx="765048" cy="274320"/>
          </a:xfrm>
          <a:prstGeom prst="rect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18288" rIns="9144" bIns="18288" rtlCol="0" anchor="ctr"/>
          <a:lstStyle/>
          <a:p>
            <a:pPr algn="ctr"/>
            <a:r>
              <a:rPr sz="700" b="1" i="0">
                <a:solidFill>
                  <a:srgbClr val="13294B"/>
                </a:solidFill>
                <a:latin typeface="Calibri"/>
              </a:rPr>
              <a:t>S16</a:t>
            </a:r>
          </a:p>
          <a:p>
            <a:pPr algn="ctr"/>
            <a:r>
              <a:rPr sz="700" b="0" i="0">
                <a:solidFill>
                  <a:srgbClr val="13294B"/>
                </a:solidFill>
                <a:latin typeface="Calibri"/>
              </a:rPr>
              <a:t>23/11–29/11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1600200"/>
            <a:ext cx="1645920" cy="548640"/>
          </a:xfrm>
          <a:prstGeom prst="rect">
            <a:avLst/>
          </a:prstGeom>
          <a:solidFill>
            <a:srgbClr val="1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1600200"/>
            <a:ext cx="16002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FASE / SEMANA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185416"/>
            <a:ext cx="1645920" cy="603503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3503" y="2185416"/>
            <a:ext cx="1554480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E2430"/>
                </a:solidFill>
                <a:latin typeface="Calibri"/>
              </a:rPr>
              <a:t>Inicio y planificación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9424" y="21854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032760" y="21854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16096" y="21854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99432" y="21854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382768" y="21854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66104" y="21854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949440" y="21854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732776" y="21854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516112" y="21854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299448" y="21854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082784" y="21854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866120" y="21854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2825496"/>
            <a:ext cx="1645920" cy="603503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3503" y="2825496"/>
            <a:ext cx="1554480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E2430"/>
                </a:solidFill>
                <a:latin typeface="Calibri"/>
              </a:rPr>
              <a:t>a) Diseño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49424" y="282549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032760" y="282549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816096" y="282549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99432" y="282549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382768" y="282549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66104" y="282549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949440" y="282549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732776" y="282549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516112" y="282549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299448" y="282549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082784" y="282549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866120" y="282549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48640" y="3465576"/>
            <a:ext cx="1645920" cy="603503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03503" y="3465576"/>
            <a:ext cx="1554480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E2430"/>
                </a:solidFill>
                <a:latin typeface="Calibri"/>
              </a:rPr>
              <a:t>b) Desarrollo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49424" y="346557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032760" y="346557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816096" y="346557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599432" y="346557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382768" y="346557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166104" y="346557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949440" y="346557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732776" y="346557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516112" y="346557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299448" y="346557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0082784" y="346557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0866120" y="346557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48640" y="4105655"/>
            <a:ext cx="1645920" cy="603503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03503" y="4105655"/>
            <a:ext cx="1554480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E2430"/>
                </a:solidFill>
                <a:latin typeface="Calibri"/>
              </a:rPr>
              <a:t>c) Pruebas / QA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49424" y="4105655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3032760" y="4105655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816096" y="4105655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4599432" y="4105655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382768" y="4105655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166104" y="4105655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949440" y="4105655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7732776" y="4105655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8516112" y="4105655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299448" y="4105655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0082784" y="4105655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866120" y="4105655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548640" y="4745736"/>
            <a:ext cx="1645920" cy="603503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03503" y="4745736"/>
            <a:ext cx="1554480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E2430"/>
                </a:solidFill>
                <a:latin typeface="Calibri"/>
              </a:rPr>
              <a:t>d) Despliegue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249424" y="474573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3032760" y="474573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816096" y="474573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4599432" y="474573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5382768" y="474573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166104" y="474573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949440" y="474573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7732776" y="474573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8516112" y="474573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9299448" y="474573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0082784" y="474573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0866120" y="474573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548640" y="5385816"/>
            <a:ext cx="1645920" cy="603503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03503" y="5385816"/>
            <a:ext cx="1554480" cy="60350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1E2430"/>
                </a:solidFill>
                <a:latin typeface="Calibri"/>
              </a:rPr>
              <a:t>e) Presentación final (cierre)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49424" y="53858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3032760" y="53858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3816096" y="53858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4599432" y="53858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5382768" y="53858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6166104" y="53858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949440" y="53858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732776" y="53858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8516112" y="53858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9299448" y="53858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0082784" y="53858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0866120" y="5385816"/>
            <a:ext cx="765048" cy="603503"/>
          </a:xfrm>
          <a:prstGeom prst="rect">
            <a:avLst/>
          </a:prstGeom>
          <a:noFill/>
          <a:ln w="635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2258568" y="2194560"/>
            <a:ext cx="746760" cy="585216"/>
          </a:xfrm>
          <a:prstGeom prst="rect">
            <a:avLst/>
          </a:prstGeom>
          <a:solidFill>
            <a:srgbClr val="DDEFE4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EDT y cronograma · H2 avance 11-09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041904" y="2194560"/>
            <a:ext cx="746760" cy="585216"/>
          </a:xfrm>
          <a:prstGeom prst="rect">
            <a:avLst/>
          </a:prstGeom>
          <a:solidFill>
            <a:srgbClr val="DDEFE4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Plan de dirección y planes subsidiarios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825240" y="2194560"/>
            <a:ext cx="746760" cy="585216"/>
          </a:xfrm>
          <a:prstGeom prst="rect">
            <a:avLst/>
          </a:prstGeom>
          <a:solidFill>
            <a:srgbClr val="DDEFE4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Planes de calidad, riesgos y comunicaciones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08576" y="2194560"/>
            <a:ext cx="746760" cy="585216"/>
          </a:xfrm>
          <a:prstGeom prst="rect">
            <a:avLst/>
          </a:prstGeom>
          <a:solidFill>
            <a:srgbClr val="DDEFE4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Costos, KPIs, ROI y estimación cloud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391912" y="2194560"/>
            <a:ext cx="746760" cy="585216"/>
          </a:xfrm>
          <a:prstGeom prst="rect">
            <a:avLst/>
          </a:prstGeom>
          <a:solidFill>
            <a:srgbClr val="DDEFE4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Roadmap, matriz de riesgos y docs. actualizados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75248" y="2194560"/>
            <a:ext cx="746760" cy="585216"/>
          </a:xfrm>
          <a:prstGeom prst="rect">
            <a:avLst/>
          </a:prstGeom>
          <a:solidFill>
            <a:srgbClr val="DCE4F0"/>
          </a:solidFill>
          <a:ln w="12700">
            <a:solidFill>
              <a:srgbClr val="1D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Cierre Fase 2 (H4 18-10)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958584" y="2194560"/>
            <a:ext cx="746760" cy="585216"/>
          </a:xfrm>
          <a:prstGeom prst="rect">
            <a:avLst/>
          </a:prstGeom>
          <a:solidFill>
            <a:srgbClr val="DCE4F0"/>
          </a:solidFill>
          <a:ln w="12700">
            <a:solidFill>
              <a:srgbClr val="1D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Control de avance y cambios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741920" y="2194560"/>
            <a:ext cx="746760" cy="585216"/>
          </a:xfrm>
          <a:prstGeom prst="rect">
            <a:avLst/>
          </a:prstGeom>
          <a:solidFill>
            <a:srgbClr val="DCE4F0"/>
          </a:solidFill>
          <a:ln w="12700">
            <a:solidFill>
              <a:srgbClr val="1D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Control de avance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525256" y="2194560"/>
            <a:ext cx="746760" cy="585216"/>
          </a:xfrm>
          <a:prstGeom prst="rect">
            <a:avLst/>
          </a:prstGeom>
          <a:solidFill>
            <a:srgbClr val="DCE4F0"/>
          </a:solidFill>
          <a:ln w="12700">
            <a:solidFill>
              <a:srgbClr val="1D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Control de avance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308592" y="2194560"/>
            <a:ext cx="746760" cy="585216"/>
          </a:xfrm>
          <a:prstGeom prst="rect">
            <a:avLst/>
          </a:prstGeom>
          <a:solidFill>
            <a:srgbClr val="DCE4F0"/>
          </a:solidFill>
          <a:ln w="12700">
            <a:solidFill>
              <a:srgbClr val="1D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Cierre administrativo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258568" y="2834640"/>
            <a:ext cx="746760" cy="585216"/>
          </a:xfrm>
          <a:prstGeom prst="rect">
            <a:avLst/>
          </a:prstGeom>
          <a:solidFill>
            <a:srgbClr val="DDEFE4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Mockups UX/UI · DAS 4+1 (vista lógica)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41904" y="2834640"/>
            <a:ext cx="746760" cy="585216"/>
          </a:xfrm>
          <a:prstGeom prst="rect">
            <a:avLst/>
          </a:prstGeom>
          <a:solidFill>
            <a:srgbClr val="DDEFE4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UX/UI agendamiento · vista de procesos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825240" y="2834640"/>
            <a:ext cx="746760" cy="585216"/>
          </a:xfrm>
          <a:prstGeom prst="rect">
            <a:avLst/>
          </a:prstGeom>
          <a:solidFill>
            <a:srgbClr val="DDEFE4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UX/UI pago e invitado · vistas física y desarrollo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608576" y="2834640"/>
            <a:ext cx="746760" cy="585216"/>
          </a:xfrm>
          <a:prstGeom prst="rect">
            <a:avLst/>
          </a:prstGeom>
          <a:solidFill>
            <a:srgbClr val="DDEFE4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Modelo ER y relacional · Ley 21.719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391912" y="2834640"/>
            <a:ext cx="746760" cy="585216"/>
          </a:xfrm>
          <a:prstGeom prst="rect">
            <a:avLst/>
          </a:prstGeom>
          <a:solidFill>
            <a:srgbClr val="DDEFE4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Script DDL validado · 41 casos de uso · diccionario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175248" y="2834640"/>
            <a:ext cx="746760" cy="585216"/>
          </a:xfrm>
          <a:prstGeom prst="rect">
            <a:avLst/>
          </a:prstGeom>
          <a:solidFill>
            <a:srgbClr val="F6E6D3"/>
          </a:solidFill>
          <a:ln w="12700">
            <a:solidFill>
              <a:srgbClr val="B57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Aprobación del diseño (H3 16-10)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041904" y="3474720"/>
            <a:ext cx="746760" cy="585216"/>
          </a:xfrm>
          <a:prstGeom prst="rect">
            <a:avLst/>
          </a:prstGeom>
          <a:solidFill>
            <a:srgbClr val="DDEFE4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Prototipo interfaz web (React)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825240" y="3474720"/>
            <a:ext cx="746760" cy="585216"/>
          </a:xfrm>
          <a:prstGeom prst="rect">
            <a:avLst/>
          </a:prstGeom>
          <a:solidFill>
            <a:srgbClr val="DDEFE4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Prototipo interfaz app Android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608576" y="3474720"/>
            <a:ext cx="746760" cy="585216"/>
          </a:xfrm>
          <a:prstGeom prst="rect">
            <a:avLst/>
          </a:prstGeom>
          <a:solidFill>
            <a:srgbClr val="DDEFE4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Prototipos funcionales (sobre Firestore)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391912" y="3474720"/>
            <a:ext cx="746760" cy="585216"/>
          </a:xfrm>
          <a:prstGeom prst="rect">
            <a:avLst/>
          </a:prstGeom>
          <a:solidFill>
            <a:srgbClr val="F6DCDB"/>
          </a:solidFill>
          <a:ln w="1270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Código en stand by (SC-08)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175248" y="3474720"/>
            <a:ext cx="746760" cy="585216"/>
          </a:xfrm>
          <a:prstGeom prst="rect">
            <a:avLst/>
          </a:prstGeom>
          <a:solidFill>
            <a:srgbClr val="DCE4F0"/>
          </a:solidFill>
          <a:ln w="12700">
            <a:solidFill>
              <a:srgbClr val="1D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API REST y migración a PostgreSQL (desde 13-10)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958584" y="3474720"/>
            <a:ext cx="746760" cy="585216"/>
          </a:xfrm>
          <a:prstGeom prst="rect">
            <a:avLst/>
          </a:prstGeom>
          <a:solidFill>
            <a:srgbClr val="DCE4F0"/>
          </a:solidFill>
          <a:ln w="12700">
            <a:solidFill>
              <a:srgbClr val="1D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API · Webpay (integración) · «Mis datos»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741920" y="3474720"/>
            <a:ext cx="746760" cy="585216"/>
          </a:xfrm>
          <a:prstGeom prst="rect">
            <a:avLst/>
          </a:prstGeom>
          <a:solidFill>
            <a:srgbClr val="DCE4F0"/>
          </a:solidFill>
          <a:ln w="12700">
            <a:solidFill>
              <a:srgbClr val="1D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Integración web + app + API (H6 30-10)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391912" y="4114800"/>
            <a:ext cx="746760" cy="585216"/>
          </a:xfrm>
          <a:prstGeom prst="rect">
            <a:avLst/>
          </a:prstGeom>
          <a:solidFill>
            <a:srgbClr val="DDEFE4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Pruebas de BD: 22/22 OK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958584" y="4114800"/>
            <a:ext cx="746760" cy="585216"/>
          </a:xfrm>
          <a:prstGeom prst="rect">
            <a:avLst/>
          </a:prstGeom>
          <a:solidFill>
            <a:srgbClr val="DCE4F0"/>
          </a:solidFill>
          <a:ln w="12700">
            <a:solidFill>
              <a:srgbClr val="1D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Plan y casos de prueba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741920" y="4114800"/>
            <a:ext cx="746760" cy="585216"/>
          </a:xfrm>
          <a:prstGeom prst="rect">
            <a:avLst/>
          </a:prstGeom>
          <a:solidFill>
            <a:srgbClr val="DCE4F0"/>
          </a:solidFill>
          <a:ln w="12700">
            <a:solidFill>
              <a:srgbClr val="1D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Pruebas funcionales e integración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525256" y="4114800"/>
            <a:ext cx="746760" cy="585216"/>
          </a:xfrm>
          <a:prstGeom prst="rect">
            <a:avLst/>
          </a:prstGeom>
          <a:solidFill>
            <a:srgbClr val="DCE4F0"/>
          </a:solidFill>
          <a:ln w="12700">
            <a:solidFill>
              <a:srgbClr val="1D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Integración · seguridad y privacidad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308592" y="4114800"/>
            <a:ext cx="746760" cy="585216"/>
          </a:xfrm>
          <a:prstGeom prst="rect">
            <a:avLst/>
          </a:prstGeom>
          <a:solidFill>
            <a:srgbClr val="DCE4F0"/>
          </a:solidFill>
          <a:ln w="12700">
            <a:solidFill>
              <a:srgbClr val="1D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UAT con el/la dueño/a (H7 10-11)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741920" y="4754880"/>
            <a:ext cx="746760" cy="585216"/>
          </a:xfrm>
          <a:prstGeom prst="rect">
            <a:avLst/>
          </a:prstGeom>
          <a:solidFill>
            <a:srgbClr val="DCE4F0"/>
          </a:solidFill>
          <a:ln w="12700">
            <a:solidFill>
              <a:srgbClr val="1D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Ambiente productivo: VPS, dominio, HTTPS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525256" y="4754880"/>
            <a:ext cx="746760" cy="585216"/>
          </a:xfrm>
          <a:prstGeom prst="rect">
            <a:avLst/>
          </a:prstGeom>
          <a:solidFill>
            <a:srgbClr val="DCE4F0"/>
          </a:solidFill>
          <a:ln w="12700">
            <a:solidFill>
              <a:srgbClr val="1D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Despliegue web + API + BD · APK firmada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308592" y="4754880"/>
            <a:ext cx="746760" cy="585216"/>
          </a:xfrm>
          <a:prstGeom prst="rect">
            <a:avLst/>
          </a:prstGeom>
          <a:solidFill>
            <a:srgbClr val="DCE4F0"/>
          </a:solidFill>
          <a:ln w="12700">
            <a:solidFill>
              <a:srgbClr val="1D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Marcha blanca en las 3 sucursales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958584" y="5394960"/>
            <a:ext cx="746760" cy="585216"/>
          </a:xfrm>
          <a:prstGeom prst="rect">
            <a:avLst/>
          </a:prstGeom>
          <a:solidFill>
            <a:srgbClr val="DCE4F0"/>
          </a:solidFill>
          <a:ln w="12700">
            <a:solidFill>
              <a:srgbClr val="1D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Presentación de avance (H5 23-10)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525256" y="5394960"/>
            <a:ext cx="746760" cy="585216"/>
          </a:xfrm>
          <a:prstGeom prst="rect">
            <a:avLst/>
          </a:prstGeom>
          <a:solidFill>
            <a:srgbClr val="DCE4F0"/>
          </a:solidFill>
          <a:ln w="12700">
            <a:solidFill>
              <a:srgbClr val="1D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Informe final y manual de usuario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308592" y="5394960"/>
            <a:ext cx="746760" cy="585216"/>
          </a:xfrm>
          <a:prstGeom prst="rect">
            <a:avLst/>
          </a:prstGeom>
          <a:solidFill>
            <a:srgbClr val="DCE4F0"/>
          </a:solidFill>
          <a:ln w="12700">
            <a:solidFill>
              <a:srgbClr val="1D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Acta de cierre · entrega final 13-11 (H8)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091928" y="5394960"/>
            <a:ext cx="746760" cy="585216"/>
          </a:xfrm>
          <a:prstGeom prst="rect">
            <a:avLst/>
          </a:prstGeom>
          <a:solidFill>
            <a:srgbClr val="DCE4F0"/>
          </a:solidFill>
          <a:ln w="12700">
            <a:solidFill>
              <a:srgbClr val="1D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Preparación de la defensa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0875264" y="5394960"/>
            <a:ext cx="746760" cy="585216"/>
          </a:xfrm>
          <a:prstGeom prst="rect">
            <a:avLst/>
          </a:prstGeom>
          <a:solidFill>
            <a:srgbClr val="DCE4F0"/>
          </a:solidFill>
          <a:ln w="12700">
            <a:solidFill>
              <a:srgbClr val="1D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0" i="0">
                <a:solidFill>
                  <a:srgbClr val="1E2430"/>
                </a:solidFill>
                <a:latin typeface="Calibri"/>
              </a:rPr>
              <a:t>Defensa 27-11 (H9)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48640" y="6190488"/>
            <a:ext cx="228600" cy="201168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822959" y="6144768"/>
            <a:ext cx="1554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E2430"/>
                </a:solidFill>
                <a:latin typeface="Calibri"/>
              </a:rPr>
              <a:t>Realizado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377440" y="6190488"/>
            <a:ext cx="228600" cy="201168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2651760" y="6144768"/>
            <a:ext cx="1554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E2430"/>
                </a:solidFill>
                <a:latin typeface="Calibri"/>
              </a:rPr>
              <a:t>En progreso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206240" y="6190488"/>
            <a:ext cx="228600" cy="201168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4480559" y="6144768"/>
            <a:ext cx="1554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E2430"/>
                </a:solidFill>
                <a:latin typeface="Calibri"/>
              </a:rPr>
              <a:t>Atrasado / en pausa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035040" y="6190488"/>
            <a:ext cx="228600" cy="201168"/>
          </a:xfrm>
          <a:prstGeom prst="rect">
            <a:avLst/>
          </a:prstGeom>
          <a:solidFill>
            <a:srgbClr val="1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6309359" y="6144768"/>
            <a:ext cx="1554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1E2430"/>
                </a:solidFill>
                <a:latin typeface="Calibri"/>
              </a:rPr>
              <a:t>Planificado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955279" y="6126480"/>
            <a:ext cx="37490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 i="1">
                <a:solidFill>
                  <a:srgbClr val="5B6472"/>
                </a:solidFill>
                <a:latin typeface="Calibri"/>
              </a:rPr>
              <a:t>Despliegue: actividades nuevas propuestas en este roadmap; se incorporan a la EDT mediante solicitud de cambio.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PLAN DE TRABAJO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 i="0">
                <a:solidFill>
                  <a:srgbClr val="1E2430"/>
                </a:solidFill>
                <a:latin typeface="Cambria"/>
              </a:rPr>
              <a:t>Detalle de lo que resta: semana a semana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43584"/>
            <a:ext cx="110642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1">
                <a:solidFill>
                  <a:srgbClr val="5B6472"/>
                </a:solidFill>
                <a:latin typeface="Calibri"/>
              </a:rPr>
              <a:t>Desde la semana actual (S9) hasta la defensa (S16). Responsables: YR = Yerko Rosales · JO = Jonathan Ojeda.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SEGUIMIENTO DE PROYECTO · PROYECTO BARBERÍA BIG-BOYS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64238" cy="4608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5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5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2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Semana</a:t>
                      </a:r>
                    </a:p>
                  </a:txBody>
                  <a:tcPr marL="54864" marR="54864" marT="27432" marB="27432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Fechas</a:t>
                      </a:r>
                    </a:p>
                  </a:txBody>
                  <a:tcPr marL="54864" marR="54864" marT="27432" marB="27432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Qué haremos</a:t>
                      </a:r>
                    </a:p>
                  </a:txBody>
                  <a:tcPr marL="54864" marR="54864" marT="27432" marB="27432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Hito / entregable</a:t>
                      </a:r>
                    </a:p>
                  </a:txBody>
                  <a:tcPr marL="54864" marR="54864" marT="27432" marB="27432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Resp.</a:t>
                      </a:r>
                    </a:p>
                  </a:txBody>
                  <a:tcPr marL="54864" marR="54864" marT="27432" marB="27432" anchor="ctr"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430"/>
                          </a:solidFill>
                          <a:latin typeface="Calibri"/>
                        </a:rPr>
                        <a:t>S9 (HOY)</a:t>
                      </a:r>
                    </a:p>
                  </a:txBody>
                  <a:tcPr marL="54864" marR="54864" marT="27432" marB="27432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05/10 al 11/10</a:t>
                      </a:r>
                    </a:p>
                  </a:txBody>
                  <a:tcPr marL="54864" marR="54864" marT="27432" marB="27432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Cerrar documentación de diseño; roadmap y riesgos; revocar la clave expuesta del prototipo</a:t>
                      </a:r>
                    </a:p>
                  </a:txBody>
                  <a:tcPr marL="54864" marR="54864" marT="27432" marB="27432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Docs. actualizados · DDL 22/22</a:t>
                      </a:r>
                    </a:p>
                  </a:txBody>
                  <a:tcPr marL="54864" marR="54864" marT="27432" marB="27432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YR / JO</a:t>
                      </a:r>
                    </a:p>
                  </a:txBody>
                  <a:tcPr marL="54864" marR="54864" marT="27432" marB="27432"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430"/>
                          </a:solidFill>
                          <a:latin typeface="Calibri"/>
                        </a:rPr>
                        <a:t>S10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12/10 al 18/10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Iniciar API REST y migración Firestore → PostgreSQL; aprobar diseño y Anexo A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H3 16-10 · H4 18-10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JO / YR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430"/>
                          </a:solidFill>
                          <a:latin typeface="Calibri"/>
                        </a:rPr>
                        <a:t>S11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19/10 al 25/10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API (reservas, abono, turnos); Webpay en integración; «Mis datos»; plan y casos de prueba; presentación de avance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H5 23-10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JO / YR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430"/>
                          </a:solidFill>
                          <a:latin typeface="Calibri"/>
                        </a:rPr>
                        <a:t>S12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26/10 al 01/11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Integrar web + app + API; preparar ambiente productivo (VPS, dominio, HTTPS); pruebas funcionales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H6 30-10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JO / YR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430"/>
                          </a:solidFill>
                          <a:latin typeface="Calibri"/>
                        </a:rPr>
                        <a:t>S13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02/11 al 08/11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Pruebas de integración, seguridad y privacidad; despliegue en producción y APK firmada; informe final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Informe de pruebas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YR / JO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430"/>
                          </a:solidFill>
                          <a:latin typeface="Calibri"/>
                        </a:rPr>
                        <a:t>S14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09/11 al 15/11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UAT con el/la dueño/a y marcha blanca en las 3 sucursales; acta de cierre; entrega final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H7 10-11 · H8 13-11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YR / JO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430"/>
                          </a:solidFill>
                          <a:latin typeface="Calibri"/>
                        </a:rPr>
                        <a:t>S15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16/11 al 22/11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Correcciones menores; preparación y ensayo de la defensa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Presentación final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YR / JO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430"/>
                          </a:solidFill>
                          <a:latin typeface="Calibri"/>
                        </a:rPr>
                        <a:t>S16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23/11 al 29/11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Defensa del proyecto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H9 27-11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430"/>
                          </a:solidFill>
                          <a:latin typeface="Calibri"/>
                        </a:rPr>
                        <a:t>YR / JO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A) DISEÑO ·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 i="0">
                <a:solidFill>
                  <a:srgbClr val="1E2430"/>
                </a:solidFill>
                <a:latin typeface="Cambria"/>
              </a:rPr>
              <a:t>Arquitectura: modelo de vistas 4+1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43584"/>
            <a:ext cx="110642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1" dirty="0">
                <a:solidFill>
                  <a:srgbClr val="5B6472"/>
                </a:solidFill>
                <a:latin typeface="Calibri"/>
              </a:rPr>
              <a:t>Modelo 4+1 (Kruchten, 1995) </a:t>
            </a:r>
            <a:r>
              <a:rPr sz="1250" b="0" i="1" dirty="0" err="1">
                <a:solidFill>
                  <a:srgbClr val="5B6472"/>
                </a:solidFill>
                <a:latin typeface="Calibri"/>
              </a:rPr>
              <a:t>en</a:t>
            </a:r>
            <a:r>
              <a:rPr sz="1250" b="0" i="1" dirty="0">
                <a:solidFill>
                  <a:srgbClr val="5B6472"/>
                </a:solidFill>
                <a:latin typeface="Calibri"/>
              </a:rPr>
              <a:t> </a:t>
            </a:r>
            <a:r>
              <a:rPr sz="1250" b="0" i="1" dirty="0" err="1">
                <a:solidFill>
                  <a:srgbClr val="5B6472"/>
                </a:solidFill>
                <a:latin typeface="Calibri"/>
              </a:rPr>
              <a:t>notación</a:t>
            </a:r>
            <a:r>
              <a:rPr sz="1250" b="0" i="1" dirty="0">
                <a:solidFill>
                  <a:srgbClr val="5B6472"/>
                </a:solidFill>
                <a:latin typeface="Calibri"/>
              </a:rPr>
              <a:t> UML (Object Management Group [OMG], 2017): 35 </a:t>
            </a:r>
            <a:r>
              <a:rPr sz="1250" b="0" i="1" dirty="0" err="1">
                <a:solidFill>
                  <a:srgbClr val="5B6472"/>
                </a:solidFill>
                <a:latin typeface="Calibri"/>
              </a:rPr>
              <a:t>diagramas</a:t>
            </a:r>
            <a:r>
              <a:rPr sz="1250" b="0" i="1" dirty="0">
                <a:solidFill>
                  <a:srgbClr val="5B6472"/>
                </a:solidFill>
                <a:latin typeface="Calibri"/>
              </a:rPr>
              <a:t> </a:t>
            </a:r>
            <a:r>
              <a:rPr sz="1250" b="0" i="1" dirty="0" err="1">
                <a:solidFill>
                  <a:srgbClr val="5B6472"/>
                </a:solidFill>
                <a:latin typeface="Calibri"/>
              </a:rPr>
              <a:t>documentados</a:t>
            </a:r>
            <a:r>
              <a:rPr sz="1250" b="0" i="1" dirty="0">
                <a:solidFill>
                  <a:srgbClr val="5B6472"/>
                </a:solidFill>
                <a:latin typeface="Calibri"/>
              </a:rPr>
              <a:t> </a:t>
            </a:r>
            <a:r>
              <a:rPr sz="1250" b="0" i="1" dirty="0" err="1">
                <a:solidFill>
                  <a:srgbClr val="5B6472"/>
                </a:solidFill>
                <a:latin typeface="Calibri"/>
              </a:rPr>
              <a:t>en</a:t>
            </a:r>
            <a:r>
              <a:rPr sz="1250" b="0" i="1" dirty="0">
                <a:solidFill>
                  <a:srgbClr val="5B6472"/>
                </a:solidFill>
                <a:latin typeface="Calibri"/>
              </a:rPr>
              <a:t> el DAS v3.0.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SEGUIMIENTO DE PROYECTO · PROYECTO BARBERÍA BIG-BOYS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210312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19202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13294B"/>
                </a:solidFill>
                <a:latin typeface="Cambria"/>
              </a:rPr>
              <a:t>Lógica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76272"/>
            <a:ext cx="1920240" cy="2697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DIAG-01_Vista_logica_capas_y_paquetes_del_sist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09894"/>
            <a:ext cx="1883664" cy="10302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4937760"/>
            <a:ext cx="1920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5B6472"/>
                </a:solidFill>
                <a:latin typeface="Calibri"/>
              </a:rPr>
              <a:t>DIAG-01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192024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1E2430"/>
                </a:solidFill>
                <a:latin typeface="Calibri"/>
              </a:rPr>
              <a:t>Capas y paquetes; modelo de clases del dominio (DIAG-02).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98064" y="1691640"/>
            <a:ext cx="210312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9504" y="1755648"/>
            <a:ext cx="19202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13294B"/>
                </a:solidFill>
                <a:latin typeface="Cambria"/>
              </a:rPr>
              <a:t>Procesos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9504" y="2176272"/>
            <a:ext cx="1920240" cy="2697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DIAG-03_Vista_de_procesos_secuencia_de_reserva_con_abon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2595793"/>
            <a:ext cx="1883664" cy="18584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889504" y="4937760"/>
            <a:ext cx="1920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5B6472"/>
                </a:solidFill>
                <a:latin typeface="Calibri"/>
              </a:rPr>
              <a:t>DIAG-03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9504" y="5212080"/>
            <a:ext cx="192024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1E2430"/>
                </a:solidFill>
                <a:latin typeface="Calibri"/>
              </a:rPr>
              <a:t>Secuencias de reserva con abono, atención, cancelación y derechos (DIAG-03 a 11, 35).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47488" y="1691640"/>
            <a:ext cx="210312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38927" y="1755648"/>
            <a:ext cx="19202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13294B"/>
                </a:solidFill>
                <a:latin typeface="Cambria"/>
              </a:rPr>
              <a:t>Desarrollo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38927" y="2176272"/>
            <a:ext cx="1920240" cy="2697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DIAG-12_Vista_de_desarrollo_componentes_y_modul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216" y="2907067"/>
            <a:ext cx="1883664" cy="12358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138927" y="4937760"/>
            <a:ext cx="1920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5B6472"/>
                </a:solidFill>
                <a:latin typeface="Calibri"/>
              </a:rPr>
              <a:t>DIAG-12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7" y="5212080"/>
            <a:ext cx="192024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1E2430"/>
                </a:solidFill>
                <a:latin typeface="Calibri"/>
              </a:rPr>
              <a:t>Componentes: web React, app Android (MVVM), API REST, PostgreSQL.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1691640"/>
            <a:ext cx="210312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88352" y="1755648"/>
            <a:ext cx="19202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13294B"/>
                </a:solidFill>
                <a:latin typeface="Cambria"/>
              </a:rPr>
              <a:t>Física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88352" y="2176272"/>
            <a:ext cx="1920240" cy="2697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DIAG-13_Vista_fisica_despliegue_actual_3_sucursal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2834214"/>
            <a:ext cx="1883664" cy="138159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388352" y="4937760"/>
            <a:ext cx="1920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5B6472"/>
                </a:solidFill>
                <a:latin typeface="Calibri"/>
              </a:rPr>
              <a:t>DIAG-13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5212080"/>
            <a:ext cx="192024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1E2430"/>
                </a:solidFill>
                <a:latin typeface="Calibri"/>
              </a:rPr>
              <a:t>Despliegue actual: 3 sucursales, VPS en Santiago; futuro en cloud (DIAG-14).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46336" y="1691640"/>
            <a:ext cx="210312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37776" y="1755648"/>
            <a:ext cx="19202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13294B"/>
                </a:solidFill>
                <a:latin typeface="Cambria"/>
              </a:rPr>
              <a:t>Escenarios (+1)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37776" y="2176272"/>
            <a:ext cx="1920240" cy="2697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DIAG-15_Vista_de_escenarios_diagrama_general_de_casos_de_us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6063" y="2697301"/>
            <a:ext cx="1883664" cy="16554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637776" y="4937760"/>
            <a:ext cx="1920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5B6472"/>
                </a:solidFill>
                <a:latin typeface="Calibri"/>
              </a:rPr>
              <a:t>DIAG-15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7776" y="5212080"/>
            <a:ext cx="192024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1E2430"/>
                </a:solidFill>
                <a:latin typeface="Calibri"/>
              </a:rPr>
              <a:t>41 casos de uso con 5 actores y 2 sistemas externos (DIAG-15 a 22).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A) DISEÑO · MODELO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 i="0">
                <a:solidFill>
                  <a:srgbClr val="1E2430"/>
                </a:solidFill>
                <a:latin typeface="Cambria"/>
              </a:rPr>
              <a:t>Modelo de datos relacional (PostgreSQL)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SEGUIMIENTO DE PROYECTO · PROYECTO BARBERÍA BIG-BOYS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106424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IAG-27_Modelo_Entidad_Relacion_concep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448" y="1737360"/>
            <a:ext cx="7934623" cy="2880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4846320"/>
            <a:ext cx="262432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919472"/>
            <a:ext cx="2624328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400" b="1" i="0">
                <a:solidFill>
                  <a:srgbClr val="13294B"/>
                </a:solidFill>
                <a:latin typeface="Cambria"/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440680"/>
            <a:ext cx="2350008" cy="4678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lang="en-US" sz="2800" b="0" i="0" dirty="0" err="1">
                <a:solidFill>
                  <a:srgbClr val="1E2430"/>
                </a:solidFill>
                <a:latin typeface="Calibri"/>
              </a:rPr>
              <a:t>tablas</a:t>
            </a:r>
            <a:endParaRPr sz="2800" b="0" i="0" dirty="0">
              <a:solidFill>
                <a:srgbClr val="1E2430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55848" y="4846320"/>
            <a:ext cx="262432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55848" y="4919472"/>
            <a:ext cx="2624328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400" b="1" i="0">
                <a:solidFill>
                  <a:srgbClr val="13294B"/>
                </a:solidFill>
                <a:latin typeface="Cambria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5440680"/>
            <a:ext cx="2350008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0" i="0">
                <a:solidFill>
                  <a:srgbClr val="1E2430"/>
                </a:solidFill>
                <a:latin typeface="Calibri"/>
              </a:rPr>
              <a:t>reservas traslapadas: restricción de exclusión por barbero y horario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5" y="4846320"/>
            <a:ext cx="262432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63055" y="4919472"/>
            <a:ext cx="2624328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400" b="1" i="0">
                <a:solidFill>
                  <a:srgbClr val="13294B"/>
                </a:solidFill>
                <a:latin typeface="Cambria"/>
              </a:rPr>
              <a:t>$3.000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5440680"/>
            <a:ext cx="2350008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0" i="0">
                <a:solidFill>
                  <a:srgbClr val="1E2430"/>
                </a:solidFill>
                <a:latin typeface="Calibri"/>
              </a:rPr>
              <a:t>abono parametrizable por sucursal o servicio, sin cambiar el modelo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0263" y="4846320"/>
            <a:ext cx="262432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70263" y="4919472"/>
            <a:ext cx="2624328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400" b="1" i="0">
                <a:solidFill>
                  <a:srgbClr val="13294B"/>
                </a:solidFill>
                <a:latin typeface="Cambria"/>
              </a:rPr>
              <a:t>22 / 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5440680"/>
            <a:ext cx="2350008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0" i="0">
                <a:solidFill>
                  <a:srgbClr val="1E2430"/>
                </a:solidFill>
                <a:latin typeface="Calibri"/>
              </a:rPr>
              <a:t>pruebas del script DDL aprobadas (reglas de negocio en la BD)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A) DISEÑO · CASOS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 i="0">
                <a:solidFill>
                  <a:srgbClr val="1E2430"/>
                </a:solidFill>
                <a:latin typeface="Cambria"/>
              </a:rPr>
              <a:t>Casos de uso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43584"/>
            <a:ext cx="110642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1">
                <a:solidFill>
                  <a:srgbClr val="5B6472"/>
                </a:solidFill>
                <a:latin typeface="Calibri"/>
              </a:rPr>
              <a:t>41 casos de uso especificados (documento 17). Se muestran los que sostienen el flujo central del negocio.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SEGUIMIENTO DE PROYECTO · PROYECTO BARBERÍA BIG-BOYS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475488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IAG-15_Vista_de_escenarios_diagrama_general_de_casos_de_u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05594"/>
            <a:ext cx="4663440" cy="4098371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0" y="1691640"/>
          <a:ext cx="6126478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0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8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7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CU</a:t>
                      </a:r>
                    </a:p>
                  </a:txBody>
                  <a:tcPr marL="54864" marR="54864" marT="27432" marB="27432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Caso de uso</a:t>
                      </a:r>
                    </a:p>
                  </a:txBody>
                  <a:tcPr marL="54864" marR="54864" marT="27432" marB="27432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Actor</a:t>
                      </a:r>
                    </a:p>
                  </a:txBody>
                  <a:tcPr marL="54864" marR="54864" marT="27432" marB="27432" anchor="ctr"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430"/>
                          </a:solidFill>
                          <a:latin typeface="Calibri"/>
                        </a:rPr>
                        <a:t>CU-20 / 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Agendar servicio y pagar abono de $3.000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Cliente / invitado, pasarela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430"/>
                          </a:solidFill>
                          <a:latin typeface="Calibri"/>
                        </a:rPr>
                        <a:t>CU-22 / 23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Reprogramar (≥ 24 h, máx. 2) o cancelar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430"/>
                          </a:solidFill>
                          <a:latin typeface="Calibri"/>
                        </a:rPr>
                        <a:t>CU-26 / 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Registrar llegada y llamar turno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Admin. de sucursal (cajero/a)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430"/>
                          </a:solidFill>
                          <a:latin typeface="Calibri"/>
                        </a:rPr>
                        <a:t>CU-28 / 29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Confirmar servicio, iniciar y registrar atención y monto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Admin. de sucursal (cajero/a)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430"/>
                          </a:solidFill>
                          <a:latin typeface="Calibri"/>
                        </a:rPr>
                        <a:t>CU-41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Consultar mis atenciones y ganancias (solo lectura)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Barbero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430"/>
                          </a:solidFill>
                          <a:latin typeface="Calibri"/>
                        </a:rPr>
                        <a:t>CU-31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Crear perfiles de colaboradores y entregar credenciales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Dueño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430"/>
                          </a:solidFill>
                          <a:latin typeface="Calibri"/>
                        </a:rPr>
                        <a:t>CU-01 / 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Registrarse (solo clientes) o ingresar como invitado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Cliente / invitado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430"/>
                          </a:solidFill>
                          <a:latin typeface="Calibri"/>
                        </a:rPr>
                        <a:t>CU-09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Ejercer derechos en «Mis datos» (Ley N° 21.719, 2024)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Titular de datos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C) PRUEBAS /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 i="0">
                <a:solidFill>
                  <a:srgbClr val="1E2430"/>
                </a:solidFill>
                <a:latin typeface="Cambria"/>
              </a:rPr>
              <a:t>Casos de prueba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43584"/>
            <a:ext cx="110642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1">
                <a:solidFill>
                  <a:srgbClr val="5B6472"/>
                </a:solidFill>
                <a:latin typeface="Calibri"/>
              </a:rPr>
              <a:t>Trazados a casos de uso y requisitos. Los de base de datos ya se ejecutaron; los funcionales se ejecutan en S12–S13 sobre la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SEGUIMIENTO DE PROYECTO · PROYECTO BARBERÍA BIG-BOYS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64237" cy="4425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4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1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40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89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Trazabilidad</a:t>
                      </a:r>
                    </a:p>
                  </a:txBody>
                  <a:tcPr marL="54864" marR="54864" marT="27432" marB="27432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Escenario</a:t>
                      </a:r>
                    </a:p>
                  </a:txBody>
                  <a:tcPr marL="54864" marR="54864" marT="27432" marB="27432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Resultado esperado</a:t>
                      </a:r>
                    </a:p>
                  </a:txBody>
                  <a:tcPr marL="54864" marR="54864" marT="27432" marB="27432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54864" marR="54864" marT="27432" marB="27432" anchor="ctr"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430"/>
                          </a:solidFill>
                          <a:latin typeface="Calibri"/>
                        </a:rPr>
                        <a:t>CP-01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CU-20 / RF-11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Dos clientes reservan el mismo barbero y hora (web y app)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La BD acepta solo una; la otra recibe aviso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Aprobado (BD)</a:t>
                      </a:r>
                    </a:p>
                  </a:txBody>
                  <a:tcPr marL="54864" marR="54864" marT="27432" marB="27432" anchor="ctr">
                    <a:solidFill>
                      <a:srgbClr val="DD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430"/>
                          </a:solidFill>
                          <a:latin typeface="Calibri"/>
                        </a:rPr>
                        <a:t>CP-02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CU-22 / RF-39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Reprogramar por tercera vez o con menos de 24 h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Rechazo; el abono se mantiene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Aprobado (BD)</a:t>
                      </a:r>
                    </a:p>
                  </a:txBody>
                  <a:tcPr marL="54864" marR="54864" marT="27432" marB="27432" anchor="ctr">
                    <a:solidFill>
                      <a:srgbClr val="DD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430"/>
                          </a:solidFill>
                          <a:latin typeface="Calibri"/>
                        </a:rPr>
                        <a:t>CP-03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CU-29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Registrar atención sin el cajero/a que la registra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Rechazo: registrada_por es obligatoria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Aprobado (BD)</a:t>
                      </a:r>
                    </a:p>
                  </a:txBody>
                  <a:tcPr marL="54864" marR="54864" marT="27432" marB="27432" anchor="ctr">
                    <a:solidFill>
                      <a:srgbClr val="DD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430"/>
                          </a:solidFill>
                          <a:latin typeface="Calibri"/>
                        </a:rPr>
                        <a:t>CP-04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CU-31 / RF-63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Crear perfil de barbero sin que lo cree el Dueño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Rechazo por el trigger tg_alta_colaborador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Aprobado (BD)</a:t>
                      </a:r>
                    </a:p>
                  </a:txBody>
                  <a:tcPr marL="54864" marR="54864" marT="27432" marB="27432" anchor="ctr">
                    <a:solidFill>
                      <a:srgbClr val="DD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430"/>
                          </a:solidFill>
                          <a:latin typeface="Calibri"/>
                        </a:rPr>
                        <a:t>CP-05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CU-41 / RF-62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Barbero consulta sus atenciones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Cantidad, monto de cada una y total acumulado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Aprobado (BD)</a:t>
                      </a:r>
                    </a:p>
                  </a:txBody>
                  <a:tcPr marL="54864" marR="54864" marT="27432" marB="27432" anchor="ctr">
                    <a:solidFill>
                      <a:srgbClr val="DD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430"/>
                          </a:solidFill>
                          <a:latin typeface="Calibri"/>
                        </a:rPr>
                        <a:t>CP-06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CU-09 / RF-56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Titular ingresa una solicitud de derecho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Plazo de respuesta calculado en 30 días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Aprobado (BD)</a:t>
                      </a:r>
                    </a:p>
                  </a:txBody>
                  <a:tcPr marL="54864" marR="54864" marT="27432" marB="27432" anchor="ctr">
                    <a:solidFill>
                      <a:srgbClr val="DD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430"/>
                          </a:solidFill>
                          <a:latin typeface="Calibri"/>
                        </a:rPr>
                        <a:t>CP-07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CU-20 / 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Agendar y pagar abono en Webpay (integración)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Reserva CONFIRMADA solo con pago AUTORIZADO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Diseñado · S12</a:t>
                      </a:r>
                    </a:p>
                  </a:txBody>
                  <a:tcPr marL="54864" marR="54864" marT="27432" marB="27432" anchor="ctr">
                    <a:solidFill>
                      <a:srgbClr val="DC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430"/>
                          </a:solidFill>
                          <a:latin typeface="Calibri"/>
                        </a:rPr>
                        <a:t>CP-08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CU-23 / RF-14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Cancelar con menos de 24 h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Abono RETENIDO y cupo liberado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Diseñado · S12</a:t>
                      </a:r>
                    </a:p>
                  </a:txBody>
                  <a:tcPr marL="54864" marR="54864" marT="27432" marB="27432" anchor="ctr">
                    <a:solidFill>
                      <a:srgbClr val="DC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430"/>
                          </a:solidFill>
                          <a:latin typeface="Calibri"/>
                        </a:rPr>
                        <a:t>CP-09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CU-02 / RF-02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5 intentos fallidos de inicio de sesión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Bloqueo temporal de 15 minutos y aviso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Diseñado · S13</a:t>
                      </a:r>
                    </a:p>
                  </a:txBody>
                  <a:tcPr marL="54864" marR="54864" marT="27432" marB="27432" anchor="ctr">
                    <a:solidFill>
                      <a:srgbClr val="DC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430"/>
                          </a:solidFill>
                          <a:latin typeface="Calibri"/>
                        </a:rPr>
                        <a:t>CP-10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RNF / QA2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Consulta de disponibilidad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Respuesta en menos de 200 ms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430"/>
                          </a:solidFill>
                          <a:latin typeface="Calibri"/>
                        </a:rPr>
                        <a:t>Diseñado · S13</a:t>
                      </a:r>
                    </a:p>
                  </a:txBody>
                  <a:tcPr marL="54864" marR="54864" marT="27432" marB="27432" anchor="ctr">
                    <a:solidFill>
                      <a:srgbClr val="DC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1">
                <a:solidFill>
                  <a:srgbClr val="5B6472"/>
                </a:solidFill>
                <a:latin typeface="Calibri"/>
              </a:rPr>
              <a:t>Nota. Pruebas de BD ejecutadas con el script DDL en PGlite (PostgreSQL en memoria): 22 de 22 aprobadas (Base_de_Datos/resultado_validacion_sql.txt). Elaboración propia.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 i="0">
                <a:solidFill>
                  <a:srgbClr val="1E2430"/>
                </a:solidFill>
                <a:latin typeface="Cambria"/>
              </a:rPr>
              <a:t>Matriz de riesgos 3 ×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43584"/>
            <a:ext cx="110642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1">
                <a:solidFill>
                  <a:srgbClr val="5B6472"/>
                </a:solidFill>
                <a:latin typeface="Calibri"/>
              </a:rPr>
              <a:t>Riesgos actuales (Project Management Institute [PMI], 2021): probabilidad versus impacto. El número de cada círculo corresponde al plan de mitigación.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SEGUIMIENTO DE PROYECTO · PROYECTO BARBERÍA BIG-BOYS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45720" y="3401568"/>
            <a:ext cx="11887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13294B"/>
                </a:solidFill>
                <a:latin typeface="Calibri"/>
              </a:rPr>
              <a:t>IMPACTO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685800" cy="11887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1E2430"/>
                </a:solidFill>
                <a:latin typeface="Calibri"/>
              </a:rPr>
              <a:t>Alto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1783080"/>
            <a:ext cx="1563624" cy="1152144"/>
          </a:xfrm>
          <a:prstGeom prst="rect">
            <a:avLst/>
          </a:prstGeom>
          <a:solidFill>
            <a:srgbClr val="E0B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783080" y="1984248"/>
            <a:ext cx="402336" cy="402336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783080"/>
            <a:ext cx="1563624" cy="115214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383280" y="1984248"/>
            <a:ext cx="402336" cy="402336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3840480" y="1984248"/>
            <a:ext cx="402336" cy="402336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1783080"/>
            <a:ext cx="1563624" cy="115214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983480" y="1984248"/>
            <a:ext cx="402336" cy="402336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71800"/>
            <a:ext cx="685800" cy="11887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1E2430"/>
                </a:solidFill>
                <a:latin typeface="Calibri"/>
              </a:rPr>
              <a:t>Medio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2971800"/>
            <a:ext cx="1563624" cy="1152144"/>
          </a:xfrm>
          <a:prstGeom prst="rect">
            <a:avLst/>
          </a:prstGeom>
          <a:solidFill>
            <a:srgbClr val="5E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0" y="2971800"/>
            <a:ext cx="1563624" cy="1152144"/>
          </a:xfrm>
          <a:prstGeom prst="rect">
            <a:avLst/>
          </a:prstGeom>
          <a:solidFill>
            <a:srgbClr val="E0B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383280" y="3172968"/>
            <a:ext cx="402336" cy="402336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3840480" y="3172968"/>
            <a:ext cx="402336" cy="402336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1" name="Oval 20"/>
          <p:cNvSpPr/>
          <p:nvPr/>
        </p:nvSpPr>
        <p:spPr>
          <a:xfrm>
            <a:off x="4297680" y="3172968"/>
            <a:ext cx="402336" cy="402336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2971800"/>
            <a:ext cx="1563624" cy="1152144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160520"/>
            <a:ext cx="685800" cy="11887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1E2430"/>
                </a:solidFill>
                <a:latin typeface="Calibri"/>
              </a:rPr>
              <a:t>Bajo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4160520"/>
            <a:ext cx="1563624" cy="1152144"/>
          </a:xfrm>
          <a:prstGeom prst="rect">
            <a:avLst/>
          </a:prstGeom>
          <a:solidFill>
            <a:srgbClr val="5E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0" y="4160520"/>
            <a:ext cx="1563624" cy="1152144"/>
          </a:xfrm>
          <a:prstGeom prst="rect">
            <a:avLst/>
          </a:prstGeom>
          <a:solidFill>
            <a:srgbClr val="5E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800600" y="4160520"/>
            <a:ext cx="1563624" cy="1152144"/>
          </a:xfrm>
          <a:prstGeom prst="rect">
            <a:avLst/>
          </a:prstGeom>
          <a:solidFill>
            <a:srgbClr val="E0B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983480" y="4361688"/>
            <a:ext cx="402336" cy="402336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367528"/>
            <a:ext cx="1600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 i="0">
                <a:solidFill>
                  <a:srgbClr val="1E2430"/>
                </a:solidFill>
                <a:latin typeface="Calibri"/>
              </a:rPr>
              <a:t>Baja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367528"/>
            <a:ext cx="1600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 i="0">
                <a:solidFill>
                  <a:srgbClr val="1E2430"/>
                </a:solidFill>
                <a:latin typeface="Calibri"/>
              </a:rPr>
              <a:t>Media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367528"/>
            <a:ext cx="1600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 i="0">
                <a:solidFill>
                  <a:srgbClr val="1E2430"/>
                </a:solidFill>
                <a:latin typeface="Calibri"/>
              </a:rPr>
              <a:t>Alta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5641848"/>
            <a:ext cx="4800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13294B"/>
                </a:solidFill>
                <a:latin typeface="Calibri"/>
              </a:rPr>
              <a:t>PROBABILIDAD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00200" y="6144768"/>
            <a:ext cx="228600" cy="201168"/>
          </a:xfrm>
          <a:prstGeom prst="rect">
            <a:avLst/>
          </a:prstGeom>
          <a:solidFill>
            <a:srgbClr val="5E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874519" y="6089904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1E2430"/>
                </a:solidFill>
                <a:latin typeface="Calibri"/>
              </a:rPr>
              <a:t>Riesgo bajo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6144768"/>
            <a:ext cx="228600" cy="201168"/>
          </a:xfrm>
          <a:prstGeom prst="rect">
            <a:avLst/>
          </a:prstGeom>
          <a:solidFill>
            <a:srgbClr val="E0B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74720" y="6089904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1E2430"/>
                </a:solidFill>
                <a:latin typeface="Calibri"/>
              </a:rPr>
              <a:t>Riesgo medio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6144768"/>
            <a:ext cx="228600" cy="201168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74920" y="6089904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1E2430"/>
                </a:solidFill>
                <a:latin typeface="Calibri"/>
              </a:rPr>
              <a:t>Riesgo alto</a:t>
            </a:r>
          </a:p>
        </p:txBody>
      </p:sp>
      <p:sp>
        <p:nvSpPr>
          <p:cNvPr id="38" name="Oval 37"/>
          <p:cNvSpPr/>
          <p:nvPr/>
        </p:nvSpPr>
        <p:spPr>
          <a:xfrm>
            <a:off x="6720840" y="1773936"/>
            <a:ext cx="292608" cy="292608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1737360"/>
            <a:ext cx="45720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E2430"/>
                </a:solidFill>
                <a:latin typeface="Calibri"/>
              </a:rPr>
              <a:t>Atraso en la API y la migración a PostgreSQL (ruta crítica)</a:t>
            </a:r>
          </a:p>
          <a:p>
            <a:pPr algn="l"/>
            <a:r>
              <a:rPr sz="1000" b="0" i="0">
                <a:solidFill>
                  <a:srgbClr val="1E2430"/>
                </a:solidFill>
                <a:latin typeface="Calibri"/>
              </a:rPr>
              <a:t>Probabilidad alta · impacto alto · nivel Alto</a:t>
            </a:r>
          </a:p>
        </p:txBody>
      </p:sp>
      <p:sp>
        <p:nvSpPr>
          <p:cNvPr id="40" name="Oval 39"/>
          <p:cNvSpPr/>
          <p:nvPr/>
        </p:nvSpPr>
        <p:spPr>
          <a:xfrm>
            <a:off x="6720840" y="2322576"/>
            <a:ext cx="292608" cy="292608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2286000"/>
            <a:ext cx="45720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E2430"/>
                </a:solidFill>
                <a:latin typeface="Calibri"/>
              </a:rPr>
              <a:t>Credencial de correo expuesta en el código del prototipo</a:t>
            </a:r>
          </a:p>
          <a:p>
            <a:pPr algn="l"/>
            <a:r>
              <a:rPr sz="1000" b="0" i="0">
                <a:solidFill>
                  <a:srgbClr val="1E2430"/>
                </a:solidFill>
                <a:latin typeface="Calibri"/>
              </a:rPr>
              <a:t>Probabilidad media · impacto alto · nivel Alto</a:t>
            </a:r>
          </a:p>
        </p:txBody>
      </p:sp>
      <p:sp>
        <p:nvSpPr>
          <p:cNvPr id="42" name="Oval 41"/>
          <p:cNvSpPr/>
          <p:nvPr/>
        </p:nvSpPr>
        <p:spPr>
          <a:xfrm>
            <a:off x="6720840" y="2871215"/>
            <a:ext cx="292608" cy="292608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2834639"/>
            <a:ext cx="45720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E2430"/>
                </a:solidFill>
                <a:latin typeface="Calibri"/>
              </a:rPr>
              <a:t>Fallas o demoras en la integración con Webpay</a:t>
            </a:r>
          </a:p>
          <a:p>
            <a:pPr algn="l"/>
            <a:r>
              <a:rPr sz="1000" b="0" i="0">
                <a:solidFill>
                  <a:srgbClr val="1E2430"/>
                </a:solidFill>
                <a:latin typeface="Calibri"/>
              </a:rPr>
              <a:t>Probabilidad media · impacto alto · nivel Alto</a:t>
            </a:r>
          </a:p>
        </p:txBody>
      </p:sp>
      <p:sp>
        <p:nvSpPr>
          <p:cNvPr id="44" name="Oval 43"/>
          <p:cNvSpPr/>
          <p:nvPr/>
        </p:nvSpPr>
        <p:spPr>
          <a:xfrm>
            <a:off x="6720840" y="3419856"/>
            <a:ext cx="292608" cy="292608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3383279"/>
            <a:ext cx="45720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E2430"/>
                </a:solidFill>
                <a:latin typeface="Calibri"/>
              </a:rPr>
              <a:t>Ventana corta para despliegue y UAT (S13–S14)</a:t>
            </a:r>
          </a:p>
          <a:p>
            <a:pPr algn="l"/>
            <a:r>
              <a:rPr sz="1000" b="0" i="0">
                <a:solidFill>
                  <a:srgbClr val="1E2430"/>
                </a:solidFill>
                <a:latin typeface="Calibri"/>
              </a:rPr>
              <a:t>Probabilidad media · impacto medio · nivel Medio</a:t>
            </a:r>
          </a:p>
        </p:txBody>
      </p:sp>
      <p:sp>
        <p:nvSpPr>
          <p:cNvPr id="46" name="Oval 45"/>
          <p:cNvSpPr/>
          <p:nvPr/>
        </p:nvSpPr>
        <p:spPr>
          <a:xfrm>
            <a:off x="6720840" y="3968496"/>
            <a:ext cx="292608" cy="292608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3931920"/>
            <a:ext cx="45720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E2430"/>
                </a:solidFill>
                <a:latin typeface="Calibri"/>
              </a:rPr>
              <a:t>Disponibilidad limitada del equipo (2 integrantes)</a:t>
            </a:r>
          </a:p>
          <a:p>
            <a:pPr algn="l"/>
            <a:r>
              <a:rPr sz="1000" b="0" i="0">
                <a:solidFill>
                  <a:srgbClr val="1E2430"/>
                </a:solidFill>
                <a:latin typeface="Calibri"/>
              </a:rPr>
              <a:t>Probabilidad media · impacto medio · nivel Medio</a:t>
            </a:r>
          </a:p>
        </p:txBody>
      </p:sp>
      <p:sp>
        <p:nvSpPr>
          <p:cNvPr id="48" name="Oval 47"/>
          <p:cNvSpPr/>
          <p:nvPr/>
        </p:nvSpPr>
        <p:spPr>
          <a:xfrm>
            <a:off x="6720840" y="4517136"/>
            <a:ext cx="292608" cy="292608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600" y="4480560"/>
            <a:ext cx="45720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E2430"/>
                </a:solidFill>
                <a:latin typeface="Calibri"/>
              </a:rPr>
              <a:t>Resistencia del personal a dejar la planilla Excel</a:t>
            </a:r>
          </a:p>
          <a:p>
            <a:pPr algn="l"/>
            <a:r>
              <a:rPr sz="1000" b="0" i="0">
                <a:solidFill>
                  <a:srgbClr val="1E2430"/>
                </a:solidFill>
                <a:latin typeface="Calibri"/>
              </a:rPr>
              <a:t>Probabilidad media · impacto medio · nivel Medio</a:t>
            </a:r>
          </a:p>
        </p:txBody>
      </p:sp>
      <p:sp>
        <p:nvSpPr>
          <p:cNvPr id="50" name="Oval 49"/>
          <p:cNvSpPr/>
          <p:nvPr/>
        </p:nvSpPr>
        <p:spPr>
          <a:xfrm>
            <a:off x="6720840" y="5065776"/>
            <a:ext cx="292608" cy="292608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600" y="5029200"/>
            <a:ext cx="45720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E2430"/>
                </a:solidFill>
                <a:latin typeface="Calibri"/>
              </a:rPr>
              <a:t>Pérdida de datos por falla del servidor</a:t>
            </a:r>
          </a:p>
          <a:p>
            <a:pPr algn="l"/>
            <a:r>
              <a:rPr sz="1000" b="0" i="0">
                <a:solidFill>
                  <a:srgbClr val="1E2430"/>
                </a:solidFill>
                <a:latin typeface="Calibri"/>
              </a:rPr>
              <a:t>Probabilidad baja · impacto alto · nivel Medio</a:t>
            </a:r>
          </a:p>
        </p:txBody>
      </p:sp>
      <p:sp>
        <p:nvSpPr>
          <p:cNvPr id="52" name="Oval 51"/>
          <p:cNvSpPr/>
          <p:nvPr/>
        </p:nvSpPr>
        <p:spPr>
          <a:xfrm>
            <a:off x="6720840" y="5614416"/>
            <a:ext cx="292608" cy="292608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600" y="5577840"/>
            <a:ext cx="45720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E2430"/>
                </a:solidFill>
                <a:latin typeface="Calibri"/>
              </a:rPr>
              <a:t>Comisión mínima de la pasarela sobre el abono</a:t>
            </a:r>
          </a:p>
          <a:p>
            <a:pPr algn="l"/>
            <a:r>
              <a:rPr sz="1000" b="0" i="0">
                <a:solidFill>
                  <a:srgbClr val="1E2430"/>
                </a:solidFill>
                <a:latin typeface="Calibri"/>
              </a:rPr>
              <a:t>Probabilidad alta · impacto bajo · nivel Medio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 i="0">
                <a:solidFill>
                  <a:srgbClr val="1E2430"/>
                </a:solidFill>
                <a:latin typeface="Cambria"/>
              </a:rPr>
              <a:t>Plan de mitigación de los riesgos actuales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43584"/>
            <a:ext cx="110642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1">
                <a:solidFill>
                  <a:srgbClr val="5B6472"/>
                </a:solidFill>
                <a:latin typeface="Calibri"/>
              </a:rPr>
              <a:t>Estrategia, acción concreta, responsable y semana en que se aplica.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B6472"/>
                </a:solidFill>
                <a:latin typeface="Calibri"/>
              </a:rPr>
              <a:t>SEGUIMIENTO DE PROYECTO · PROYECTO BARBERÍA BIG-BOYS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5B6472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64238" cy="4937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5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279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7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57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N°</a:t>
                      </a:r>
                    </a:p>
                  </a:txBody>
                  <a:tcPr marL="54864" marR="54864" marT="27432" marB="27432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Nivel</a:t>
                      </a:r>
                    </a:p>
                  </a:txBody>
                  <a:tcPr marL="54864" marR="54864" marT="27432" marB="27432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Estrategia</a:t>
                      </a:r>
                    </a:p>
                  </a:txBody>
                  <a:tcPr marL="54864" marR="54864" marT="27432" marB="27432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Acción de mitigación</a:t>
                      </a:r>
                    </a:p>
                  </a:txBody>
                  <a:tcPr marL="54864" marR="54864" marT="27432" marB="27432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Resp.</a:t>
                      </a:r>
                    </a:p>
                  </a:txBody>
                  <a:tcPr marL="54864" marR="54864" marT="27432" marB="27432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Semana</a:t>
                      </a:r>
                    </a:p>
                  </a:txBody>
                  <a:tcPr marL="54864" marR="54864" marT="27432" marB="27432" anchor="ctr"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54864" marR="54864" marT="27432" marB="27432" anchor="ctr">
                    <a:solidFill>
                      <a:srgbClr val="F6DC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Mitigar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Priorizar el flujo de reserva con abono; reutilizar pantallas; punto de control 23-10 (si el avance &lt; 60%, se usa la reserva de contingencia)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JO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S10–S12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54864" marR="54864" marT="27432" marB="27432" anchor="ctr">
                    <a:solidFill>
                      <a:srgbClr val="F6DC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Evitar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Revocar la clave expuesta; mover secretos a variables de entorno; revisar el código antes de cada entrega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JO / YR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S9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54864" marR="54864" marT="27432" marB="27432" anchor="ctr">
                    <a:solidFill>
                      <a:srgbClr val="F6DC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Mitigar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Ambiente de integración de Transbank desde S11; pruebas de pagos rechazados; alternativa Mercado Pago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JO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S11–S12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 marL="54864" marR="54864" marT="27432" marB="27432" anchor="ctr">
                    <a:solidFill>
                      <a:srgbClr val="FBF0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Mitigar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Ambiente productivo listo en S12; checklist de despliegue; marcha blanca acompañada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JO / YR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S12–S14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 marL="54864" marR="54864" marT="27432" marB="27432" anchor="ctr">
                    <a:solidFill>
                      <a:srgbClr val="FBF0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Mitigar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Reunión semanal fija; tareas pequeñas en el tablero; trabajo asíncrono en GitHub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YR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S9–S16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 marL="54864" marR="54864" marT="27432" marB="27432" anchor="ctr">
                    <a:solidFill>
                      <a:srgbClr val="FBF0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Mitigar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Capacitación de 30 min; guía rápida; registro de atención en 3 toques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YR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S14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 marL="54864" marR="54864" marT="27432" marB="27432" anchor="ctr">
                    <a:solidFill>
                      <a:srgbClr val="FBF0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Mitigar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Respaldo diario cifrado con 30 días de retención; prueba de restauración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JO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S13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43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 marL="54864" marR="54864" marT="27432" marB="27432" anchor="ctr">
                    <a:solidFill>
                      <a:srgbClr val="FBF0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Aceptar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Abono parametrizable; evaluar Mercado Pago junto al/la dueño/a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Dueño/a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430"/>
                          </a:solidFill>
                          <a:latin typeface="Calibri"/>
                        </a:rPr>
                        <a:t>S11</a:t>
                      </a:r>
                    </a:p>
                  </a:txBody>
                  <a:tcPr marL="54864" marR="54864" marT="27432" marB="27432" anchor="ctr"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noFill/>
          <a:ln w="19050">
            <a:solidFill>
              <a:srgbClr val="234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377440" cy="2377440"/>
          </a:xfrm>
          <a:prstGeom prst="ellipse">
            <a:avLst/>
          </a:prstGeom>
          <a:noFill/>
          <a:ln w="19050">
            <a:solidFill>
              <a:srgbClr val="234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3152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8FB2DE"/>
                </a:solidFill>
                <a:latin typeface="Calibri"/>
              </a:rPr>
              <a:t>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C3D3E8"/>
                </a:solidFill>
                <a:latin typeface="Calibri"/>
              </a:rPr>
              <a:t>—   13-10: retomar el código con la API REST y la migración a PostgreSQL.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058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C3D3E8"/>
                </a:solidFill>
                <a:latin typeface="Calibri"/>
              </a:rPr>
              <a:t>—   16-10: aprobación del diseño (H3) · 18-10: cierre de la Fase 2 (H4).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058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C3D3E8"/>
                </a:solidFill>
                <a:latin typeface="Calibri"/>
              </a:rPr>
              <a:t>—   23-10: presentación de avance con el flujo de reserva con abono funcionando.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063240"/>
            <a:ext cx="2926080" cy="18288"/>
          </a:xfrm>
          <a:prstGeom prst="rect">
            <a:avLst/>
          </a:prstGeom>
          <a:solidFill>
            <a:srgbClr val="8FB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822960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Gracias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8229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 i="1">
                <a:solidFill>
                  <a:srgbClr val="C3D3E8"/>
                </a:solidFill>
                <a:latin typeface="Calibri"/>
              </a:rPr>
              <a:t>Preguntas y comentarios son bienvenidos.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3091</Words>
  <Application>Microsoft Office PowerPoint</Application>
  <PresentationFormat>Panorámica</PresentationFormat>
  <Paragraphs>485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YERKO ALEXIS ROSALES BOBADILLA</cp:lastModifiedBy>
  <cp:revision>2</cp:revision>
  <dcterms:created xsi:type="dcterms:W3CDTF">2026-09-11T23:43:33Z</dcterms:created>
  <dcterms:modified xsi:type="dcterms:W3CDTF">2026-10-09T19:35:00Z</dcterms:modified>
</cp:coreProperties>
</file>