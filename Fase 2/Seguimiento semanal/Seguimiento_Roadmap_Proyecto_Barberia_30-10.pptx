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51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Presentamos el seguimiento semanal del Proyecto Barbería Big-Boys al 30 de octubre, semana 12 de 14, día del hito H6, sistema integrado. Mostramos el roadmap actualizado, lo planificado versus lo logrado, qué funciona hoy y la matriz de riesgos con el ID fijo de cada riesgo.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Estamos en la semana 12 de 14 y ha transcurrido el 85% del plazo; quedan 14 días para la entrega final. Hoy cumplimos el hito H6: la web y la app ya integran el pago del abono con Webpay, la fila por orden de llegada, «Mis datos» y las cuentas del personal, sobre una API de 32 operaciones. El 28 de octubre corregimos los riesgos de seguridad de las reservas. Lo atrasado son los correos y el respaldo diario, que pasan a la semana 13.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El roadmap completo, desde la semana 1, en su versión al 30 de octubre: se actualiza cada semana. En verde lo realizado: la planificación, el diseño, la API, la presentación de avance (H5) y la integración de esta semana. En amarillo lo que cerramos esta semana: el control de cambios, los diagramas, las pruebas de integración y la web en el ambiente UAT. En azul lo que viene: correcciones, APK firmada, pruebas de seguridad y el paso al ambiente UAT (H7, 10 de noviembre).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El mismo roadmap, desde la semana en curso. Esta semana integramos Webpay, la fila por orden de llegada, «Mis datos» y las cuentas del personal, y corregimos la seguridad de las reservas: es el hito H6. Siguen en curso las pruebas de integración, incluida la app en un teléfono real, y la web ya está publicada en el ambiente UAT. Los correos y el respaldo diario pasan a la semana 13, junto con las correcciones y la APK firmada; en S14 pasamos al ambiente UAT y entregamos.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Hasta la semana 10 cumplimos el plan. La semana 11 quedó parcial: el pago con Webpay, la fila y «Mis datos» se atrasaron. En la semana 12 los recuperamos: están integrados en la web y la app desde el 27 de octubre, sumamos las cuentas del personal y corregimos la seguridad de las reservas, con 20 de 20 pruebas de la API y 16 de 16 de seguridad. Cumplimos el H6; los correos y el respaldo diario pasan a la semana 13.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La arquitectura sigue el modelo 4+1. La vista lógica muestra el dominio; la de procesos, las secuencias de reserva con abono y de atención; la de desarrollo, los componentes; y la física, el despliegue, que actualizamos el 22 de octubre: la API REST y la base de datos están en Supabase. La quinta vista, la de escenarios, son los casos de uso, que vemos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es el foco de la evaluación. Tenemos 41 casos de uso en 7 módulos, cada uno especificado con flujos y reglas. Los actores son cliente, invitado, barbero, cajero de sucursal y administración, más la pasarela de pago y el sistema de notificaciones. Hoy 10 casos ya funcionan sobre la base de datos real, principalmente el flujo central de reserva: registro, acceso, invitado, catálogo, agendamiento, reprogramación y cancelación.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modelo tiene 27 tablas y 239 campos en tercera forma normal. La base impide reservas traslapadas para un mismo barbero, deja el abono de $3.000 como parámetro y cumple la Ley 21.719 desde el diseño: no guarda RUT ni datos de tarjeta, y registra consentimientos y auditoría. El script se valida con 24 pruebas automáticas, todas aprobadas.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prototipo es funcional. La web, en React, ya trabaja con la base de datos real: muestra el inicio del cliente, la reserva en 5 pasos y las sucursales reales con su mapa. La app Android, en Kotlin con Jetpack Compose, usa la misma API. Si hay tiempo, mostramos una reserva en vivo con la cuenta de prueba.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evidencia del desarrollo está en el repositorio público de GitHub: 32 commits en main al 30 de octubre. Los últimos son la integración de la semana 12, las correcciones de seguridad del 28 de octubre y la documentación al H6. Tiene el código de la web y de la app, el script de la base de datos con sus migraciones y pruebas, y toda la documentación; la rama gh-pages publica la web para el ambiente UAT. Las claves no se suben: quedan en archivos .env fuera del repositorio.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Así funciona hoy. La web y la app llaman a una API publicada en Supabase; nunca leen las tablas directamente. Pasó de 13 a 32 operaciones con lo de esta semana: pago con Webpay, fila por orden de llegada, «Mis datos», cuentas del personal y la cola de correos. La base de datos valida las reglas del negocio y, desde el 28 de octubre, también quién puede cambiar cada reserva. La web pasó sus pruebas de punta a punta; la app compila y se probó en el emulador, y falta probarla en un teléfono real.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Por indicación del docente, cada riesgo se muestra con su ID del registro de riesgos (documento 15), que no cambia de una semana a otra. Respecto del 23 de octubre bajan tres riesgos que estaban en nivel alto: R-02, el atraso de la integración, porque cumplimos el H6; R-05, Webpay, porque el pago funciona en el ambiente de integración de Transbank; y R-03, la seguridad, por las correcciones del 28 de octubre. Siguen abiertos la app en un teléfono real (R-16), los correos (R-17), el respaldo (R-08) y la ventana para el paso al ambiente UAT (R-15). Sumamos R-18: las pruebas y el ambiente UAT usan la misma base de datos.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Cada riesgo tiene una estrategia, una acción concreta, un responsable y una semana, y conserva su ID. Los de mayor puntaje son la seguridad (R-03), ya mitigada con las correcciones del 28 de octubre, y el respaldo (R-08), que se programa en S13. Esta semana probamos la app en un teléfono real; en S13 dejamos operativos los correos, limpiamos los datos de prueba y firmamos la APK antes del paso al ambiente UAT.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 Esta semana cerramos el sistema integrado y probamos la app en un teléfono real. En S13 dejamos operativos los correos y el respaldo diario, hacemos las pruebas de seguridad y privacidad y preparamos el ambiente UAT con la APK firmada; en S14 pasamos al ambiente UAT y entregamos; en S15 ensayamos y en S16 defendemos.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Quedan abiertos tres temas: validar los supuestos con datos reales, cargar la nómina real de barberos y aprobar la fase de despliegue.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457200" y="6492240"/>
            <a:ext cx="6400800" cy="274320"/>
          </a:xfrm>
          <a:prstGeom prst="rect">
            <a:avLst/>
          </a:prstGeom>
          <a:noFill/>
          <a:ln/>
        </p:spPr>
        <p:txBody>
          <a:bodyPr wrap="square"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SEGUIMIENTO SEMANAL · PROYECTO BARBERÍA BIG-BOYS</a:t>
            </a:r>
            <a:endParaRPr lang="en-US" sz="9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rgbClr val="13294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0"/>
            <a:ext cx="3322015" cy="6858000"/>
          </a:xfrm>
          <a:prstGeom prst="rect">
            <a:avLst/>
          </a:prstGeom>
          <a:solidFill>
            <a:srgbClr val="1D3A63"/>
          </a:solidFill>
          <a:ln w="12700">
            <a:solidFill>
              <a:srgbClr val="1D3A63"/>
            </a:solidFill>
            <a:prstDash val="solid"/>
          </a:ln>
        </p:spPr>
        <p:txBody>
          <a:bodyPr/>
          <a:lstStyle/>
          <a:p>
            <a:endParaRPr lang="es-CL"/>
          </a:p>
        </p:txBody>
      </p:sp>
      <p:sp>
        <p:nvSpPr>
          <p:cNvPr id="3" name="Shape 1"/>
          <p:cNvSpPr/>
          <p:nvPr/>
        </p:nvSpPr>
        <p:spPr>
          <a:xfrm>
            <a:off x="9418320" y="1005840"/>
            <a:ext cx="2194560" cy="2194560"/>
          </a:xfrm>
          <a:prstGeom prst="ellipse">
            <a:avLst/>
          </a:prstGeom>
          <a:solidFill>
            <a:srgbClr val="234670"/>
          </a:solidFill>
          <a:ln w="12700">
            <a:solidFill>
              <a:srgbClr val="5B84B8"/>
            </a:solidFill>
            <a:prstDash val="solid"/>
          </a:ln>
        </p:spPr>
        <p:txBody>
          <a:bodyPr/>
          <a:lstStyle/>
          <a:p>
            <a:endParaRPr lang="es-CL"/>
          </a:p>
        </p:txBody>
      </p:sp>
      <p:sp>
        <p:nvSpPr>
          <p:cNvPr id="4" name="Shape 2"/>
          <p:cNvSpPr/>
          <p:nvPr/>
        </p:nvSpPr>
        <p:spPr>
          <a:xfrm>
            <a:off x="9966960" y="3657600"/>
            <a:ext cx="1371600" cy="1371600"/>
          </a:xfrm>
          <a:prstGeom prst="ellipse">
            <a:avLst/>
          </a:prstGeom>
          <a:solidFill>
            <a:srgbClr val="234670"/>
          </a:solidFill>
          <a:ln w="12700">
            <a:solidFill>
              <a:srgbClr val="5B84B8"/>
            </a:solidFill>
            <a:prstDash val="solid"/>
          </a:ln>
        </p:spPr>
        <p:txBody>
          <a:bodyPr/>
          <a:lstStyle/>
          <a:p>
            <a:endParaRPr lang="es-CL"/>
          </a:p>
        </p:txBody>
      </p:sp>
      <p:sp>
        <p:nvSpPr>
          <p:cNvPr id="5" name="Shape 3"/>
          <p:cNvSpPr/>
          <p:nvPr/>
        </p:nvSpPr>
        <p:spPr>
          <a:xfrm>
            <a:off x="9052560" y="5120640"/>
            <a:ext cx="731520" cy="731520"/>
          </a:xfrm>
          <a:prstGeom prst="ellipse">
            <a:avLst/>
          </a:prstGeom>
          <a:solidFill>
            <a:srgbClr val="234670"/>
          </a:solidFill>
          <a:ln w="12700">
            <a:solidFill>
              <a:srgbClr val="5B84B8"/>
            </a:solidFill>
            <a:prstDash val="solid"/>
          </a:ln>
        </p:spPr>
        <p:txBody>
          <a:bodyPr/>
          <a:lstStyle/>
          <a:p>
            <a:endParaRPr lang="es-CL"/>
          </a:p>
        </p:txBody>
      </p:sp>
      <p:sp>
        <p:nvSpPr>
          <p:cNvPr id="6" name="Text 4"/>
          <p:cNvSpPr txBox="1"/>
          <p:nvPr/>
        </p:nvSpPr>
        <p:spPr>
          <a:xfrm>
            <a:off x="640080" y="1600200"/>
            <a:ext cx="7772400" cy="365760"/>
          </a:xfrm>
          <a:prstGeom prst="rect">
            <a:avLst/>
          </a:prstGeom>
          <a:noFill/>
          <a:ln/>
        </p:spPr>
        <p:txBody>
          <a:bodyPr wrap="square" lIns="0" tIns="0" rIns="0" bIns="0" rtlCol="0" anchor="ctr"/>
          <a:lstStyle/>
          <a:p>
            <a:pPr marL="0" indent="0">
              <a:buNone/>
            </a:pPr>
            <a:r>
              <a:rPr lang="en-US" sz="1400" kern="0" spc="400" dirty="0">
                <a:solidFill>
                  <a:srgbClr val="8FB2DE"/>
                </a:solidFill>
                <a:latin typeface="Calibri" pitchFamily="34" charset="0"/>
                <a:ea typeface="Calibri" pitchFamily="34" charset="-122"/>
                <a:cs typeface="Calibri" pitchFamily="34" charset="-120"/>
              </a:rPr>
              <a:t>SEGUIMIENTO SEMANAL · CAPSTONE</a:t>
            </a:r>
            <a:endParaRPr lang="en-US" sz="1400" dirty="0"/>
          </a:p>
        </p:txBody>
      </p:sp>
      <p:sp>
        <p:nvSpPr>
          <p:cNvPr id="7" name="Text 5"/>
          <p:cNvSpPr txBox="1"/>
          <p:nvPr/>
        </p:nvSpPr>
        <p:spPr>
          <a:xfrm>
            <a:off x="640080" y="1965960"/>
            <a:ext cx="7955280" cy="146304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Plataforma Web y App Móvil · Proyecto Barbería Big-Boys</a:t>
            </a:r>
            <a:endParaRPr lang="en-US" sz="3600" dirty="0"/>
          </a:p>
        </p:txBody>
      </p:sp>
      <p:sp>
        <p:nvSpPr>
          <p:cNvPr id="8" name="Text 6"/>
          <p:cNvSpPr txBox="1"/>
          <p:nvPr/>
        </p:nvSpPr>
        <p:spPr>
          <a:xfrm>
            <a:off x="640080" y="3520440"/>
            <a:ext cx="7863840" cy="45720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Sistema integrado (H6) · 30 de octubre de 2026 · semana S12 de S14</a:t>
            </a:r>
            <a:endParaRPr lang="en-US" sz="1500" dirty="0"/>
          </a:p>
        </p:txBody>
      </p:sp>
      <p:sp>
        <p:nvSpPr>
          <p:cNvPr id="9" name="Shape 7"/>
          <p:cNvSpPr/>
          <p:nvPr/>
        </p:nvSpPr>
        <p:spPr>
          <a:xfrm>
            <a:off x="658368" y="4343400"/>
            <a:ext cx="2926080" cy="0"/>
          </a:xfrm>
          <a:prstGeom prst="line">
            <a:avLst/>
          </a:prstGeom>
          <a:noFill/>
          <a:ln w="12700">
            <a:solidFill>
              <a:srgbClr val="5B84B8"/>
            </a:solidFill>
            <a:prstDash val="solid"/>
          </a:ln>
        </p:spPr>
        <p:txBody>
          <a:bodyPr/>
          <a:lstStyle/>
          <a:p>
            <a:endParaRPr lang="es-CL"/>
          </a:p>
        </p:txBody>
      </p:sp>
      <p:sp>
        <p:nvSpPr>
          <p:cNvPr id="10" name="Text 8"/>
          <p:cNvSpPr txBox="1"/>
          <p:nvPr/>
        </p:nvSpPr>
        <p:spPr>
          <a:xfrm>
            <a:off x="640080" y="4526280"/>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Equipo:  </a:t>
            </a:r>
            <a:r>
              <a:rPr lang="en-US" sz="1300" dirty="0">
                <a:solidFill>
                  <a:srgbClr val="C3D3E8"/>
                </a:solidFill>
                <a:latin typeface="Calibri" pitchFamily="34" charset="0"/>
                <a:ea typeface="Calibri" pitchFamily="34" charset="-122"/>
                <a:cs typeface="Calibri" pitchFamily="34" charset="-120"/>
              </a:rPr>
              <a:t>Yerko Rosales (Jefe de Proyecto) · Jonathan Ojeda (Backend y Base de Datos)</a:t>
            </a:r>
            <a:endParaRPr lang="en-US" sz="1300" dirty="0"/>
          </a:p>
        </p:txBody>
      </p:sp>
      <p:sp>
        <p:nvSpPr>
          <p:cNvPr id="11" name="Text 9"/>
          <p:cNvSpPr txBox="1"/>
          <p:nvPr/>
        </p:nvSpPr>
        <p:spPr>
          <a:xfrm>
            <a:off x="640080" y="4855464"/>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Curso / Sección / Profesor:  </a:t>
            </a:r>
            <a:r>
              <a:rPr lang="en-US" sz="1300" dirty="0">
                <a:solidFill>
                  <a:srgbClr val="C3D3E8"/>
                </a:solidFill>
                <a:latin typeface="Calibri" pitchFamily="34" charset="0"/>
                <a:ea typeface="Calibri" pitchFamily="34" charset="-122"/>
                <a:cs typeface="Calibri" pitchFamily="34" charset="-120"/>
              </a:rPr>
              <a:t>PTY4614 Capstone · CAPSTONE_011V · Fernando Herrera</a:t>
            </a:r>
            <a:endParaRPr lang="en-US" sz="1300" dirty="0"/>
          </a:p>
        </p:txBody>
      </p:sp>
      <p:sp>
        <p:nvSpPr>
          <p:cNvPr id="12" name="Text 10"/>
          <p:cNvSpPr txBox="1"/>
          <p:nvPr/>
        </p:nvSpPr>
        <p:spPr>
          <a:xfrm>
            <a:off x="640080" y="5184648"/>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Metodología:  </a:t>
            </a:r>
            <a:r>
              <a:rPr lang="en-US" sz="1300" dirty="0">
                <a:solidFill>
                  <a:srgbClr val="C3D3E8"/>
                </a:solidFill>
                <a:latin typeface="Calibri" pitchFamily="34" charset="0"/>
                <a:ea typeface="Calibri" pitchFamily="34" charset="-122"/>
                <a:cs typeface="Calibri" pitchFamily="34" charset="-120"/>
              </a:rPr>
              <a:t>Tradicional (</a:t>
            </a:r>
            <a:r>
              <a:rPr lang="en-US" sz="1300" dirty="0" err="1">
                <a:solidFill>
                  <a:srgbClr val="C3D3E8"/>
                </a:solidFill>
                <a:latin typeface="Calibri" pitchFamily="34" charset="0"/>
                <a:ea typeface="Calibri" pitchFamily="34" charset="-122"/>
                <a:cs typeface="Calibri" pitchFamily="34" charset="-120"/>
              </a:rPr>
              <a:t>cascada</a:t>
            </a:r>
            <a:r>
              <a:rPr lang="en-US" sz="1300" dirty="0">
                <a:solidFill>
                  <a:srgbClr val="C3D3E8"/>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RESUMEN EJECUTIVO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Dónde estamos hoy</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Semana actual S12 (26/10 al 01/11/2026) · metodología tradicional (cascada) con hitos de control</a:t>
            </a:r>
            <a:endParaRPr lang="en-US" sz="1250" dirty="0"/>
          </a:p>
        </p:txBody>
      </p:sp>
      <p:sp>
        <p:nvSpPr>
          <p:cNvPr id="5" name="Shape 3"/>
          <p:cNvSpPr/>
          <p:nvPr/>
        </p:nvSpPr>
        <p:spPr>
          <a:xfrm>
            <a:off x="548640"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S12 de S14</a:t>
            </a:r>
            <a:endParaRPr lang="en-US" sz="2600" dirty="0"/>
          </a:p>
        </p:txBody>
      </p:sp>
      <p:sp>
        <p:nvSpPr>
          <p:cNvPr id="7" name="Text 5"/>
          <p:cNvSpPr txBox="1"/>
          <p:nvPr/>
        </p:nvSpPr>
        <p:spPr>
          <a:xfrm>
            <a:off x="685800"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semana actual del proyecto</a:t>
            </a:r>
            <a:endParaRPr lang="en-US" sz="1150" dirty="0"/>
          </a:p>
        </p:txBody>
      </p:sp>
      <p:sp>
        <p:nvSpPr>
          <p:cNvPr id="8" name="Shape 6"/>
          <p:cNvSpPr/>
          <p:nvPr/>
        </p:nvSpPr>
        <p:spPr>
          <a:xfrm>
            <a:off x="3355848"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9" name="Text 7"/>
          <p:cNvSpPr txBox="1"/>
          <p:nvPr/>
        </p:nvSpPr>
        <p:spPr>
          <a:xfrm>
            <a:off x="3447288"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85%</a:t>
            </a:r>
            <a:endParaRPr lang="en-US" sz="2600" dirty="0"/>
          </a:p>
        </p:txBody>
      </p:sp>
      <p:sp>
        <p:nvSpPr>
          <p:cNvPr id="10" name="Text 8"/>
          <p:cNvSpPr txBox="1"/>
          <p:nvPr/>
        </p:nvSpPr>
        <p:spPr>
          <a:xfrm>
            <a:off x="3493008"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del plazo transcurrido (14-08 al 13-11)</a:t>
            </a:r>
            <a:endParaRPr lang="en-US" sz="1150" dirty="0"/>
          </a:p>
        </p:txBody>
      </p:sp>
      <p:sp>
        <p:nvSpPr>
          <p:cNvPr id="11" name="Shape 9"/>
          <p:cNvSpPr/>
          <p:nvPr/>
        </p:nvSpPr>
        <p:spPr>
          <a:xfrm>
            <a:off x="6163056"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12" name="Text 10"/>
          <p:cNvSpPr txBox="1"/>
          <p:nvPr/>
        </p:nvSpPr>
        <p:spPr>
          <a:xfrm>
            <a:off x="6254496"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14 días</a:t>
            </a:r>
            <a:endParaRPr lang="en-US" sz="2600" dirty="0"/>
          </a:p>
        </p:txBody>
      </p:sp>
      <p:sp>
        <p:nvSpPr>
          <p:cNvPr id="13" name="Text 11"/>
          <p:cNvSpPr txBox="1"/>
          <p:nvPr/>
        </p:nvSpPr>
        <p:spPr>
          <a:xfrm>
            <a:off x="6300216"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restantes hasta la entrega final</a:t>
            </a:r>
            <a:endParaRPr lang="en-US" sz="1150" dirty="0"/>
          </a:p>
        </p:txBody>
      </p:sp>
      <p:sp>
        <p:nvSpPr>
          <p:cNvPr id="14" name="Shape 12"/>
          <p:cNvSpPr/>
          <p:nvPr/>
        </p:nvSpPr>
        <p:spPr>
          <a:xfrm>
            <a:off x="8970264"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15" name="Text 13"/>
          <p:cNvSpPr txBox="1"/>
          <p:nvPr/>
        </p:nvSpPr>
        <p:spPr>
          <a:xfrm>
            <a:off x="9061704"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32 operaciones</a:t>
            </a:r>
            <a:endParaRPr lang="en-US" sz="2600" dirty="0"/>
          </a:p>
        </p:txBody>
      </p:sp>
      <p:sp>
        <p:nvSpPr>
          <p:cNvPr id="16" name="Text 14"/>
          <p:cNvSpPr txBox="1"/>
          <p:nvPr/>
        </p:nvSpPr>
        <p:spPr>
          <a:xfrm>
            <a:off x="9107424"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API compartida por la web y la app (27 tablas)</a:t>
            </a:r>
            <a:endParaRPr lang="en-US" sz="1150" dirty="0"/>
          </a:p>
        </p:txBody>
      </p:sp>
      <p:sp>
        <p:nvSpPr>
          <p:cNvPr id="17" name="Shape 15"/>
          <p:cNvSpPr/>
          <p:nvPr/>
        </p:nvSpPr>
        <p:spPr>
          <a:xfrm>
            <a:off x="548640" y="3291840"/>
            <a:ext cx="11064240" cy="685800"/>
          </a:xfrm>
          <a:prstGeom prst="rect">
            <a:avLst/>
          </a:prstGeom>
          <a:solidFill>
            <a:srgbClr val="FFFFFF"/>
          </a:solidFill>
          <a:ln w="9525">
            <a:solidFill>
              <a:srgbClr val="D7DCE3"/>
            </a:solidFill>
            <a:prstDash val="solid"/>
          </a:ln>
        </p:spPr>
        <p:txBody>
          <a:bodyPr/>
          <a:lstStyle/>
          <a:p>
            <a:endParaRPr lang="es-CL"/>
          </a:p>
        </p:txBody>
      </p:sp>
      <p:sp>
        <p:nvSpPr>
          <p:cNvPr id="18" name="Shape 16"/>
          <p:cNvSpPr/>
          <p:nvPr/>
        </p:nvSpPr>
        <p:spPr>
          <a:xfrm>
            <a:off x="777240" y="3538728"/>
            <a:ext cx="182880" cy="182880"/>
          </a:xfrm>
          <a:prstGeom prst="ellipse">
            <a:avLst/>
          </a:prstGeom>
          <a:solidFill>
            <a:srgbClr val="2F855A"/>
          </a:solidFill>
          <a:ln w="12700">
            <a:solidFill>
              <a:srgbClr val="2F855A"/>
            </a:solidFill>
            <a:prstDash val="solid"/>
          </a:ln>
        </p:spPr>
        <p:txBody>
          <a:bodyPr/>
          <a:lstStyle/>
          <a:p>
            <a:endParaRPr lang="es-CL"/>
          </a:p>
        </p:txBody>
      </p:sp>
      <p:sp>
        <p:nvSpPr>
          <p:cNvPr id="19" name="Text 17"/>
          <p:cNvSpPr txBox="1"/>
          <p:nvPr/>
        </p:nvSpPr>
        <p:spPr>
          <a:xfrm>
            <a:off x="1097280" y="329184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Realizado</a:t>
            </a:r>
            <a:endParaRPr lang="en-US" sz="1350" dirty="0"/>
          </a:p>
        </p:txBody>
      </p:sp>
      <p:sp>
        <p:nvSpPr>
          <p:cNvPr id="20" name="Text 18"/>
          <p:cNvSpPr txBox="1"/>
          <p:nvPr/>
        </p:nvSpPr>
        <p:spPr>
          <a:xfrm>
            <a:off x="2834640" y="329184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Sistema integrado (H6, 30-10): pago del abono con Webpay, fila por orden de llegada, «Mis datos» y cuentas del personal en la web y la app (27-10), con correcciones de seguridad (28-10).</a:t>
            </a:r>
            <a:endParaRPr lang="en-US" sz="1200" dirty="0"/>
          </a:p>
        </p:txBody>
      </p:sp>
      <p:sp>
        <p:nvSpPr>
          <p:cNvPr id="21" name="Shape 19"/>
          <p:cNvSpPr/>
          <p:nvPr/>
        </p:nvSpPr>
        <p:spPr>
          <a:xfrm>
            <a:off x="548640" y="4069080"/>
            <a:ext cx="11064240" cy="685800"/>
          </a:xfrm>
          <a:prstGeom prst="rect">
            <a:avLst/>
          </a:prstGeom>
          <a:solidFill>
            <a:srgbClr val="FFFFFF"/>
          </a:solidFill>
          <a:ln w="9525">
            <a:solidFill>
              <a:srgbClr val="D7DCE3"/>
            </a:solidFill>
            <a:prstDash val="solid"/>
          </a:ln>
        </p:spPr>
        <p:txBody>
          <a:bodyPr/>
          <a:lstStyle/>
          <a:p>
            <a:endParaRPr lang="es-CL"/>
          </a:p>
        </p:txBody>
      </p:sp>
      <p:sp>
        <p:nvSpPr>
          <p:cNvPr id="22" name="Shape 20"/>
          <p:cNvSpPr/>
          <p:nvPr/>
        </p:nvSpPr>
        <p:spPr>
          <a:xfrm>
            <a:off x="777240" y="4315968"/>
            <a:ext cx="182880" cy="182880"/>
          </a:xfrm>
          <a:prstGeom prst="ellipse">
            <a:avLst/>
          </a:prstGeom>
          <a:solidFill>
            <a:srgbClr val="B5762A"/>
          </a:solidFill>
          <a:ln w="12700">
            <a:solidFill>
              <a:srgbClr val="B5762A"/>
            </a:solidFill>
            <a:prstDash val="solid"/>
          </a:ln>
        </p:spPr>
        <p:txBody>
          <a:bodyPr/>
          <a:lstStyle/>
          <a:p>
            <a:endParaRPr lang="es-CL"/>
          </a:p>
        </p:txBody>
      </p:sp>
      <p:sp>
        <p:nvSpPr>
          <p:cNvPr id="23" name="Text 21"/>
          <p:cNvSpPr txBox="1"/>
          <p:nvPr/>
        </p:nvSpPr>
        <p:spPr>
          <a:xfrm>
            <a:off x="1097280" y="406908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En progreso</a:t>
            </a:r>
            <a:endParaRPr lang="en-US" sz="1350" dirty="0"/>
          </a:p>
        </p:txBody>
      </p:sp>
      <p:sp>
        <p:nvSpPr>
          <p:cNvPr id="24" name="Text 22"/>
          <p:cNvSpPr txBox="1"/>
          <p:nvPr/>
        </p:nvSpPr>
        <p:spPr>
          <a:xfrm>
            <a:off x="2834640" y="406908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Pruebas de integración (API 20/20, seguridad 16/16, web en Chrome automatizado) · prueba de la app en un teléfono real · diagramas según los cambios de S12.</a:t>
            </a:r>
            <a:endParaRPr lang="en-US" sz="1200" dirty="0"/>
          </a:p>
        </p:txBody>
      </p:sp>
      <p:sp>
        <p:nvSpPr>
          <p:cNvPr id="25" name="Shape 23"/>
          <p:cNvSpPr/>
          <p:nvPr/>
        </p:nvSpPr>
        <p:spPr>
          <a:xfrm>
            <a:off x="548640" y="4846320"/>
            <a:ext cx="11064240" cy="685800"/>
          </a:xfrm>
          <a:prstGeom prst="rect">
            <a:avLst/>
          </a:prstGeom>
          <a:solidFill>
            <a:srgbClr val="FFFFFF"/>
          </a:solidFill>
          <a:ln w="9525">
            <a:solidFill>
              <a:srgbClr val="D7DCE3"/>
            </a:solidFill>
            <a:prstDash val="solid"/>
          </a:ln>
        </p:spPr>
        <p:txBody>
          <a:bodyPr/>
          <a:lstStyle/>
          <a:p>
            <a:endParaRPr lang="es-CL"/>
          </a:p>
        </p:txBody>
      </p:sp>
      <p:sp>
        <p:nvSpPr>
          <p:cNvPr id="26" name="Shape 24"/>
          <p:cNvSpPr/>
          <p:nvPr/>
        </p:nvSpPr>
        <p:spPr>
          <a:xfrm>
            <a:off x="777240" y="5093208"/>
            <a:ext cx="182880" cy="182880"/>
          </a:xfrm>
          <a:prstGeom prst="ellipse">
            <a:avLst/>
          </a:prstGeom>
          <a:solidFill>
            <a:srgbClr val="B83A3A"/>
          </a:solidFill>
          <a:ln w="12700">
            <a:solidFill>
              <a:srgbClr val="B83A3A"/>
            </a:solidFill>
            <a:prstDash val="solid"/>
          </a:ln>
        </p:spPr>
        <p:txBody>
          <a:bodyPr/>
          <a:lstStyle/>
          <a:p>
            <a:endParaRPr lang="es-CL"/>
          </a:p>
        </p:txBody>
      </p:sp>
      <p:sp>
        <p:nvSpPr>
          <p:cNvPr id="27" name="Text 25"/>
          <p:cNvSpPr txBox="1"/>
          <p:nvPr/>
        </p:nvSpPr>
        <p:spPr>
          <a:xfrm>
            <a:off x="1097280" y="484632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Atrasado</a:t>
            </a:r>
            <a:endParaRPr lang="en-US" sz="1350" dirty="0"/>
          </a:p>
        </p:txBody>
      </p:sp>
      <p:sp>
        <p:nvSpPr>
          <p:cNvPr id="28" name="Text 26"/>
          <p:cNvSpPr txBox="1"/>
          <p:nvPr/>
        </p:nvSpPr>
        <p:spPr>
          <a:xfrm>
            <a:off x="2834640" y="484632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Notificaciones por correo (falta verificar la cuenta de envío) y respaldo diario propio de la base de datos: planificados para S12, pasan a S13.</a:t>
            </a:r>
            <a:endParaRPr lang="en-US" sz="1200" dirty="0"/>
          </a:p>
        </p:txBody>
      </p:sp>
      <p:sp>
        <p:nvSpPr>
          <p:cNvPr id="29" name="Shape 27"/>
          <p:cNvSpPr/>
          <p:nvPr/>
        </p:nvSpPr>
        <p:spPr>
          <a:xfrm>
            <a:off x="548640" y="5623560"/>
            <a:ext cx="11064240" cy="685800"/>
          </a:xfrm>
          <a:prstGeom prst="rect">
            <a:avLst/>
          </a:prstGeom>
          <a:solidFill>
            <a:srgbClr val="FFFFFF"/>
          </a:solidFill>
          <a:ln w="9525">
            <a:solidFill>
              <a:srgbClr val="D7DCE3"/>
            </a:solidFill>
            <a:prstDash val="solid"/>
          </a:ln>
        </p:spPr>
        <p:txBody>
          <a:bodyPr/>
          <a:lstStyle/>
          <a:p>
            <a:endParaRPr lang="es-CL"/>
          </a:p>
        </p:txBody>
      </p:sp>
      <p:sp>
        <p:nvSpPr>
          <p:cNvPr id="30" name="Shape 28"/>
          <p:cNvSpPr/>
          <p:nvPr/>
        </p:nvSpPr>
        <p:spPr>
          <a:xfrm>
            <a:off x="777240" y="5870448"/>
            <a:ext cx="182880" cy="182880"/>
          </a:xfrm>
          <a:prstGeom prst="ellipse">
            <a:avLst/>
          </a:prstGeom>
          <a:solidFill>
            <a:srgbClr val="9AA3AF"/>
          </a:solidFill>
          <a:ln w="12700">
            <a:solidFill>
              <a:srgbClr val="9AA3AF"/>
            </a:solidFill>
            <a:prstDash val="solid"/>
          </a:ln>
        </p:spPr>
        <p:txBody>
          <a:bodyPr/>
          <a:lstStyle/>
          <a:p>
            <a:endParaRPr lang="es-CL"/>
          </a:p>
        </p:txBody>
      </p:sp>
      <p:sp>
        <p:nvSpPr>
          <p:cNvPr id="31" name="Text 29"/>
          <p:cNvSpPr txBox="1"/>
          <p:nvPr/>
        </p:nvSpPr>
        <p:spPr>
          <a:xfrm>
            <a:off x="1097280" y="562356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Próximo</a:t>
            </a:r>
            <a:endParaRPr lang="en-US" sz="1350" dirty="0"/>
          </a:p>
        </p:txBody>
      </p:sp>
      <p:sp>
        <p:nvSpPr>
          <p:cNvPr id="32" name="Text 30"/>
          <p:cNvSpPr txBox="1"/>
          <p:nvPr/>
        </p:nvSpPr>
        <p:spPr>
          <a:xfrm>
            <a:off x="2834640" y="562356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Despliegue en UAT y APK firmada (S13) · paso al ambiente UAT (H7, 10-11) · entrega final (H8, 13-11) · defensa (H9, 27-11).</a:t>
            </a:r>
            <a:endParaRPr lang="en-US" sz="1200" dirty="0"/>
          </a:p>
        </p:txBody>
      </p:sp>
      <p:sp>
        <p:nvSpPr>
          <p:cNvPr id="33"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ROADMAP · PROYECTO COMPLETO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Roadmap S1 a S16: desde el inicio del proyecto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Metodología tradicional (cascada). Columnas: semanas (S1 = 10 al 16 de agosto); la franja roja es la semana actual. Se actualiza cada semana: versión al 30-10-2026.</a:t>
            </a:r>
            <a:endParaRPr lang="en-US" sz="1250" dirty="0"/>
          </a:p>
        </p:txBody>
      </p:sp>
      <p:sp>
        <p:nvSpPr>
          <p:cNvPr id="5" name="Shape 3"/>
          <p:cNvSpPr/>
          <p:nvPr/>
        </p:nvSpPr>
        <p:spPr>
          <a:xfrm>
            <a:off x="2788920" y="1783080"/>
            <a:ext cx="1636205" cy="228600"/>
          </a:xfrm>
          <a:prstGeom prst="rect">
            <a:avLst/>
          </a:prstGeom>
          <a:solidFill>
            <a:srgbClr val="13294B"/>
          </a:solidFill>
          <a:ln w="12700">
            <a:solidFill>
              <a:srgbClr val="13294B"/>
            </a:solidFill>
            <a:prstDash val="solid"/>
          </a:ln>
        </p:spPr>
        <p:txBody>
          <a:bodyPr/>
          <a:lstStyle/>
          <a:p>
            <a:endParaRPr lang="es-CL"/>
          </a:p>
        </p:txBody>
      </p:sp>
      <p:sp>
        <p:nvSpPr>
          <p:cNvPr id="6" name="Text 4"/>
          <p:cNvSpPr txBox="1"/>
          <p:nvPr/>
        </p:nvSpPr>
        <p:spPr>
          <a:xfrm>
            <a:off x="2788920" y="1783080"/>
            <a:ext cx="1654493"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Agosto</a:t>
            </a:r>
            <a:endParaRPr lang="en-US" sz="1000" dirty="0"/>
          </a:p>
        </p:txBody>
      </p:sp>
      <p:sp>
        <p:nvSpPr>
          <p:cNvPr id="7" name="Shape 5"/>
          <p:cNvSpPr/>
          <p:nvPr/>
        </p:nvSpPr>
        <p:spPr>
          <a:xfrm>
            <a:off x="4443413"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8" name="Text 6"/>
          <p:cNvSpPr txBox="1"/>
          <p:nvPr/>
        </p:nvSpPr>
        <p:spPr>
          <a:xfrm>
            <a:off x="4443413"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Septiembre</a:t>
            </a:r>
            <a:endParaRPr lang="en-US" sz="1000" dirty="0"/>
          </a:p>
        </p:txBody>
      </p:sp>
      <p:sp>
        <p:nvSpPr>
          <p:cNvPr id="9" name="Shape 7"/>
          <p:cNvSpPr/>
          <p:nvPr/>
        </p:nvSpPr>
        <p:spPr>
          <a:xfrm>
            <a:off x="6649403" y="1783080"/>
            <a:ext cx="2739200" cy="228600"/>
          </a:xfrm>
          <a:prstGeom prst="rect">
            <a:avLst/>
          </a:prstGeom>
          <a:solidFill>
            <a:srgbClr val="13294B"/>
          </a:solidFill>
          <a:ln w="12700">
            <a:solidFill>
              <a:srgbClr val="13294B"/>
            </a:solidFill>
            <a:prstDash val="solid"/>
          </a:ln>
        </p:spPr>
        <p:txBody>
          <a:bodyPr/>
          <a:lstStyle/>
          <a:p>
            <a:endParaRPr lang="es-CL"/>
          </a:p>
        </p:txBody>
      </p:sp>
      <p:sp>
        <p:nvSpPr>
          <p:cNvPr id="10" name="Text 8"/>
          <p:cNvSpPr txBox="1"/>
          <p:nvPr/>
        </p:nvSpPr>
        <p:spPr>
          <a:xfrm>
            <a:off x="6649403" y="1783080"/>
            <a:ext cx="2757488"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Octubre</a:t>
            </a:r>
            <a:endParaRPr lang="en-US" sz="1000" dirty="0"/>
          </a:p>
        </p:txBody>
      </p:sp>
      <p:sp>
        <p:nvSpPr>
          <p:cNvPr id="11" name="Shape 9"/>
          <p:cNvSpPr/>
          <p:nvPr/>
        </p:nvSpPr>
        <p:spPr>
          <a:xfrm>
            <a:off x="9406890"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12" name="Text 10"/>
          <p:cNvSpPr txBox="1"/>
          <p:nvPr/>
        </p:nvSpPr>
        <p:spPr>
          <a:xfrm>
            <a:off x="9406890"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Noviembre</a:t>
            </a:r>
            <a:endParaRPr lang="en-US" sz="1000" dirty="0"/>
          </a:p>
        </p:txBody>
      </p:sp>
      <p:sp>
        <p:nvSpPr>
          <p:cNvPr id="13" name="Shape 11"/>
          <p:cNvSpPr/>
          <p:nvPr/>
        </p:nvSpPr>
        <p:spPr>
          <a:xfrm>
            <a:off x="8855392" y="2011680"/>
            <a:ext cx="551498" cy="3886200"/>
          </a:xfrm>
          <a:prstGeom prst="rect">
            <a:avLst/>
          </a:prstGeom>
          <a:solidFill>
            <a:srgbClr val="B83A3A">
              <a:alpha val="18000"/>
            </a:srgbClr>
          </a:solidFill>
          <a:ln w="12700">
            <a:solidFill>
              <a:srgbClr val="B83A3A"/>
            </a:solidFill>
            <a:prstDash val="solid"/>
          </a:ln>
        </p:spPr>
        <p:txBody>
          <a:bodyPr/>
          <a:lstStyle/>
          <a:p>
            <a:endParaRPr lang="es-CL"/>
          </a:p>
        </p:txBody>
      </p:sp>
      <p:sp>
        <p:nvSpPr>
          <p:cNvPr id="14" name="Text 12"/>
          <p:cNvSpPr txBox="1"/>
          <p:nvPr/>
        </p:nvSpPr>
        <p:spPr>
          <a:xfrm>
            <a:off x="278892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a:t>
            </a:r>
            <a:endParaRPr lang="en-US" sz="900" dirty="0"/>
          </a:p>
        </p:txBody>
      </p:sp>
      <p:sp>
        <p:nvSpPr>
          <p:cNvPr id="15" name="Text 13"/>
          <p:cNvSpPr txBox="1"/>
          <p:nvPr/>
        </p:nvSpPr>
        <p:spPr>
          <a:xfrm>
            <a:off x="3340417"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S2</a:t>
            </a:r>
            <a:endParaRPr lang="en-US" sz="900" dirty="0"/>
          </a:p>
        </p:txBody>
      </p:sp>
      <p:sp>
        <p:nvSpPr>
          <p:cNvPr id="16" name="Text 14"/>
          <p:cNvSpPr txBox="1"/>
          <p:nvPr/>
        </p:nvSpPr>
        <p:spPr>
          <a:xfrm>
            <a:off x="389191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S3</a:t>
            </a:r>
            <a:endParaRPr lang="en-US" sz="900" dirty="0"/>
          </a:p>
        </p:txBody>
      </p:sp>
      <p:sp>
        <p:nvSpPr>
          <p:cNvPr id="17" name="Text 15"/>
          <p:cNvSpPr txBox="1"/>
          <p:nvPr/>
        </p:nvSpPr>
        <p:spPr>
          <a:xfrm>
            <a:off x="444341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S4</a:t>
            </a:r>
            <a:endParaRPr lang="en-US" sz="900" dirty="0"/>
          </a:p>
        </p:txBody>
      </p:sp>
      <p:sp>
        <p:nvSpPr>
          <p:cNvPr id="18" name="Text 16"/>
          <p:cNvSpPr txBox="1"/>
          <p:nvPr/>
        </p:nvSpPr>
        <p:spPr>
          <a:xfrm>
            <a:off x="499491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S5</a:t>
            </a:r>
            <a:endParaRPr lang="en-US" sz="900" dirty="0"/>
          </a:p>
        </p:txBody>
      </p:sp>
      <p:sp>
        <p:nvSpPr>
          <p:cNvPr id="19" name="Text 17"/>
          <p:cNvSpPr txBox="1"/>
          <p:nvPr/>
        </p:nvSpPr>
        <p:spPr>
          <a:xfrm>
            <a:off x="554640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S6</a:t>
            </a:r>
            <a:endParaRPr lang="en-US" sz="900" dirty="0"/>
          </a:p>
        </p:txBody>
      </p:sp>
      <p:sp>
        <p:nvSpPr>
          <p:cNvPr id="20" name="Text 18"/>
          <p:cNvSpPr txBox="1"/>
          <p:nvPr/>
        </p:nvSpPr>
        <p:spPr>
          <a:xfrm>
            <a:off x="609790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S7</a:t>
            </a:r>
            <a:endParaRPr lang="en-US" sz="900" dirty="0"/>
          </a:p>
        </p:txBody>
      </p:sp>
      <p:sp>
        <p:nvSpPr>
          <p:cNvPr id="21" name="Text 19"/>
          <p:cNvSpPr txBox="1"/>
          <p:nvPr/>
        </p:nvSpPr>
        <p:spPr>
          <a:xfrm>
            <a:off x="664940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S8</a:t>
            </a:r>
            <a:endParaRPr lang="en-US" sz="900" dirty="0"/>
          </a:p>
        </p:txBody>
      </p:sp>
      <p:sp>
        <p:nvSpPr>
          <p:cNvPr id="22" name="Text 20"/>
          <p:cNvSpPr txBox="1"/>
          <p:nvPr/>
        </p:nvSpPr>
        <p:spPr>
          <a:xfrm>
            <a:off x="720090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S9</a:t>
            </a:r>
            <a:endParaRPr lang="en-US" sz="900" dirty="0"/>
          </a:p>
        </p:txBody>
      </p:sp>
      <p:sp>
        <p:nvSpPr>
          <p:cNvPr id="23" name="Text 21"/>
          <p:cNvSpPr txBox="1"/>
          <p:nvPr/>
        </p:nvSpPr>
        <p:spPr>
          <a:xfrm>
            <a:off x="775239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S10</a:t>
            </a:r>
            <a:endParaRPr lang="en-US" sz="900" dirty="0"/>
          </a:p>
        </p:txBody>
      </p:sp>
      <p:sp>
        <p:nvSpPr>
          <p:cNvPr id="24" name="Text 22"/>
          <p:cNvSpPr txBox="1"/>
          <p:nvPr/>
        </p:nvSpPr>
        <p:spPr>
          <a:xfrm>
            <a:off x="8303895" y="2029968"/>
            <a:ext cx="551498" cy="228600"/>
          </a:xfrm>
          <a:prstGeom prst="rect">
            <a:avLst/>
          </a:prstGeom>
          <a:noFill/>
          <a:ln/>
        </p:spPr>
        <p:txBody>
          <a:bodyPr wrap="square" lIns="0" tIns="0" rIns="0" bIns="0" rtlCol="0" anchor="ctr"/>
          <a:lstStyle/>
          <a:p>
            <a:pPr marL="0" indent="0" algn="ctr">
              <a:buNone/>
            </a:pPr>
            <a:r>
              <a:rPr lang="en-US" sz="900" b="0" dirty="0">
                <a:solidFill>
                  <a:srgbClr val="5B6472"/>
                </a:solidFill>
                <a:latin typeface="Calibri" pitchFamily="34" charset="0"/>
                <a:ea typeface="Calibri" pitchFamily="34" charset="-122"/>
                <a:cs typeface="Calibri" pitchFamily="34" charset="-120"/>
              </a:rPr>
              <a:t>S11</a:t>
            </a:r>
            <a:endParaRPr lang="en-US" sz="900" dirty="0"/>
          </a:p>
        </p:txBody>
      </p:sp>
      <p:sp>
        <p:nvSpPr>
          <p:cNvPr id="25" name="Text 23"/>
          <p:cNvSpPr txBox="1"/>
          <p:nvPr/>
        </p:nvSpPr>
        <p:spPr>
          <a:xfrm>
            <a:off x="8855393" y="2029968"/>
            <a:ext cx="551498" cy="228600"/>
          </a:xfrm>
          <a:prstGeom prst="rect">
            <a:avLst/>
          </a:prstGeom>
          <a:noFill/>
          <a:ln/>
        </p:spPr>
        <p:txBody>
          <a:bodyPr wrap="square" lIns="0" tIns="0" rIns="0" bIns="0" rtlCol="0" anchor="ctr"/>
          <a:lstStyle/>
          <a:p>
            <a:pPr marL="0" indent="0" algn="ctr">
              <a:buNone/>
            </a:pPr>
            <a:r>
              <a:rPr lang="en-US" sz="900" dirty="0" b="1">
                <a:solidFill>
                  <a:srgbClr val="B83A3A"/>
                </a:solidFill>
                <a:latin typeface="Calibri" pitchFamily="34" charset="0"/>
                <a:ea typeface="Calibri" pitchFamily="34" charset="-122"/>
                <a:cs typeface="Calibri" pitchFamily="34" charset="-120"/>
              </a:rPr>
              <a:t>S12</a:t>
            </a:r>
            <a:endParaRPr lang="en-US" sz="900" dirty="0"/>
          </a:p>
        </p:txBody>
      </p:sp>
      <p:sp>
        <p:nvSpPr>
          <p:cNvPr id="26" name="Text 24"/>
          <p:cNvSpPr txBox="1"/>
          <p:nvPr/>
        </p:nvSpPr>
        <p:spPr>
          <a:xfrm>
            <a:off x="940689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S13</a:t>
            </a:r>
            <a:endParaRPr lang="en-US" sz="900" dirty="0"/>
          </a:p>
        </p:txBody>
      </p:sp>
      <p:sp>
        <p:nvSpPr>
          <p:cNvPr id="27" name="Text 25"/>
          <p:cNvSpPr txBox="1"/>
          <p:nvPr/>
        </p:nvSpPr>
        <p:spPr>
          <a:xfrm>
            <a:off x="995838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S14</a:t>
            </a:r>
            <a:endParaRPr lang="en-US" sz="900" dirty="0"/>
          </a:p>
        </p:txBody>
      </p:sp>
      <p:sp>
        <p:nvSpPr>
          <p:cNvPr id="28" name="Text 26"/>
          <p:cNvSpPr txBox="1"/>
          <p:nvPr/>
        </p:nvSpPr>
        <p:spPr>
          <a:xfrm>
            <a:off x="1050988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S15</a:t>
            </a:r>
            <a:endParaRPr lang="en-US" sz="900" dirty="0"/>
          </a:p>
        </p:txBody>
      </p:sp>
      <p:sp>
        <p:nvSpPr>
          <p:cNvPr id="29" name="Text 27"/>
          <p:cNvSpPr txBox="1"/>
          <p:nvPr/>
        </p:nvSpPr>
        <p:spPr>
          <a:xfrm>
            <a:off x="1106138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S16</a:t>
            </a:r>
            <a:endParaRPr lang="en-US" sz="900" dirty="0"/>
          </a:p>
        </p:txBody>
      </p:sp>
      <p:sp>
        <p:nvSpPr>
          <p:cNvPr id="30" name="Text 28"/>
          <p:cNvSpPr txBox="1"/>
          <p:nvPr/>
        </p:nvSpPr>
        <p:spPr>
          <a:xfrm>
            <a:off x="548640" y="233172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Planificación y control</a:t>
            </a:r>
            <a:endParaRPr lang="en-US" sz="1200" dirty="0"/>
          </a:p>
        </p:txBody>
      </p:sp>
      <p:sp>
        <p:nvSpPr>
          <p:cNvPr id="31" name="Shape 29"/>
          <p:cNvSpPr/>
          <p:nvPr/>
        </p:nvSpPr>
        <p:spPr>
          <a:xfrm>
            <a:off x="2788920" y="2807208"/>
            <a:ext cx="8823960" cy="0"/>
          </a:xfrm>
          <a:prstGeom prst="line">
            <a:avLst/>
          </a:prstGeom>
          <a:noFill/>
          <a:ln w="6350">
            <a:solidFill>
              <a:srgbClr val="D7DCE3"/>
            </a:solidFill>
            <a:prstDash val="solid"/>
          </a:ln>
        </p:spPr>
        <p:txBody>
          <a:bodyPr/>
          <a:lstStyle/>
          <a:p>
            <a:endParaRPr lang="es-CL"/>
          </a:p>
        </p:txBody>
      </p:sp>
      <p:sp>
        <p:nvSpPr>
          <p:cNvPr id="32" name="Shape 30"/>
          <p:cNvSpPr/>
          <p:nvPr/>
        </p:nvSpPr>
        <p:spPr>
          <a:xfrm>
            <a:off x="2807208" y="2386584"/>
            <a:ext cx="2169414" cy="329184"/>
          </a:xfrm>
          <a:prstGeom prst="rect">
            <a:avLst/>
          </a:prstGeom>
          <a:solidFill>
            <a:srgbClr val="2F855A"/>
          </a:solidFill>
          <a:ln w="12700">
            <a:solidFill>
              <a:srgbClr val="2F855A"/>
            </a:solidFill>
            <a:prstDash val="solid"/>
          </a:ln>
        </p:spPr>
        <p:txBody>
          <a:bodyPr/>
          <a:lstStyle/>
          <a:p>
            <a:endParaRPr lang="es-CL"/>
          </a:p>
        </p:txBody>
      </p:sp>
      <p:sp>
        <p:nvSpPr>
          <p:cNvPr id="33" name="Text 31"/>
          <p:cNvSpPr txBox="1"/>
          <p:nvPr/>
        </p:nvSpPr>
        <p:spPr>
          <a:xfrm>
            <a:off x="2807208" y="2386584"/>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Acta, ERS, EDT, planes</a:t>
            </a:r>
            <a:endParaRPr lang="en-US" sz="850" dirty="0"/>
          </a:p>
        </p:txBody>
      </p:sp>
      <p:sp>
        <p:nvSpPr>
          <p:cNvPr id="34" name="Shape 32"/>
          <p:cNvSpPr/>
          <p:nvPr/>
        </p:nvSpPr>
        <p:spPr>
          <a:xfrm>
            <a:off x="5013198" y="2386584"/>
            <a:ext cx="3272409" cy="329184"/>
          </a:xfrm>
          <a:prstGeom prst="rect">
            <a:avLst/>
          </a:prstGeom>
          <a:solidFill>
            <a:srgbClr val="2F855A"/>
          </a:solidFill>
          <a:ln w="12700">
            <a:solidFill>
              <a:srgbClr val="2F855A"/>
            </a:solidFill>
            <a:prstDash val="solid"/>
          </a:ln>
        </p:spPr>
        <p:txBody>
          <a:bodyPr/>
          <a:lstStyle/>
          <a:p>
            <a:endParaRPr lang="es-CL"/>
          </a:p>
        </p:txBody>
      </p:sp>
      <p:sp>
        <p:nvSpPr>
          <p:cNvPr id="35" name="Text 33"/>
          <p:cNvSpPr txBox="1"/>
          <p:nvPr/>
        </p:nvSpPr>
        <p:spPr>
          <a:xfrm>
            <a:off x="5013198" y="2386584"/>
            <a:ext cx="327240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Seguimiento semanal y control de cambios</a:t>
            </a:r>
            <a:endParaRPr lang="en-US" sz="850" dirty="0"/>
          </a:p>
        </p:txBody>
      </p:sp>
      <p:sp>
        <p:nvSpPr>
          <p:cNvPr id="36" name="Shape 34"/>
          <p:cNvSpPr/>
          <p:nvPr/>
        </p:nvSpPr>
        <p:spPr>
          <a:xfrm>
            <a:off x="8322183" y="2386584"/>
            <a:ext cx="514922" cy="329184"/>
          </a:xfrm>
          <a:prstGeom prst="rect">
            <a:avLst/>
          </a:prstGeom>
          <a:solidFill>
            <a:srgbClr val="2F855A"/>
          </a:solidFill>
          <a:ln w="12700">
            <a:solidFill>
              <a:srgbClr val="2F855A"/>
            </a:solidFill>
            <a:prstDash val="solid"/>
          </a:ln>
        </p:spPr>
        <p:txBody>
          <a:bodyPr/>
          <a:lstStyle/>
          <a:p>
            <a:endParaRPr lang="es-CL"/>
          </a:p>
        </p:txBody>
      </p:sp>
      <p:sp>
        <p:nvSpPr>
          <p:cNvPr id="37" name="Text 35"/>
          <p:cNvSpPr txBox="1"/>
          <p:nvPr/>
        </p:nvSpPr>
        <p:spPr>
          <a:xfrm>
            <a:off x="8322183" y="238658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Roadmap</a:t>
            </a:r>
            <a:endParaRPr lang="en-US" sz="850" dirty="0"/>
          </a:p>
        </p:txBody>
      </p:sp>
      <p:sp>
        <p:nvSpPr>
          <p:cNvPr id="38" name="Shape 36"/>
          <p:cNvSpPr/>
          <p:nvPr/>
        </p:nvSpPr>
        <p:spPr>
          <a:xfrm>
            <a:off x="9425178" y="2386584"/>
            <a:ext cx="2169414" cy="329184"/>
          </a:xfrm>
          <a:prstGeom prst="rect">
            <a:avLst/>
          </a:prstGeom>
          <a:solidFill>
            <a:srgbClr val="13294B"/>
          </a:solidFill>
          <a:ln w="12700">
            <a:solidFill>
              <a:srgbClr val="13294B"/>
            </a:solidFill>
            <a:prstDash val="solid"/>
          </a:ln>
        </p:spPr>
        <p:txBody>
          <a:bodyPr/>
          <a:lstStyle/>
          <a:p>
            <a:endParaRPr lang="es-CL"/>
          </a:p>
        </p:txBody>
      </p:sp>
      <p:sp>
        <p:nvSpPr>
          <p:cNvPr id="39" name="Text 37"/>
          <p:cNvSpPr txBox="1"/>
          <p:nvPr/>
        </p:nvSpPr>
        <p:spPr>
          <a:xfrm>
            <a:off x="9425178" y="2386584"/>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Seguimiento semanal y roadmap</a:t>
            </a:r>
            <a:endParaRPr lang="en-US" sz="850" dirty="0"/>
          </a:p>
        </p:txBody>
      </p:sp>
      <p:sp>
        <p:nvSpPr>
          <p:cNvPr id="40" name="Text 38"/>
          <p:cNvSpPr txBox="1"/>
          <p:nvPr/>
        </p:nvSpPr>
        <p:spPr>
          <a:xfrm>
            <a:off x="548640" y="2843784"/>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Diseño</a:t>
            </a:r>
            <a:endParaRPr lang="en-US" sz="1200" dirty="0"/>
          </a:p>
        </p:txBody>
      </p:sp>
      <p:sp>
        <p:nvSpPr>
          <p:cNvPr id="41" name="Shape 39"/>
          <p:cNvSpPr/>
          <p:nvPr/>
        </p:nvSpPr>
        <p:spPr>
          <a:xfrm>
            <a:off x="2788920" y="3319272"/>
            <a:ext cx="8823960" cy="0"/>
          </a:xfrm>
          <a:prstGeom prst="line">
            <a:avLst/>
          </a:prstGeom>
          <a:noFill/>
          <a:ln w="6350">
            <a:solidFill>
              <a:srgbClr val="D7DCE3"/>
            </a:solidFill>
            <a:prstDash val="solid"/>
          </a:ln>
        </p:spPr>
        <p:txBody>
          <a:bodyPr/>
          <a:lstStyle/>
          <a:p>
            <a:endParaRPr lang="es-CL"/>
          </a:p>
        </p:txBody>
      </p:sp>
      <p:sp>
        <p:nvSpPr>
          <p:cNvPr id="42" name="Shape 40"/>
          <p:cNvSpPr/>
          <p:nvPr/>
        </p:nvSpPr>
        <p:spPr>
          <a:xfrm>
            <a:off x="5013198" y="2898648"/>
            <a:ext cx="3272409" cy="329184"/>
          </a:xfrm>
          <a:prstGeom prst="rect">
            <a:avLst/>
          </a:prstGeom>
          <a:solidFill>
            <a:srgbClr val="2F855A"/>
          </a:solidFill>
          <a:ln w="12700">
            <a:solidFill>
              <a:srgbClr val="2F855A"/>
            </a:solidFill>
            <a:prstDash val="solid"/>
          </a:ln>
        </p:spPr>
        <p:txBody>
          <a:bodyPr/>
          <a:lstStyle/>
          <a:p>
            <a:endParaRPr lang="es-CL"/>
          </a:p>
        </p:txBody>
      </p:sp>
      <p:sp>
        <p:nvSpPr>
          <p:cNvPr id="43" name="Text 41"/>
          <p:cNvSpPr txBox="1"/>
          <p:nvPr/>
        </p:nvSpPr>
        <p:spPr>
          <a:xfrm>
            <a:off x="5013198" y="2898648"/>
            <a:ext cx="327240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UX/UI, 4+1, casos de uso, modelo E-R, Ley 21.719</a:t>
            </a:r>
            <a:endParaRPr lang="en-US" sz="850" dirty="0"/>
          </a:p>
        </p:txBody>
      </p:sp>
      <p:sp>
        <p:nvSpPr>
          <p:cNvPr id="44" name="Shape 42"/>
          <p:cNvSpPr/>
          <p:nvPr/>
        </p:nvSpPr>
        <p:spPr>
          <a:xfrm>
            <a:off x="8322183" y="2898648"/>
            <a:ext cx="514922" cy="329184"/>
          </a:xfrm>
          <a:prstGeom prst="rect">
            <a:avLst/>
          </a:prstGeom>
          <a:solidFill>
            <a:srgbClr val="2F855A"/>
          </a:solidFill>
          <a:ln w="12700">
            <a:solidFill>
              <a:srgbClr val="2F855A"/>
            </a:solidFill>
            <a:prstDash val="solid"/>
          </a:ln>
        </p:spPr>
        <p:txBody>
          <a:bodyPr/>
          <a:lstStyle/>
          <a:p>
            <a:endParaRPr lang="es-CL"/>
          </a:p>
        </p:txBody>
      </p:sp>
      <p:sp>
        <p:nvSpPr>
          <p:cNvPr id="45" name="Text 43"/>
          <p:cNvSpPr txBox="1"/>
          <p:nvPr/>
        </p:nvSpPr>
        <p:spPr>
          <a:xfrm>
            <a:off x="8322183" y="2898648"/>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Modelo v1.2</a:t>
            </a:r>
            <a:endParaRPr lang="en-US" sz="850" dirty="0"/>
          </a:p>
        </p:txBody>
      </p:sp>
      <p:sp>
        <p:nvSpPr>
          <p:cNvPr id="46" name="Text 44"/>
          <p:cNvSpPr txBox="1"/>
          <p:nvPr/>
        </p:nvSpPr>
        <p:spPr>
          <a:xfrm>
            <a:off x="548640" y="3355848"/>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Desarrollo</a:t>
            </a:r>
            <a:endParaRPr lang="en-US" sz="1200" dirty="0"/>
          </a:p>
        </p:txBody>
      </p:sp>
      <p:sp>
        <p:nvSpPr>
          <p:cNvPr id="47" name="Shape 45"/>
          <p:cNvSpPr/>
          <p:nvPr/>
        </p:nvSpPr>
        <p:spPr>
          <a:xfrm>
            <a:off x="2788920" y="3831336"/>
            <a:ext cx="8823960" cy="0"/>
          </a:xfrm>
          <a:prstGeom prst="line">
            <a:avLst/>
          </a:prstGeom>
          <a:noFill/>
          <a:ln w="6350">
            <a:solidFill>
              <a:srgbClr val="D7DCE3"/>
            </a:solidFill>
            <a:prstDash val="solid"/>
          </a:ln>
        </p:spPr>
        <p:txBody>
          <a:bodyPr/>
          <a:lstStyle/>
          <a:p>
            <a:endParaRPr lang="es-CL"/>
          </a:p>
        </p:txBody>
      </p:sp>
      <p:sp>
        <p:nvSpPr>
          <p:cNvPr id="48" name="Shape 46"/>
          <p:cNvSpPr/>
          <p:nvPr/>
        </p:nvSpPr>
        <p:spPr>
          <a:xfrm>
            <a:off x="6116193" y="3410712"/>
            <a:ext cx="2169414" cy="329184"/>
          </a:xfrm>
          <a:prstGeom prst="rect">
            <a:avLst/>
          </a:prstGeom>
          <a:solidFill>
            <a:srgbClr val="2F855A"/>
          </a:solidFill>
          <a:ln w="12700">
            <a:solidFill>
              <a:srgbClr val="2F855A"/>
            </a:solidFill>
            <a:prstDash val="solid"/>
          </a:ln>
        </p:spPr>
        <p:txBody>
          <a:bodyPr/>
          <a:lstStyle/>
          <a:p>
            <a:endParaRPr lang="es-CL"/>
          </a:p>
        </p:txBody>
      </p:sp>
      <p:sp>
        <p:nvSpPr>
          <p:cNvPr id="49" name="Text 47"/>
          <p:cNvSpPr txBox="1"/>
          <p:nvPr/>
        </p:nvSpPr>
        <p:spPr>
          <a:xfrm>
            <a:off x="6116193" y="3410712"/>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Prototipos web y app · BD en PostgreSQL</a:t>
            </a:r>
            <a:endParaRPr lang="en-US" sz="850" dirty="0"/>
          </a:p>
        </p:txBody>
      </p:sp>
      <p:sp>
        <p:nvSpPr>
          <p:cNvPr id="50" name="Shape 48"/>
          <p:cNvSpPr/>
          <p:nvPr/>
        </p:nvSpPr>
        <p:spPr>
          <a:xfrm>
            <a:off x="8322183" y="3410712"/>
            <a:ext cx="514922" cy="329184"/>
          </a:xfrm>
          <a:prstGeom prst="rect">
            <a:avLst/>
          </a:prstGeom>
          <a:solidFill>
            <a:srgbClr val="2F855A"/>
          </a:solidFill>
          <a:ln w="12700">
            <a:solidFill>
              <a:srgbClr val="2F855A"/>
            </a:solidFill>
            <a:prstDash val="solid"/>
          </a:ln>
        </p:spPr>
        <p:txBody>
          <a:bodyPr/>
          <a:lstStyle/>
          <a:p>
            <a:endParaRPr lang="es-CL"/>
          </a:p>
        </p:txBody>
      </p:sp>
      <p:sp>
        <p:nvSpPr>
          <p:cNvPr id="51" name="Text 49"/>
          <p:cNvSpPr txBox="1"/>
          <p:nvPr/>
        </p:nvSpPr>
        <p:spPr>
          <a:xfrm>
            <a:off x="8322183" y="3410712"/>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API</a:t>
            </a:r>
            <a:endParaRPr lang="en-US" sz="850" dirty="0"/>
          </a:p>
        </p:txBody>
      </p:sp>
      <p:sp>
        <p:nvSpPr>
          <p:cNvPr id="52" name="Shape 50"/>
          <p:cNvSpPr/>
          <p:nvPr/>
        </p:nvSpPr>
        <p:spPr>
          <a:xfrm>
            <a:off x="8873680" y="3410712"/>
            <a:ext cx="514921" cy="329184"/>
          </a:xfrm>
          <a:prstGeom prst="rect">
            <a:avLst/>
          </a:prstGeom>
          <a:solidFill>
            <a:srgbClr val="2F855A"/>
          </a:solidFill>
          <a:ln w="12700">
            <a:solidFill>
              <a:srgbClr val="2F855A"/>
            </a:solidFill>
            <a:prstDash val="solid"/>
          </a:ln>
        </p:spPr>
        <p:txBody>
          <a:bodyPr/>
          <a:lstStyle/>
          <a:p>
            <a:endParaRPr lang="es-CL"/>
          </a:p>
        </p:txBody>
      </p:sp>
      <p:sp>
        <p:nvSpPr>
          <p:cNvPr id="53" name="Text 51"/>
          <p:cNvSpPr txBox="1"/>
          <p:nvPr/>
        </p:nvSpPr>
        <p:spPr>
          <a:xfrm>
            <a:off x="8873680" y="3410712"/>
            <a:ext cx="514921"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Integración H6</a:t>
            </a:r>
            <a:endParaRPr lang="en-US" sz="850" dirty="0"/>
          </a:p>
        </p:txBody>
      </p:sp>
      <p:sp>
        <p:nvSpPr>
          <p:cNvPr id="54" name="Text 52"/>
          <p:cNvSpPr txBox="1"/>
          <p:nvPr/>
        </p:nvSpPr>
        <p:spPr>
          <a:xfrm>
            <a:off x="548640" y="3867912"/>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Pruebas / QA</a:t>
            </a:r>
            <a:endParaRPr lang="en-US" sz="1200" dirty="0"/>
          </a:p>
        </p:txBody>
      </p:sp>
      <p:sp>
        <p:nvSpPr>
          <p:cNvPr id="55" name="Shape 53"/>
          <p:cNvSpPr/>
          <p:nvPr/>
        </p:nvSpPr>
        <p:spPr>
          <a:xfrm>
            <a:off x="2788920" y="4343400"/>
            <a:ext cx="8823960" cy="0"/>
          </a:xfrm>
          <a:prstGeom prst="line">
            <a:avLst/>
          </a:prstGeom>
          <a:noFill/>
          <a:ln w="6350">
            <a:solidFill>
              <a:srgbClr val="D7DCE3"/>
            </a:solidFill>
            <a:prstDash val="solid"/>
          </a:ln>
        </p:spPr>
        <p:txBody>
          <a:bodyPr/>
          <a:lstStyle/>
          <a:p>
            <a:endParaRPr lang="es-CL"/>
          </a:p>
        </p:txBody>
      </p:sp>
      <p:sp>
        <p:nvSpPr>
          <p:cNvPr id="56" name="Shape 54"/>
          <p:cNvSpPr/>
          <p:nvPr/>
        </p:nvSpPr>
        <p:spPr>
          <a:xfrm>
            <a:off x="7219188" y="3922776"/>
            <a:ext cx="1617917" cy="329184"/>
          </a:xfrm>
          <a:prstGeom prst="rect">
            <a:avLst/>
          </a:prstGeom>
          <a:solidFill>
            <a:srgbClr val="2F855A"/>
          </a:solidFill>
          <a:ln w="12700">
            <a:solidFill>
              <a:srgbClr val="2F855A"/>
            </a:solidFill>
            <a:prstDash val="solid"/>
          </a:ln>
        </p:spPr>
        <p:txBody>
          <a:bodyPr/>
          <a:lstStyle/>
          <a:p>
            <a:endParaRPr lang="es-CL"/>
          </a:p>
        </p:txBody>
      </p:sp>
      <p:sp>
        <p:nvSpPr>
          <p:cNvPr id="57" name="Text 55"/>
          <p:cNvSpPr txBox="1"/>
          <p:nvPr/>
        </p:nvSpPr>
        <p:spPr>
          <a:xfrm>
            <a:off x="7219188" y="3922776"/>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BD 24/24 · API 17/17 · plan</a:t>
            </a:r>
            <a:endParaRPr lang="en-US" sz="850" dirty="0"/>
          </a:p>
        </p:txBody>
      </p:sp>
      <p:sp>
        <p:nvSpPr>
          <p:cNvPr id="58" name="Shape 56"/>
          <p:cNvSpPr/>
          <p:nvPr/>
        </p:nvSpPr>
        <p:spPr>
          <a:xfrm>
            <a:off x="8873680" y="3922776"/>
            <a:ext cx="514921" cy="329184"/>
          </a:xfrm>
          <a:prstGeom prst="rect">
            <a:avLst/>
          </a:prstGeom>
          <a:solidFill>
            <a:srgbClr val="B5762A"/>
          </a:solidFill>
          <a:ln w="12700">
            <a:solidFill>
              <a:srgbClr val="B5762A"/>
            </a:solidFill>
            <a:prstDash val="solid"/>
          </a:ln>
        </p:spPr>
        <p:txBody>
          <a:bodyPr/>
          <a:lstStyle/>
          <a:p>
            <a:endParaRPr lang="es-CL"/>
          </a:p>
        </p:txBody>
      </p:sp>
      <p:sp>
        <p:nvSpPr>
          <p:cNvPr id="59" name="Text 57"/>
          <p:cNvSpPr txBox="1"/>
          <p:nvPr/>
        </p:nvSpPr>
        <p:spPr>
          <a:xfrm>
            <a:off x="8873680" y="3922776"/>
            <a:ext cx="514921"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Integración</a:t>
            </a:r>
            <a:endParaRPr lang="en-US" sz="850" dirty="0"/>
          </a:p>
        </p:txBody>
      </p:sp>
      <p:sp>
        <p:nvSpPr>
          <p:cNvPr id="60" name="Text 58"/>
          <p:cNvSpPr txBox="1"/>
          <p:nvPr/>
        </p:nvSpPr>
        <p:spPr>
          <a:xfrm>
            <a:off x="548640" y="4379976"/>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Despliegue</a:t>
            </a:r>
            <a:endParaRPr lang="en-US" sz="1200" dirty="0"/>
          </a:p>
        </p:txBody>
      </p:sp>
      <p:sp>
        <p:nvSpPr>
          <p:cNvPr id="61" name="Shape 59"/>
          <p:cNvSpPr/>
          <p:nvPr/>
        </p:nvSpPr>
        <p:spPr>
          <a:xfrm>
            <a:off x="2788920" y="4855464"/>
            <a:ext cx="8823960" cy="0"/>
          </a:xfrm>
          <a:prstGeom prst="line">
            <a:avLst/>
          </a:prstGeom>
          <a:noFill/>
          <a:ln w="6350">
            <a:solidFill>
              <a:srgbClr val="D7DCE3"/>
            </a:solidFill>
            <a:prstDash val="solid"/>
          </a:ln>
        </p:spPr>
        <p:txBody>
          <a:bodyPr/>
          <a:lstStyle/>
          <a:p>
            <a:endParaRPr lang="es-CL"/>
          </a:p>
        </p:txBody>
      </p:sp>
      <p:sp>
        <p:nvSpPr>
          <p:cNvPr id="62" name="Shape 60"/>
          <p:cNvSpPr/>
          <p:nvPr/>
        </p:nvSpPr>
        <p:spPr>
          <a:xfrm>
            <a:off x="8873680" y="4434840"/>
            <a:ext cx="514921" cy="329184"/>
          </a:xfrm>
          <a:prstGeom prst="rect">
            <a:avLst/>
          </a:prstGeom>
          <a:solidFill>
            <a:srgbClr val="B5762A"/>
          </a:solidFill>
          <a:ln w="12700">
            <a:solidFill>
              <a:srgbClr val="B5762A"/>
            </a:solidFill>
            <a:prstDash val="solid"/>
          </a:ln>
        </p:spPr>
        <p:txBody>
          <a:bodyPr/>
          <a:lstStyle/>
          <a:p>
            <a:endParaRPr lang="es-CL"/>
          </a:p>
        </p:txBody>
      </p:sp>
      <p:sp>
        <p:nvSpPr>
          <p:cNvPr id="63" name="Text 61"/>
          <p:cNvSpPr txBox="1"/>
          <p:nvPr/>
        </p:nvSpPr>
        <p:spPr>
          <a:xfrm>
            <a:off x="8873680" y="4434840"/>
            <a:ext cx="514921"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Web UAT</a:t>
            </a:r>
            <a:endParaRPr lang="en-US" sz="850" dirty="0"/>
          </a:p>
        </p:txBody>
      </p:sp>
      <p:sp>
        <p:nvSpPr>
          <p:cNvPr id="64" name="Shape 62"/>
          <p:cNvSpPr/>
          <p:nvPr/>
        </p:nvSpPr>
        <p:spPr>
          <a:xfrm>
            <a:off x="9976676" y="4434840"/>
            <a:ext cx="514922" cy="329184"/>
          </a:xfrm>
          <a:prstGeom prst="rect">
            <a:avLst/>
          </a:prstGeom>
          <a:solidFill>
            <a:srgbClr val="13294B"/>
          </a:solidFill>
          <a:ln w="12700">
            <a:solidFill>
              <a:srgbClr val="13294B"/>
            </a:solidFill>
            <a:prstDash val="solid"/>
          </a:ln>
        </p:spPr>
        <p:txBody>
          <a:bodyPr/>
          <a:lstStyle/>
          <a:p>
            <a:endParaRPr lang="es-CL"/>
          </a:p>
        </p:txBody>
      </p:sp>
      <p:sp>
        <p:nvSpPr>
          <p:cNvPr id="65" name="Text 63"/>
          <p:cNvSpPr txBox="1"/>
          <p:nvPr/>
        </p:nvSpPr>
        <p:spPr>
          <a:xfrm>
            <a:off x="9976676" y="4434840"/>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UAT</a:t>
            </a:r>
            <a:endParaRPr lang="en-US" sz="850" dirty="0"/>
          </a:p>
        </p:txBody>
      </p:sp>
      <p:sp>
        <p:nvSpPr>
          <p:cNvPr id="66" name="Text 64"/>
          <p:cNvSpPr txBox="1"/>
          <p:nvPr/>
        </p:nvSpPr>
        <p:spPr>
          <a:xfrm>
            <a:off x="548640" y="489204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Presentación final</a:t>
            </a:r>
            <a:endParaRPr lang="en-US" sz="1200" dirty="0"/>
          </a:p>
        </p:txBody>
      </p:sp>
      <p:sp>
        <p:nvSpPr>
          <p:cNvPr id="67" name="Shape 65"/>
          <p:cNvSpPr/>
          <p:nvPr/>
        </p:nvSpPr>
        <p:spPr>
          <a:xfrm>
            <a:off x="2788920" y="5367528"/>
            <a:ext cx="8823960" cy="0"/>
          </a:xfrm>
          <a:prstGeom prst="line">
            <a:avLst/>
          </a:prstGeom>
          <a:noFill/>
          <a:ln w="6350">
            <a:solidFill>
              <a:srgbClr val="D7DCE3"/>
            </a:solidFill>
            <a:prstDash val="solid"/>
          </a:ln>
        </p:spPr>
        <p:txBody>
          <a:bodyPr/>
          <a:lstStyle/>
          <a:p>
            <a:endParaRPr lang="es-CL"/>
          </a:p>
        </p:txBody>
      </p:sp>
      <p:sp>
        <p:nvSpPr>
          <p:cNvPr id="68" name="Shape 66"/>
          <p:cNvSpPr/>
          <p:nvPr/>
        </p:nvSpPr>
        <p:spPr>
          <a:xfrm>
            <a:off x="8322183" y="4946904"/>
            <a:ext cx="514922" cy="329184"/>
          </a:xfrm>
          <a:prstGeom prst="rect">
            <a:avLst/>
          </a:prstGeom>
          <a:solidFill>
            <a:srgbClr val="2F855A"/>
          </a:solidFill>
          <a:ln w="12700">
            <a:solidFill>
              <a:srgbClr val="2F855A"/>
            </a:solidFill>
            <a:prstDash val="solid"/>
          </a:ln>
        </p:spPr>
        <p:txBody>
          <a:bodyPr/>
          <a:lstStyle/>
          <a:p>
            <a:endParaRPr lang="es-CL"/>
          </a:p>
        </p:txBody>
      </p:sp>
      <p:sp>
        <p:nvSpPr>
          <p:cNvPr id="69" name="Text 67"/>
          <p:cNvSpPr txBox="1"/>
          <p:nvPr/>
        </p:nvSpPr>
        <p:spPr>
          <a:xfrm>
            <a:off x="8322183" y="494690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H5</a:t>
            </a:r>
            <a:endParaRPr lang="en-US" sz="850" dirty="0"/>
          </a:p>
        </p:txBody>
      </p:sp>
      <p:sp>
        <p:nvSpPr>
          <p:cNvPr id="70" name="Shape 68"/>
          <p:cNvSpPr/>
          <p:nvPr/>
        </p:nvSpPr>
        <p:spPr>
          <a:xfrm>
            <a:off x="9425178" y="4946904"/>
            <a:ext cx="1066419" cy="329184"/>
          </a:xfrm>
          <a:prstGeom prst="rect">
            <a:avLst/>
          </a:prstGeom>
          <a:solidFill>
            <a:srgbClr val="13294B"/>
          </a:solidFill>
          <a:ln w="12700">
            <a:solidFill>
              <a:srgbClr val="13294B"/>
            </a:solidFill>
            <a:prstDash val="solid"/>
          </a:ln>
        </p:spPr>
        <p:txBody>
          <a:bodyPr/>
          <a:lstStyle/>
          <a:p>
            <a:endParaRPr lang="es-CL"/>
          </a:p>
        </p:txBody>
      </p:sp>
      <p:sp>
        <p:nvSpPr>
          <p:cNvPr id="71" name="Text 69"/>
          <p:cNvSpPr txBox="1"/>
          <p:nvPr/>
        </p:nvSpPr>
        <p:spPr>
          <a:xfrm>
            <a:off x="9425178" y="4946904"/>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Informe y entrega</a:t>
            </a:r>
            <a:endParaRPr lang="en-US" sz="850" dirty="0"/>
          </a:p>
        </p:txBody>
      </p:sp>
      <p:sp>
        <p:nvSpPr>
          <p:cNvPr id="72" name="Shape 70"/>
          <p:cNvSpPr/>
          <p:nvPr/>
        </p:nvSpPr>
        <p:spPr>
          <a:xfrm>
            <a:off x="10528173" y="4946904"/>
            <a:ext cx="1066419" cy="329184"/>
          </a:xfrm>
          <a:prstGeom prst="rect">
            <a:avLst/>
          </a:prstGeom>
          <a:solidFill>
            <a:srgbClr val="13294B"/>
          </a:solidFill>
          <a:ln w="12700">
            <a:solidFill>
              <a:srgbClr val="13294B"/>
            </a:solidFill>
            <a:prstDash val="solid"/>
          </a:ln>
        </p:spPr>
        <p:txBody>
          <a:bodyPr/>
          <a:lstStyle/>
          <a:p>
            <a:endParaRPr lang="es-CL"/>
          </a:p>
        </p:txBody>
      </p:sp>
      <p:sp>
        <p:nvSpPr>
          <p:cNvPr id="73" name="Text 71"/>
          <p:cNvSpPr txBox="1"/>
          <p:nvPr/>
        </p:nvSpPr>
        <p:spPr>
          <a:xfrm>
            <a:off x="10528173" y="4946904"/>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Ensayo y defensa</a:t>
            </a:r>
            <a:endParaRPr lang="en-US" sz="850" dirty="0"/>
          </a:p>
        </p:txBody>
      </p:sp>
      <p:sp>
        <p:nvSpPr>
          <p:cNvPr id="74" name="Text 72"/>
          <p:cNvSpPr txBox="1"/>
          <p:nvPr/>
        </p:nvSpPr>
        <p:spPr>
          <a:xfrm>
            <a:off x="548640" y="5404104"/>
            <a:ext cx="2194560" cy="411480"/>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Hitos</a:t>
            </a:r>
            <a:endParaRPr lang="en-US" sz="1200" dirty="0"/>
          </a:p>
        </p:txBody>
      </p:sp>
      <p:sp>
        <p:nvSpPr>
          <p:cNvPr id="75" name="Shape 73"/>
          <p:cNvSpPr/>
          <p:nvPr/>
        </p:nvSpPr>
        <p:spPr>
          <a:xfrm>
            <a:off x="4627721"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76" name="Text 74"/>
          <p:cNvSpPr txBox="1"/>
          <p:nvPr/>
        </p:nvSpPr>
        <p:spPr>
          <a:xfrm>
            <a:off x="4399121"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H1</a:t>
            </a:r>
            <a:endParaRPr lang="en-US" sz="850" dirty="0"/>
          </a:p>
        </p:txBody>
      </p:sp>
      <p:sp>
        <p:nvSpPr>
          <p:cNvPr id="77" name="Shape 75"/>
          <p:cNvSpPr/>
          <p:nvPr/>
        </p:nvSpPr>
        <p:spPr>
          <a:xfrm>
            <a:off x="5179219"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78" name="Text 76"/>
          <p:cNvSpPr txBox="1"/>
          <p:nvPr/>
        </p:nvSpPr>
        <p:spPr>
          <a:xfrm>
            <a:off x="4950619"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H2</a:t>
            </a:r>
            <a:endParaRPr lang="en-US" sz="850" dirty="0"/>
          </a:p>
        </p:txBody>
      </p:sp>
      <p:sp>
        <p:nvSpPr>
          <p:cNvPr id="79" name="Shape 77"/>
          <p:cNvSpPr/>
          <p:nvPr/>
        </p:nvSpPr>
        <p:spPr>
          <a:xfrm>
            <a:off x="7936706"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80" name="Text 78"/>
          <p:cNvSpPr txBox="1"/>
          <p:nvPr/>
        </p:nvSpPr>
        <p:spPr>
          <a:xfrm>
            <a:off x="7708106"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H3·H4</a:t>
            </a:r>
            <a:endParaRPr lang="en-US" sz="850" dirty="0"/>
          </a:p>
        </p:txBody>
      </p:sp>
      <p:sp>
        <p:nvSpPr>
          <p:cNvPr id="81" name="Shape 79"/>
          <p:cNvSpPr/>
          <p:nvPr/>
        </p:nvSpPr>
        <p:spPr>
          <a:xfrm>
            <a:off x="8488204"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82" name="Text 80"/>
          <p:cNvSpPr txBox="1"/>
          <p:nvPr/>
        </p:nvSpPr>
        <p:spPr>
          <a:xfrm>
            <a:off x="8259604"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H5</a:t>
            </a:r>
            <a:endParaRPr lang="en-US" sz="850" dirty="0"/>
          </a:p>
        </p:txBody>
      </p:sp>
      <p:sp>
        <p:nvSpPr>
          <p:cNvPr id="83" name="Shape 81"/>
          <p:cNvSpPr/>
          <p:nvPr/>
        </p:nvSpPr>
        <p:spPr>
          <a:xfrm>
            <a:off x="9039701" y="5431536"/>
            <a:ext cx="182880" cy="182880"/>
          </a:xfrm>
          <a:prstGeom prst="diamond">
            <a:avLst/>
          </a:prstGeom>
          <a:solidFill>
            <a:srgbClr val="B83A3A"/>
          </a:solidFill>
          <a:ln w="12700">
            <a:solidFill>
              <a:srgbClr val="B83A3A"/>
            </a:solidFill>
            <a:prstDash val="solid"/>
          </a:ln>
        </p:spPr>
        <p:txBody>
          <a:bodyPr/>
          <a:lstStyle/>
          <a:p>
            <a:endParaRPr lang="es-CL"/>
          </a:p>
        </p:txBody>
      </p:sp>
      <p:sp>
        <p:nvSpPr>
          <p:cNvPr id="84" name="Text 82"/>
          <p:cNvSpPr txBox="1"/>
          <p:nvPr/>
        </p:nvSpPr>
        <p:spPr>
          <a:xfrm>
            <a:off x="8811101" y="5623560"/>
            <a:ext cx="640080" cy="201168"/>
          </a:xfrm>
          <a:prstGeom prst="rect">
            <a:avLst/>
          </a:prstGeom>
          <a:noFill/>
          <a:ln/>
        </p:spPr>
        <p:txBody>
          <a:bodyPr wrap="square" lIns="0" tIns="0" rIns="0" bIns="0" rtlCol="0" anchor="ctr"/>
          <a:lstStyle/>
          <a:p>
            <a:pPr marL="0" indent="0" algn="ctr">
              <a:buNone/>
            </a:pPr>
            <a:r>
              <a:rPr lang="en-US" sz="850" b="1" dirty="0">
                <a:solidFill>
                  <a:srgbClr val="B83A3A"/>
                </a:solidFill>
                <a:latin typeface="Calibri" pitchFamily="34" charset="0"/>
                <a:ea typeface="Calibri" pitchFamily="34" charset="-122"/>
                <a:cs typeface="Calibri" pitchFamily="34" charset="-120"/>
              </a:rPr>
              <a:t>H6</a:t>
            </a:r>
            <a:endParaRPr lang="en-US" sz="850" dirty="0"/>
          </a:p>
        </p:txBody>
      </p:sp>
      <p:sp>
        <p:nvSpPr>
          <p:cNvPr id="85" name="Shape 83"/>
          <p:cNvSpPr/>
          <p:nvPr/>
        </p:nvSpPr>
        <p:spPr>
          <a:xfrm>
            <a:off x="10142696"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6" name="Text 84"/>
          <p:cNvSpPr txBox="1"/>
          <p:nvPr/>
        </p:nvSpPr>
        <p:spPr>
          <a:xfrm>
            <a:off x="9914096"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H7·H8</a:t>
            </a:r>
            <a:endParaRPr lang="en-US" sz="850" dirty="0"/>
          </a:p>
        </p:txBody>
      </p:sp>
      <p:sp>
        <p:nvSpPr>
          <p:cNvPr id="87" name="Shape 85"/>
          <p:cNvSpPr/>
          <p:nvPr/>
        </p:nvSpPr>
        <p:spPr>
          <a:xfrm>
            <a:off x="11245691"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8" name="Text 86"/>
          <p:cNvSpPr txBox="1"/>
          <p:nvPr/>
        </p:nvSpPr>
        <p:spPr>
          <a:xfrm>
            <a:off x="11017091"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H9</a:t>
            </a:r>
            <a:endParaRPr lang="en-US" sz="850" dirty="0"/>
          </a:p>
        </p:txBody>
      </p:sp>
      <p:sp>
        <p:nvSpPr>
          <p:cNvPr id="89" name="Shape 87"/>
          <p:cNvSpPr/>
          <p:nvPr/>
        </p:nvSpPr>
        <p:spPr>
          <a:xfrm>
            <a:off x="2788920" y="5897880"/>
            <a:ext cx="201168" cy="164592"/>
          </a:xfrm>
          <a:prstGeom prst="rect">
            <a:avLst/>
          </a:prstGeom>
          <a:solidFill>
            <a:srgbClr val="2F855A"/>
          </a:solidFill>
          <a:ln w="12700">
            <a:solidFill>
              <a:srgbClr val="2F855A"/>
            </a:solidFill>
            <a:prstDash val="solid"/>
          </a:ln>
        </p:spPr>
        <p:txBody>
          <a:bodyPr/>
          <a:lstStyle/>
          <a:p>
            <a:endParaRPr lang="es-CL"/>
          </a:p>
        </p:txBody>
      </p:sp>
      <p:sp>
        <p:nvSpPr>
          <p:cNvPr id="90" name="Text 88"/>
          <p:cNvSpPr txBox="1"/>
          <p:nvPr/>
        </p:nvSpPr>
        <p:spPr>
          <a:xfrm>
            <a:off x="306324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Realizado</a:t>
            </a:r>
            <a:endParaRPr lang="en-US" sz="1050" dirty="0"/>
          </a:p>
        </p:txBody>
      </p:sp>
      <p:sp>
        <p:nvSpPr>
          <p:cNvPr id="91" name="Shape 89"/>
          <p:cNvSpPr/>
          <p:nvPr/>
        </p:nvSpPr>
        <p:spPr>
          <a:xfrm>
            <a:off x="4526280" y="5897880"/>
            <a:ext cx="201168" cy="164592"/>
          </a:xfrm>
          <a:prstGeom prst="rect">
            <a:avLst/>
          </a:prstGeom>
          <a:solidFill>
            <a:srgbClr val="B5762A"/>
          </a:solidFill>
          <a:ln w="12700">
            <a:solidFill>
              <a:srgbClr val="B5762A"/>
            </a:solidFill>
            <a:prstDash val="solid"/>
          </a:ln>
        </p:spPr>
        <p:txBody>
          <a:bodyPr/>
          <a:lstStyle/>
          <a:p>
            <a:endParaRPr lang="es-CL"/>
          </a:p>
        </p:txBody>
      </p:sp>
      <p:sp>
        <p:nvSpPr>
          <p:cNvPr id="92" name="Text 90"/>
          <p:cNvSpPr txBox="1"/>
          <p:nvPr/>
        </p:nvSpPr>
        <p:spPr>
          <a:xfrm>
            <a:off x="480060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progreso</a:t>
            </a:r>
            <a:endParaRPr lang="en-US" sz="1050" dirty="0"/>
          </a:p>
        </p:txBody>
      </p:sp>
      <p:sp>
        <p:nvSpPr>
          <p:cNvPr id="93" name="Shape 91"/>
          <p:cNvSpPr/>
          <p:nvPr/>
        </p:nvSpPr>
        <p:spPr>
          <a:xfrm>
            <a:off x="6263640" y="5897880"/>
            <a:ext cx="201168" cy="164592"/>
          </a:xfrm>
          <a:prstGeom prst="rect">
            <a:avLst/>
          </a:prstGeom>
          <a:solidFill>
            <a:srgbClr val="13294B"/>
          </a:solidFill>
          <a:ln w="12700">
            <a:solidFill>
              <a:srgbClr val="13294B"/>
            </a:solidFill>
            <a:prstDash val="solid"/>
          </a:ln>
        </p:spPr>
        <p:txBody>
          <a:bodyPr/>
          <a:lstStyle/>
          <a:p>
            <a:endParaRPr lang="es-CL"/>
          </a:p>
        </p:txBody>
      </p:sp>
      <p:sp>
        <p:nvSpPr>
          <p:cNvPr id="94" name="Text 92"/>
          <p:cNvSpPr txBox="1"/>
          <p:nvPr/>
        </p:nvSpPr>
        <p:spPr>
          <a:xfrm>
            <a:off x="653796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Planificado</a:t>
            </a:r>
            <a:endParaRPr lang="en-US" sz="1050" dirty="0"/>
          </a:p>
        </p:txBody>
      </p:sp>
      <p:sp>
        <p:nvSpPr>
          <p:cNvPr id="95" name="Text 93"/>
          <p:cNvSpPr txBox="1"/>
          <p:nvPr/>
        </p:nvSpPr>
        <p:spPr>
          <a:xfrm>
            <a:off x="548640" y="6144768"/>
            <a:ext cx="1106424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H1 cierre F1 (04-09) · H2 avance (11-09) · H3 diseño aprobado (16-10) · H4 cierre F2 (18-10) · H5 avance (23-10) · H6 hoy, sistema integrado (30-10) · H7 paso al ambiente UAT (10-11) · H8 entrega (13-11) · H9 defensa (27-11)</a:t>
            </a:r>
            <a:endParaRPr lang="en-US" sz="950" dirty="0"/>
          </a:p>
        </p:txBody>
      </p:sp>
      <p:sp>
        <p:nvSpPr>
          <p:cNvPr id="96"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3</a:t>
            </a:fld>
            <a:endParaRPr lang="en-US"/>
          </a:p>
        </p:txBody>
      </p:sp>
      <p:sp>
        <p:nvSpPr>
          <p:cNvPr id="5001" name="Shape 34"/>
          <p:cNvSpPr/>
          <p:nvPr/>
        </p:nvSpPr>
        <p:spPr>
          <a:xfrm>
            <a:off x="8873680" y="2386584"/>
            <a:ext cx="514921" cy="329184"/>
          </a:xfrm>
          <a:prstGeom prst="rect">
            <a:avLst/>
          </a:prstGeom>
          <a:solidFill>
            <a:srgbClr val="B5762A"/>
          </a:solidFill>
          <a:ln w="12700">
            <a:solidFill>
              <a:srgbClr val="B5762A"/>
            </a:solidFill>
            <a:prstDash val="solid"/>
          </a:ln>
        </p:spPr>
        <p:txBody>
          <a:bodyPr/>
          <a:lstStyle/>
          <a:p>
            <a:endParaRPr lang="es-CL"/>
          </a:p>
        </p:txBody>
      </p:sp>
      <p:sp>
        <p:nvSpPr>
          <p:cNvPr id="5002" name="Text 35"/>
          <p:cNvSpPr txBox="1"/>
          <p:nvPr/>
        </p:nvSpPr>
        <p:spPr>
          <a:xfrm>
            <a:off x="8873680" y="2386584"/>
            <a:ext cx="514921"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Control</a:t>
            </a:r>
            <a:endParaRPr lang="en-US" sz="850" dirty="0"/>
          </a:p>
        </p:txBody>
      </p:sp>
      <p:sp>
        <p:nvSpPr>
          <p:cNvPr id="5003" name="Shape 42"/>
          <p:cNvSpPr/>
          <p:nvPr/>
        </p:nvSpPr>
        <p:spPr>
          <a:xfrm>
            <a:off x="8873680" y="2898648"/>
            <a:ext cx="514921" cy="329184"/>
          </a:xfrm>
          <a:prstGeom prst="rect">
            <a:avLst/>
          </a:prstGeom>
          <a:solidFill>
            <a:srgbClr val="B5762A"/>
          </a:solidFill>
          <a:ln w="12700">
            <a:solidFill>
              <a:srgbClr val="B5762A"/>
            </a:solidFill>
            <a:prstDash val="solid"/>
          </a:ln>
        </p:spPr>
        <p:txBody>
          <a:bodyPr/>
          <a:lstStyle/>
          <a:p>
            <a:endParaRPr lang="es-CL"/>
          </a:p>
        </p:txBody>
      </p:sp>
      <p:sp>
        <p:nvSpPr>
          <p:cNvPr id="5004" name="Text 43"/>
          <p:cNvSpPr txBox="1"/>
          <p:nvPr/>
        </p:nvSpPr>
        <p:spPr>
          <a:xfrm>
            <a:off x="8873680" y="2898648"/>
            <a:ext cx="514921"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Diagramas</a:t>
            </a:r>
            <a:endParaRPr lang="en-US" sz="850" dirty="0"/>
          </a:p>
        </p:txBody>
      </p:sp>
      <p:sp>
        <p:nvSpPr>
          <p:cNvPr id="5005" name="Shape 50"/>
          <p:cNvSpPr/>
          <p:nvPr/>
        </p:nvSpPr>
        <p:spPr>
          <a:xfrm>
            <a:off x="9425178" y="3410712"/>
            <a:ext cx="514921" cy="329184"/>
          </a:xfrm>
          <a:prstGeom prst="rect">
            <a:avLst/>
          </a:prstGeom>
          <a:solidFill>
            <a:srgbClr val="13294B"/>
          </a:solidFill>
          <a:ln w="12700">
            <a:solidFill>
              <a:srgbClr val="13294B"/>
            </a:solidFill>
            <a:prstDash val="solid"/>
          </a:ln>
        </p:spPr>
        <p:txBody>
          <a:bodyPr/>
          <a:lstStyle/>
          <a:p>
            <a:endParaRPr lang="es-CL"/>
          </a:p>
        </p:txBody>
      </p:sp>
      <p:sp>
        <p:nvSpPr>
          <p:cNvPr id="5006" name="Text 51"/>
          <p:cNvSpPr txBox="1"/>
          <p:nvPr/>
        </p:nvSpPr>
        <p:spPr>
          <a:xfrm>
            <a:off x="9425178" y="3410712"/>
            <a:ext cx="514921"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Ajustes</a:t>
            </a:r>
            <a:endParaRPr lang="en-US" sz="850" dirty="0"/>
          </a:p>
        </p:txBody>
      </p:sp>
      <p:sp>
        <p:nvSpPr>
          <p:cNvPr id="5007" name="Shape 56"/>
          <p:cNvSpPr/>
          <p:nvPr/>
        </p:nvSpPr>
        <p:spPr>
          <a:xfrm>
            <a:off x="9425178" y="3922776"/>
            <a:ext cx="1066419" cy="329184"/>
          </a:xfrm>
          <a:prstGeom prst="rect">
            <a:avLst/>
          </a:prstGeom>
          <a:solidFill>
            <a:srgbClr val="13294B"/>
          </a:solidFill>
          <a:ln w="12700">
            <a:solidFill>
              <a:srgbClr val="13294B"/>
            </a:solidFill>
            <a:prstDash val="solid"/>
          </a:ln>
        </p:spPr>
        <p:txBody>
          <a:bodyPr/>
          <a:lstStyle/>
          <a:p>
            <a:endParaRPr lang="es-CL"/>
          </a:p>
        </p:txBody>
      </p:sp>
      <p:sp>
        <p:nvSpPr>
          <p:cNvPr id="5008" name="Text 57"/>
          <p:cNvSpPr txBox="1"/>
          <p:nvPr/>
        </p:nvSpPr>
        <p:spPr>
          <a:xfrm>
            <a:off x="9425178" y="3922776"/>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Funcionales, seguridad, UAT</a:t>
            </a:r>
            <a:endParaRPr lang="en-US" sz="850" dirty="0"/>
          </a:p>
        </p:txBody>
      </p:sp>
      <p:sp>
        <p:nvSpPr>
          <p:cNvPr id="5009" name="Shape 60"/>
          <p:cNvSpPr/>
          <p:nvPr/>
        </p:nvSpPr>
        <p:spPr>
          <a:xfrm>
            <a:off x="9425178" y="4434840"/>
            <a:ext cx="514921" cy="329184"/>
          </a:xfrm>
          <a:prstGeom prst="rect">
            <a:avLst/>
          </a:prstGeom>
          <a:solidFill>
            <a:srgbClr val="13294B"/>
          </a:solidFill>
          <a:ln w="12700">
            <a:solidFill>
              <a:srgbClr val="13294B"/>
            </a:solidFill>
            <a:prstDash val="solid"/>
          </a:ln>
        </p:spPr>
        <p:txBody>
          <a:bodyPr/>
          <a:lstStyle/>
          <a:p>
            <a:endParaRPr lang="es-CL"/>
          </a:p>
        </p:txBody>
      </p:sp>
      <p:sp>
        <p:nvSpPr>
          <p:cNvPr id="5010" name="Text 61"/>
          <p:cNvSpPr txBox="1"/>
          <p:nvPr/>
        </p:nvSpPr>
        <p:spPr>
          <a:xfrm>
            <a:off x="9425178" y="4434840"/>
            <a:ext cx="514921"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APK firmada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ROADMAP · DESDE LA SEMANA EN CURSO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Roadmap S12 a S16: qué hacemos cada semana</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Cada celda es la actividad de la semana y su color, el estado. Responsables: YR = Yerko Rosales · JO = Jonathan Ojeda.</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3712464"/>
        </p:xfrm>
        <a:graphic>
          <a:graphicData uri="http://schemas.openxmlformats.org/drawingml/2006/table">
            <a:tbl>
              <a:tblPr/>
              <a:tblGrid>
                <a:gridCol w="1737360">
                  <a:extLst>
                    <a:ext uri="{9D8B030D-6E8A-4147-A177-3AD203B41FA5}">
                      <a16:colId xmlns:a16="http://schemas.microsoft.com/office/drawing/2014/main" val="20000"/>
                    </a:ext>
                  </a:extLst>
                </a:gridCol>
                <a:gridCol w="1865376">
                  <a:extLst>
                    <a:ext uri="{9D8B030D-6E8A-4147-A177-3AD203B41FA5}">
                      <a16:colId xmlns:a16="http://schemas.microsoft.com/office/drawing/2014/main" val="20002"/>
                    </a:ext>
                  </a:extLst>
                </a:gridCol>
                <a:gridCol w="1865376">
                  <a:extLst>
                    <a:ext uri="{9D8B030D-6E8A-4147-A177-3AD203B41FA5}">
                      <a16:colId xmlns:a16="http://schemas.microsoft.com/office/drawing/2014/main" val="20003"/>
                    </a:ext>
                  </a:extLst>
                </a:gridCol>
                <a:gridCol w="1865376">
                  <a:extLst>
                    <a:ext uri="{9D8B030D-6E8A-4147-A177-3AD203B41FA5}">
                      <a16:colId xmlns:a16="http://schemas.microsoft.com/office/drawing/2014/main" val="20004"/>
                    </a:ext>
                  </a:extLst>
                </a:gridCol>
                <a:gridCol w="1865376">
                  <a:extLst>
                    <a:ext uri="{9D8B030D-6E8A-4147-A177-3AD203B41FA5}">
                      <a16:colId xmlns:a16="http://schemas.microsoft.com/office/drawing/2014/main" val="20005"/>
                    </a:ext>
                  </a:extLst>
                </a:gridCol>
                <a:gridCol w="1865376">
                  <a:extLst>
                    <a:ext uri="{9D8B030D-6E8A-4147-A177-3AD203B41FA5}">
                      <a16:colId xmlns:a16="http://schemas.microsoft.com/office/drawing/2014/main" val="20006"/>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Fase / semana</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S12 HOY
26/10–01/11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83A3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S13</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02/11–08/11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S14</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09/11–15/11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S15</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16/11–22/11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S16</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23/11–29/11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extLst>
                  <a:ext uri="{0D108BD9-81ED-4DB2-BD59-A6C34878D82A}">
                    <a16:rowId xmlns:a16="http://schemas.microsoft.com/office/drawing/2014/main" val="10000"/>
                  </a:ext>
                </a:extLst>
              </a:tr>
              <a:tr h="475488">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Planificación y control</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Roadmap y riesgos al 30-10 · control de cambios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 y de cambios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 y de cambios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Cierre administrativo</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extLst>
                  <a:ext uri="{0D108BD9-81ED-4DB2-BD59-A6C34878D82A}">
                    <a16:rowId xmlns:a16="http://schemas.microsoft.com/office/drawing/2014/main" val="10001"/>
                  </a:ext>
                </a:extLst>
              </a:tr>
              <a:tr h="475488">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Diseño</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Diagramas según los cambios de S12</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Desarrollo</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Webpay · fila por orden de llegada · «Mis datos» · cuentas del personal · seguridad · H6 (30-10)</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2F85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Correcciones de las pruebas · correos y respaldo</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Correcciones del UAT</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Ajustes menores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Pruebas / QA</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Integración: API 20/20 · seguridad 16/16 · web · teléfono real</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Seguridad y privacidad</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Pruebas en el ambiente UAT</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Regresión</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Despliegue</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Web en el ambiente UAT (GitHub Pages, HTTPS) · APK de prueba</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Despliegue en UAT · APK firmada</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Paso al ambiente UAT (H7, 10-11)</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Presentación final</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Informe final y manual de usuario</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Entrega final (H8, 13-11)</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Ensayo de la defensa</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Defensa (H9, 27-11)</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extLst>
                  <a:ext uri="{0D108BD9-81ED-4DB2-BD59-A6C34878D82A}">
                    <a16:rowId xmlns:a16="http://schemas.microsoft.com/office/drawing/2014/main" val="10006"/>
                  </a:ext>
                </a:extLst>
              </a:tr>
            </a:tbl>
          </a:graphicData>
        </a:graphic>
      </p:graphicFrame>
      <p:sp>
        <p:nvSpPr>
          <p:cNvPr id="6" name="Shape 3"/>
          <p:cNvSpPr/>
          <p:nvPr/>
        </p:nvSpPr>
        <p:spPr>
          <a:xfrm>
            <a:off x="548640" y="6053328"/>
            <a:ext cx="201168" cy="164592"/>
          </a:xfrm>
          <a:prstGeom prst="rect">
            <a:avLst/>
          </a:prstGeom>
          <a:solidFill>
            <a:srgbClr val="2F855A"/>
          </a:solidFill>
          <a:ln w="12700">
            <a:solidFill>
              <a:srgbClr val="2F855A"/>
            </a:solidFill>
            <a:prstDash val="solid"/>
          </a:ln>
        </p:spPr>
        <p:txBody>
          <a:bodyPr/>
          <a:lstStyle/>
          <a:p>
            <a:endParaRPr lang="es-CL"/>
          </a:p>
        </p:txBody>
      </p:sp>
      <p:sp>
        <p:nvSpPr>
          <p:cNvPr id="7" name="Text 4"/>
          <p:cNvSpPr txBox="1"/>
          <p:nvPr/>
        </p:nvSpPr>
        <p:spPr>
          <a:xfrm>
            <a:off x="822960" y="6007608"/>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Realizado</a:t>
            </a:r>
            <a:endParaRPr lang="en-US" sz="1050" dirty="0"/>
          </a:p>
        </p:txBody>
      </p:sp>
      <p:sp>
        <p:nvSpPr>
          <p:cNvPr id="8" name="Shape 5"/>
          <p:cNvSpPr/>
          <p:nvPr/>
        </p:nvSpPr>
        <p:spPr>
          <a:xfrm>
            <a:off x="2286000" y="6053328"/>
            <a:ext cx="201168" cy="164592"/>
          </a:xfrm>
          <a:prstGeom prst="rect">
            <a:avLst/>
          </a:prstGeom>
          <a:solidFill>
            <a:srgbClr val="B5762A"/>
          </a:solidFill>
          <a:ln w="12700">
            <a:solidFill>
              <a:srgbClr val="B5762A"/>
            </a:solidFill>
            <a:prstDash val="solid"/>
          </a:ln>
        </p:spPr>
        <p:txBody>
          <a:bodyPr/>
          <a:lstStyle/>
          <a:p>
            <a:endParaRPr lang="es-CL"/>
          </a:p>
        </p:txBody>
      </p:sp>
      <p:sp>
        <p:nvSpPr>
          <p:cNvPr id="9" name="Text 6"/>
          <p:cNvSpPr txBox="1"/>
          <p:nvPr/>
        </p:nvSpPr>
        <p:spPr>
          <a:xfrm>
            <a:off x="2560320" y="6007608"/>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progreso</a:t>
            </a:r>
            <a:endParaRPr lang="en-US" sz="1050" dirty="0"/>
          </a:p>
        </p:txBody>
      </p:sp>
      <p:sp>
        <p:nvSpPr>
          <p:cNvPr id="10" name="Shape 7"/>
          <p:cNvSpPr/>
          <p:nvPr/>
        </p:nvSpPr>
        <p:spPr>
          <a:xfrm>
            <a:off x="4023360" y="6053328"/>
            <a:ext cx="201168" cy="164592"/>
          </a:xfrm>
          <a:prstGeom prst="rect">
            <a:avLst/>
          </a:prstGeom>
          <a:solidFill>
            <a:srgbClr val="13294B"/>
          </a:solidFill>
          <a:ln w="12700">
            <a:solidFill>
              <a:srgbClr val="13294B"/>
            </a:solidFill>
            <a:prstDash val="solid"/>
          </a:ln>
        </p:spPr>
        <p:txBody>
          <a:bodyPr/>
          <a:lstStyle/>
          <a:p>
            <a:endParaRPr lang="es-CL"/>
          </a:p>
        </p:txBody>
      </p:sp>
      <p:sp>
        <p:nvSpPr>
          <p:cNvPr id="11" name="Text 8"/>
          <p:cNvSpPr txBox="1"/>
          <p:nvPr/>
        </p:nvSpPr>
        <p:spPr>
          <a:xfrm>
            <a:off x="4297680" y="6007608"/>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Planificado</a:t>
            </a:r>
            <a:endParaRPr lang="en-US" sz="1050" dirty="0"/>
          </a:p>
        </p:txBody>
      </p:sp>
      <p:sp>
        <p:nvSpPr>
          <p:cNvPr id="12" name="Text 9"/>
          <p:cNvSpPr txBox="1"/>
          <p:nvPr/>
        </p:nvSpPr>
        <p:spPr>
          <a:xfrm>
            <a:off x="5852160" y="6007608"/>
            <a:ext cx="5760720" cy="256032"/>
          </a:xfrm>
          <a:prstGeom prst="rect">
            <a:avLst/>
          </a:prstGeom>
          <a:noFill/>
          <a:ln/>
        </p:spPr>
        <p:txBody>
          <a:bodyPr wrap="square" lIns="0" tIns="0" rIns="0" bIns="0" rtlCol="0" anchor="ctr"/>
          <a:lstStyle/>
          <a:p>
            <a:pPr marL="0" indent="0" algn="r">
              <a:buNone/>
            </a:pPr>
            <a:r>
              <a:rPr lang="en-US" sz="1050" i="1" dirty="0">
                <a:solidFill>
                  <a:srgbClr val="B83A3A"/>
                </a:solidFill>
                <a:latin typeface="Calibri" pitchFamily="34" charset="0"/>
                <a:ea typeface="Calibri" pitchFamily="34" charset="-122"/>
                <a:cs typeface="Calibri" pitchFamily="34" charset="-120"/>
              </a:rPr>
              <a:t>Correos y respaldo diario: planificados para S12, pasan a S13.</a:t>
            </a:r>
            <a:endParaRPr lang="en-US" sz="10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AVANCE A LA FECHA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Lo planificado hasta esta semana y lo logrado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Comparación del plan semanal (presentado el 09-10 y ajustado el 23-10) con el estado real al 30-10-2026.</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4215384"/>
        </p:xfrm>
        <a:graphic>
          <a:graphicData uri="http://schemas.openxmlformats.org/drawingml/2006/table">
            <a:tbl>
              <a:tblPr/>
              <a:tblGrid>
                <a:gridCol w="105156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Semana</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Planificado</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Logrado al 30-10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Estado</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S1–S4</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Inicio: Acta, ERS, kick-off, EDT y planes (H1, 04-09)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Fase 1 cerrada (04-09)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1"/>
                  </a:ext>
                </a:extLst>
              </a:tr>
              <a:tr h="566928">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S5–S8</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Diseño UX/UI, arquitectura 4+1 y prototipos web y app (H2, 11-09)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Prototipos funcionales (01-10) y 35 diagramas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2"/>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Cerrar la documentación de diseño; roadmap y matriz de riesgos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Documentación de diseño, roadmap y riesgos presentados (09-10)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3"/>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Aprobar el diseño (H3, H4) e iniciar la API y la migración a PostgreSQL</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Fase 2 cerrada (18-10); base de datos en Supabase con 22/22 pruebas (20-10)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4"/>
                  </a:ext>
                </a:extLst>
              </a:tr>
              <a:tr h="77724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S11</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API de reservas, abono y turnos; Webpay; «Mis datos»; plan y casos de prueba; presentación (H5)</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API de 13 operaciones; web y app sobre el modelo relacional; reservas, reagendamiento, anulación y reseñas; plan de pruebas (77 + 24)</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Parcial (recuperado en S12)</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extLst>
                  <a:ext uri="{0D108BD9-81ED-4DB2-BD59-A6C34878D82A}">
                    <a16:rowId xmlns:a16="http://schemas.microsoft.com/office/drawing/2014/main" val="10005"/>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S12</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Pago real con Webpay, fila por orden de llegada y «Mis datos» (desde S11); cuentas del personal; pruebas de integración (H6, 30-10)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Integrados en la web y la app (27-10) y seguridad corregida (28-10); API 20/20, seguridad 16/16 y web 9/9 + 4/4. Pasan a S13: correos y respaldo diario</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H6 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ARQUITECTURA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Arquitectura: modelo de vistas 4+1</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4+1 (Kruchten, 1995) en notación UML (Object Management Group [OMG], 2017). 35 diagramas documentados en el DAS v3.2.</a:t>
            </a:r>
            <a:endParaRPr lang="en-US" sz="1250" dirty="0"/>
          </a:p>
        </p:txBody>
      </p:sp>
      <p:sp>
        <p:nvSpPr>
          <p:cNvPr id="5" name="Shape 3"/>
          <p:cNvSpPr/>
          <p:nvPr/>
        </p:nvSpPr>
        <p:spPr>
          <a:xfrm>
            <a:off x="54864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8580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Lógica</a:t>
            </a:r>
            <a:endParaRPr lang="en-US" sz="1400" dirty="0"/>
          </a:p>
        </p:txBody>
      </p:sp>
      <p:pic>
        <p:nvPicPr>
          <p:cNvPr id="7" name="Image 0" descr="C:/Users/User/Desktop/informatica/8°_Semestre/Diagramas/png/DIAG-02_Vista_logica_modelo_de_clases_del_dominio.png"/>
          <p:cNvPicPr>
            <a:picLocks noChangeAspect="1"/>
          </p:cNvPicPr>
          <p:nvPr/>
        </p:nvPicPr>
        <p:blipFill>
          <a:blip r:embed="rId3"/>
          <a:srcRect/>
          <a:stretch/>
        </p:blipFill>
        <p:spPr>
          <a:xfrm>
            <a:off x="658368" y="2331720"/>
            <a:ext cx="1883664" cy="2377440"/>
          </a:xfrm>
          <a:prstGeom prst="rect">
            <a:avLst/>
          </a:prstGeom>
        </p:spPr>
      </p:pic>
      <p:sp>
        <p:nvSpPr>
          <p:cNvPr id="8" name="Text 5"/>
          <p:cNvSpPr txBox="1"/>
          <p:nvPr/>
        </p:nvSpPr>
        <p:spPr>
          <a:xfrm>
            <a:off x="68580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Modelo de clases del dominio y capas (DIAG-01, DIAG-02)</a:t>
            </a:r>
            <a:endParaRPr lang="en-US" sz="1100" dirty="0"/>
          </a:p>
        </p:txBody>
      </p:sp>
      <p:sp>
        <p:nvSpPr>
          <p:cNvPr id="9" name="Shape 6"/>
          <p:cNvSpPr/>
          <p:nvPr/>
        </p:nvSpPr>
        <p:spPr>
          <a:xfrm>
            <a:off x="278892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0" name="Text 7"/>
          <p:cNvSpPr txBox="1"/>
          <p:nvPr/>
        </p:nvSpPr>
        <p:spPr>
          <a:xfrm>
            <a:off x="292608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Procesos</a:t>
            </a:r>
            <a:endParaRPr lang="en-US" sz="1400" dirty="0"/>
          </a:p>
        </p:txBody>
      </p:sp>
      <p:pic>
        <p:nvPicPr>
          <p:cNvPr id="11" name="Image 1" descr="C:/Users/User/Desktop/informatica/8°_Semestre/Diagramas/png/DIAG-03_Vista_de_procesos_secuencia_de_reserva_con_abono.png"/>
          <p:cNvPicPr>
            <a:picLocks noChangeAspect="1"/>
          </p:cNvPicPr>
          <p:nvPr/>
        </p:nvPicPr>
        <p:blipFill>
          <a:blip r:embed="rId4"/>
          <a:srcRect/>
          <a:stretch/>
        </p:blipFill>
        <p:spPr>
          <a:xfrm>
            <a:off x="2898648" y="2331720"/>
            <a:ext cx="1883664" cy="2377440"/>
          </a:xfrm>
          <a:prstGeom prst="rect">
            <a:avLst/>
          </a:prstGeom>
        </p:spPr>
      </p:pic>
      <p:sp>
        <p:nvSpPr>
          <p:cNvPr id="12" name="Text 8"/>
          <p:cNvSpPr txBox="1"/>
          <p:nvPr/>
        </p:nvSpPr>
        <p:spPr>
          <a:xfrm>
            <a:off x="292608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Secuencias de reserva con abono, atención y cancelación (DIAG-03 a 11, 35)</a:t>
            </a:r>
            <a:endParaRPr lang="en-US" sz="1100" dirty="0"/>
          </a:p>
        </p:txBody>
      </p:sp>
      <p:sp>
        <p:nvSpPr>
          <p:cNvPr id="13" name="Shape 9"/>
          <p:cNvSpPr/>
          <p:nvPr/>
        </p:nvSpPr>
        <p:spPr>
          <a:xfrm>
            <a:off x="502920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4" name="Text 10"/>
          <p:cNvSpPr txBox="1"/>
          <p:nvPr/>
        </p:nvSpPr>
        <p:spPr>
          <a:xfrm>
            <a:off x="516636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Desarrollo</a:t>
            </a:r>
            <a:endParaRPr lang="en-US" sz="1400" dirty="0"/>
          </a:p>
        </p:txBody>
      </p:sp>
      <p:pic>
        <p:nvPicPr>
          <p:cNvPr id="15" name="Image 2" descr="C:/Users/User/Desktop/informatica/8°_Semestre/Diagramas/png/DIAG-12_Vista_de_desarrollo_componentes_y_modulos.png"/>
          <p:cNvPicPr>
            <a:picLocks noChangeAspect="1"/>
          </p:cNvPicPr>
          <p:nvPr/>
        </p:nvPicPr>
        <p:blipFill>
          <a:blip r:embed="rId5"/>
          <a:srcRect/>
          <a:stretch/>
        </p:blipFill>
        <p:spPr>
          <a:xfrm>
            <a:off x="5138928" y="2331720"/>
            <a:ext cx="1883664" cy="2377440"/>
          </a:xfrm>
          <a:prstGeom prst="rect">
            <a:avLst/>
          </a:prstGeom>
        </p:spPr>
      </p:pic>
      <p:sp>
        <p:nvSpPr>
          <p:cNvPr id="16" name="Text 11"/>
          <p:cNvSpPr txBox="1"/>
          <p:nvPr/>
        </p:nvSpPr>
        <p:spPr>
          <a:xfrm>
            <a:off x="516636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Componentes: web React, app Android (MVVM), API REST y PostgreSQL (DIAG-12)</a:t>
            </a:r>
            <a:endParaRPr lang="en-US" sz="1100" dirty="0"/>
          </a:p>
        </p:txBody>
      </p:sp>
      <p:sp>
        <p:nvSpPr>
          <p:cNvPr id="17" name="Shape 12"/>
          <p:cNvSpPr/>
          <p:nvPr/>
        </p:nvSpPr>
        <p:spPr>
          <a:xfrm>
            <a:off x="726948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8" name="Text 13"/>
          <p:cNvSpPr txBox="1"/>
          <p:nvPr/>
        </p:nvSpPr>
        <p:spPr>
          <a:xfrm>
            <a:off x="740664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Física</a:t>
            </a:r>
            <a:endParaRPr lang="en-US" sz="1400" dirty="0"/>
          </a:p>
        </p:txBody>
      </p:sp>
      <p:pic>
        <p:nvPicPr>
          <p:cNvPr id="19" name="Image 3" descr="C:/Users/User/Desktop/informatica/8°_Semestre/Diagramas/png/DIAG-13_Vista_fisica_despliegue_actual_3_sucursales.png"/>
          <p:cNvPicPr>
            <a:picLocks noChangeAspect="1"/>
          </p:cNvPicPr>
          <p:nvPr/>
        </p:nvPicPr>
        <p:blipFill>
          <a:blip r:embed="rId6"/>
          <a:srcRect/>
          <a:stretch/>
        </p:blipFill>
        <p:spPr>
          <a:xfrm>
            <a:off x="7379208" y="2331720"/>
            <a:ext cx="1883664" cy="2377440"/>
          </a:xfrm>
          <a:prstGeom prst="rect">
            <a:avLst/>
          </a:prstGeom>
        </p:spPr>
      </p:pic>
      <p:sp>
        <p:nvSpPr>
          <p:cNvPr id="20" name="Text 14"/>
          <p:cNvSpPr txBox="1"/>
          <p:nvPr/>
        </p:nvSpPr>
        <p:spPr>
          <a:xfrm>
            <a:off x="740664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Despliegue actual: API y base de datos en Supabase; 3 sucursales (DIAG-13, 14)</a:t>
            </a:r>
            <a:endParaRPr lang="en-US" sz="1100" dirty="0"/>
          </a:p>
        </p:txBody>
      </p:sp>
      <p:sp>
        <p:nvSpPr>
          <p:cNvPr id="21" name="Shape 15"/>
          <p:cNvSpPr/>
          <p:nvPr/>
        </p:nvSpPr>
        <p:spPr>
          <a:xfrm>
            <a:off x="9509760" y="1783080"/>
            <a:ext cx="2103120" cy="4434840"/>
          </a:xfrm>
          <a:prstGeom prst="rect">
            <a:avLst/>
          </a:prstGeom>
          <a:solidFill>
            <a:srgbClr val="EEF1F5"/>
          </a:solidFill>
          <a:ln w="9525">
            <a:solidFill>
              <a:srgbClr val="D7DCE3"/>
            </a:solidFill>
            <a:prstDash val="solid"/>
          </a:ln>
        </p:spPr>
        <p:txBody>
          <a:bodyPr/>
          <a:lstStyle/>
          <a:p>
            <a:endParaRPr lang="es-CL"/>
          </a:p>
        </p:txBody>
      </p:sp>
      <p:sp>
        <p:nvSpPr>
          <p:cNvPr id="22" name="Text 16"/>
          <p:cNvSpPr txBox="1"/>
          <p:nvPr/>
        </p:nvSpPr>
        <p:spPr>
          <a:xfrm>
            <a:off x="964692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Escenarios (+1)</a:t>
            </a:r>
            <a:endParaRPr lang="en-US" sz="1400" dirty="0"/>
          </a:p>
        </p:txBody>
      </p:sp>
      <p:pic>
        <p:nvPicPr>
          <p:cNvPr id="23" name="Image 4" descr="C:/Users/User/Desktop/informatica/8°_Semestre/Diagramas/png/DIAG-15_Vista_de_escenarios_diagrama_general_de_casos_de_uso.png"/>
          <p:cNvPicPr>
            <a:picLocks noChangeAspect="1"/>
          </p:cNvPicPr>
          <p:nvPr/>
        </p:nvPicPr>
        <p:blipFill>
          <a:blip r:embed="rId7"/>
          <a:srcRect/>
          <a:stretch/>
        </p:blipFill>
        <p:spPr>
          <a:xfrm>
            <a:off x="9619488" y="2331720"/>
            <a:ext cx="1883664" cy="2377440"/>
          </a:xfrm>
          <a:prstGeom prst="rect">
            <a:avLst/>
          </a:prstGeom>
        </p:spPr>
      </p:pic>
      <p:sp>
        <p:nvSpPr>
          <p:cNvPr id="24" name="Text 17"/>
          <p:cNvSpPr txBox="1"/>
          <p:nvPr/>
        </p:nvSpPr>
        <p:spPr>
          <a:xfrm>
            <a:off x="964692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41 casos de uso con 5 actores y 2 sistemas externos (DIAG-15 a 22)</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VISTA DE ESCENARIOS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Casos de uso: 41 casos en 7 módulos</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Especificados en el documento 17 con flujo principal, alternativos, reglas de negocio y trazabilidad a los RF.</a:t>
            </a:r>
            <a:endParaRPr lang="en-US" sz="1250" dirty="0"/>
          </a:p>
        </p:txBody>
      </p:sp>
      <p:sp>
        <p:nvSpPr>
          <p:cNvPr id="5" name="Shape 3"/>
          <p:cNvSpPr/>
          <p:nvPr/>
        </p:nvSpPr>
        <p:spPr>
          <a:xfrm>
            <a:off x="548640" y="1737360"/>
            <a:ext cx="4251960" cy="37490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15_Vista_de_escenarios_diagrama_general_de_casos_de_uso.png"/>
          <p:cNvPicPr>
            <a:picLocks noChangeAspect="1"/>
          </p:cNvPicPr>
          <p:nvPr/>
        </p:nvPicPr>
        <p:blipFill>
          <a:blip r:embed="rId3"/>
          <a:srcRect/>
          <a:stretch/>
        </p:blipFill>
        <p:spPr>
          <a:xfrm>
            <a:off x="594360" y="1783080"/>
            <a:ext cx="4160520" cy="3657600"/>
          </a:xfrm>
          <a:prstGeom prst="rect">
            <a:avLst/>
          </a:prstGeom>
        </p:spPr>
      </p:pic>
      <p:sp>
        <p:nvSpPr>
          <p:cNvPr id="7" name="Text 4"/>
          <p:cNvSpPr txBox="1"/>
          <p:nvPr/>
        </p:nvSpPr>
        <p:spPr>
          <a:xfrm>
            <a:off x="548640" y="5532120"/>
            <a:ext cx="4251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DIAG-15 · Diagrama general de casos de uso</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74920" y="1783080"/>
          <a:ext cx="6537960" cy="3560064"/>
        </p:xfrm>
        <a:graphic>
          <a:graphicData uri="http://schemas.openxmlformats.org/drawingml/2006/table">
            <a:tbl>
              <a:tblPr/>
              <a:tblGrid>
                <a:gridCol w="21488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Módulo</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Estado al 23-10</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Cuenta y acceso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Registro, inicio de sesión e invitado conectados a la BD</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Catálogo, agendamiento y pagos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Sucursal, barbero, disponibilidad, agendar, reprogramar y cancelar en la BD; pago simulado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Atención en sucursal</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Marcar completada o no-show; fila por orden de llegada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Privacidad «Mis datos»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Supresión de cuenta en la API; resto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Administración</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perfiles de colaboradores pendientes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Cumplimiento y auditoría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Auditoría de inicio de sesión y registro activa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KPIs y reportes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con datos locales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5"/>
          <p:cNvSpPr/>
          <p:nvPr/>
        </p:nvSpPr>
        <p:spPr>
          <a:xfrm>
            <a:off x="5074920" y="5486400"/>
            <a:ext cx="6537960" cy="731520"/>
          </a:xfrm>
          <a:prstGeom prst="rect">
            <a:avLst/>
          </a:prstGeom>
          <a:solidFill>
            <a:srgbClr val="EEF1F5"/>
          </a:solidFill>
          <a:ln w="9525">
            <a:solidFill>
              <a:srgbClr val="D7DCE3"/>
            </a:solidFill>
            <a:prstDash val="solid"/>
          </a:ln>
        </p:spPr>
        <p:txBody>
          <a:bodyPr/>
          <a:lstStyle/>
          <a:p>
            <a:endParaRPr lang="es-CL"/>
          </a:p>
        </p:txBody>
      </p:sp>
      <p:sp>
        <p:nvSpPr>
          <p:cNvPr id="10" name="Text 6"/>
          <p:cNvSpPr txBox="1"/>
          <p:nvPr/>
        </p:nvSpPr>
        <p:spPr>
          <a:xfrm>
            <a:off x="5212080" y="5504688"/>
            <a:ext cx="6309360" cy="694944"/>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10 de 41 casos de uso ya funcionan sobre la base de datos real: </a:t>
            </a:r>
            <a:r>
              <a:rPr lang="en-US" sz="1150" dirty="0">
                <a:solidFill>
                  <a:srgbClr val="1E2430"/>
                </a:solidFill>
                <a:latin typeface="Calibri" pitchFamily="34" charset="0"/>
                <a:ea typeface="Calibri" pitchFamily="34" charset="-122"/>
                <a:cs typeface="Calibri" pitchFamily="34" charset="-120"/>
              </a:rPr>
              <a:t>CU-01, 02, 05, 16, 17, 18, 19, 20, 22 y 23 (registro, acceso, invitado, catálogo, agendamiento, reprogramación y cancelación).</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MODELO DE DATOS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Modelo entidad-relación (PostgreSQL)</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conceptual (Chen, 1976) en tercera forma normal, implementado en Supabase (PostgreSQL 17). Detalle en el documento 16.</a:t>
            </a:r>
            <a:endParaRPr lang="en-US" sz="1250" dirty="0"/>
          </a:p>
        </p:txBody>
      </p:sp>
      <p:sp>
        <p:nvSpPr>
          <p:cNvPr id="5" name="Shape 3"/>
          <p:cNvSpPr/>
          <p:nvPr/>
        </p:nvSpPr>
        <p:spPr>
          <a:xfrm>
            <a:off x="548640" y="1737360"/>
            <a:ext cx="7955280" cy="310896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27_Modelo_Entidad_Relacion_conceptual.png"/>
          <p:cNvPicPr>
            <a:picLocks noChangeAspect="1"/>
          </p:cNvPicPr>
          <p:nvPr/>
        </p:nvPicPr>
        <p:blipFill>
          <a:blip r:embed="rId3"/>
          <a:srcRect/>
          <a:stretch/>
        </p:blipFill>
        <p:spPr>
          <a:xfrm>
            <a:off x="594360" y="1783080"/>
            <a:ext cx="7863840" cy="3017520"/>
          </a:xfrm>
          <a:prstGeom prst="rect">
            <a:avLst/>
          </a:prstGeom>
        </p:spPr>
      </p:pic>
      <p:sp>
        <p:nvSpPr>
          <p:cNvPr id="7" name="Text 4"/>
          <p:cNvSpPr txBox="1"/>
          <p:nvPr/>
        </p:nvSpPr>
        <p:spPr>
          <a:xfrm>
            <a:off x="548640" y="4892040"/>
            <a:ext cx="79552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DIAG-27 · Modelo entidad-relación conceptual (27 entidades)</a:t>
            </a:r>
            <a:endParaRPr lang="en-US" sz="1050" dirty="0"/>
          </a:p>
        </p:txBody>
      </p:sp>
      <p:sp>
        <p:nvSpPr>
          <p:cNvPr id="8" name="Shape 5"/>
          <p:cNvSpPr/>
          <p:nvPr/>
        </p:nvSpPr>
        <p:spPr>
          <a:xfrm>
            <a:off x="8778240" y="1783080"/>
            <a:ext cx="2834640" cy="1005840"/>
          </a:xfrm>
          <a:prstGeom prst="rect">
            <a:avLst/>
          </a:prstGeom>
          <a:solidFill>
            <a:srgbClr val="FFFFFF"/>
          </a:solidFill>
          <a:ln w="9525">
            <a:solidFill>
              <a:srgbClr val="D7DCE3"/>
            </a:solidFill>
            <a:prstDash val="solid"/>
          </a:ln>
        </p:spPr>
        <p:txBody>
          <a:bodyPr/>
          <a:lstStyle/>
          <a:p>
            <a:endParaRPr lang="es-CL"/>
          </a:p>
        </p:txBody>
      </p:sp>
      <p:sp>
        <p:nvSpPr>
          <p:cNvPr id="9" name="Text 6"/>
          <p:cNvSpPr txBox="1"/>
          <p:nvPr/>
        </p:nvSpPr>
        <p:spPr>
          <a:xfrm>
            <a:off x="8869680" y="1892808"/>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27</a:t>
            </a:r>
            <a:endParaRPr lang="en-US" sz="2600" dirty="0"/>
          </a:p>
        </p:txBody>
      </p:sp>
      <p:sp>
        <p:nvSpPr>
          <p:cNvPr id="10" name="Text 7"/>
          <p:cNvSpPr txBox="1"/>
          <p:nvPr/>
        </p:nvSpPr>
        <p:spPr>
          <a:xfrm>
            <a:off x="8915400" y="2346350"/>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tablas · 239 campos · 3FN</a:t>
            </a:r>
            <a:endParaRPr lang="en-US" sz="1150" dirty="0"/>
          </a:p>
        </p:txBody>
      </p:sp>
      <p:sp>
        <p:nvSpPr>
          <p:cNvPr id="11" name="Shape 8"/>
          <p:cNvSpPr/>
          <p:nvPr/>
        </p:nvSpPr>
        <p:spPr>
          <a:xfrm>
            <a:off x="8778240" y="2898648"/>
            <a:ext cx="2834640" cy="1005840"/>
          </a:xfrm>
          <a:prstGeom prst="rect">
            <a:avLst/>
          </a:prstGeom>
          <a:solidFill>
            <a:srgbClr val="FFFFFF"/>
          </a:solidFill>
          <a:ln w="9525">
            <a:solidFill>
              <a:srgbClr val="D7DCE3"/>
            </a:solidFill>
            <a:prstDash val="solid"/>
          </a:ln>
        </p:spPr>
        <p:txBody>
          <a:bodyPr/>
          <a:lstStyle/>
          <a:p>
            <a:endParaRPr lang="es-CL"/>
          </a:p>
        </p:txBody>
      </p:sp>
      <p:sp>
        <p:nvSpPr>
          <p:cNvPr id="12" name="Text 9"/>
          <p:cNvSpPr txBox="1"/>
          <p:nvPr/>
        </p:nvSpPr>
        <p:spPr>
          <a:xfrm>
            <a:off x="8869680" y="3008376"/>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0</a:t>
            </a:r>
            <a:endParaRPr lang="en-US" sz="2600" dirty="0"/>
          </a:p>
        </p:txBody>
      </p:sp>
      <p:sp>
        <p:nvSpPr>
          <p:cNvPr id="13" name="Text 10"/>
          <p:cNvSpPr txBox="1"/>
          <p:nvPr/>
        </p:nvSpPr>
        <p:spPr>
          <a:xfrm>
            <a:off x="8915400" y="3461918"/>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reservas traslapadas: restricción de exclusión por barbero y horario</a:t>
            </a:r>
            <a:endParaRPr lang="en-US" sz="1150" dirty="0"/>
          </a:p>
        </p:txBody>
      </p:sp>
      <p:sp>
        <p:nvSpPr>
          <p:cNvPr id="14" name="Shape 11"/>
          <p:cNvSpPr/>
          <p:nvPr/>
        </p:nvSpPr>
        <p:spPr>
          <a:xfrm>
            <a:off x="8778240" y="4014216"/>
            <a:ext cx="2834640" cy="1005840"/>
          </a:xfrm>
          <a:prstGeom prst="rect">
            <a:avLst/>
          </a:prstGeom>
          <a:solidFill>
            <a:srgbClr val="FFFFFF"/>
          </a:solidFill>
          <a:ln w="9525">
            <a:solidFill>
              <a:srgbClr val="D7DCE3"/>
            </a:solidFill>
            <a:prstDash val="solid"/>
          </a:ln>
        </p:spPr>
        <p:txBody>
          <a:bodyPr/>
          <a:lstStyle/>
          <a:p>
            <a:endParaRPr lang="es-CL"/>
          </a:p>
        </p:txBody>
      </p:sp>
      <p:sp>
        <p:nvSpPr>
          <p:cNvPr id="15" name="Text 12"/>
          <p:cNvSpPr txBox="1"/>
          <p:nvPr/>
        </p:nvSpPr>
        <p:spPr>
          <a:xfrm>
            <a:off x="8869680" y="4123944"/>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$3.000</a:t>
            </a:r>
            <a:endParaRPr lang="en-US" sz="2600" dirty="0"/>
          </a:p>
        </p:txBody>
      </p:sp>
      <p:sp>
        <p:nvSpPr>
          <p:cNvPr id="16" name="Text 13"/>
          <p:cNvSpPr txBox="1"/>
          <p:nvPr/>
        </p:nvSpPr>
        <p:spPr>
          <a:xfrm>
            <a:off x="8915400" y="4577486"/>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abono parametrizable por sucursal o servicio, sin cambiar el modelo</a:t>
            </a:r>
            <a:endParaRPr lang="en-US" sz="1150" dirty="0"/>
          </a:p>
        </p:txBody>
      </p:sp>
      <p:sp>
        <p:nvSpPr>
          <p:cNvPr id="20" name="Shape 17"/>
          <p:cNvSpPr/>
          <p:nvPr/>
        </p:nvSpPr>
        <p:spPr>
          <a:xfrm>
            <a:off x="548640" y="5257800"/>
            <a:ext cx="7955280" cy="960120"/>
          </a:xfrm>
          <a:prstGeom prst="rect">
            <a:avLst/>
          </a:prstGeom>
          <a:solidFill>
            <a:srgbClr val="EEF1F5"/>
          </a:solidFill>
          <a:ln w="9525">
            <a:solidFill>
              <a:srgbClr val="D7DCE3"/>
            </a:solidFill>
            <a:prstDash val="solid"/>
          </a:ln>
        </p:spPr>
        <p:txBody>
          <a:bodyPr/>
          <a:lstStyle/>
          <a:p>
            <a:endParaRPr lang="es-CL"/>
          </a:p>
        </p:txBody>
      </p:sp>
      <p:sp>
        <p:nvSpPr>
          <p:cNvPr id="21" name="Text 18"/>
          <p:cNvSpPr txBox="1"/>
          <p:nvPr/>
        </p:nvSpPr>
        <p:spPr>
          <a:xfrm>
            <a:off x="685800" y="5285232"/>
            <a:ext cx="7726680" cy="914400"/>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Privacidad desde el diseño: </a:t>
            </a:r>
            <a:r>
              <a:rPr lang="en-US" sz="1150" dirty="0">
                <a:solidFill>
                  <a:srgbClr val="1E2430"/>
                </a:solidFill>
                <a:latin typeface="Calibri" pitchFamily="34" charset="0"/>
                <a:ea typeface="Calibri" pitchFamily="34" charset="-122"/>
                <a:cs typeface="Calibri" pitchFamily="34" charset="-120"/>
              </a:rPr>
              <a:t>sin RUT ni datos de tarjeta; consentimiento, solicitudes de derechos, auditoría inmutable y registro de actividades de tratamiento (Ley N° 21.719, 2024). El 22-10 se agregó la tabla resena para la calificación de barberos (RF-09).</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PROTOTIPO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Prototipo funcional: web y app</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Capturas de la web conectada a la base de datos real (22-10-2026) y del prototipo de la app Android.</a:t>
            </a:r>
            <a:endParaRPr lang="en-US" sz="1250" dirty="0"/>
          </a:p>
        </p:txBody>
      </p:sp>
      <p:sp>
        <p:nvSpPr>
          <p:cNvPr id="5" name="Shape 3"/>
          <p:cNvSpPr/>
          <p:nvPr/>
        </p:nvSpPr>
        <p:spPr>
          <a:xfrm>
            <a:off x="548640" y="1737360"/>
            <a:ext cx="5212080" cy="32918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AppData/Local/Temp/claude/C--Users-User-Desktop-informatica-8--Semestre/a3947737-32ff-4826-af91-ab831361c14e/scratchpad/ppt/shots/web_02.png"/>
          <p:cNvPicPr>
            <a:picLocks noChangeAspect="1"/>
          </p:cNvPicPr>
          <p:nvPr/>
        </p:nvPicPr>
        <p:blipFill>
          <a:blip r:embed="rId3"/>
          <a:srcRect/>
          <a:stretch/>
        </p:blipFill>
        <p:spPr>
          <a:xfrm>
            <a:off x="594360" y="1783080"/>
            <a:ext cx="5120640" cy="3200400"/>
          </a:xfrm>
          <a:prstGeom prst="rect">
            <a:avLst/>
          </a:prstGeom>
        </p:spPr>
      </p:pic>
      <p:sp>
        <p:nvSpPr>
          <p:cNvPr id="7" name="Text 4"/>
          <p:cNvSpPr txBox="1"/>
          <p:nvPr/>
        </p:nvSpPr>
        <p:spPr>
          <a:xfrm>
            <a:off x="548640" y="5074920"/>
            <a:ext cx="52120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inicio del cliente con su cupón de bienvenida</a:t>
            </a:r>
            <a:endParaRPr lang="en-US" sz="1050" dirty="0"/>
          </a:p>
        </p:txBody>
      </p:sp>
      <p:sp>
        <p:nvSpPr>
          <p:cNvPr id="8" name="Shape 5"/>
          <p:cNvSpPr/>
          <p:nvPr/>
        </p:nvSpPr>
        <p:spPr>
          <a:xfrm>
            <a:off x="5989320" y="1737360"/>
            <a:ext cx="3108960" cy="2468880"/>
          </a:xfrm>
          <a:prstGeom prst="rect">
            <a:avLst/>
          </a:prstGeom>
          <a:solidFill>
            <a:srgbClr val="FFFFFF"/>
          </a:solidFill>
          <a:ln w="9525">
            <a:solidFill>
              <a:srgbClr val="D7DCE3"/>
            </a:solidFill>
            <a:prstDash val="solid"/>
          </a:ln>
        </p:spPr>
        <p:txBody>
          <a:bodyPr/>
          <a:lstStyle/>
          <a:p>
            <a:endParaRPr lang="es-CL"/>
          </a:p>
        </p:txBody>
      </p:sp>
      <p:pic>
        <p:nvPicPr>
          <p:cNvPr id="9" name="Image 1" descr="C:/Users/User/AppData/Local/Temp/claude/C--Users-User-Desktop-informatica-8--Semestre/a3947737-32ff-4826-af91-ab831361c14e/scratchpad/ppt/shots/web_06c.png"/>
          <p:cNvPicPr>
            <a:picLocks noChangeAspect="1"/>
          </p:cNvPicPr>
          <p:nvPr/>
        </p:nvPicPr>
        <p:blipFill>
          <a:blip r:embed="rId4"/>
          <a:srcRect/>
          <a:stretch/>
        </p:blipFill>
        <p:spPr>
          <a:xfrm>
            <a:off x="6035040" y="1783080"/>
            <a:ext cx="3017520" cy="2377440"/>
          </a:xfrm>
          <a:prstGeom prst="rect">
            <a:avLst/>
          </a:prstGeom>
        </p:spPr>
      </p:pic>
      <p:sp>
        <p:nvSpPr>
          <p:cNvPr id="10" name="Text 6"/>
          <p:cNvSpPr txBox="1"/>
          <p:nvPr/>
        </p:nvSpPr>
        <p:spPr>
          <a:xfrm>
            <a:off x="5989320" y="4224528"/>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reserva en 5 pasos (paso 1: sucursal)</a:t>
            </a:r>
            <a:endParaRPr lang="en-US" sz="1050" dirty="0"/>
          </a:p>
        </p:txBody>
      </p:sp>
      <p:sp>
        <p:nvSpPr>
          <p:cNvPr id="11" name="Shape 7"/>
          <p:cNvSpPr/>
          <p:nvPr/>
        </p:nvSpPr>
        <p:spPr>
          <a:xfrm>
            <a:off x="5989320" y="4526280"/>
            <a:ext cx="3108960" cy="1508760"/>
          </a:xfrm>
          <a:prstGeom prst="rect">
            <a:avLst/>
          </a:prstGeom>
          <a:solidFill>
            <a:srgbClr val="FFFFFF"/>
          </a:solidFill>
          <a:ln w="9525">
            <a:solidFill>
              <a:srgbClr val="D7DCE3"/>
            </a:solidFill>
            <a:prstDash val="solid"/>
          </a:ln>
        </p:spPr>
        <p:txBody>
          <a:bodyPr/>
          <a:lstStyle/>
          <a:p>
            <a:endParaRPr lang="es-CL"/>
          </a:p>
        </p:txBody>
      </p:sp>
      <p:pic>
        <p:nvPicPr>
          <p:cNvPr id="12" name="Image 2" descr="C:/Users/User/AppData/Local/Temp/claude/C--Users-User-Desktop-informatica-8--Semestre/a3947737-32ff-4826-af91-ab831361c14e/scratchpad/ppt/shots/web_04c.png"/>
          <p:cNvPicPr>
            <a:picLocks noChangeAspect="1"/>
          </p:cNvPicPr>
          <p:nvPr/>
        </p:nvPicPr>
        <p:blipFill>
          <a:blip r:embed="rId5"/>
          <a:srcRect/>
          <a:stretch/>
        </p:blipFill>
        <p:spPr>
          <a:xfrm>
            <a:off x="6035040" y="4572000"/>
            <a:ext cx="3017520" cy="1417320"/>
          </a:xfrm>
          <a:prstGeom prst="rect">
            <a:avLst/>
          </a:prstGeom>
        </p:spPr>
      </p:pic>
      <p:sp>
        <p:nvSpPr>
          <p:cNvPr id="13" name="Text 8"/>
          <p:cNvSpPr txBox="1"/>
          <p:nvPr/>
        </p:nvSpPr>
        <p:spPr>
          <a:xfrm>
            <a:off x="5989320" y="6035040"/>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sucursales reales con mapa</a:t>
            </a:r>
            <a:endParaRPr lang="en-US" sz="1050" dirty="0"/>
          </a:p>
        </p:txBody>
      </p:sp>
      <p:sp>
        <p:nvSpPr>
          <p:cNvPr id="14" name="Shape 9"/>
          <p:cNvSpPr/>
          <p:nvPr/>
        </p:nvSpPr>
        <p:spPr>
          <a:xfrm>
            <a:off x="9418320" y="1737360"/>
            <a:ext cx="2194560" cy="4343400"/>
          </a:xfrm>
          <a:prstGeom prst="rect">
            <a:avLst/>
          </a:prstGeom>
          <a:solidFill>
            <a:srgbClr val="FFFFFF"/>
          </a:solidFill>
          <a:ln w="9525">
            <a:solidFill>
              <a:srgbClr val="D7DCE3"/>
            </a:solidFill>
            <a:prstDash val="solid"/>
          </a:ln>
        </p:spPr>
        <p:txBody>
          <a:bodyPr/>
          <a:lstStyle/>
          <a:p>
            <a:endParaRPr lang="es-CL"/>
          </a:p>
        </p:txBody>
      </p:sp>
      <p:pic>
        <p:nvPicPr>
          <p:cNvPr id="15" name="Image 3" descr="C:/Users/User/AppData/Local/Temp/claude/C--Users-User-Desktop-informatica-8--Semestre/a3947737-32ff-4826-af91-ab831361c14e/scratchpad/ppt/v3x/ppt/media/image-5-1.png"/>
          <p:cNvPicPr>
            <a:picLocks noChangeAspect="1"/>
          </p:cNvPicPr>
          <p:nvPr/>
        </p:nvPicPr>
        <p:blipFill>
          <a:blip r:embed="rId6"/>
          <a:srcRect/>
          <a:stretch/>
        </p:blipFill>
        <p:spPr>
          <a:xfrm>
            <a:off x="9464040" y="1783080"/>
            <a:ext cx="2103120" cy="4251960"/>
          </a:xfrm>
          <a:prstGeom prst="rect">
            <a:avLst/>
          </a:prstGeom>
        </p:spPr>
      </p:pic>
      <p:sp>
        <p:nvSpPr>
          <p:cNvPr id="16" name="Text 10"/>
          <p:cNvSpPr txBox="1"/>
          <p:nvPr/>
        </p:nvSpPr>
        <p:spPr>
          <a:xfrm>
            <a:off x="9326880" y="6080760"/>
            <a:ext cx="237744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App Android · inicio de sesión (01-10)</a:t>
            </a:r>
            <a:endParaRPr lang="en-US" sz="1050" dirty="0"/>
          </a:p>
        </p:txBody>
      </p:sp>
      <p:sp>
        <p:nvSpPr>
          <p:cNvPr id="17" name="Shape 11"/>
          <p:cNvSpPr/>
          <p:nvPr/>
        </p:nvSpPr>
        <p:spPr>
          <a:xfrm>
            <a:off x="548640" y="5440680"/>
            <a:ext cx="5212080" cy="777240"/>
          </a:xfrm>
          <a:prstGeom prst="rect">
            <a:avLst/>
          </a:prstGeom>
          <a:solidFill>
            <a:srgbClr val="EEF1F5"/>
          </a:solidFill>
          <a:ln w="9525">
            <a:solidFill>
              <a:srgbClr val="D7DCE3"/>
            </a:solidFill>
            <a:prstDash val="solid"/>
          </a:ln>
        </p:spPr>
        <p:txBody>
          <a:bodyPr/>
          <a:lstStyle/>
          <a:p>
            <a:endParaRPr lang="es-CL"/>
          </a:p>
        </p:txBody>
      </p:sp>
      <p:sp>
        <p:nvSpPr>
          <p:cNvPr id="18" name="Text 12"/>
          <p:cNvSpPr txBox="1"/>
          <p:nvPr/>
        </p:nvSpPr>
        <p:spPr>
          <a:xfrm>
            <a:off x="685800" y="5458968"/>
            <a:ext cx="4983480" cy="7315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Web en React y app en Kotlin con Jetpack Compose (MVVM). Ambas usan la misma API y muestran las 3 sucursales, los barberos y los servicios con precios reales.</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DESARROLLO · EVIDENCIA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Repositorio en GitHub</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github.com/Yerko-Rosales/Proyecto_Barberia (público) · historial de commits al 30-10-2026.</a:t>
            </a:r>
            <a:endParaRPr lang="en-US" sz="1250" dirty="0"/>
          </a:p>
        </p:txBody>
      </p:sp>
      <p:sp>
        <p:nvSpPr>
          <p:cNvPr id="5" name="Shape 3"/>
          <p:cNvSpPr/>
          <p:nvPr/>
        </p:nvSpPr>
        <p:spPr>
          <a:xfrm>
            <a:off x="548640" y="1737360"/>
            <a:ext cx="6766560" cy="4261104"/>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AppData/Local/Temp/claude/C--Users-User-Desktop-informatica-8--Semestre/a3947737-32ff-4826-af91-ab831361c14e/scratchpad/ppt/shots/gh_commits.png"/>
          <p:cNvPicPr>
            <a:picLocks noChangeAspect="1"/>
          </p:cNvPicPr>
          <p:nvPr/>
        </p:nvPicPr>
        <p:blipFill>
          <a:blip r:embed="rId4"/>
          <a:srcRect/>
          <a:stretch/>
        </p:blipFill>
        <p:spPr>
          <a:xfrm>
            <a:off x="594360" y="1783080"/>
            <a:ext cx="6675120" cy="4169664"/>
          </a:xfrm>
          <a:prstGeom prst="rect">
            <a:avLst/>
          </a:prstGeom>
        </p:spPr>
      </p:pic>
      <p:sp>
        <p:nvSpPr>
          <p:cNvPr id="7" name="Text 4"/>
          <p:cNvSpPr txBox="1"/>
          <p:nvPr/>
        </p:nvSpPr>
        <p:spPr>
          <a:xfrm>
            <a:off x="548640" y="6035040"/>
            <a:ext cx="67665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Historial de commits de la rama main</a:t>
            </a:r>
            <a:endParaRPr lang="en-US" sz="1050" dirty="0"/>
          </a:p>
        </p:txBody>
      </p:sp>
      <p:sp>
        <p:nvSpPr>
          <p:cNvPr id="8" name="Shape 5"/>
          <p:cNvSpPr/>
          <p:nvPr/>
        </p:nvSpPr>
        <p:spPr>
          <a:xfrm>
            <a:off x="7589520" y="1783080"/>
            <a:ext cx="4023360" cy="1280160"/>
          </a:xfrm>
          <a:prstGeom prst="rect">
            <a:avLst/>
          </a:prstGeom>
          <a:solidFill>
            <a:srgbClr val="FFFFFF"/>
          </a:solidFill>
          <a:ln w="9525">
            <a:solidFill>
              <a:srgbClr val="D7DCE3"/>
            </a:solidFill>
            <a:prstDash val="solid"/>
          </a:ln>
        </p:spPr>
        <p:txBody>
          <a:bodyPr/>
          <a:lstStyle/>
          <a:p>
            <a:endParaRPr lang="es-CL"/>
          </a:p>
        </p:txBody>
      </p:sp>
      <p:sp>
        <p:nvSpPr>
          <p:cNvPr id="9" name="Text 6"/>
          <p:cNvSpPr txBox="1"/>
          <p:nvPr/>
        </p:nvSpPr>
        <p:spPr>
          <a:xfrm>
            <a:off x="7680959" y="1892807"/>
            <a:ext cx="3640183"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32</a:t>
            </a:r>
            <a:endParaRPr lang="en-US" sz="2600" dirty="0"/>
          </a:p>
        </p:txBody>
      </p:sp>
      <p:sp>
        <p:nvSpPr>
          <p:cNvPr id="10" name="Text 7"/>
          <p:cNvSpPr txBox="1"/>
          <p:nvPr/>
        </p:nvSpPr>
        <p:spPr>
          <a:xfrm>
            <a:off x="7726680" y="2423159"/>
            <a:ext cx="3448594"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commits en main al 30-10</a:t>
            </a:r>
            <a:endParaRPr lang="en-US" sz="1150" dirty="0"/>
          </a:p>
        </p:txBody>
      </p:sp>
      <p:sp>
        <p:nvSpPr>
          <p:cNvPr id="14" name="Shape 11"/>
          <p:cNvSpPr/>
          <p:nvPr/>
        </p:nvSpPr>
        <p:spPr>
          <a:xfrm>
            <a:off x="7589520" y="3108960"/>
            <a:ext cx="4023360" cy="3108960"/>
          </a:xfrm>
          <a:prstGeom prst="rect">
            <a:avLst/>
          </a:prstGeom>
          <a:solidFill>
            <a:srgbClr val="FFFFFF"/>
          </a:solidFill>
          <a:ln w="9525">
            <a:solidFill>
              <a:srgbClr val="D7DCE3"/>
            </a:solidFill>
            <a:prstDash val="solid"/>
          </a:ln>
        </p:spPr>
        <p:txBody>
          <a:bodyPr/>
          <a:lstStyle/>
          <a:p>
            <a:endParaRPr lang="es-CL"/>
          </a:p>
        </p:txBody>
      </p:sp>
      <p:sp>
        <p:nvSpPr>
          <p:cNvPr id="15" name="Text 12"/>
          <p:cNvSpPr txBox="1"/>
          <p:nvPr/>
        </p:nvSpPr>
        <p:spPr>
          <a:xfrm>
            <a:off x="7772400" y="3200400"/>
            <a:ext cx="3657600" cy="32004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Qué contiene</a:t>
            </a:r>
            <a:endParaRPr lang="en-US" sz="1400" dirty="0"/>
          </a:p>
        </p:txBody>
      </p:sp>
      <p:sp>
        <p:nvSpPr>
          <p:cNvPr id="16" name="Text 13"/>
          <p:cNvSpPr txBox="1"/>
          <p:nvPr/>
        </p:nvSpPr>
        <p:spPr>
          <a:xfrm>
            <a:off x="7772400" y="3566160"/>
            <a:ext cx="3703320" cy="25603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Código de la web y de la app Android</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Script DDL, migraciones de Supabase y resultados de las pruebas</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Documentación de diseño y 35 diagramas (PlantUML y StarUML)</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Rama gh-pages: la web publicada para el ambiente UAT</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Sin secretos: claves en archivos .env excluidos de git</a:t>
            </a:r>
            <a:endParaRPr lang="en-US" sz="12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DESARROLLO · EVIDENCIA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Qué funciona hoy</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Al 30-10-2026: la web y la app usan solo la API; las tablas siguen cerradas a la clave pública.</a:t>
            </a:r>
            <a:endParaRPr lang="en-US" sz="1250" dirty="0"/>
          </a:p>
        </p:txBody>
      </p:sp>
      <p:sp>
        <p:nvSpPr>
          <p:cNvPr id="5" name="Shape 3"/>
          <p:cNvSpPr/>
          <p:nvPr/>
        </p:nvSpPr>
        <p:spPr>
          <a:xfrm>
            <a:off x="548640" y="1828800"/>
            <a:ext cx="2377440" cy="86868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2880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Web (React)</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clientes, invitados y administración</a:t>
            </a:r>
            <a:endParaRPr lang="en-US" sz="1350" dirty="0"/>
          </a:p>
        </p:txBody>
      </p:sp>
      <p:sp>
        <p:nvSpPr>
          <p:cNvPr id="7" name="Shape 5"/>
          <p:cNvSpPr/>
          <p:nvPr/>
        </p:nvSpPr>
        <p:spPr>
          <a:xfrm>
            <a:off x="548640" y="2880360"/>
            <a:ext cx="2377440" cy="868680"/>
          </a:xfrm>
          <a:prstGeom prst="rect">
            <a:avLst/>
          </a:prstGeom>
          <a:solidFill>
            <a:srgbClr val="FFFFFF"/>
          </a:solidFill>
          <a:ln w="9525">
            <a:solidFill>
              <a:srgbClr val="D7DCE3"/>
            </a:solidFill>
            <a:prstDash val="solid"/>
          </a:ln>
        </p:spPr>
        <p:txBody>
          <a:bodyPr/>
          <a:lstStyle/>
          <a:p>
            <a:endParaRPr lang="es-CL"/>
          </a:p>
        </p:txBody>
      </p:sp>
      <p:sp>
        <p:nvSpPr>
          <p:cNvPr id="8" name="Text 6"/>
          <p:cNvSpPr txBox="1"/>
          <p:nvPr/>
        </p:nvSpPr>
        <p:spPr>
          <a:xfrm>
            <a:off x="640080" y="288036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App Android</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Kotlin · Jetpack Compose · MVVM</a:t>
            </a:r>
            <a:endParaRPr lang="en-US" sz="1350" dirty="0"/>
          </a:p>
        </p:txBody>
      </p:sp>
      <p:sp>
        <p:nvSpPr>
          <p:cNvPr id="9" name="Shape 7"/>
          <p:cNvSpPr/>
          <p:nvPr/>
        </p:nvSpPr>
        <p:spPr>
          <a:xfrm>
            <a:off x="3749040" y="1828800"/>
            <a:ext cx="3291840" cy="1920240"/>
          </a:xfrm>
          <a:prstGeom prst="rect">
            <a:avLst/>
          </a:prstGeom>
          <a:solidFill>
            <a:srgbClr val="13294B"/>
          </a:solidFill>
          <a:ln w="9525">
            <a:solidFill>
              <a:srgbClr val="13294B"/>
            </a:solidFill>
            <a:prstDash val="solid"/>
          </a:ln>
        </p:spPr>
        <p:txBody>
          <a:bodyPr/>
          <a:lstStyle/>
          <a:p>
            <a:endParaRPr lang="es-CL"/>
          </a:p>
        </p:txBody>
      </p:sp>
      <p:sp>
        <p:nvSpPr>
          <p:cNvPr id="10" name="Text 8"/>
          <p:cNvSpPr txBox="1"/>
          <p:nvPr/>
        </p:nvSpPr>
        <p:spPr>
          <a:xfrm>
            <a:off x="3840480" y="1828800"/>
            <a:ext cx="31089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API en Supabase: 32 operaciones</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Catálogo 3 · cuenta 6 · reservas 3 · reseñas 2 · pago Webpay 3 · fila 4 · «Mis datos» 6 · personal 3 · correo 2</a:t>
            </a:r>
            <a:endParaRPr lang="en-US" sz="1350" dirty="0"/>
          </a:p>
        </p:txBody>
      </p:sp>
      <p:sp>
        <p:nvSpPr>
          <p:cNvPr id="11" name="Shape 9"/>
          <p:cNvSpPr/>
          <p:nvPr/>
        </p:nvSpPr>
        <p:spPr>
          <a:xfrm>
            <a:off x="7863840" y="1828800"/>
            <a:ext cx="3749040" cy="1920240"/>
          </a:xfrm>
          <a:prstGeom prst="rect">
            <a:avLst/>
          </a:prstGeom>
          <a:solidFill>
            <a:srgbClr val="1D3A63"/>
          </a:solidFill>
          <a:ln w="9525">
            <a:solidFill>
              <a:srgbClr val="1D3A63"/>
            </a:solidFill>
            <a:prstDash val="solid"/>
          </a:ln>
        </p:spPr>
        <p:txBody>
          <a:bodyPr/>
          <a:lstStyle/>
          <a:p>
            <a:endParaRPr lang="es-CL"/>
          </a:p>
        </p:txBody>
      </p:sp>
      <p:sp>
        <p:nvSpPr>
          <p:cNvPr id="12" name="Text 10"/>
          <p:cNvSpPr txBox="1"/>
          <p:nvPr/>
        </p:nvSpPr>
        <p:spPr>
          <a:xfrm>
            <a:off x="7955280" y="1828800"/>
            <a:ext cx="35661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PostgreSQL 17</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27 tablas · RLS cerrado · contraseñas con bcrypt · datos de contacto enmascarados</a:t>
            </a:r>
            <a:endParaRPr lang="en-US" sz="1350" dirty="0"/>
          </a:p>
        </p:txBody>
      </p:sp>
      <p:sp>
        <p:nvSpPr>
          <p:cNvPr id="13" name="Shape 11"/>
          <p:cNvSpPr/>
          <p:nvPr/>
        </p:nvSpPr>
        <p:spPr>
          <a:xfrm>
            <a:off x="2926080" y="2258568"/>
            <a:ext cx="822960" cy="0"/>
          </a:xfrm>
          <a:prstGeom prst="line">
            <a:avLst/>
          </a:prstGeom>
          <a:noFill/>
          <a:ln w="19050">
            <a:solidFill>
              <a:srgbClr val="13294B"/>
            </a:solidFill>
            <a:prstDash val="solid"/>
            <a:tailEnd type="triangle"/>
          </a:ln>
        </p:spPr>
        <p:txBody>
          <a:bodyPr/>
          <a:lstStyle/>
          <a:p>
            <a:endParaRPr lang="es-CL"/>
          </a:p>
        </p:txBody>
      </p:sp>
      <p:sp>
        <p:nvSpPr>
          <p:cNvPr id="14" name="Shape 12"/>
          <p:cNvSpPr/>
          <p:nvPr/>
        </p:nvSpPr>
        <p:spPr>
          <a:xfrm>
            <a:off x="2926080" y="3310128"/>
            <a:ext cx="822960" cy="0"/>
          </a:xfrm>
          <a:prstGeom prst="line">
            <a:avLst/>
          </a:prstGeom>
          <a:noFill/>
          <a:ln w="19050">
            <a:solidFill>
              <a:srgbClr val="13294B"/>
            </a:solidFill>
            <a:prstDash val="solid"/>
            <a:tailEnd type="triangle"/>
          </a:ln>
        </p:spPr>
        <p:txBody>
          <a:bodyPr/>
          <a:lstStyle/>
          <a:p>
            <a:endParaRPr lang="es-CL"/>
          </a:p>
        </p:txBody>
      </p:sp>
      <p:sp>
        <p:nvSpPr>
          <p:cNvPr id="15" name="Shape 13"/>
          <p:cNvSpPr/>
          <p:nvPr/>
        </p:nvSpPr>
        <p:spPr>
          <a:xfrm>
            <a:off x="7040880" y="2788920"/>
            <a:ext cx="822960" cy="0"/>
          </a:xfrm>
          <a:prstGeom prst="line">
            <a:avLst/>
          </a:prstGeom>
          <a:noFill/>
          <a:ln w="19050">
            <a:solidFill>
              <a:srgbClr val="13294B"/>
            </a:solidFill>
            <a:prstDash val="solid"/>
            <a:tailEnd type="triangle"/>
          </a:ln>
        </p:spPr>
        <p:txBody>
          <a:bodyPr/>
          <a:lstStyle/>
          <a:p>
            <a:endParaRPr lang="es-CL"/>
          </a:p>
        </p:txBody>
      </p:sp>
      <p:sp>
        <p:nvSpPr>
          <p:cNvPr id="22" name="Shape 20"/>
          <p:cNvSpPr/>
          <p:nvPr/>
        </p:nvSpPr>
        <p:spPr>
          <a:xfrm>
            <a:off x="2090000" y="4011929"/>
            <a:ext cx="2624328" cy="1143000"/>
          </a:xfrm>
          <a:prstGeom prst="rect">
            <a:avLst/>
          </a:prstGeom>
          <a:solidFill>
            <a:srgbClr val="FFFFFF"/>
          </a:solidFill>
          <a:ln w="9525">
            <a:solidFill>
              <a:srgbClr val="D7DCE3"/>
            </a:solidFill>
            <a:prstDash val="solid"/>
          </a:ln>
        </p:spPr>
        <p:txBody>
          <a:bodyPr/>
          <a:lstStyle/>
          <a:p>
            <a:endParaRPr lang="es-CL"/>
          </a:p>
        </p:txBody>
      </p:sp>
      <p:sp>
        <p:nvSpPr>
          <p:cNvPr id="23" name="Text 21"/>
          <p:cNvSpPr txBox="1"/>
          <p:nvPr/>
        </p:nvSpPr>
        <p:spPr>
          <a:xfrm>
            <a:off x="2090000" y="4034789"/>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Web</a:t>
            </a:r>
            <a:endParaRPr lang="en-US" sz="2600" dirty="0"/>
          </a:p>
        </p:txBody>
      </p:sp>
      <p:sp>
        <p:nvSpPr>
          <p:cNvPr id="24" name="Text 22"/>
          <p:cNvSpPr txBox="1"/>
          <p:nvPr/>
        </p:nvSpPr>
        <p:spPr>
          <a:xfrm>
            <a:off x="2135720" y="4565141"/>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reserva con pago Webpay, cancelación y permisos por rol (9/9 y 4/4)</a:t>
            </a:r>
            <a:endParaRPr lang="en-US" sz="1150" dirty="0"/>
          </a:p>
        </p:txBody>
      </p:sp>
      <p:sp>
        <p:nvSpPr>
          <p:cNvPr id="25" name="Shape 23"/>
          <p:cNvSpPr/>
          <p:nvPr/>
        </p:nvSpPr>
        <p:spPr>
          <a:xfrm>
            <a:off x="6078772" y="4034789"/>
            <a:ext cx="2624328" cy="1143000"/>
          </a:xfrm>
          <a:prstGeom prst="rect">
            <a:avLst/>
          </a:prstGeom>
          <a:solidFill>
            <a:srgbClr val="FFFFFF"/>
          </a:solidFill>
          <a:ln w="9525">
            <a:solidFill>
              <a:srgbClr val="D7DCE3"/>
            </a:solidFill>
            <a:prstDash val="solid"/>
          </a:ln>
        </p:spPr>
        <p:txBody>
          <a:bodyPr/>
          <a:lstStyle/>
          <a:p>
            <a:endParaRPr lang="es-CL"/>
          </a:p>
        </p:txBody>
      </p:sp>
      <p:sp>
        <p:nvSpPr>
          <p:cNvPr id="26" name="Text 24"/>
          <p:cNvSpPr txBox="1"/>
          <p:nvPr/>
        </p:nvSpPr>
        <p:spPr>
          <a:xfrm>
            <a:off x="6189295" y="4178808"/>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App</a:t>
            </a:r>
            <a:endParaRPr lang="en-US" sz="2600" dirty="0"/>
          </a:p>
        </p:txBody>
      </p:sp>
      <p:sp>
        <p:nvSpPr>
          <p:cNvPr id="27" name="Text 25"/>
          <p:cNvSpPr txBox="1"/>
          <p:nvPr/>
        </p:nvSpPr>
        <p:spPr>
          <a:xfrm>
            <a:off x="6228654" y="4703791"/>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compila; probada en el emulador (barbero, fila, «Mis datos» y Webpay)</a:t>
            </a:r>
            <a:endParaRPr lang="en-US" sz="1150" dirty="0"/>
          </a:p>
        </p:txBody>
      </p:sp>
      <p:sp>
        <p:nvSpPr>
          <p:cNvPr id="28" name="Shape 26"/>
          <p:cNvSpPr/>
          <p:nvPr/>
        </p:nvSpPr>
        <p:spPr>
          <a:xfrm>
            <a:off x="548640" y="5394960"/>
            <a:ext cx="11064240" cy="822960"/>
          </a:xfrm>
          <a:prstGeom prst="rect">
            <a:avLst/>
          </a:prstGeom>
          <a:solidFill>
            <a:srgbClr val="EEF1F5"/>
          </a:solidFill>
          <a:ln w="9525">
            <a:solidFill>
              <a:srgbClr val="D7DCE3"/>
            </a:solidFill>
            <a:prstDash val="solid"/>
          </a:ln>
        </p:spPr>
        <p:txBody>
          <a:bodyPr/>
          <a:lstStyle/>
          <a:p>
            <a:endParaRPr lang="es-CL"/>
          </a:p>
        </p:txBody>
      </p:sp>
      <p:sp>
        <p:nvSpPr>
          <p:cNvPr id="29" name="Text 27"/>
          <p:cNvSpPr txBox="1"/>
          <p:nvPr/>
        </p:nvSpPr>
        <p:spPr>
          <a:xfrm>
            <a:off x="685800" y="5413248"/>
            <a:ext cx="10789920" cy="786384"/>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Reglas que valida la base de datos: </a:t>
            </a:r>
            <a:r>
              <a:rPr lang="en-US" sz="1200" dirty="0">
                <a:solidFill>
                  <a:srgbClr val="1E2430"/>
                </a:solidFill>
                <a:latin typeface="Calibri" pitchFamily="34" charset="0"/>
                <a:ea typeface="Calibri" pitchFamily="34" charset="-122"/>
                <a:cs typeface="Calibri" pitchFamily="34" charset="-120"/>
              </a:rPr>
              <a:t>abono desde la configuración · reagendar con 24 h y máximo 2 veces · sin horarios duplicados · pérdida del abono según quién cancela · auditoría de accesos · solo el titular, el Dueño o el cajero/a de la sucursal cambian una reserva · bloqueo de 15 min tras 5 intentos fallidos</a:t>
            </a:r>
            <a:endParaRPr lang="en-US" sz="1200" dirty="0"/>
          </a:p>
        </p:txBody>
      </p:sp>
      <p:sp>
        <p:nvSpPr>
          <p:cNvPr id="30"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 · RIESGOS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Matriz de riesgos 3 × 3</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Riesgos actuales y hasta el cierre (S16), con su ID fijo del Plan de Gestión de Riesgos (doc. 15 v1.4): probabilidad versus impacto (Project Management Institute [PMI], 2021).</a:t>
            </a:r>
            <a:endParaRPr lang="en-US" sz="1250" dirty="0"/>
          </a:p>
        </p:txBody>
      </p:sp>
      <p:sp>
        <p:nvSpPr>
          <p:cNvPr id="5" name="Shape 3"/>
          <p:cNvSpPr/>
          <p:nvPr/>
        </p:nvSpPr>
        <p:spPr>
          <a:xfrm>
            <a:off x="1325880" y="1828800"/>
            <a:ext cx="1563624" cy="1197864"/>
          </a:xfrm>
          <a:prstGeom prst="rect">
            <a:avLst/>
          </a:prstGeom>
          <a:solidFill>
            <a:srgbClr val="F5E6CC"/>
          </a:solidFill>
          <a:ln w="12700">
            <a:solidFill>
              <a:srgbClr val="FFFFFF"/>
            </a:solidFill>
            <a:prstDash val="solid"/>
          </a:ln>
        </p:spPr>
        <p:txBody>
          <a:bodyPr/>
          <a:lstStyle/>
          <a:p>
            <a:endParaRPr lang="es-CL"/>
          </a:p>
        </p:txBody>
      </p:sp>
      <p:sp>
        <p:nvSpPr>
          <p:cNvPr id="6" name="Shape 4"/>
          <p:cNvSpPr/>
          <p:nvPr/>
        </p:nvSpPr>
        <p:spPr>
          <a:xfrm>
            <a:off x="2926080" y="1828800"/>
            <a:ext cx="1563624" cy="1197864"/>
          </a:xfrm>
          <a:prstGeom prst="rect">
            <a:avLst/>
          </a:prstGeom>
          <a:solidFill>
            <a:srgbClr val="F2D4D4"/>
          </a:solidFill>
          <a:ln w="12700">
            <a:solidFill>
              <a:srgbClr val="FFFFFF"/>
            </a:solidFill>
            <a:prstDash val="solid"/>
          </a:ln>
        </p:spPr>
        <p:txBody>
          <a:bodyPr/>
          <a:lstStyle/>
          <a:p>
            <a:endParaRPr lang="es-CL"/>
          </a:p>
        </p:txBody>
      </p:sp>
      <p:sp>
        <p:nvSpPr>
          <p:cNvPr id="7" name="Shape 5"/>
          <p:cNvSpPr/>
          <p:nvPr/>
        </p:nvSpPr>
        <p:spPr>
          <a:xfrm>
            <a:off x="4526280" y="1828800"/>
            <a:ext cx="1563624" cy="1197864"/>
          </a:xfrm>
          <a:prstGeom prst="rect">
            <a:avLst/>
          </a:prstGeom>
          <a:solidFill>
            <a:srgbClr val="F2D4D4"/>
          </a:solidFill>
          <a:ln w="12700">
            <a:solidFill>
              <a:srgbClr val="FFFFFF"/>
            </a:solidFill>
            <a:prstDash val="solid"/>
          </a:ln>
        </p:spPr>
        <p:txBody>
          <a:bodyPr/>
          <a:lstStyle/>
          <a:p>
            <a:endParaRPr lang="es-CL"/>
          </a:p>
        </p:txBody>
      </p:sp>
      <p:sp>
        <p:nvSpPr>
          <p:cNvPr id="10" name="Shape 8"/>
          <p:cNvSpPr/>
          <p:nvPr/>
        </p:nvSpPr>
        <p:spPr>
          <a:xfrm>
            <a:off x="1325880" y="3063240"/>
            <a:ext cx="1563624" cy="1197864"/>
          </a:xfrm>
          <a:prstGeom prst="rect">
            <a:avLst/>
          </a:prstGeom>
          <a:solidFill>
            <a:srgbClr val="D8EBDF"/>
          </a:solidFill>
          <a:ln w="12700">
            <a:solidFill>
              <a:srgbClr val="FFFFFF"/>
            </a:solidFill>
            <a:prstDash val="solid"/>
          </a:ln>
        </p:spPr>
        <p:txBody>
          <a:bodyPr/>
          <a:lstStyle/>
          <a:p>
            <a:endParaRPr lang="es-CL"/>
          </a:p>
        </p:txBody>
      </p:sp>
      <p:sp>
        <p:nvSpPr>
          <p:cNvPr id="11" name="Shape 9"/>
          <p:cNvSpPr/>
          <p:nvPr/>
        </p:nvSpPr>
        <p:spPr>
          <a:xfrm>
            <a:off x="2926080" y="3063240"/>
            <a:ext cx="1563624" cy="1197864"/>
          </a:xfrm>
          <a:prstGeom prst="rect">
            <a:avLst/>
          </a:prstGeom>
          <a:solidFill>
            <a:srgbClr val="F5E6CC"/>
          </a:solidFill>
          <a:ln w="12700">
            <a:solidFill>
              <a:srgbClr val="FFFFFF"/>
            </a:solidFill>
            <a:prstDash val="solid"/>
          </a:ln>
        </p:spPr>
        <p:txBody>
          <a:bodyPr/>
          <a:lstStyle/>
          <a:p>
            <a:endParaRPr lang="es-CL"/>
          </a:p>
        </p:txBody>
      </p:sp>
      <p:sp>
        <p:nvSpPr>
          <p:cNvPr id="20" name="Shape 18"/>
          <p:cNvSpPr/>
          <p:nvPr/>
        </p:nvSpPr>
        <p:spPr>
          <a:xfrm>
            <a:off x="4526280" y="3063240"/>
            <a:ext cx="1563624" cy="1197864"/>
          </a:xfrm>
          <a:prstGeom prst="rect">
            <a:avLst/>
          </a:prstGeom>
          <a:solidFill>
            <a:srgbClr val="F2D4D4"/>
          </a:solidFill>
          <a:ln w="12700">
            <a:solidFill>
              <a:srgbClr val="FFFFFF"/>
            </a:solidFill>
            <a:prstDash val="solid"/>
          </a:ln>
        </p:spPr>
        <p:txBody>
          <a:bodyPr/>
          <a:lstStyle/>
          <a:p>
            <a:endParaRPr lang="es-CL"/>
          </a:p>
        </p:txBody>
      </p:sp>
      <p:sp>
        <p:nvSpPr>
          <p:cNvPr id="25" name="Shape 23"/>
          <p:cNvSpPr/>
          <p:nvPr/>
        </p:nvSpPr>
        <p:spPr>
          <a:xfrm>
            <a:off x="1325880" y="4297680"/>
            <a:ext cx="1563624" cy="1197864"/>
          </a:xfrm>
          <a:prstGeom prst="rect">
            <a:avLst/>
          </a:prstGeom>
          <a:solidFill>
            <a:srgbClr val="D8EBDF"/>
          </a:solidFill>
          <a:ln w="12700">
            <a:solidFill>
              <a:srgbClr val="FFFFFF"/>
            </a:solidFill>
            <a:prstDash val="solid"/>
          </a:ln>
        </p:spPr>
        <p:txBody>
          <a:bodyPr/>
          <a:lstStyle/>
          <a:p>
            <a:endParaRPr lang="es-CL"/>
          </a:p>
        </p:txBody>
      </p:sp>
      <p:sp>
        <p:nvSpPr>
          <p:cNvPr id="26" name="Shape 24"/>
          <p:cNvSpPr/>
          <p:nvPr/>
        </p:nvSpPr>
        <p:spPr>
          <a:xfrm>
            <a:off x="2926080" y="4297680"/>
            <a:ext cx="1563624" cy="1197864"/>
          </a:xfrm>
          <a:prstGeom prst="rect">
            <a:avLst/>
          </a:prstGeom>
          <a:solidFill>
            <a:srgbClr val="D8EBDF"/>
          </a:solidFill>
          <a:ln w="12700">
            <a:solidFill>
              <a:srgbClr val="FFFFFF"/>
            </a:solidFill>
            <a:prstDash val="solid"/>
          </a:ln>
        </p:spPr>
        <p:txBody>
          <a:bodyPr/>
          <a:lstStyle/>
          <a:p>
            <a:endParaRPr lang="es-CL"/>
          </a:p>
        </p:txBody>
      </p:sp>
      <p:sp>
        <p:nvSpPr>
          <p:cNvPr id="27" name="Shape 25"/>
          <p:cNvSpPr/>
          <p:nvPr/>
        </p:nvSpPr>
        <p:spPr>
          <a:xfrm>
            <a:off x="4526280" y="4297680"/>
            <a:ext cx="1563624" cy="1197864"/>
          </a:xfrm>
          <a:prstGeom prst="rect">
            <a:avLst/>
          </a:prstGeom>
          <a:solidFill>
            <a:srgbClr val="F5E6CC"/>
          </a:solidFill>
          <a:ln w="12700">
            <a:solidFill>
              <a:srgbClr val="FFFFFF"/>
            </a:solidFill>
            <a:prstDash val="solid"/>
          </a:ln>
        </p:spPr>
        <p:txBody>
          <a:bodyPr/>
          <a:lstStyle/>
          <a:p>
            <a:endParaRPr lang="es-CL"/>
          </a:p>
        </p:txBody>
      </p:sp>
      <p:sp>
        <p:nvSpPr>
          <p:cNvPr id="30" name="Text 28"/>
          <p:cNvSpPr txBox="1"/>
          <p:nvPr/>
        </p:nvSpPr>
        <p:spPr>
          <a:xfrm>
            <a:off x="777240" y="182880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Alta</a:t>
            </a:r>
            <a:endParaRPr lang="en-US" sz="1100" dirty="0"/>
          </a:p>
        </p:txBody>
      </p:sp>
      <p:sp>
        <p:nvSpPr>
          <p:cNvPr id="31" name="Text 29"/>
          <p:cNvSpPr txBox="1"/>
          <p:nvPr/>
        </p:nvSpPr>
        <p:spPr>
          <a:xfrm>
            <a:off x="777240" y="306324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Media</a:t>
            </a:r>
            <a:endParaRPr lang="en-US" sz="1100" dirty="0"/>
          </a:p>
        </p:txBody>
      </p:sp>
      <p:sp>
        <p:nvSpPr>
          <p:cNvPr id="32" name="Text 30"/>
          <p:cNvSpPr txBox="1"/>
          <p:nvPr/>
        </p:nvSpPr>
        <p:spPr>
          <a:xfrm>
            <a:off x="777240" y="429768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Baja</a:t>
            </a:r>
            <a:endParaRPr lang="en-US" sz="1100" dirty="0"/>
          </a:p>
        </p:txBody>
      </p:sp>
      <p:sp>
        <p:nvSpPr>
          <p:cNvPr id="33" name="Text 31"/>
          <p:cNvSpPr txBox="1"/>
          <p:nvPr/>
        </p:nvSpPr>
        <p:spPr>
          <a:xfrm>
            <a:off x="13258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Bajo</a:t>
            </a:r>
            <a:endParaRPr lang="en-US" sz="1100" dirty="0"/>
          </a:p>
        </p:txBody>
      </p:sp>
      <p:sp>
        <p:nvSpPr>
          <p:cNvPr id="34" name="Text 32"/>
          <p:cNvSpPr txBox="1"/>
          <p:nvPr/>
        </p:nvSpPr>
        <p:spPr>
          <a:xfrm>
            <a:off x="29260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p>
        </p:txBody>
      </p:sp>
      <p:sp>
        <p:nvSpPr>
          <p:cNvPr id="35" name="Text 33"/>
          <p:cNvSpPr txBox="1"/>
          <p:nvPr/>
        </p:nvSpPr>
        <p:spPr>
          <a:xfrm>
            <a:off x="45262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Alto</a:t>
            </a:r>
            <a:endParaRPr lang="en-US" sz="1100" dirty="0"/>
          </a:p>
        </p:txBody>
      </p:sp>
      <p:sp>
        <p:nvSpPr>
          <p:cNvPr id="36" name="Text 34"/>
          <p:cNvSpPr txBox="1"/>
          <p:nvPr/>
        </p:nvSpPr>
        <p:spPr>
          <a:xfrm rot="16200000">
            <a:off x="-502920" y="3543300"/>
            <a:ext cx="1645920" cy="274320"/>
          </a:xfrm>
          <a:prstGeom prst="rect">
            <a:avLst/>
          </a:prstGeom>
          <a:noFill/>
          <a:ln/>
        </p:spPr>
        <p:txBody>
          <a:bodyPr wrap="square" lIns="0" tIns="0" rIns="0" bIns="0" rtlCol="0" anchor="ctr"/>
          <a:lstStyle/>
          <a:p>
            <a:pPr marL="0" indent="0" algn="ctr">
              <a:buNone/>
            </a:pPr>
            <a:r>
              <a:rPr lang="en-US" sz="1000" b="1" dirty="0">
                <a:solidFill>
                  <a:srgbClr val="5B6472"/>
                </a:solidFill>
                <a:latin typeface="Calibri" pitchFamily="34" charset="0"/>
                <a:ea typeface="Calibri" pitchFamily="34" charset="-122"/>
                <a:cs typeface="Calibri" pitchFamily="34" charset="-120"/>
              </a:rPr>
              <a:t>PROBABILIDAD</a:t>
            </a:r>
            <a:endParaRPr lang="en-US" sz="1000" dirty="0"/>
          </a:p>
        </p:txBody>
      </p:sp>
      <p:sp>
        <p:nvSpPr>
          <p:cNvPr id="37" name="Text 35"/>
          <p:cNvSpPr txBox="1"/>
          <p:nvPr/>
        </p:nvSpPr>
        <p:spPr>
          <a:xfrm>
            <a:off x="1325880" y="5806440"/>
            <a:ext cx="4800600" cy="274320"/>
          </a:xfrm>
          <a:prstGeom prst="rect">
            <a:avLst/>
          </a:prstGeom>
          <a:noFill/>
          <a:ln/>
        </p:spPr>
        <p:txBody>
          <a:bodyPr wrap="square" lIns="0" tIns="0" rIns="0" bIns="0" rtlCol="0" anchor="ctr"/>
          <a:lstStyle/>
          <a:p>
            <a:pPr marL="0" indent="0" algn="ctr">
              <a:buNone/>
            </a:pPr>
            <a:r>
              <a:rPr lang="en-US" sz="1000" b="1" kern="0" spc="200" dirty="0">
                <a:solidFill>
                  <a:srgbClr val="5B6472"/>
                </a:solidFill>
                <a:latin typeface="Calibri" pitchFamily="34" charset="0"/>
                <a:ea typeface="Calibri" pitchFamily="34" charset="-122"/>
                <a:cs typeface="Calibri" pitchFamily="34" charset="-120"/>
              </a:rPr>
              <a:t>IMPACTO</a:t>
            </a:r>
            <a:endParaRPr lang="en-US" sz="1000" dirty="0"/>
          </a:p>
        </p:txBody>
      </p:sp>
      <p:sp>
        <p:nvSpPr>
          <p:cNvPr id="38" name="Shape 36"/>
          <p:cNvSpPr/>
          <p:nvPr/>
        </p:nvSpPr>
        <p:spPr>
          <a:xfrm>
            <a:off x="6400800" y="1783080"/>
            <a:ext cx="5212080" cy="4434840"/>
          </a:xfrm>
          <a:prstGeom prst="rect">
            <a:avLst/>
          </a:prstGeom>
          <a:solidFill>
            <a:srgbClr val="FFFFFF"/>
          </a:solidFill>
          <a:ln w="9525">
            <a:solidFill>
              <a:srgbClr val="D7DCE3"/>
            </a:solidFill>
            <a:prstDash val="solid"/>
          </a:ln>
        </p:spPr>
        <p:txBody>
          <a:bodyPr/>
          <a:lstStyle/>
          <a:p>
            <a:endParaRPr lang="es-CL"/>
          </a:p>
        </p:txBody>
      </p:sp>
      <p:sp>
        <p:nvSpPr>
          <p:cNvPr id="88"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13</a:t>
            </a:fld>
            <a:endParaRPr lang="en-US"/>
          </a:p>
        </p:txBody>
      </p:sp>
      <p:sp>
        <p:nvSpPr>
          <p:cNvPr id="5011" name="Shape 37"/>
          <p:cNvSpPr/>
          <p:nvPr/>
        </p:nvSpPr>
        <p:spPr>
          <a:xfrm>
            <a:off x="4617720" y="4407408"/>
            <a:ext cx="658368" cy="274320"/>
          </a:xfrm>
          <a:prstGeom prst="roundRect">
            <a:avLst/>
          </a:prstGeom>
          <a:solidFill>
            <a:srgbClr val="B5762A"/>
          </a:solidFill>
          <a:ln w="12700">
            <a:solidFill>
              <a:srgbClr val="B5762A"/>
            </a:solidFill>
            <a:prstDash val="solid"/>
          </a:ln>
        </p:spPr>
        <p:txBody>
          <a:bodyPr/>
          <a:lstStyle/>
          <a:p>
            <a:endParaRPr lang="es-CL"/>
          </a:p>
        </p:txBody>
      </p:sp>
      <p:sp>
        <p:nvSpPr>
          <p:cNvPr id="5012" name="Text 38"/>
          <p:cNvSpPr txBox="1"/>
          <p:nvPr/>
        </p:nvSpPr>
        <p:spPr>
          <a:xfrm>
            <a:off x="4617720" y="4407408"/>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R-02</a:t>
            </a:r>
            <a:endParaRPr lang="en-US" sz="1000" dirty="0"/>
          </a:p>
        </p:txBody>
      </p:sp>
      <p:sp>
        <p:nvSpPr>
          <p:cNvPr id="5013" name="Shape 37"/>
          <p:cNvSpPr/>
          <p:nvPr/>
        </p:nvSpPr>
        <p:spPr>
          <a:xfrm>
            <a:off x="5330952" y="4407408"/>
            <a:ext cx="658368" cy="274320"/>
          </a:xfrm>
          <a:prstGeom prst="roundRect">
            <a:avLst/>
          </a:prstGeom>
          <a:solidFill>
            <a:srgbClr val="B5762A"/>
          </a:solidFill>
          <a:ln w="12700">
            <a:solidFill>
              <a:srgbClr val="B5762A"/>
            </a:solidFill>
            <a:prstDash val="solid"/>
          </a:ln>
        </p:spPr>
        <p:txBody>
          <a:bodyPr/>
          <a:lstStyle/>
          <a:p>
            <a:endParaRPr lang="es-CL"/>
          </a:p>
        </p:txBody>
      </p:sp>
      <p:sp>
        <p:nvSpPr>
          <p:cNvPr id="5014" name="Text 38"/>
          <p:cNvSpPr txBox="1"/>
          <p:nvPr/>
        </p:nvSpPr>
        <p:spPr>
          <a:xfrm>
            <a:off x="5330952" y="4407408"/>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R-03</a:t>
            </a:r>
            <a:endParaRPr lang="en-US" sz="1000" dirty="0"/>
          </a:p>
        </p:txBody>
      </p:sp>
      <p:sp>
        <p:nvSpPr>
          <p:cNvPr id="5015" name="Shape 37"/>
          <p:cNvSpPr/>
          <p:nvPr/>
        </p:nvSpPr>
        <p:spPr>
          <a:xfrm>
            <a:off x="4617720" y="4754880"/>
            <a:ext cx="658368" cy="274320"/>
          </a:xfrm>
          <a:prstGeom prst="roundRect">
            <a:avLst/>
          </a:prstGeom>
          <a:solidFill>
            <a:srgbClr val="B5762A"/>
          </a:solidFill>
          <a:ln w="12700">
            <a:solidFill>
              <a:srgbClr val="B5762A"/>
            </a:solidFill>
            <a:prstDash val="solid"/>
          </a:ln>
        </p:spPr>
        <p:txBody>
          <a:bodyPr/>
          <a:lstStyle/>
          <a:p>
            <a:endParaRPr lang="es-CL"/>
          </a:p>
        </p:txBody>
      </p:sp>
      <p:sp>
        <p:nvSpPr>
          <p:cNvPr id="5016" name="Text 38"/>
          <p:cNvSpPr txBox="1"/>
          <p:nvPr/>
        </p:nvSpPr>
        <p:spPr>
          <a:xfrm>
            <a:off x="4617720" y="4754880"/>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R-05</a:t>
            </a:r>
            <a:endParaRPr lang="en-US" sz="1000" dirty="0"/>
          </a:p>
        </p:txBody>
      </p:sp>
      <p:sp>
        <p:nvSpPr>
          <p:cNvPr id="5017" name="Shape 37"/>
          <p:cNvSpPr/>
          <p:nvPr/>
        </p:nvSpPr>
        <p:spPr>
          <a:xfrm>
            <a:off x="5330952" y="4754880"/>
            <a:ext cx="658368" cy="274320"/>
          </a:xfrm>
          <a:prstGeom prst="roundRect">
            <a:avLst/>
          </a:prstGeom>
          <a:solidFill>
            <a:srgbClr val="B5762A"/>
          </a:solidFill>
          <a:ln w="12700">
            <a:solidFill>
              <a:srgbClr val="B5762A"/>
            </a:solidFill>
            <a:prstDash val="solid"/>
          </a:ln>
        </p:spPr>
        <p:txBody>
          <a:bodyPr/>
          <a:lstStyle/>
          <a:p>
            <a:endParaRPr lang="es-CL"/>
          </a:p>
        </p:txBody>
      </p:sp>
      <p:sp>
        <p:nvSpPr>
          <p:cNvPr id="5018" name="Text 38"/>
          <p:cNvSpPr txBox="1"/>
          <p:nvPr/>
        </p:nvSpPr>
        <p:spPr>
          <a:xfrm>
            <a:off x="5330952" y="4754880"/>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R-08</a:t>
            </a:r>
            <a:endParaRPr lang="en-US" sz="1000" dirty="0"/>
          </a:p>
        </p:txBody>
      </p:sp>
      <p:sp>
        <p:nvSpPr>
          <p:cNvPr id="5019" name="Shape 37"/>
          <p:cNvSpPr/>
          <p:nvPr/>
        </p:nvSpPr>
        <p:spPr>
          <a:xfrm>
            <a:off x="3017520" y="3172968"/>
            <a:ext cx="658368" cy="274320"/>
          </a:xfrm>
          <a:prstGeom prst="roundRect">
            <a:avLst/>
          </a:prstGeom>
          <a:solidFill>
            <a:srgbClr val="B5762A"/>
          </a:solidFill>
          <a:ln w="12700">
            <a:solidFill>
              <a:srgbClr val="B5762A"/>
            </a:solidFill>
            <a:prstDash val="solid"/>
          </a:ln>
        </p:spPr>
        <p:txBody>
          <a:bodyPr/>
          <a:lstStyle/>
          <a:p>
            <a:endParaRPr lang="es-CL"/>
          </a:p>
        </p:txBody>
      </p:sp>
      <p:sp>
        <p:nvSpPr>
          <p:cNvPr id="5020" name="Text 38"/>
          <p:cNvSpPr txBox="1"/>
          <p:nvPr/>
        </p:nvSpPr>
        <p:spPr>
          <a:xfrm>
            <a:off x="3017520" y="3172968"/>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R-13</a:t>
            </a:r>
            <a:endParaRPr lang="en-US" sz="1000" dirty="0"/>
          </a:p>
        </p:txBody>
      </p:sp>
      <p:sp>
        <p:nvSpPr>
          <p:cNvPr id="5021" name="Shape 37"/>
          <p:cNvSpPr/>
          <p:nvPr/>
        </p:nvSpPr>
        <p:spPr>
          <a:xfrm>
            <a:off x="3730752" y="3172968"/>
            <a:ext cx="658368" cy="274320"/>
          </a:xfrm>
          <a:prstGeom prst="roundRect">
            <a:avLst/>
          </a:prstGeom>
          <a:solidFill>
            <a:srgbClr val="B5762A"/>
          </a:solidFill>
          <a:ln w="12700">
            <a:solidFill>
              <a:srgbClr val="B5762A"/>
            </a:solidFill>
            <a:prstDash val="solid"/>
          </a:ln>
        </p:spPr>
        <p:txBody>
          <a:bodyPr/>
          <a:lstStyle/>
          <a:p>
            <a:endParaRPr lang="es-CL"/>
          </a:p>
        </p:txBody>
      </p:sp>
      <p:sp>
        <p:nvSpPr>
          <p:cNvPr id="5022" name="Text 38"/>
          <p:cNvSpPr txBox="1"/>
          <p:nvPr/>
        </p:nvSpPr>
        <p:spPr>
          <a:xfrm>
            <a:off x="3730752" y="3172968"/>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R-15</a:t>
            </a:r>
            <a:endParaRPr lang="en-US" sz="1000" dirty="0"/>
          </a:p>
        </p:txBody>
      </p:sp>
      <p:sp>
        <p:nvSpPr>
          <p:cNvPr id="5023" name="Shape 37"/>
          <p:cNvSpPr/>
          <p:nvPr/>
        </p:nvSpPr>
        <p:spPr>
          <a:xfrm>
            <a:off x="3017520" y="3520440"/>
            <a:ext cx="658368" cy="274320"/>
          </a:xfrm>
          <a:prstGeom prst="roundRect">
            <a:avLst/>
          </a:prstGeom>
          <a:solidFill>
            <a:srgbClr val="B5762A"/>
          </a:solidFill>
          <a:ln w="12700">
            <a:solidFill>
              <a:srgbClr val="B5762A"/>
            </a:solidFill>
            <a:prstDash val="solid"/>
          </a:ln>
        </p:spPr>
        <p:txBody>
          <a:bodyPr/>
          <a:lstStyle/>
          <a:p>
            <a:endParaRPr lang="es-CL"/>
          </a:p>
        </p:txBody>
      </p:sp>
      <p:sp>
        <p:nvSpPr>
          <p:cNvPr id="5024" name="Text 38"/>
          <p:cNvSpPr txBox="1"/>
          <p:nvPr/>
        </p:nvSpPr>
        <p:spPr>
          <a:xfrm>
            <a:off x="3017520" y="3520440"/>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R-16</a:t>
            </a:r>
            <a:endParaRPr lang="en-US" sz="1000" dirty="0"/>
          </a:p>
        </p:txBody>
      </p:sp>
      <p:sp>
        <p:nvSpPr>
          <p:cNvPr id="5025" name="Shape 37"/>
          <p:cNvSpPr/>
          <p:nvPr/>
        </p:nvSpPr>
        <p:spPr>
          <a:xfrm>
            <a:off x="3730752" y="3520440"/>
            <a:ext cx="658368" cy="274320"/>
          </a:xfrm>
          <a:prstGeom prst="roundRect">
            <a:avLst/>
          </a:prstGeom>
          <a:solidFill>
            <a:srgbClr val="B5762A"/>
          </a:solidFill>
          <a:ln w="12700">
            <a:solidFill>
              <a:srgbClr val="B5762A"/>
            </a:solidFill>
            <a:prstDash val="solid"/>
          </a:ln>
        </p:spPr>
        <p:txBody>
          <a:bodyPr/>
          <a:lstStyle/>
          <a:p>
            <a:endParaRPr lang="es-CL"/>
          </a:p>
        </p:txBody>
      </p:sp>
      <p:sp>
        <p:nvSpPr>
          <p:cNvPr id="5026" name="Text 38"/>
          <p:cNvSpPr txBox="1"/>
          <p:nvPr/>
        </p:nvSpPr>
        <p:spPr>
          <a:xfrm>
            <a:off x="3730752" y="3520440"/>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R-17</a:t>
            </a:r>
            <a:endParaRPr lang="en-US" sz="1000" dirty="0"/>
          </a:p>
        </p:txBody>
      </p:sp>
      <p:sp>
        <p:nvSpPr>
          <p:cNvPr id="5027" name="Shape 37"/>
          <p:cNvSpPr/>
          <p:nvPr/>
        </p:nvSpPr>
        <p:spPr>
          <a:xfrm>
            <a:off x="3017520" y="3867912"/>
            <a:ext cx="658368" cy="274320"/>
          </a:xfrm>
          <a:prstGeom prst="roundRect">
            <a:avLst/>
          </a:prstGeom>
          <a:solidFill>
            <a:srgbClr val="B5762A"/>
          </a:solidFill>
          <a:ln w="12700">
            <a:solidFill>
              <a:srgbClr val="B5762A"/>
            </a:solidFill>
            <a:prstDash val="solid"/>
          </a:ln>
        </p:spPr>
        <p:txBody>
          <a:bodyPr/>
          <a:lstStyle/>
          <a:p>
            <a:endParaRPr lang="es-CL"/>
          </a:p>
        </p:txBody>
      </p:sp>
      <p:sp>
        <p:nvSpPr>
          <p:cNvPr id="5028" name="Text 38"/>
          <p:cNvSpPr txBox="1"/>
          <p:nvPr/>
        </p:nvSpPr>
        <p:spPr>
          <a:xfrm>
            <a:off x="3017520" y="3867912"/>
            <a:ext cx="65836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R-18</a:t>
            </a:r>
            <a:endParaRPr lang="en-US" sz="1000" dirty="0"/>
          </a:p>
        </p:txBody>
      </p:sp>
      <p:sp>
        <p:nvSpPr>
          <p:cNvPr id="5029" name="Shape 37"/>
          <p:cNvSpPr/>
          <p:nvPr/>
        </p:nvSpPr>
        <p:spPr>
          <a:xfrm>
            <a:off x="6583680" y="1965960"/>
            <a:ext cx="566928" cy="256032"/>
          </a:xfrm>
          <a:prstGeom prst="roundRect">
            <a:avLst/>
          </a:prstGeom>
          <a:solidFill>
            <a:srgbClr val="B5762A"/>
          </a:solidFill>
          <a:ln w="12700">
            <a:solidFill>
              <a:srgbClr val="B5762A"/>
            </a:solidFill>
            <a:prstDash val="solid"/>
          </a:ln>
        </p:spPr>
        <p:txBody>
          <a:bodyPr/>
          <a:lstStyle/>
          <a:p>
            <a:endParaRPr lang="es-CL"/>
          </a:p>
        </p:txBody>
      </p:sp>
      <p:sp>
        <p:nvSpPr>
          <p:cNvPr id="5030" name="Text 38"/>
          <p:cNvSpPr txBox="1"/>
          <p:nvPr/>
        </p:nvSpPr>
        <p:spPr>
          <a:xfrm>
            <a:off x="6583680" y="1965960"/>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R-02</a:t>
            </a:r>
            <a:endParaRPr lang="en-US" sz="1000" dirty="0"/>
          </a:p>
        </p:txBody>
      </p:sp>
      <p:sp>
        <p:nvSpPr>
          <p:cNvPr id="5031" name="Text 39"/>
          <p:cNvSpPr txBox="1"/>
          <p:nvPr/>
        </p:nvSpPr>
        <p:spPr>
          <a:xfrm>
            <a:off x="7269480" y="1883664"/>
            <a:ext cx="4251960" cy="420624"/>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Atraso de la integración (actividad crítica 1.4.3)  </a:t>
            </a:r>
            <a:r>
              <a:rPr lang="en-US" sz="1150" b="1" dirty="0">
                <a:solidFill>
                  <a:srgbClr val="B5762A"/>
                </a:solidFill>
                <a:latin typeface="Calibri" pitchFamily="34" charset="0"/>
                <a:ea typeface="Calibri" pitchFamily="34" charset="-122"/>
                <a:cs typeface="Calibri" pitchFamily="34" charset="-120"/>
              </a:rPr>
              <a:t>Medio (8)</a:t>
            </a:r>
            <a:endParaRPr lang="en-US" sz="1150" dirty="0"/>
          </a:p>
        </p:txBody>
      </p:sp>
      <p:sp>
        <p:nvSpPr>
          <p:cNvPr id="5032" name="Shape 37"/>
          <p:cNvSpPr/>
          <p:nvPr/>
        </p:nvSpPr>
        <p:spPr>
          <a:xfrm>
            <a:off x="6583680" y="2423160"/>
            <a:ext cx="566928" cy="256032"/>
          </a:xfrm>
          <a:prstGeom prst="roundRect">
            <a:avLst/>
          </a:prstGeom>
          <a:solidFill>
            <a:srgbClr val="B5762A"/>
          </a:solidFill>
          <a:ln w="12700">
            <a:solidFill>
              <a:srgbClr val="B5762A"/>
            </a:solidFill>
            <a:prstDash val="solid"/>
          </a:ln>
        </p:spPr>
        <p:txBody>
          <a:bodyPr/>
          <a:lstStyle/>
          <a:p>
            <a:endParaRPr lang="es-CL"/>
          </a:p>
        </p:txBody>
      </p:sp>
      <p:sp>
        <p:nvSpPr>
          <p:cNvPr id="5033" name="Text 38"/>
          <p:cNvSpPr txBox="1"/>
          <p:nvPr/>
        </p:nvSpPr>
        <p:spPr>
          <a:xfrm>
            <a:off x="6583680" y="2423160"/>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R-03</a:t>
            </a:r>
            <a:endParaRPr lang="en-US" sz="1000" dirty="0"/>
          </a:p>
        </p:txBody>
      </p:sp>
      <p:sp>
        <p:nvSpPr>
          <p:cNvPr id="5034" name="Text 39"/>
          <p:cNvSpPr txBox="1"/>
          <p:nvPr/>
        </p:nvSpPr>
        <p:spPr>
          <a:xfrm>
            <a:off x="7269480" y="2340864"/>
            <a:ext cx="4251960" cy="420624"/>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Exposición de credenciales o brecha de seguridad  </a:t>
            </a:r>
            <a:r>
              <a:rPr lang="en-US" sz="1150" b="1" dirty="0">
                <a:solidFill>
                  <a:srgbClr val="B5762A"/>
                </a:solidFill>
                <a:latin typeface="Calibri" pitchFamily="34" charset="0"/>
                <a:ea typeface="Calibri" pitchFamily="34" charset="-122"/>
                <a:cs typeface="Calibri" pitchFamily="34" charset="-120"/>
              </a:rPr>
              <a:t>Medio (10)</a:t>
            </a:r>
            <a:endParaRPr lang="en-US" sz="1150" dirty="0"/>
          </a:p>
        </p:txBody>
      </p:sp>
      <p:sp>
        <p:nvSpPr>
          <p:cNvPr id="5035" name="Shape 37"/>
          <p:cNvSpPr/>
          <p:nvPr/>
        </p:nvSpPr>
        <p:spPr>
          <a:xfrm>
            <a:off x="6583680" y="2880360"/>
            <a:ext cx="566928" cy="256032"/>
          </a:xfrm>
          <a:prstGeom prst="roundRect">
            <a:avLst/>
          </a:prstGeom>
          <a:solidFill>
            <a:srgbClr val="B5762A"/>
          </a:solidFill>
          <a:ln w="12700">
            <a:solidFill>
              <a:srgbClr val="B5762A"/>
            </a:solidFill>
            <a:prstDash val="solid"/>
          </a:ln>
        </p:spPr>
        <p:txBody>
          <a:bodyPr/>
          <a:lstStyle/>
          <a:p>
            <a:endParaRPr lang="es-CL"/>
          </a:p>
        </p:txBody>
      </p:sp>
      <p:sp>
        <p:nvSpPr>
          <p:cNvPr id="5036" name="Text 38"/>
          <p:cNvSpPr txBox="1"/>
          <p:nvPr/>
        </p:nvSpPr>
        <p:spPr>
          <a:xfrm>
            <a:off x="6583680" y="2880360"/>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R-05</a:t>
            </a:r>
            <a:endParaRPr lang="en-US" sz="1000" dirty="0"/>
          </a:p>
        </p:txBody>
      </p:sp>
      <p:sp>
        <p:nvSpPr>
          <p:cNvPr id="5037" name="Text 39"/>
          <p:cNvSpPr txBox="1"/>
          <p:nvPr/>
        </p:nvSpPr>
        <p:spPr>
          <a:xfrm>
            <a:off x="7269480" y="2798064"/>
            <a:ext cx="4251960" cy="420624"/>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Fallas o demoras en la integración con Webpay  </a:t>
            </a:r>
            <a:r>
              <a:rPr lang="en-US" sz="1150" b="1" dirty="0">
                <a:solidFill>
                  <a:srgbClr val="B5762A"/>
                </a:solidFill>
                <a:latin typeface="Calibri" pitchFamily="34" charset="0"/>
                <a:ea typeface="Calibri" pitchFamily="34" charset="-122"/>
                <a:cs typeface="Calibri" pitchFamily="34" charset="-120"/>
              </a:rPr>
              <a:t>Medio (8)</a:t>
            </a:r>
            <a:endParaRPr lang="en-US" sz="1150" dirty="0"/>
          </a:p>
        </p:txBody>
      </p:sp>
      <p:sp>
        <p:nvSpPr>
          <p:cNvPr id="5038" name="Shape 37"/>
          <p:cNvSpPr/>
          <p:nvPr/>
        </p:nvSpPr>
        <p:spPr>
          <a:xfrm>
            <a:off x="6583680" y="3337560"/>
            <a:ext cx="566928" cy="256032"/>
          </a:xfrm>
          <a:prstGeom prst="roundRect">
            <a:avLst/>
          </a:prstGeom>
          <a:solidFill>
            <a:srgbClr val="B5762A"/>
          </a:solidFill>
          <a:ln w="12700">
            <a:solidFill>
              <a:srgbClr val="B5762A"/>
            </a:solidFill>
            <a:prstDash val="solid"/>
          </a:ln>
        </p:spPr>
        <p:txBody>
          <a:bodyPr/>
          <a:lstStyle/>
          <a:p>
            <a:endParaRPr lang="es-CL"/>
          </a:p>
        </p:txBody>
      </p:sp>
      <p:sp>
        <p:nvSpPr>
          <p:cNvPr id="5039" name="Text 38"/>
          <p:cNvSpPr txBox="1"/>
          <p:nvPr/>
        </p:nvSpPr>
        <p:spPr>
          <a:xfrm>
            <a:off x="6583680" y="3337560"/>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R-08</a:t>
            </a:r>
            <a:endParaRPr lang="en-US" sz="1000" dirty="0"/>
          </a:p>
        </p:txBody>
      </p:sp>
      <p:sp>
        <p:nvSpPr>
          <p:cNvPr id="5040" name="Text 39"/>
          <p:cNvSpPr txBox="1"/>
          <p:nvPr/>
        </p:nvSpPr>
        <p:spPr>
          <a:xfrm>
            <a:off x="7269480" y="3255264"/>
            <a:ext cx="4251960" cy="420624"/>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Pérdida de datos o pausa de la base de datos (plan gratuito de Supabase)  </a:t>
            </a:r>
            <a:r>
              <a:rPr lang="en-US" sz="1150" b="1" dirty="0">
                <a:solidFill>
                  <a:srgbClr val="B5762A"/>
                </a:solidFill>
                <a:latin typeface="Calibri" pitchFamily="34" charset="0"/>
                <a:ea typeface="Calibri" pitchFamily="34" charset="-122"/>
                <a:cs typeface="Calibri" pitchFamily="34" charset="-120"/>
              </a:rPr>
              <a:t>Medio (10)</a:t>
            </a:r>
            <a:endParaRPr lang="en-US" sz="1150" dirty="0"/>
          </a:p>
        </p:txBody>
      </p:sp>
      <p:sp>
        <p:nvSpPr>
          <p:cNvPr id="5041" name="Shape 37"/>
          <p:cNvSpPr/>
          <p:nvPr/>
        </p:nvSpPr>
        <p:spPr>
          <a:xfrm>
            <a:off x="6583680" y="3794759"/>
            <a:ext cx="566928" cy="256032"/>
          </a:xfrm>
          <a:prstGeom prst="roundRect">
            <a:avLst/>
          </a:prstGeom>
          <a:solidFill>
            <a:srgbClr val="B5762A"/>
          </a:solidFill>
          <a:ln w="12700">
            <a:solidFill>
              <a:srgbClr val="B5762A"/>
            </a:solidFill>
            <a:prstDash val="solid"/>
          </a:ln>
        </p:spPr>
        <p:txBody>
          <a:bodyPr/>
          <a:lstStyle/>
          <a:p>
            <a:endParaRPr lang="es-CL"/>
          </a:p>
        </p:txBody>
      </p:sp>
      <p:sp>
        <p:nvSpPr>
          <p:cNvPr id="5042" name="Text 38"/>
          <p:cNvSpPr txBox="1"/>
          <p:nvPr/>
        </p:nvSpPr>
        <p:spPr>
          <a:xfrm>
            <a:off x="6583680" y="3794759"/>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R-13</a:t>
            </a:r>
            <a:endParaRPr lang="en-US" sz="1000" dirty="0"/>
          </a:p>
        </p:txBody>
      </p:sp>
      <p:sp>
        <p:nvSpPr>
          <p:cNvPr id="5043" name="Text 39"/>
          <p:cNvSpPr txBox="1"/>
          <p:nvPr/>
        </p:nvSpPr>
        <p:spPr>
          <a:xfrm>
            <a:off x="7269480" y="3712463"/>
            <a:ext cx="4251960" cy="420624"/>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Disponibilidad limitada del equipo (2 integrantes)  </a:t>
            </a:r>
            <a:r>
              <a:rPr lang="en-US" sz="1150" b="1" dirty="0">
                <a:solidFill>
                  <a:srgbClr val="B5762A"/>
                </a:solidFill>
                <a:latin typeface="Calibri" pitchFamily="34" charset="0"/>
                <a:ea typeface="Calibri" pitchFamily="34" charset="-122"/>
                <a:cs typeface="Calibri" pitchFamily="34" charset="-120"/>
              </a:rPr>
              <a:t>Medio (9)</a:t>
            </a:r>
            <a:endParaRPr lang="en-US" sz="1150" dirty="0"/>
          </a:p>
        </p:txBody>
      </p:sp>
      <p:sp>
        <p:nvSpPr>
          <p:cNvPr id="5044" name="Shape 37"/>
          <p:cNvSpPr/>
          <p:nvPr/>
        </p:nvSpPr>
        <p:spPr>
          <a:xfrm>
            <a:off x="6583680" y="4251959"/>
            <a:ext cx="566928" cy="256032"/>
          </a:xfrm>
          <a:prstGeom prst="roundRect">
            <a:avLst/>
          </a:prstGeom>
          <a:solidFill>
            <a:srgbClr val="B5762A"/>
          </a:solidFill>
          <a:ln w="12700">
            <a:solidFill>
              <a:srgbClr val="B5762A"/>
            </a:solidFill>
            <a:prstDash val="solid"/>
          </a:ln>
        </p:spPr>
        <p:txBody>
          <a:bodyPr/>
          <a:lstStyle/>
          <a:p>
            <a:endParaRPr lang="es-CL"/>
          </a:p>
        </p:txBody>
      </p:sp>
      <p:sp>
        <p:nvSpPr>
          <p:cNvPr id="5045" name="Text 38"/>
          <p:cNvSpPr txBox="1"/>
          <p:nvPr/>
        </p:nvSpPr>
        <p:spPr>
          <a:xfrm>
            <a:off x="6583680" y="4251959"/>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R-15</a:t>
            </a:r>
            <a:endParaRPr lang="en-US" sz="1000" dirty="0"/>
          </a:p>
        </p:txBody>
      </p:sp>
      <p:sp>
        <p:nvSpPr>
          <p:cNvPr id="5046" name="Text 39"/>
          <p:cNvSpPr txBox="1"/>
          <p:nvPr/>
        </p:nvSpPr>
        <p:spPr>
          <a:xfrm>
            <a:off x="7269480" y="4169663"/>
            <a:ext cx="4251960" cy="420624"/>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Ventana corta para desplegar y pasar al ambiente UAT (S13–S14)  </a:t>
            </a:r>
            <a:r>
              <a:rPr lang="en-US" sz="1150" b="1" dirty="0">
                <a:solidFill>
                  <a:srgbClr val="B5762A"/>
                </a:solidFill>
                <a:latin typeface="Calibri" pitchFamily="34" charset="0"/>
                <a:ea typeface="Calibri" pitchFamily="34" charset="-122"/>
                <a:cs typeface="Calibri" pitchFamily="34" charset="-120"/>
              </a:rPr>
              <a:t>Medio (9)</a:t>
            </a:r>
            <a:endParaRPr lang="en-US" sz="1150" dirty="0"/>
          </a:p>
        </p:txBody>
      </p:sp>
      <p:sp>
        <p:nvSpPr>
          <p:cNvPr id="5047" name="Shape 37"/>
          <p:cNvSpPr/>
          <p:nvPr/>
        </p:nvSpPr>
        <p:spPr>
          <a:xfrm>
            <a:off x="6583680" y="4709159"/>
            <a:ext cx="566928" cy="256032"/>
          </a:xfrm>
          <a:prstGeom prst="roundRect">
            <a:avLst/>
          </a:prstGeom>
          <a:solidFill>
            <a:srgbClr val="B5762A"/>
          </a:solidFill>
          <a:ln w="12700">
            <a:solidFill>
              <a:srgbClr val="B5762A"/>
            </a:solidFill>
            <a:prstDash val="solid"/>
          </a:ln>
        </p:spPr>
        <p:txBody>
          <a:bodyPr/>
          <a:lstStyle/>
          <a:p>
            <a:endParaRPr lang="es-CL"/>
          </a:p>
        </p:txBody>
      </p:sp>
      <p:sp>
        <p:nvSpPr>
          <p:cNvPr id="5048" name="Text 38"/>
          <p:cNvSpPr txBox="1"/>
          <p:nvPr/>
        </p:nvSpPr>
        <p:spPr>
          <a:xfrm>
            <a:off x="6583680" y="4709159"/>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R-16</a:t>
            </a:r>
            <a:endParaRPr lang="en-US" sz="1000" dirty="0"/>
          </a:p>
        </p:txBody>
      </p:sp>
      <p:sp>
        <p:nvSpPr>
          <p:cNvPr id="5049" name="Text 39"/>
          <p:cNvSpPr txBox="1"/>
          <p:nvPr/>
        </p:nvSpPr>
        <p:spPr>
          <a:xfrm>
            <a:off x="7269480" y="4626864"/>
            <a:ext cx="4251960" cy="420624"/>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La app Android aún no se prueba en un teléfono real  </a:t>
            </a:r>
            <a:r>
              <a:rPr lang="en-US" sz="1150" b="1" dirty="0">
                <a:solidFill>
                  <a:srgbClr val="B5762A"/>
                </a:solidFill>
                <a:latin typeface="Calibri" pitchFamily="34" charset="0"/>
                <a:ea typeface="Calibri" pitchFamily="34" charset="-122"/>
                <a:cs typeface="Calibri" pitchFamily="34" charset="-120"/>
              </a:rPr>
              <a:t>Medio (9)</a:t>
            </a:r>
            <a:endParaRPr lang="en-US" sz="1150" dirty="0"/>
          </a:p>
        </p:txBody>
      </p:sp>
      <p:sp>
        <p:nvSpPr>
          <p:cNvPr id="5050" name="Shape 37"/>
          <p:cNvSpPr/>
          <p:nvPr/>
        </p:nvSpPr>
        <p:spPr>
          <a:xfrm>
            <a:off x="6583680" y="5166359"/>
            <a:ext cx="566928" cy="256032"/>
          </a:xfrm>
          <a:prstGeom prst="roundRect">
            <a:avLst/>
          </a:prstGeom>
          <a:solidFill>
            <a:srgbClr val="B5762A"/>
          </a:solidFill>
          <a:ln w="12700">
            <a:solidFill>
              <a:srgbClr val="B5762A"/>
            </a:solidFill>
            <a:prstDash val="solid"/>
          </a:ln>
        </p:spPr>
        <p:txBody>
          <a:bodyPr/>
          <a:lstStyle/>
          <a:p>
            <a:endParaRPr lang="es-CL"/>
          </a:p>
        </p:txBody>
      </p:sp>
      <p:sp>
        <p:nvSpPr>
          <p:cNvPr id="5051" name="Text 38"/>
          <p:cNvSpPr txBox="1"/>
          <p:nvPr/>
        </p:nvSpPr>
        <p:spPr>
          <a:xfrm>
            <a:off x="6583680" y="5166359"/>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R-17</a:t>
            </a:r>
            <a:endParaRPr lang="en-US" sz="1000" dirty="0"/>
          </a:p>
        </p:txBody>
      </p:sp>
      <p:sp>
        <p:nvSpPr>
          <p:cNvPr id="5052" name="Text 39"/>
          <p:cNvSpPr txBox="1"/>
          <p:nvPr/>
        </p:nvSpPr>
        <p:spPr>
          <a:xfrm>
            <a:off x="7269480" y="5084064"/>
            <a:ext cx="4251960" cy="420624"/>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Notificaciones por correo no operativas  </a:t>
            </a:r>
            <a:r>
              <a:rPr lang="en-US" sz="1150" b="1" dirty="0">
                <a:solidFill>
                  <a:srgbClr val="B5762A"/>
                </a:solidFill>
                <a:latin typeface="Calibri" pitchFamily="34" charset="0"/>
                <a:ea typeface="Calibri" pitchFamily="34" charset="-122"/>
                <a:cs typeface="Calibri" pitchFamily="34" charset="-120"/>
              </a:rPr>
              <a:t>Medio (9)</a:t>
            </a:r>
            <a:endParaRPr lang="en-US" sz="1150" dirty="0"/>
          </a:p>
        </p:txBody>
      </p:sp>
      <p:sp>
        <p:nvSpPr>
          <p:cNvPr id="5053" name="Shape 37"/>
          <p:cNvSpPr/>
          <p:nvPr/>
        </p:nvSpPr>
        <p:spPr>
          <a:xfrm>
            <a:off x="6583680" y="5623559"/>
            <a:ext cx="566928" cy="256032"/>
          </a:xfrm>
          <a:prstGeom prst="roundRect">
            <a:avLst/>
          </a:prstGeom>
          <a:solidFill>
            <a:srgbClr val="B5762A"/>
          </a:solidFill>
          <a:ln w="12700">
            <a:solidFill>
              <a:srgbClr val="B5762A"/>
            </a:solidFill>
            <a:prstDash val="solid"/>
          </a:ln>
        </p:spPr>
        <p:txBody>
          <a:bodyPr/>
          <a:lstStyle/>
          <a:p>
            <a:endParaRPr lang="es-CL"/>
          </a:p>
        </p:txBody>
      </p:sp>
      <p:sp>
        <p:nvSpPr>
          <p:cNvPr id="5054" name="Text 38"/>
          <p:cNvSpPr txBox="1"/>
          <p:nvPr/>
        </p:nvSpPr>
        <p:spPr>
          <a:xfrm>
            <a:off x="6583680" y="5623559"/>
            <a:ext cx="56692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R-18</a:t>
            </a:r>
            <a:endParaRPr lang="en-US" sz="1000" dirty="0"/>
          </a:p>
        </p:txBody>
      </p:sp>
      <p:sp>
        <p:nvSpPr>
          <p:cNvPr id="5055" name="Text 39"/>
          <p:cNvSpPr txBox="1"/>
          <p:nvPr/>
        </p:nvSpPr>
        <p:spPr>
          <a:xfrm>
            <a:off x="7269480" y="5541264"/>
            <a:ext cx="4251960" cy="420624"/>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Las pruebas y el ambiente UAT usan la misma base de datos  </a:t>
            </a:r>
            <a:r>
              <a:rPr lang="en-US" sz="1150" b="1" dirty="0">
                <a:solidFill>
                  <a:srgbClr val="B5762A"/>
                </a:solidFill>
                <a:latin typeface="Calibri" pitchFamily="34" charset="0"/>
                <a:ea typeface="Calibri" pitchFamily="34" charset="-122"/>
                <a:cs typeface="Calibri" pitchFamily="34" charset="-120"/>
              </a:rPr>
              <a:t>Medio (9)</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 · RIESGOS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Plan de mitigación</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Estrategia, acción concreta, responsable y semana en que se aplica. Ordenados por nivel (doc. 15 v1.4); cada riesgo con su ID fijo.</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4279392"/>
        </p:xfrm>
        <a:graphic>
          <a:graphicData uri="http://schemas.openxmlformats.org/drawingml/2006/table">
            <a:tbl>
              <a:tblPr/>
              <a:tblGrid>
                <a:gridCol w="5486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434340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34747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ID</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Riesgo</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Nivel</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Estrategia</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Acción de mitigación</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Resp.</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Semana</a:t>
                      </a:r>
                      <a:endParaRPr lang="en-US" sz="115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29768">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R-03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Exposición de credenciales o brecha de seguridad</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Medio (10)</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Claves en .env fuera del repositorio (22-10); cambios de reserva con credenciales, contacto oculto al barbero y bloqueo de 15 min (28-10, 16/16 pruebas)</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S12–S13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R-08</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Pérdida de datos o pausa de la base de datos (plan gratuito de Supabase)</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Medio (10)</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Script de respaldo listo; instalar pg_dump y programar el respaldo diario cifrado; prueba de restauración; uso semanal</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R-13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Disponibilidad limitada del equipo (2 integrantes)</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Medio (9)</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Reunión semanal fija, tareas pequeñas y trabajo asíncrono en GitHub</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YR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Semanal</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R-15</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Ventana corta para desplegar y pasar al ambiente UAT (S13–S14)</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Medio (9)</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Web publicada en el ambiente UAT (28-10); APK firmada, lista de verificación y pruebas de humo antes del paso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YR / 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S13–S14</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R-16</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La app Android aún no se prueba en un teléfono real</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Medio (9)</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APK de prueba lista (28-10); prueba con pago Webpay en un teléfono Android; APK firmada en 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S12–S13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R-17</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Notificaciones por correo no operativas</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Medio (9)</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Cola de correos en el servidor lista; verificar la cuenta de envío del proyecto y probar confirmación y recordatorio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R-18</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Las pruebas y el ambiente UAT usan la misma base de datos</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Medio (9)</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Pruebas automáticas que se deshacen al terminar (rollback); limpiar los datos de prueba antes del paso al ambiente UAT</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R-02</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Atraso de la integración (actividad crítica 1.4.3)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Medio (8)</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Integración entregada (H6, 30-10); control semanal de lo que pasa a 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S12–S13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9768">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R-05</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Fallas o demoras en la integración con Webpay</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2430"/>
                          </a:solidFill>
                          <a:latin typeface="Calibri" pitchFamily="34" charset="0"/>
                          <a:ea typeface="Calibri" pitchFamily="34" charset="-122"/>
                          <a:cs typeface="Calibri" pitchFamily="34" charset="-120"/>
                        </a:rPr>
                        <a:t>Medio (8)</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Mitigar</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000" dirty="0">
                          <a:solidFill>
                            <a:srgbClr val="1E2430"/>
                          </a:solidFill>
                          <a:latin typeface="Calibri" pitchFamily="34" charset="0"/>
                          <a:ea typeface="Calibri" pitchFamily="34" charset="-122"/>
                          <a:cs typeface="Calibri" pitchFamily="34" charset="-120"/>
                        </a:rPr>
                        <a:t>Pago probado en el ambiente de integración de Transbank (web); probarlo desde la app; Mercado Pago como alternativa</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JO</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430"/>
                          </a:solidFill>
                          <a:latin typeface="Calibri" pitchFamily="34" charset="0"/>
                          <a:ea typeface="Calibri" pitchFamily="34" charset="-122"/>
                          <a:cs typeface="Calibri" pitchFamily="34" charset="-120"/>
                        </a:rPr>
                        <a:t>S12–S13</a:t>
                      </a:r>
                      <a:endParaRPr lang="en-US" sz="1100" dirty="0">
                        <a:latin typeface="Calibri" charset="0"/>
                        <a:ea typeface="Calibri" charset="0"/>
                        <a:cs typeface="Calibri" charset="0"/>
                      </a:endParaRPr>
                    </a:p>
                  </a:txBody>
                  <a:tcPr marL="54864" marR="54864" marT="54864" marB="54864"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Próximos pasos</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De la semana 12 a la defensa (S16), según el roadmap desde la semana en curso.</a:t>
            </a:r>
            <a:endParaRPr lang="en-US" sz="1250" dirty="0"/>
          </a:p>
        </p:txBody>
      </p:sp>
      <p:sp>
        <p:nvSpPr>
          <p:cNvPr id="5" name="Shape 3"/>
          <p:cNvSpPr/>
          <p:nvPr/>
        </p:nvSpPr>
        <p:spPr>
          <a:xfrm>
            <a:off x="548640" y="1783080"/>
            <a:ext cx="11064240" cy="749808"/>
          </a:xfrm>
          <a:prstGeom prst="rect">
            <a:avLst/>
          </a:prstGeom>
          <a:solidFill>
            <a:srgbClr val="FFFFFF"/>
          </a:solidFill>
          <a:ln w="9525">
            <a:solidFill>
              <a:srgbClr val="D7DCE3"/>
            </a:solidFill>
            <a:prstDash val="solid"/>
          </a:ln>
        </p:spPr>
        <p:txBody>
          <a:bodyPr/>
          <a:lstStyle/>
          <a:p>
            <a:endParaRPr lang="es-CL"/>
          </a:p>
        </p:txBody>
      </p:sp>
      <p:sp>
        <p:nvSpPr>
          <p:cNvPr id="6" name="Shape 4"/>
          <p:cNvSpPr/>
          <p:nvPr/>
        </p:nvSpPr>
        <p:spPr>
          <a:xfrm>
            <a:off x="731520" y="1874520"/>
            <a:ext cx="566928" cy="566928"/>
          </a:xfrm>
          <a:prstGeom prst="ellipse">
            <a:avLst/>
          </a:prstGeom>
          <a:solidFill>
            <a:srgbClr val="B5762A"/>
          </a:solidFill>
          <a:ln w="12700">
            <a:solidFill>
              <a:srgbClr val="B5762A"/>
            </a:solidFill>
            <a:prstDash val="solid"/>
          </a:ln>
        </p:spPr>
        <p:txBody>
          <a:bodyPr/>
          <a:lstStyle/>
          <a:p>
            <a:endParaRPr lang="es-CL"/>
          </a:p>
        </p:txBody>
      </p:sp>
      <p:sp>
        <p:nvSpPr>
          <p:cNvPr id="7" name="Text 5"/>
          <p:cNvSpPr txBox="1"/>
          <p:nvPr/>
        </p:nvSpPr>
        <p:spPr>
          <a:xfrm>
            <a:off x="731520" y="1874520"/>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S12</a:t>
            </a:r>
            <a:endParaRPr lang="en-US" sz="1100" dirty="0"/>
          </a:p>
        </p:txBody>
      </p:sp>
      <p:sp>
        <p:nvSpPr>
          <p:cNvPr id="8" name="Text 6"/>
          <p:cNvSpPr txBox="1"/>
          <p:nvPr/>
        </p:nvSpPr>
        <p:spPr>
          <a:xfrm>
            <a:off x="1508760" y="1783080"/>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Sistema integrado (H6, 30-10): Webpay, fila, «Mis datos», cuentas del personal y seguridad · prueba de la app en un teléfono real</a:t>
            </a:r>
            <a:endParaRPr lang="en-US" sz="1300" dirty="0"/>
          </a:p>
        </p:txBody>
      </p:sp>
      <p:sp>
        <p:nvSpPr>
          <p:cNvPr id="9" name="Shape 7"/>
          <p:cNvSpPr/>
          <p:nvPr/>
        </p:nvSpPr>
        <p:spPr>
          <a:xfrm>
            <a:off x="548640" y="2670048"/>
            <a:ext cx="11064240" cy="749808"/>
          </a:xfrm>
          <a:prstGeom prst="rect">
            <a:avLst/>
          </a:prstGeom>
          <a:solidFill>
            <a:srgbClr val="FFFFFF"/>
          </a:solidFill>
          <a:ln w="9525">
            <a:solidFill>
              <a:srgbClr val="D7DCE3"/>
            </a:solidFill>
            <a:prstDash val="solid"/>
          </a:ln>
        </p:spPr>
        <p:txBody>
          <a:bodyPr/>
          <a:lstStyle/>
          <a:p>
            <a:endParaRPr lang="es-CL"/>
          </a:p>
        </p:txBody>
      </p:sp>
      <p:sp>
        <p:nvSpPr>
          <p:cNvPr id="10" name="Shape 8"/>
          <p:cNvSpPr/>
          <p:nvPr/>
        </p:nvSpPr>
        <p:spPr>
          <a:xfrm>
            <a:off x="731520" y="2761488"/>
            <a:ext cx="566928" cy="566928"/>
          </a:xfrm>
          <a:prstGeom prst="ellipse">
            <a:avLst/>
          </a:prstGeom>
          <a:solidFill>
            <a:srgbClr val="13294B"/>
          </a:solidFill>
          <a:ln w="12700">
            <a:solidFill>
              <a:srgbClr val="13294B"/>
            </a:solidFill>
            <a:prstDash val="solid"/>
          </a:ln>
        </p:spPr>
        <p:txBody>
          <a:bodyPr/>
          <a:lstStyle/>
          <a:p>
            <a:endParaRPr lang="es-CL"/>
          </a:p>
        </p:txBody>
      </p:sp>
      <p:sp>
        <p:nvSpPr>
          <p:cNvPr id="11" name="Text 9"/>
          <p:cNvSpPr txBox="1"/>
          <p:nvPr/>
        </p:nvSpPr>
        <p:spPr>
          <a:xfrm>
            <a:off x="731520" y="276148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S13</a:t>
            </a:r>
            <a:endParaRPr lang="en-US" sz="1100" dirty="0"/>
          </a:p>
        </p:txBody>
      </p:sp>
      <p:sp>
        <p:nvSpPr>
          <p:cNvPr id="12" name="Text 10"/>
          <p:cNvSpPr txBox="1"/>
          <p:nvPr/>
        </p:nvSpPr>
        <p:spPr>
          <a:xfrm>
            <a:off x="1508760" y="2670048"/>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Correos y respaldo diario · pruebas funcionales, de seguridad y privacidad · despliegue en UAT, APK firmada y limpieza de datos de prueba</a:t>
            </a:r>
            <a:endParaRPr lang="en-US" sz="1300" dirty="0"/>
          </a:p>
        </p:txBody>
      </p:sp>
      <p:sp>
        <p:nvSpPr>
          <p:cNvPr id="13" name="Shape 11"/>
          <p:cNvSpPr/>
          <p:nvPr/>
        </p:nvSpPr>
        <p:spPr>
          <a:xfrm>
            <a:off x="548640" y="3557016"/>
            <a:ext cx="11064240" cy="749808"/>
          </a:xfrm>
          <a:prstGeom prst="rect">
            <a:avLst/>
          </a:prstGeom>
          <a:solidFill>
            <a:srgbClr val="FFFFFF"/>
          </a:solidFill>
          <a:ln w="9525">
            <a:solidFill>
              <a:srgbClr val="D7DCE3"/>
            </a:solidFill>
            <a:prstDash val="solid"/>
          </a:ln>
        </p:spPr>
        <p:txBody>
          <a:bodyPr/>
          <a:lstStyle/>
          <a:p>
            <a:endParaRPr lang="es-CL"/>
          </a:p>
        </p:txBody>
      </p:sp>
      <p:sp>
        <p:nvSpPr>
          <p:cNvPr id="14" name="Shape 12"/>
          <p:cNvSpPr/>
          <p:nvPr/>
        </p:nvSpPr>
        <p:spPr>
          <a:xfrm>
            <a:off x="731520" y="3648456"/>
            <a:ext cx="566928" cy="566928"/>
          </a:xfrm>
          <a:prstGeom prst="ellipse">
            <a:avLst/>
          </a:prstGeom>
          <a:solidFill>
            <a:srgbClr val="13294B"/>
          </a:solidFill>
          <a:ln w="12700">
            <a:solidFill>
              <a:srgbClr val="13294B"/>
            </a:solidFill>
            <a:prstDash val="solid"/>
          </a:ln>
        </p:spPr>
        <p:txBody>
          <a:bodyPr/>
          <a:lstStyle/>
          <a:p>
            <a:endParaRPr lang="es-CL"/>
          </a:p>
        </p:txBody>
      </p:sp>
      <p:sp>
        <p:nvSpPr>
          <p:cNvPr id="15" name="Text 13"/>
          <p:cNvSpPr txBox="1"/>
          <p:nvPr/>
        </p:nvSpPr>
        <p:spPr>
          <a:xfrm>
            <a:off x="731520" y="36484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S14</a:t>
            </a:r>
            <a:endParaRPr lang="en-US" sz="1100" dirty="0"/>
          </a:p>
        </p:txBody>
      </p:sp>
      <p:sp>
        <p:nvSpPr>
          <p:cNvPr id="16" name="Text 14"/>
          <p:cNvSpPr txBox="1"/>
          <p:nvPr/>
        </p:nvSpPr>
        <p:spPr>
          <a:xfrm>
            <a:off x="1508760" y="3557016"/>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Paso al ambiente UAT (H7, 10-11) · entrega final (H8, 13-11)</a:t>
            </a:r>
            <a:endParaRPr lang="en-US" sz="1300" dirty="0"/>
          </a:p>
        </p:txBody>
      </p:sp>
      <p:sp>
        <p:nvSpPr>
          <p:cNvPr id="17" name="Shape 15"/>
          <p:cNvSpPr/>
          <p:nvPr/>
        </p:nvSpPr>
        <p:spPr>
          <a:xfrm>
            <a:off x="548640" y="4443984"/>
            <a:ext cx="11064240" cy="749808"/>
          </a:xfrm>
          <a:prstGeom prst="rect">
            <a:avLst/>
          </a:prstGeom>
          <a:solidFill>
            <a:srgbClr val="FFFFFF"/>
          </a:solidFill>
          <a:ln w="9525">
            <a:solidFill>
              <a:srgbClr val="D7DCE3"/>
            </a:solidFill>
            <a:prstDash val="solid"/>
          </a:ln>
        </p:spPr>
        <p:txBody>
          <a:bodyPr/>
          <a:lstStyle/>
          <a:p>
            <a:endParaRPr lang="es-CL"/>
          </a:p>
        </p:txBody>
      </p:sp>
      <p:sp>
        <p:nvSpPr>
          <p:cNvPr id="18" name="Shape 16"/>
          <p:cNvSpPr/>
          <p:nvPr/>
        </p:nvSpPr>
        <p:spPr>
          <a:xfrm>
            <a:off x="731520" y="4535424"/>
            <a:ext cx="566928" cy="566928"/>
          </a:xfrm>
          <a:prstGeom prst="ellipse">
            <a:avLst/>
          </a:prstGeom>
          <a:solidFill>
            <a:srgbClr val="13294B"/>
          </a:solidFill>
          <a:ln w="12700">
            <a:solidFill>
              <a:srgbClr val="13294B"/>
            </a:solidFill>
            <a:prstDash val="solid"/>
          </a:ln>
        </p:spPr>
        <p:txBody>
          <a:bodyPr/>
          <a:lstStyle/>
          <a:p>
            <a:endParaRPr lang="es-CL"/>
          </a:p>
        </p:txBody>
      </p:sp>
      <p:sp>
        <p:nvSpPr>
          <p:cNvPr id="19" name="Text 17"/>
          <p:cNvSpPr txBox="1"/>
          <p:nvPr/>
        </p:nvSpPr>
        <p:spPr>
          <a:xfrm>
            <a:off x="731520" y="4535424"/>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S15</a:t>
            </a:r>
            <a:endParaRPr lang="en-US" sz="1100" dirty="0"/>
          </a:p>
        </p:txBody>
      </p:sp>
      <p:sp>
        <p:nvSpPr>
          <p:cNvPr id="20" name="Text 18"/>
          <p:cNvSpPr txBox="1"/>
          <p:nvPr/>
        </p:nvSpPr>
        <p:spPr>
          <a:xfrm>
            <a:off x="1508760" y="4443984"/>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Correcciones menores y ensayo de la defensa</a:t>
            </a:r>
            <a:endParaRPr lang="en-US" sz="1300" dirty="0"/>
          </a:p>
        </p:txBody>
      </p:sp>
      <p:sp>
        <p:nvSpPr>
          <p:cNvPr id="21" name="Shape 19"/>
          <p:cNvSpPr/>
          <p:nvPr/>
        </p:nvSpPr>
        <p:spPr>
          <a:xfrm>
            <a:off x="548640" y="5330952"/>
            <a:ext cx="11064240" cy="749808"/>
          </a:xfrm>
          <a:prstGeom prst="rect">
            <a:avLst/>
          </a:prstGeom>
          <a:solidFill>
            <a:srgbClr val="FFFFFF"/>
          </a:solidFill>
          <a:ln w="9525">
            <a:solidFill>
              <a:srgbClr val="D7DCE3"/>
            </a:solidFill>
            <a:prstDash val="solid"/>
          </a:ln>
        </p:spPr>
        <p:txBody>
          <a:bodyPr/>
          <a:lstStyle/>
          <a:p>
            <a:endParaRPr lang="es-CL"/>
          </a:p>
        </p:txBody>
      </p:sp>
      <p:sp>
        <p:nvSpPr>
          <p:cNvPr id="22" name="Shape 20"/>
          <p:cNvSpPr/>
          <p:nvPr/>
        </p:nvSpPr>
        <p:spPr>
          <a:xfrm>
            <a:off x="731520" y="5422392"/>
            <a:ext cx="566928" cy="566928"/>
          </a:xfrm>
          <a:prstGeom prst="ellipse">
            <a:avLst/>
          </a:prstGeom>
          <a:solidFill>
            <a:srgbClr val="13294B"/>
          </a:solidFill>
          <a:ln w="12700">
            <a:solidFill>
              <a:srgbClr val="13294B"/>
            </a:solidFill>
            <a:prstDash val="solid"/>
          </a:ln>
        </p:spPr>
        <p:txBody>
          <a:bodyPr/>
          <a:lstStyle/>
          <a:p>
            <a:endParaRPr lang="es-CL"/>
          </a:p>
        </p:txBody>
      </p:sp>
      <p:sp>
        <p:nvSpPr>
          <p:cNvPr id="23" name="Text 21"/>
          <p:cNvSpPr txBox="1"/>
          <p:nvPr/>
        </p:nvSpPr>
        <p:spPr>
          <a:xfrm>
            <a:off x="731520" y="5422392"/>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S16</a:t>
            </a:r>
            <a:endParaRPr lang="en-US" sz="1100" dirty="0"/>
          </a:p>
        </p:txBody>
      </p:sp>
      <p:sp>
        <p:nvSpPr>
          <p:cNvPr id="24" name="Text 22"/>
          <p:cNvSpPr txBox="1"/>
          <p:nvPr/>
        </p:nvSpPr>
        <p:spPr>
          <a:xfrm>
            <a:off x="1508760" y="5330952"/>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Defensa del proyecto (H9, 27-11)</a:t>
            </a:r>
            <a:endParaRPr lang="en-US" sz="13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9692640" y="-822960"/>
            <a:ext cx="3108960" cy="3108960"/>
          </a:xfrm>
          <a:prstGeom prst="ellipse">
            <a:avLst/>
          </a:prstGeom>
          <a:solidFill>
            <a:srgbClr val="234670"/>
          </a:solidFill>
          <a:ln w="12700">
            <a:solidFill>
              <a:srgbClr val="5B84B8"/>
            </a:solidFill>
            <a:prstDash val="solid"/>
          </a:ln>
        </p:spPr>
        <p:txBody>
          <a:bodyPr/>
          <a:lstStyle/>
          <a:p>
            <a:endParaRPr lang="es-CL"/>
          </a:p>
        </p:txBody>
      </p:sp>
      <p:sp>
        <p:nvSpPr>
          <p:cNvPr id="3" name="Shape 1"/>
          <p:cNvSpPr/>
          <p:nvPr/>
        </p:nvSpPr>
        <p:spPr>
          <a:xfrm>
            <a:off x="-548640" y="5394960"/>
            <a:ext cx="2011680" cy="2011680"/>
          </a:xfrm>
          <a:prstGeom prst="ellipse">
            <a:avLst/>
          </a:prstGeom>
          <a:solidFill>
            <a:srgbClr val="234670"/>
          </a:solidFill>
          <a:ln w="12700">
            <a:solidFill>
              <a:srgbClr val="5B84B8"/>
            </a:solidFill>
            <a:prstDash val="solid"/>
          </a:ln>
        </p:spPr>
        <p:txBody>
          <a:bodyPr/>
          <a:lstStyle/>
          <a:p>
            <a:endParaRPr lang="es-CL"/>
          </a:p>
        </p:txBody>
      </p:sp>
      <p:sp>
        <p:nvSpPr>
          <p:cNvPr id="4" name="Text 2"/>
          <p:cNvSpPr txBox="1"/>
          <p:nvPr/>
        </p:nvSpPr>
        <p:spPr>
          <a:xfrm>
            <a:off x="640080" y="822960"/>
            <a:ext cx="7315200" cy="365760"/>
          </a:xfrm>
          <a:prstGeom prst="rect">
            <a:avLst/>
          </a:prstGeom>
          <a:noFill/>
          <a:ln/>
        </p:spPr>
        <p:txBody>
          <a:bodyPr wrap="square" lIns="0" tIns="0" rIns="0" bIns="0" rtlCol="0" anchor="ctr"/>
          <a:lstStyle/>
          <a:p>
            <a:pPr marL="0" indent="0">
              <a:buNone/>
            </a:pPr>
            <a:r>
              <a:rPr lang="en-US" sz="1300" kern="0" spc="400" dirty="0">
                <a:solidFill>
                  <a:srgbClr val="8FB2DE"/>
                </a:solidFill>
                <a:latin typeface="Calibri" pitchFamily="34" charset="0"/>
                <a:ea typeface="Calibri" pitchFamily="34" charset="-122"/>
                <a:cs typeface="Calibri" pitchFamily="34" charset="-120"/>
              </a:rPr>
              <a:t>TEMAS ABIERTOS</a:t>
            </a:r>
            <a:endParaRPr lang="en-US" sz="1300" dirty="0"/>
          </a:p>
        </p:txBody>
      </p:sp>
      <p:sp>
        <p:nvSpPr>
          <p:cNvPr id="5" name="Text 3"/>
          <p:cNvSpPr txBox="1"/>
          <p:nvPr/>
        </p:nvSpPr>
        <p:spPr>
          <a:xfrm>
            <a:off x="640080" y="1280160"/>
            <a:ext cx="8686800" cy="14630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Validar los supuestos de demanda y de duración de los servicios con datos reales de operación.</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Cargar la nómina real de barberos (hoy hay 4 barberos de prueba).</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Aprobar la fase de despliegue (SC-19) y definir el alojamiento del ambiente UAT.</a:t>
            </a:r>
            <a:endParaRPr lang="en-US" sz="1400" dirty="0"/>
          </a:p>
        </p:txBody>
      </p:sp>
      <p:sp>
        <p:nvSpPr>
          <p:cNvPr id="6" name="Shape 4"/>
          <p:cNvSpPr/>
          <p:nvPr/>
        </p:nvSpPr>
        <p:spPr>
          <a:xfrm>
            <a:off x="658368" y="3246120"/>
            <a:ext cx="2926080" cy="0"/>
          </a:xfrm>
          <a:prstGeom prst="line">
            <a:avLst/>
          </a:prstGeom>
          <a:noFill/>
          <a:ln w="12700">
            <a:solidFill>
              <a:srgbClr val="5B84B8"/>
            </a:solidFill>
            <a:prstDash val="solid"/>
          </a:ln>
        </p:spPr>
        <p:txBody>
          <a:bodyPr/>
          <a:lstStyle/>
          <a:p>
            <a:endParaRPr lang="es-CL"/>
          </a:p>
        </p:txBody>
      </p:sp>
      <p:sp>
        <p:nvSpPr>
          <p:cNvPr id="7" name="Text 5"/>
          <p:cNvSpPr txBox="1"/>
          <p:nvPr/>
        </p:nvSpPr>
        <p:spPr>
          <a:xfrm>
            <a:off x="640080" y="342900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8" name="Text 6"/>
          <p:cNvSpPr txBox="1"/>
          <p:nvPr/>
        </p:nvSpPr>
        <p:spPr>
          <a:xfrm>
            <a:off x="640080" y="4389120"/>
            <a:ext cx="7315200" cy="41148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Preguntas y comentarios son bienvenidos.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3930</Words>
  <Application>Microsoft Office PowerPoint</Application>
  <PresentationFormat>Panorámica</PresentationFormat>
  <Paragraphs>440</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del proyecto · Proyecto Barbería Big-Boys · 23-10-2026</dc:title>
  <dc:subject>PptxGenJS Presentation</dc:subject>
  <dc:creator>Yerko Rosales · Jonathan Ojeda</dc:creator>
  <cp:lastModifiedBy>YERKO ALEXIS ROSALES BOBADILLA</cp:lastModifiedBy>
  <cp:revision>3</cp:revision>
  <dcterms:created xsi:type="dcterms:W3CDTF">2026-10-23T14:02:44Z</dcterms:created>
  <dcterms:modified xsi:type="dcterms:W3CDTF">2026-10-23T16:01:21Z</dcterms:modified>
</cp:coreProperties>
</file>