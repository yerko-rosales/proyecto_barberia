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3319272" cy="6858000"/>
          </a:xfrm>
          <a:prstGeom prst="rect">
            <a:avLst/>
          </a:prstGeom>
          <a:solidFill>
            <a:srgbClr val="1D3A63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1005840"/>
            <a:ext cx="2194560" cy="2194560"/>
          </a:xfrm>
          <a:prstGeom prst="ellipse">
            <a:avLst/>
          </a:prstGeom>
          <a:solidFill>
            <a:srgbClr val="234670"/>
          </a:solidFill>
          <a:ln w="19050">
            <a:solidFill>
              <a:srgbClr val="5B8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66960" y="3657600"/>
            <a:ext cx="1371600" cy="1371600"/>
          </a:xfrm>
          <a:prstGeom prst="ellipse">
            <a:avLst/>
          </a:prstGeom>
          <a:solidFill>
            <a:srgbClr val="234670"/>
          </a:solidFill>
          <a:ln w="12700">
            <a:solidFill>
              <a:srgbClr val="5B8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52560" y="5120640"/>
            <a:ext cx="731520" cy="731520"/>
          </a:xfrm>
          <a:prstGeom prst="ellipse">
            <a:avLst/>
          </a:prstGeom>
          <a:solidFill>
            <a:srgbClr val="234670"/>
          </a:solidFill>
          <a:ln w="12700">
            <a:solidFill>
              <a:srgbClr val="5B84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PROYECTO · CAPSTONE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Web y App Móvil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Barbería BIG BOYS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proyecto al 11 de septiembre de 2026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" y="4572000"/>
            <a:ext cx="2926080" cy="0"/>
          </a:xfrm>
          <a:prstGeom prst="line">
            <a:avLst/>
          </a:prstGeom>
          <a:noFill/>
          <a:ln w="19050">
            <a:solidFill>
              <a:srgbClr val="5B84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709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Equipo:  </a:t>
            </a:r>
            <a:pPr indent="0" marL="0">
              <a:buNone/>
            </a:pPr>
            <a:r>
              <a:rPr lang="en-US" sz="130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Yerko Rosales / Jonathan Ojeda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029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/ Profesor:  </a:t>
            </a:r>
            <a:pPr indent="0" marL="0">
              <a:buNone/>
            </a:pPr>
            <a:r>
              <a:rPr lang="en-US" sz="130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/ Fernando Herrera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349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final:  </a:t>
            </a:r>
            <a:pPr indent="0" marL="0">
              <a:buNone/>
            </a:pPr>
            <a:r>
              <a:rPr lang="en-US" sz="130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de noviembre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estamos hoy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2432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56232"/>
            <a:ext cx="262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 de 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Desarrollo en curso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55848" y="1691640"/>
            <a:ext cx="262432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55848" y="1856232"/>
            <a:ext cx="262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93008" y="246888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cronograma total transcurrido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63056" y="1691640"/>
            <a:ext cx="262432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63056" y="1856232"/>
            <a:ext cx="262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00216" y="246888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clave ya diseñadas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70264" y="1691640"/>
            <a:ext cx="262432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70264" y="1856232"/>
            <a:ext cx="262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 días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107424" y="246888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restantes hasta la entrega final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726180"/>
            <a:ext cx="182880" cy="182880"/>
          </a:xfrm>
          <a:prstGeom prst="ellipse">
            <a:avLst/>
          </a:prstGeom>
          <a:solidFill>
            <a:srgbClr val="2F855A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4747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Propuesta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480560" y="34747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Completada. Problema, objetivos, arquitectura y alcance definidos y validados.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361688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704588"/>
            <a:ext cx="182880" cy="182880"/>
          </a:xfrm>
          <a:prstGeom prst="ellipse">
            <a:avLst/>
          </a:prstGeom>
          <a:solidFill>
            <a:srgbClr val="B5762A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445312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Diseño y Desarrollo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480560" y="4453128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curso. Diseño de interfaz avanzado en el flujo completo de cliente (registro, agendamiento, pago e invitado).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340096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682996"/>
            <a:ext cx="182880" cy="182880"/>
          </a:xfrm>
          <a:prstGeom prst="ellipse">
            <a:avLst/>
          </a:prstGeom>
          <a:solidFill>
            <a:srgbClr val="9AA3AF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543153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Cierre y Entrega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480560" y="5431536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Pendiente. Pruebas, ajustes finales y entrega el 13 de noviembre de 2026.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PROYECTO · BARBERÍA BIG BOYS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 y avance real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0" y="2286000"/>
            <a:ext cx="8503920" cy="0"/>
          </a:xfrm>
          <a:prstGeom prst="line">
            <a:avLst/>
          </a:prstGeom>
          <a:noFill/>
          <a:ln w="25400">
            <a:solidFill>
              <a:srgbClr val="C3CA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1965960"/>
            <a:ext cx="640080" cy="640080"/>
          </a:xfrm>
          <a:prstGeom prst="ellipse">
            <a:avLst/>
          </a:prstGeom>
          <a:solidFill>
            <a:srgbClr val="2F855A"/>
          </a:solidFill>
          <a:ln w="25400">
            <a:solidFill>
              <a:srgbClr val="1329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2834640"/>
            <a:ext cx="301752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6510">
            <a:solidFill>
              <a:srgbClr val="2F8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971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ago – 4 sep 2026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794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60720" y="1965960"/>
            <a:ext cx="640080" cy="640080"/>
          </a:xfrm>
          <a:prstGeom prst="ellipse">
            <a:avLst/>
          </a:prstGeom>
          <a:solidFill>
            <a:srgbClr val="EEF1F5"/>
          </a:solidFill>
          <a:ln w="25400">
            <a:solidFill>
              <a:srgbClr val="1329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0" y="2834640"/>
            <a:ext cx="301752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6510">
            <a:solidFill>
              <a:srgbClr val="B576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971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Desarrollo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sep – 18 oct 2026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54880" y="3794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5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012680" y="1965960"/>
            <a:ext cx="640080" cy="640080"/>
          </a:xfrm>
          <a:prstGeom prst="ellipse">
            <a:avLst/>
          </a:prstGeom>
          <a:solidFill>
            <a:srgbClr val="EEF1F5"/>
          </a:solidFill>
          <a:ln w="25400">
            <a:solidFill>
              <a:srgbClr val="1329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1268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823960" y="2834640"/>
            <a:ext cx="301752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6510">
            <a:solidFill>
              <a:srgbClr val="D7DC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06840" y="2971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y Entrega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06840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oct – 13 nov 2026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006840" y="3794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65015" y="1691640"/>
            <a:ext cx="0" cy="594360"/>
          </a:xfrm>
          <a:prstGeom prst="line">
            <a:avLst/>
          </a:prstGeom>
          <a:noFill/>
          <a:ln w="25400">
            <a:solidFill>
              <a:srgbClr val="13294B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3779215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· 11 sept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937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GENERAL DEL PROYECTO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303520"/>
            <a:ext cx="1078992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5303520"/>
            <a:ext cx="3344875" cy="502920"/>
          </a:xfrm>
          <a:prstGeom prst="roundRect">
            <a:avLst>
              <a:gd name="adj" fmla="val 49091"/>
            </a:avLst>
          </a:prstGeom>
          <a:solidFill>
            <a:srgbClr val="13294B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5303520"/>
            <a:ext cx="33448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5897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de 91 días transcurridos desde el inicio (14 de agosto de 2026).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PROYECTO · BARBERÍA BIG BOYS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Carta Gantt del proyecto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por paquete de trabajo, con hitos y fecha tope, sobre las 13 semanas del proyecto.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/ PAQUETE DE TRABAJO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794760" y="1828800"/>
            <a:ext cx="12766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885006" y="1828800"/>
            <a:ext cx="12766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75252" y="1828800"/>
            <a:ext cx="12766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5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[HOY]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065498" y="1828800"/>
            <a:ext cx="12766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155745" y="1828800"/>
            <a:ext cx="12766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245991" y="1828800"/>
            <a:ext cx="12766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336237" y="1828800"/>
            <a:ext cx="12766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139696"/>
            <a:ext cx="11109960" cy="0"/>
          </a:xfrm>
          <a:prstGeom prst="line">
            <a:avLst/>
          </a:prstGeom>
          <a:noFill/>
          <a:ln w="1270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578608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2F855A"/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57860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88720" y="233172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y definición del proyecto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60520" y="2624328"/>
            <a:ext cx="7086600" cy="256032"/>
          </a:xfrm>
          <a:prstGeom prst="roundRect">
            <a:avLst>
              <a:gd name="adj" fmla="val 17857"/>
            </a:avLst>
          </a:prstGeom>
          <a:solidFill>
            <a:srgbClr val="E4EAF2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60520" y="2624328"/>
            <a:ext cx="2180492" cy="256032"/>
          </a:xfrm>
          <a:prstGeom prst="roundRect">
            <a:avLst>
              <a:gd name="adj" fmla="val 17857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1284" y="2642616"/>
            <a:ext cx="219456" cy="219456"/>
          </a:xfrm>
          <a:prstGeom prst="diamond">
            <a:avLst/>
          </a:prstGeom>
          <a:solidFill>
            <a:srgbClr val="2F85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33620" y="26151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04/09/2026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419856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B5762A"/>
          </a:solidFill>
          <a:ln w="6350">
            <a:solidFill>
              <a:srgbClr val="B576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41985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88720" y="3172968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interfaz (UX/UI)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160520" y="3465576"/>
            <a:ext cx="7086600" cy="256032"/>
          </a:xfrm>
          <a:prstGeom prst="roundRect">
            <a:avLst>
              <a:gd name="adj" fmla="val 17857"/>
            </a:avLst>
          </a:prstGeom>
          <a:solidFill>
            <a:srgbClr val="E4EAF2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41012" y="3465576"/>
            <a:ext cx="3270738" cy="256032"/>
          </a:xfrm>
          <a:prstGeom prst="roundRect">
            <a:avLst>
              <a:gd name="adj" fmla="val 17857"/>
            </a:avLst>
          </a:prstGeom>
          <a:solidFill>
            <a:srgbClr val="B5762A"/>
          </a:solidFill>
          <a:ln w="12700">
            <a:solidFill>
              <a:srgbClr val="B576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2023" y="3483864"/>
            <a:ext cx="219456" cy="219456"/>
          </a:xfrm>
          <a:prstGeom prst="diamond">
            <a:avLst/>
          </a:prstGeom>
          <a:solidFill>
            <a:srgbClr val="B576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04359" y="34564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18/10/2026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4261104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B5762A"/>
          </a:solidFill>
          <a:ln w="6350">
            <a:solidFill>
              <a:srgbClr val="B576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2611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88720" y="4014216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backend y base de datos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160520" y="4306824"/>
            <a:ext cx="7086600" cy="256032"/>
          </a:xfrm>
          <a:prstGeom prst="roundRect">
            <a:avLst>
              <a:gd name="adj" fmla="val 17857"/>
            </a:avLst>
          </a:prstGeom>
          <a:solidFill>
            <a:srgbClr val="E4EAF2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41012" y="4306824"/>
            <a:ext cx="3270738" cy="256032"/>
          </a:xfrm>
          <a:prstGeom prst="roundRect">
            <a:avLst>
              <a:gd name="adj" fmla="val 17857"/>
            </a:avLst>
          </a:prstGeom>
          <a:solidFill>
            <a:srgbClr val="B5762A"/>
          </a:solidFill>
          <a:ln w="12700">
            <a:solidFill>
              <a:srgbClr val="B576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02023" y="4325112"/>
            <a:ext cx="219456" cy="219456"/>
          </a:xfrm>
          <a:prstGeom prst="diamond">
            <a:avLst/>
          </a:prstGeom>
          <a:solidFill>
            <a:srgbClr val="B576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04359" y="42976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7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18/10/2026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" y="5102352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3294B"/>
          </a:solidFill>
          <a:ln w="6350">
            <a:solidFill>
              <a:srgbClr val="1329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51023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88720" y="4855464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Pruebas, ajustes y entrega final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160520" y="5148072"/>
            <a:ext cx="7086600" cy="256032"/>
          </a:xfrm>
          <a:prstGeom prst="roundRect">
            <a:avLst>
              <a:gd name="adj" fmla="val 17857"/>
            </a:avLst>
          </a:prstGeom>
          <a:solidFill>
            <a:srgbClr val="E4EAF2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11751" y="5148072"/>
            <a:ext cx="1635369" cy="256032"/>
          </a:xfrm>
          <a:prstGeom prst="roundRect">
            <a:avLst>
              <a:gd name="adj" fmla="val 17857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137392" y="5166360"/>
            <a:ext cx="219456" cy="219456"/>
          </a:xfrm>
          <a:prstGeom prst="diamond">
            <a:avLst/>
          </a:prstGeom>
          <a:solidFill>
            <a:srgbClr val="13294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539728" y="51389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13/11/2026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531805" y="2103120"/>
            <a:ext cx="0" cy="3593592"/>
          </a:xfrm>
          <a:prstGeom prst="line">
            <a:avLst/>
          </a:prstGeom>
          <a:noFill/>
          <a:ln w="22225">
            <a:solidFill>
              <a:srgbClr val="C0504D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6211765" y="57241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8640" y="619963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2F855A"/>
          </a:solidFill>
          <a:ln/>
        </p:spPr>
      </p:sp>
      <p:sp>
        <p:nvSpPr>
          <p:cNvPr id="45" name="Text 43"/>
          <p:cNvSpPr/>
          <p:nvPr/>
        </p:nvSpPr>
        <p:spPr>
          <a:xfrm>
            <a:off x="877824" y="61539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377440" y="619963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B5762A"/>
          </a:solidFill>
          <a:ln/>
        </p:spPr>
      </p:sp>
      <p:sp>
        <p:nvSpPr>
          <p:cNvPr id="47" name="Text 45"/>
          <p:cNvSpPr/>
          <p:nvPr/>
        </p:nvSpPr>
        <p:spPr>
          <a:xfrm>
            <a:off x="2706624" y="61539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206240" y="619963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3294B"/>
          </a:solidFill>
          <a:ln/>
        </p:spPr>
      </p:sp>
      <p:sp>
        <p:nvSpPr>
          <p:cNvPr id="49" name="Text 47"/>
          <p:cNvSpPr/>
          <p:nvPr/>
        </p:nvSpPr>
        <p:spPr>
          <a:xfrm>
            <a:off x="4535424" y="61539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Planificado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949440" y="6199632"/>
            <a:ext cx="365760" cy="128016"/>
          </a:xfrm>
          <a:prstGeom prst="roundRect">
            <a:avLst>
              <a:gd name="adj" fmla="val 28571"/>
            </a:avLst>
          </a:prstGeom>
          <a:solidFill>
            <a:srgbClr val="9AA3AF"/>
          </a:solidFill>
          <a:ln/>
        </p:spPr>
      </p:sp>
      <p:sp>
        <p:nvSpPr>
          <p:cNvPr id="51" name="Text 49"/>
          <p:cNvSpPr/>
          <p:nvPr/>
        </p:nvSpPr>
        <p:spPr>
          <a:xfrm>
            <a:off x="7424928" y="61539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estimada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9281160" y="6144768"/>
            <a:ext cx="219456" cy="219456"/>
          </a:xfrm>
          <a:prstGeom prst="diamond">
            <a:avLst/>
          </a:prstGeom>
          <a:solidFill>
            <a:srgbClr val="9A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555480" y="61539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(fecha tope)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PROYECTO · BARBERÍA BIG BOYS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INTERFAZ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e inicio de sesión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pantallas del flujo de cliente ya diseñadas en alta fidelidad.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55164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551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51560" y="2286000"/>
            <a:ext cx="43434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2860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con correo y contraseña para clientes habituales.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59836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98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51560" y="3090672"/>
            <a:ext cx="43434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309067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directo como invitado, sin registro previo.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064508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0645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51560" y="3895344"/>
            <a:ext cx="43434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3895344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cuenta con foto de perfil y validación de contraseña segura.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869180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8691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51560" y="4700016"/>
            <a:ext cx="43434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4700016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administrativo protegido con PIN de seguridad del local.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23560" y="1463040"/>
            <a:ext cx="2994660" cy="4937760"/>
          </a:xfrm>
          <a:prstGeom prst="roundRect">
            <a:avLst>
              <a:gd name="adj" fmla="val 1527"/>
            </a:avLst>
          </a:prstGeom>
          <a:solidFill>
            <a:srgbClr val="EEF1F5"/>
          </a:solidFill>
          <a:ln w="12700">
            <a:solidFill>
              <a:srgbClr val="13294B"/>
            </a:solidFill>
            <a:prstDash val="solid"/>
          </a:ln>
        </p:spPr>
      </p:sp>
      <p:pic>
        <p:nvPicPr>
          <p:cNvPr id="22" name="Image 0" descr="/home/claude/avance/build/mock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2777" y="1600200"/>
            <a:ext cx="1996227" cy="43434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623560" y="6016752"/>
            <a:ext cx="29946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sesión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846820" y="1463040"/>
            <a:ext cx="2994660" cy="4937760"/>
          </a:xfrm>
          <a:prstGeom prst="roundRect">
            <a:avLst>
              <a:gd name="adj" fmla="val 1527"/>
            </a:avLst>
          </a:prstGeom>
          <a:solidFill>
            <a:srgbClr val="EEF1F5"/>
          </a:solidFill>
          <a:ln w="12700">
            <a:solidFill>
              <a:srgbClr val="13294B"/>
            </a:solidFill>
            <a:prstDash val="solid"/>
          </a:ln>
        </p:spPr>
      </p:sp>
      <p:pic>
        <p:nvPicPr>
          <p:cNvPr id="25" name="Image 1" descr="/home/claude/avance/build/mock_regist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2117" y="1600200"/>
            <a:ext cx="1984065" cy="43434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846820" y="6016752"/>
            <a:ext cx="29946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cuenta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PROYECTO · BARBERÍA BIG BOYS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INTERFAZ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Agendamiento de hora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de reserva guía al cliente paso a paso hasta confirmar su cita.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55164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551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51560" y="2286000"/>
            <a:ext cx="52578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28600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principal con acceso directo a 'Agendar Citas Online'.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59836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98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51560" y="3090672"/>
            <a:ext cx="52578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309067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sucursal, con datos de contacto y barberos disponibles.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064508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0645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51560" y="3895344"/>
            <a:ext cx="52578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3895344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asistente de agendamiento avanza en 5 pasos (sucursal, barbero, servicio, horario y pago).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869180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8691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51560" y="4700016"/>
            <a:ext cx="52578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4700016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visualiza sus citas agendadas y su estado de confirmación.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37960" y="1463040"/>
            <a:ext cx="5303520" cy="4937760"/>
          </a:xfrm>
          <a:prstGeom prst="roundRect">
            <a:avLst>
              <a:gd name="adj" fmla="val 926"/>
            </a:avLst>
          </a:prstGeom>
          <a:solidFill>
            <a:srgbClr val="EEF1F5"/>
          </a:solidFill>
          <a:ln w="12700">
            <a:solidFill>
              <a:srgbClr val="13294B"/>
            </a:solidFill>
            <a:prstDash val="solid"/>
          </a:ln>
        </p:spPr>
      </p:sp>
      <p:pic>
        <p:nvPicPr>
          <p:cNvPr id="22" name="Image 0" descr="/home/claude/avance/build/mock_agend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2455" y="1600200"/>
            <a:ext cx="1954530" cy="43434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537960" y="601675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y agendamiento (paso 1 de 5)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PROYECTO · BARBERÍA BIG BOYS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INTERFAZ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Pago del abono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definió la integración del abono con Webpay Plus (Transbank) para asegurar la reserva.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55164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551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51560" y="2286000"/>
            <a:ext cx="43434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2860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elige el medio de pago (débito, crédito o prepago) y su banco emisor.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59836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98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51560" y="3090672"/>
            <a:ext cx="43434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309067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monto del abono queda visible antes de confirmar el pago.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064508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0645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51560" y="3895344"/>
            <a:ext cx="43434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3895344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transacción se procesa de forma segura a través de Webpay Plus.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869180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8691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51560" y="4700016"/>
            <a:ext cx="43434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4700016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confirmarse el pago, la cita queda tomada y se genera un comprobante.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23560" y="1463040"/>
            <a:ext cx="2994660" cy="4937760"/>
          </a:xfrm>
          <a:prstGeom prst="roundRect">
            <a:avLst>
              <a:gd name="adj" fmla="val 1527"/>
            </a:avLst>
          </a:prstGeom>
          <a:solidFill>
            <a:srgbClr val="EEF1F5"/>
          </a:solidFill>
          <a:ln w="12700">
            <a:solidFill>
              <a:srgbClr val="13294B"/>
            </a:solidFill>
            <a:prstDash val="solid"/>
          </a:ln>
        </p:spPr>
      </p:sp>
      <p:pic>
        <p:nvPicPr>
          <p:cNvPr id="22" name="Image 0" descr="/home/claude/avance/build/mock_pago_medi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3625" y="1600200"/>
            <a:ext cx="1954530" cy="43434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623560" y="6016752"/>
            <a:ext cx="29946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medio de pago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846820" y="1463040"/>
            <a:ext cx="2994660" cy="4937760"/>
          </a:xfrm>
          <a:prstGeom prst="roundRect">
            <a:avLst>
              <a:gd name="adj" fmla="val 1527"/>
            </a:avLst>
          </a:prstGeom>
          <a:solidFill>
            <a:srgbClr val="EEF1F5"/>
          </a:solidFill>
          <a:ln w="12700">
            <a:solidFill>
              <a:srgbClr val="13294B"/>
            </a:solidFill>
            <a:prstDash val="solid"/>
          </a:ln>
        </p:spPr>
      </p:sp>
      <p:pic>
        <p:nvPicPr>
          <p:cNvPr id="25" name="Image 1" descr="/home/claude/avance/build/mock_pago_exit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885" y="1600200"/>
            <a:ext cx="1954530" cy="43434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846820" y="6016752"/>
            <a:ext cx="29946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de pago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PROYECTO · BARBERÍA BIG BOYS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INTERFAZ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Ingreso como invitado y fidelización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cliente no habitual accede igual, y recibe un incentivo inmediato para registrarse.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55164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551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51560" y="2286000"/>
            <a:ext cx="52578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28600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como invitado desde la pantalla principal, sin fricción.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59836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98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51560" y="3090672"/>
            <a:ext cx="52578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309067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Pop-up de bienvenida con un beneficio exclusivo por registrarse.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064508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0645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51560" y="3895344"/>
            <a:ext cx="52578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3895344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Invitación clara a crear perfil, o a explorar primero como invitado.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869180"/>
            <a:ext cx="347472" cy="347472"/>
          </a:xfrm>
          <a:prstGeom prst="ellipse">
            <a:avLst/>
          </a:prstGeom>
          <a:solidFill>
            <a:srgbClr val="F7F5F0"/>
          </a:solidFill>
          <a:ln w="19050">
            <a:solidFill>
              <a:srgbClr val="1329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8691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51560" y="4700016"/>
            <a:ext cx="52578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4700016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beneficio se activa en la primera reserva pagada.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37960" y="1463040"/>
            <a:ext cx="5303520" cy="4937760"/>
          </a:xfrm>
          <a:prstGeom prst="roundRect">
            <a:avLst>
              <a:gd name="adj" fmla="val 926"/>
            </a:avLst>
          </a:prstGeom>
          <a:solidFill>
            <a:srgbClr val="EEF1F5"/>
          </a:solidFill>
          <a:ln w="12700">
            <a:solidFill>
              <a:srgbClr val="13294B"/>
            </a:solidFill>
            <a:prstDash val="solid"/>
          </a:ln>
        </p:spPr>
      </p:sp>
      <p:pic>
        <p:nvPicPr>
          <p:cNvPr id="22" name="Image 0" descr="/home/claude/avance/build/mock_invitad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2455" y="1600200"/>
            <a:ext cx="1954530" cy="43434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537960" y="601675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invitado con pop-up promocional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PROYECTO · BARBERÍA BIG BOYS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del desarrollo técnico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377440" cy="822960"/>
          </a:xfrm>
          <a:prstGeom prst="roundRect">
            <a:avLst>
              <a:gd name="adj" fmla="val 7778"/>
            </a:avLst>
          </a:prstGeom>
          <a:solidFill>
            <a:srgbClr val="EEF1F5"/>
          </a:solidFill>
          <a:ln w="19050">
            <a:solidFill>
              <a:srgbClr val="1329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WEB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APP MÓVIL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26080" y="2011680"/>
            <a:ext cx="685800" cy="0"/>
          </a:xfrm>
          <a:prstGeom prst="line">
            <a:avLst/>
          </a:prstGeom>
          <a:noFill/>
          <a:ln w="25400">
            <a:solidFill>
              <a:srgbClr val="13294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611880" y="1600200"/>
            <a:ext cx="2194560" cy="822960"/>
          </a:xfrm>
          <a:prstGeom prst="roundRect">
            <a:avLst>
              <a:gd name="adj" fmla="val 7778"/>
            </a:avLst>
          </a:prstGeom>
          <a:solidFill>
            <a:srgbClr val="EEF1F5"/>
          </a:solidFill>
          <a:ln w="19050">
            <a:solidFill>
              <a:srgbClr val="1329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1600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(BBDD)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06440" y="2011680"/>
            <a:ext cx="685800" cy="0"/>
          </a:xfrm>
          <a:prstGeom prst="line">
            <a:avLst/>
          </a:prstGeom>
          <a:noFill/>
          <a:ln w="25400">
            <a:solidFill>
              <a:srgbClr val="13294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492240" y="1600200"/>
            <a:ext cx="2651760" cy="822960"/>
          </a:xfrm>
          <a:prstGeom prst="roundRect">
            <a:avLst>
              <a:gd name="adj" fmla="val 7778"/>
            </a:avLst>
          </a:prstGeom>
          <a:solidFill>
            <a:srgbClr val="EEF1F5"/>
          </a:solidFill>
          <a:ln w="19050">
            <a:solidFill>
              <a:srgbClr val="1329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6002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WEBPAY PLUS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(TRANSBANK)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6510">
            <a:solidFill>
              <a:srgbClr val="2F85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Mantenedor (CRUD)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2249424" y="3703320"/>
            <a:ext cx="164592" cy="164592"/>
          </a:xfrm>
          <a:prstGeom prst="ellipse">
            <a:avLst/>
          </a:prstGeom>
          <a:solidFill>
            <a:srgbClr val="2F855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977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interfaz completo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28346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6510">
            <a:solidFill>
              <a:srgbClr val="B576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 (Transacciones)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998464" y="3703320"/>
            <a:ext cx="164592" cy="164592"/>
          </a:xfrm>
          <a:prstGeom prst="ellipse">
            <a:avLst/>
          </a:prstGeom>
          <a:solidFill>
            <a:srgbClr val="B5762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3977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pago definido, backend en desarrollo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0" y="28346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6510">
            <a:solidFill>
              <a:srgbClr val="9AA3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747504" y="3703320"/>
            <a:ext cx="164592" cy="164592"/>
          </a:xfrm>
          <a:prstGeom prst="ellipse">
            <a:avLst/>
          </a:prstGeom>
          <a:solidFill>
            <a:srgbClr val="9AA3AF"/>
          </a:solidFill>
          <a:ln/>
        </p:spPr>
      </p:sp>
      <p:sp>
        <p:nvSpPr>
          <p:cNvPr id="23" name="Text 21"/>
          <p:cNvSpPr/>
          <p:nvPr/>
        </p:nvSpPr>
        <p:spPr>
          <a:xfrm>
            <a:off x="8321040" y="3977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de inicio en Fase 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212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ACTUALES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5532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Yerko Rosales — </a:t>
            </a:r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interfaz (completado para las pantallas mostradas) y gestión del proyecto.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58521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Jonathan Ojeda — </a:t>
            </a:r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backend y modelamiento de la base de datos, en curso.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PROYECTO · BARBERÍA BIG BOYS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Compromisos logrados y próximos pasos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6510">
            <a:solidFill>
              <a:srgbClr val="1329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65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COMPROMISOS LOGRADOS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514600"/>
            <a:ext cx="274320" cy="27432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42316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(Propuesta) cerrada: problema, objetivos, arquitectura y alcance validados.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3429000"/>
            <a:ext cx="274320" cy="27432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333756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en alta fidelidad de 6 pantallas clave: login, registro, agendamiento, pago e invitado.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4343400"/>
            <a:ext cx="274320" cy="27432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425196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la pasarela de pago a integrar: Webpay Plus (Transbank).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5257800"/>
            <a:ext cx="274320" cy="27432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13" name="Text 11"/>
          <p:cNvSpPr/>
          <p:nvPr/>
        </p:nvSpPr>
        <p:spPr>
          <a:xfrm>
            <a:off x="1325880" y="516636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agendamiento de 5 pasos completamente mapeado.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69164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965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PRÓXIMOS PASOS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92240" y="2514600"/>
            <a:ext cx="274320" cy="274320"/>
          </a:xfrm>
          <a:prstGeom prst="ellipse">
            <a:avLst/>
          </a:prstGeom>
          <a:solidFill>
            <a:srgbClr val="9AA3AF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242316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el backend y modelar la base de datos (Jonathan).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3429000"/>
            <a:ext cx="274320" cy="274320"/>
          </a:xfrm>
          <a:prstGeom prst="ellipse">
            <a:avLst/>
          </a:prstGeom>
          <a:solidFill>
            <a:srgbClr val="9AA3AF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333756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el flujo de agendamiento y pago con Webpay Plus.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4343400"/>
            <a:ext cx="274320" cy="274320"/>
          </a:xfrm>
          <a:prstGeom prst="ellipse">
            <a:avLst/>
          </a:prstGeom>
          <a:solidFill>
            <a:srgbClr val="9AA3AF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425196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el sitio web y conectar las pantallas ya diseñadas.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92240" y="5257800"/>
            <a:ext cx="274320" cy="274320"/>
          </a:xfrm>
          <a:prstGeom prst="ellipse">
            <a:avLst/>
          </a:prstGeom>
          <a:solidFill>
            <a:srgbClr val="9AA3AF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516636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el módulo de gestión para administradores y colaboradores.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PROYECTO · BARBERÍA BIG BOYS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riesgos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de ocurrencia versus impacto en el proyecto, para los riesgos identificados.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 rot="16200000">
            <a:off x="320040" y="22174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" y="178308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48840" y="1783080"/>
            <a:ext cx="1874520" cy="960120"/>
          </a:xfrm>
          <a:prstGeom prst="rect">
            <a:avLst/>
          </a:prstGeom>
          <a:solidFill>
            <a:srgbClr val="E0B0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0" y="1783080"/>
            <a:ext cx="1874520" cy="960120"/>
          </a:xfrm>
          <a:prstGeom prst="rect">
            <a:avLst/>
          </a:prstGeom>
          <a:solidFill>
            <a:srgbClr val="C0504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97880" y="1783080"/>
            <a:ext cx="1874520" cy="960120"/>
          </a:xfrm>
          <a:prstGeom prst="rect">
            <a:avLst/>
          </a:prstGeom>
          <a:solidFill>
            <a:srgbClr val="C0504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74320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48840" y="2743200"/>
            <a:ext cx="1874520" cy="960120"/>
          </a:xfrm>
          <a:prstGeom prst="rect">
            <a:avLst/>
          </a:prstGeom>
          <a:solidFill>
            <a:srgbClr val="5E9E7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2743200"/>
            <a:ext cx="1874520" cy="960120"/>
          </a:xfrm>
          <a:prstGeom prst="rect">
            <a:avLst/>
          </a:prstGeom>
          <a:solidFill>
            <a:srgbClr val="E0B0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97880" y="2743200"/>
            <a:ext cx="1874520" cy="960120"/>
          </a:xfrm>
          <a:prstGeom prst="rect">
            <a:avLst/>
          </a:prstGeom>
          <a:solidFill>
            <a:srgbClr val="C0504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70332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48840" y="3703320"/>
            <a:ext cx="1874520" cy="960120"/>
          </a:xfrm>
          <a:prstGeom prst="rect">
            <a:avLst/>
          </a:prstGeom>
          <a:solidFill>
            <a:srgbClr val="5E9E7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23360" y="3703320"/>
            <a:ext cx="1874520" cy="960120"/>
          </a:xfrm>
          <a:prstGeom prst="rect">
            <a:avLst/>
          </a:prstGeom>
          <a:solidFill>
            <a:srgbClr val="5E9E7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3703320"/>
            <a:ext cx="1874520" cy="960120"/>
          </a:xfrm>
          <a:prstGeom prst="rect">
            <a:avLst/>
          </a:prstGeom>
          <a:solidFill>
            <a:srgbClr val="E0B0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48840" y="47365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23360" y="47365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97880" y="47365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48840" y="512064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4588" y="2007108"/>
            <a:ext cx="512064" cy="512064"/>
          </a:xfrm>
          <a:prstGeom prst="ellipse">
            <a:avLst/>
          </a:prstGeom>
          <a:solidFill>
            <a:srgbClr val="13294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4588" y="20071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2830068" y="2007108"/>
            <a:ext cx="512064" cy="512064"/>
          </a:xfrm>
          <a:prstGeom prst="ellipse">
            <a:avLst/>
          </a:prstGeom>
          <a:solidFill>
            <a:srgbClr val="13294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30068" y="20071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579108" y="2967228"/>
            <a:ext cx="512064" cy="512064"/>
          </a:xfrm>
          <a:prstGeom prst="ellipse">
            <a:avLst/>
          </a:prstGeom>
          <a:solidFill>
            <a:srgbClr val="13294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9108" y="29672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704588" y="3927348"/>
            <a:ext cx="512064" cy="512064"/>
          </a:xfrm>
          <a:prstGeom prst="ellipse">
            <a:avLst/>
          </a:prstGeom>
          <a:solidFill>
            <a:srgbClr val="13294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4588" y="39273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366760" y="1828800"/>
            <a:ext cx="292608" cy="292608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750808" y="1783080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adopción por parte de los clientes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750808" y="2167128"/>
            <a:ext cx="2862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simple y beneficios visibles desde el primer ingreso.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366760" y="2788920"/>
            <a:ext cx="292608" cy="292608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35" name="Text 33"/>
          <p:cNvSpPr/>
          <p:nvPr/>
        </p:nvSpPr>
        <p:spPr>
          <a:xfrm>
            <a:off x="8366760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750808" y="2743200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Fallas en el módulo de pago del abono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750808" y="3127248"/>
            <a:ext cx="2862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exhaustivas de la integración con Webpay Plus.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366760" y="3749040"/>
            <a:ext cx="292608" cy="292608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39" name="Text 37"/>
          <p:cNvSpPr/>
          <p:nvPr/>
        </p:nvSpPr>
        <p:spPr>
          <a:xfrm>
            <a:off x="83667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750808" y="3703320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Atrasos en la etapa de desarrollo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750808" y="4087368"/>
            <a:ext cx="2862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por fase con hitos de control y revisión.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366760" y="4709160"/>
            <a:ext cx="292608" cy="292608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43" name="Text 41"/>
          <p:cNvSpPr/>
          <p:nvPr/>
        </p:nvSpPr>
        <p:spPr>
          <a:xfrm>
            <a:off x="836676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750808" y="4663440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Resistencia del personal a usar el sistema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750808" y="5047488"/>
            <a:ext cx="2862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breve y panel de gestión simple e intuitivo.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148840" y="5989320"/>
            <a:ext cx="274320" cy="274320"/>
          </a:xfrm>
          <a:prstGeom prst="rect">
            <a:avLst/>
          </a:prstGeom>
          <a:solidFill>
            <a:srgbClr val="5E9E77"/>
          </a:solidFill>
          <a:ln/>
        </p:spPr>
      </p:sp>
      <p:sp>
        <p:nvSpPr>
          <p:cNvPr id="47" name="Text 45"/>
          <p:cNvSpPr/>
          <p:nvPr/>
        </p:nvSpPr>
        <p:spPr>
          <a:xfrm>
            <a:off x="2514600" y="5943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bajo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069080" y="5989320"/>
            <a:ext cx="274320" cy="274320"/>
          </a:xfrm>
          <a:prstGeom prst="rect">
            <a:avLst/>
          </a:prstGeom>
          <a:solidFill>
            <a:srgbClr val="E0B03E"/>
          </a:solidFill>
          <a:ln/>
        </p:spPr>
      </p:sp>
      <p:sp>
        <p:nvSpPr>
          <p:cNvPr id="49" name="Text 47"/>
          <p:cNvSpPr/>
          <p:nvPr/>
        </p:nvSpPr>
        <p:spPr>
          <a:xfrm>
            <a:off x="4434840" y="5943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medio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989320" y="5989320"/>
            <a:ext cx="274320" cy="27432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51" name="Text 49"/>
          <p:cNvSpPr/>
          <p:nvPr/>
        </p:nvSpPr>
        <p:spPr>
          <a:xfrm>
            <a:off x="6355080" y="5943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alto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PROYECTO · BARBERÍA BIG BOYS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657600" cy="3657600"/>
          </a:xfrm>
          <a:prstGeom prst="ellipse">
            <a:avLst/>
          </a:prstGeom>
          <a:solidFill>
            <a:srgbClr val="1D3A63"/>
          </a:solidFill>
          <a:ln w="12700">
            <a:solidFill>
              <a:srgbClr val="5B8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5029200"/>
            <a:ext cx="2926080" cy="2926080"/>
          </a:xfrm>
          <a:prstGeom prst="ellipse">
            <a:avLst/>
          </a:prstGeom>
          <a:solidFill>
            <a:srgbClr val="1D3A63"/>
          </a:solidFill>
          <a:ln w="12700">
            <a:solidFill>
              <a:srgbClr val="5B84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ABIERTOS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el porcentaje estándar de abono por servicio.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783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la política de reembolso ante cancelaciones.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286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el modelo de datos con Jonathan antes de iniciar el backend.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3063240"/>
            <a:ext cx="2743200" cy="0"/>
          </a:xfrm>
          <a:prstGeom prst="line">
            <a:avLst/>
          </a:prstGeom>
          <a:noFill/>
          <a:ln w="19050">
            <a:solidFill>
              <a:srgbClr val="5B84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918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640080" y="4297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comentarios son bienvenidos.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PROYECTO · BARBERÍA BIG BOYS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2026-09-11T23:43:33Z</dcterms:created>
  <dcterms:modified xsi:type="dcterms:W3CDTF">2026-09-11T23:43:33Z</dcterms:modified>
</cp:coreProperties>
</file>