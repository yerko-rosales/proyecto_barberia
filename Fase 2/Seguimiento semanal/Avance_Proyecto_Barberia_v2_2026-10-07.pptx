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6-1.jpg" ContentType="image/jpg"/>
  <Override PartName="/ppt/media/image-7-1.jpg" ContentType="image/jpg"/>
  <Override PartName="/ppt/media/image-7-2.jpg" ContentType="image/jpg"/>
  <Override PartName="/ppt/media/image-8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9" r:id="rId20"/>
    <p:sldId id="270" r:id="rId21"/>
    <p:sldId id="271" r:id="rId22"/>
    <p:sldId id="272" r:id="rId23"/>
    <p:sldId id="265" r:id="rId11"/>
    <p:sldId id="266" r:id="rId12"/>
    <p:sldId id="267" r:id="rId13"/>
    <p:sldId id="273" r:id="rId24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D3A6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418320" y="1005840"/>
            <a:ext cx="2194560" cy="2194560"/>
          </a:xfrm>
          <a:prstGeom prst="ellipse">
            <a:avLst/>
          </a:prstGeom>
          <a:solidFill>
            <a:srgbClr val="234670"/>
          </a:solidFill>
          <a:ln w="1905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966960" y="3657600"/>
            <a:ext cx="1371600" cy="1371600"/>
          </a:xfrm>
          <a:prstGeom prst="ellipse">
            <a:avLst/>
          </a:prstGeom>
          <a:solidFill>
            <a:srgbClr val="234670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5120640"/>
            <a:ext cx="731520" cy="731520"/>
          </a:xfrm>
          <a:prstGeom prst="ellipse">
            <a:avLst/>
          </a:prstGeom>
          <a:solidFill>
            <a:srgbClr val="234670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 y App Móvil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Proyecto Barbería Big-Boys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 al 6 de octubre de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572000"/>
            <a:ext cx="2926080" cy="0"/>
          </a:xfrm>
          <a:prstGeom prst="line">
            <a:avLst/>
          </a:prstGeom>
          <a:noFill/>
          <a:ln w="1905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Yerko Rosales / Jonathan Ojeda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/ Profesor: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/ Fernando Herrera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noviembre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de 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en curso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55848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93008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cronograma total transcurrido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63056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0216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clave ya diseñadas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70264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días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07424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 hasta la entrega final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3726180"/>
            <a:ext cx="182880" cy="18288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3474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Propuesta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80560" y="34747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Completada. Problema, objetivos, arquitectura y alcance definidos y validados.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61688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704588"/>
            <a:ext cx="182880" cy="182880"/>
          </a:xfrm>
          <a:prstGeom prst="ellipse">
            <a:avLst/>
          </a:prstGeom>
          <a:solidFill>
            <a:srgbClr val="B576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44531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Diseño y Desarrollo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445312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curso. Prototipos web y app funcionales; arquitectura 4+1, modelo relacional y cumplimiento Ley N° 21.719 documentados.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009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5682996"/>
            <a:ext cx="182880" cy="18288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97280" y="54315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Cierre y Entrega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80560" y="54315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Pendiente. Pruebas, ajustes finales y entrega el 13 de noviembre de 2026.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y avance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8503920" cy="0"/>
          </a:xfrm>
          <a:prstGeom prst="line">
            <a:avLst/>
          </a:prstGeom>
          <a:noFill/>
          <a:ln w="25400">
            <a:solidFill>
              <a:srgbClr val="C3CAD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2F855A"/>
          </a:solidFill>
          <a:ln w="254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ago – 4 sep 2026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965960"/>
            <a:ext cx="640080" cy="640080"/>
          </a:xfrm>
          <a:prstGeom prst="ellipse">
            <a:avLst/>
          </a:prstGeom>
          <a:solidFill>
            <a:srgbClr val="EEF1F5"/>
          </a:solidFill>
          <a:ln w="254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sep – 18 oct 2026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12680" y="1965960"/>
            <a:ext cx="640080" cy="640080"/>
          </a:xfrm>
          <a:prstGeom prst="ellipse">
            <a:avLst/>
          </a:prstGeom>
          <a:solidFill>
            <a:srgbClr val="EEF1F5"/>
          </a:solidFill>
          <a:ln w="254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12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2396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0684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Entrega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 – 13 nov 2026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0684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65015" y="1691640"/>
            <a:ext cx="0" cy="594360"/>
          </a:xfrm>
          <a:prstGeom prst="line">
            <a:avLst/>
          </a:prstGeom>
          <a:noFill/>
          <a:ln w="25400">
            <a:solidFill>
              <a:srgbClr val="13294B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79215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6 oct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GENERAL DEL PROYECTO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0789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48640" y="5303520"/>
            <a:ext cx="3344875" cy="502920"/>
          </a:xfrm>
          <a:prstGeom prst="roundRect">
            <a:avLst>
              <a:gd name="adj" fmla="val 49091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303520"/>
            <a:ext cx="33448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de 91 días transcurridos desde el inicio (14 de agosto de 2026).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por paquete de trabajo, con hitos y fecha tope, sobre las 13 semanas del proyecto.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PAQUETE DE TRABAJO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794760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85006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75252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[HOY]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65498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155745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45991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336237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39696"/>
            <a:ext cx="11109960" cy="0"/>
          </a:xfrm>
          <a:prstGeom prst="line">
            <a:avLst/>
          </a:prstGeom>
          <a:noFill/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257860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2F855A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5786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y definición del proyecto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2624328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160520" y="2624328"/>
            <a:ext cx="2180492" cy="256032"/>
          </a:xfrm>
          <a:prstGeom prst="roundRect">
            <a:avLst>
              <a:gd name="adj" fmla="val 17857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31284" y="2642616"/>
            <a:ext cx="219456" cy="219456"/>
          </a:xfrm>
          <a:prstGeom prst="diamond">
            <a:avLst/>
          </a:prstGeom>
          <a:solidFill>
            <a:srgbClr val="2F855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33620" y="2615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04/09/2026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41985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5762A"/>
          </a:solidFill>
          <a:ln w="635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4198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31729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(UX/UI)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3465576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41012" y="3465576"/>
            <a:ext cx="3270738" cy="256032"/>
          </a:xfrm>
          <a:prstGeom prst="roundRect">
            <a:avLst>
              <a:gd name="adj" fmla="val 17857"/>
            </a:avLst>
          </a:prstGeom>
          <a:solidFill>
            <a:srgbClr val="B5762A"/>
          </a:solidFill>
          <a:ln w="1270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502023" y="3483864"/>
            <a:ext cx="219456" cy="219456"/>
          </a:xfrm>
          <a:prstGeom prst="diamond">
            <a:avLst/>
          </a:prstGeom>
          <a:solidFill>
            <a:srgbClr val="B5762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904359" y="34564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18/10/2026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26110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5762A"/>
          </a:solidFill>
          <a:ln w="635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42611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88720" y="401421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y base de datos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60520" y="4306824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341012" y="4306824"/>
            <a:ext cx="3270738" cy="256032"/>
          </a:xfrm>
          <a:prstGeom prst="roundRect">
            <a:avLst>
              <a:gd name="adj" fmla="val 17857"/>
            </a:avLst>
          </a:prstGeom>
          <a:solidFill>
            <a:srgbClr val="B5762A"/>
          </a:solidFill>
          <a:ln w="1270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502023" y="4325112"/>
            <a:ext cx="219456" cy="219456"/>
          </a:xfrm>
          <a:prstGeom prst="diamond">
            <a:avLst/>
          </a:prstGeom>
          <a:solidFill>
            <a:srgbClr val="B5762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904359" y="4297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18/10/2026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10235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5102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88720" y="485546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ajustes y entrega final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60520" y="5148072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611751" y="5148072"/>
            <a:ext cx="1635369" cy="256032"/>
          </a:xfrm>
          <a:prstGeom prst="roundRect">
            <a:avLst>
              <a:gd name="adj" fmla="val 1785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1137392" y="5166360"/>
            <a:ext cx="219456" cy="219456"/>
          </a:xfrm>
          <a:prstGeom prst="diamond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1539728" y="5138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13/11/2026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31805" y="2103120"/>
            <a:ext cx="0" cy="3593592"/>
          </a:xfrm>
          <a:prstGeom prst="line">
            <a:avLst/>
          </a:prstGeom>
          <a:noFill/>
          <a:ln w="22225">
            <a:solidFill>
              <a:srgbClr val="C0504D"/>
            </a:solidFill>
            <a:prstDash val="dash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211765" y="5724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778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774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B5762A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7066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062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5354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49440" y="6199632"/>
            <a:ext cx="365760" cy="128016"/>
          </a:xfrm>
          <a:prstGeom prst="roundRect">
            <a:avLst>
              <a:gd name="adj" fmla="val 28571"/>
            </a:avLst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424928" y="6153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281160" y="6144768"/>
            <a:ext cx="219456" cy="219456"/>
          </a:xfrm>
          <a:prstGeom prst="diamond">
            <a:avLst/>
          </a:prstGeom>
          <a:solidFill>
            <a:srgbClr val="9AA3A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555480" y="6153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(fecha tope)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e inicio de sesión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pantallas del flujo de cliente ya diseñadas en alta fidelidad.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correo y contraseña para clientes habituales.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como invitado, sin registro previo.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cuenta con foto de perfil y validación de contraseña segura.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administrativo protegido con PIN de seguridad del local.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2356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2777" y="1600200"/>
            <a:ext cx="1996227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2356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682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5" name="Image 1" descr="/home/claude/avance/build/mock_regis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117" y="1600200"/>
            <a:ext cx="1984065" cy="4343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4682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cuenta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Agendamiento de hora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reserva guía al cliente paso a paso hasta confirmar su cita.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 con acceso directo a 'Agendar Citas Online'.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sucursal, con datos de contacto y barberos disponibles.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de agendamiento avanza en 5 pasos (sucursal, barbero, servicio, horario y pago).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visualiza sus citas agendadas y su estado de confirmación.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463040"/>
            <a:ext cx="5303520" cy="4937760"/>
          </a:xfrm>
          <a:prstGeom prst="roundRect">
            <a:avLst>
              <a:gd name="adj" fmla="val 926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agen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245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37960" y="6016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agendamiento (paso 1 de 5)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del abono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definió la integración del abono con Webpay Plus (Transbank) para asegurar la reserva.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el medio de pago (débito, crédito o prepago) y su banco emisor.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del abono queda visible antes de confirmar el pago.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transacción se procesa de forma segura a través de Webpay Plus.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abono de $3.000 autorizado la cita queda tomada; se descuenta del servicio.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2356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pago_med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2356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medio de pago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682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5" name="Image 1" descr="/home/claude/avance/build/mock_pago_exi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885" y="1600200"/>
            <a:ext cx="1954530" cy="4343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4682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pago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 como invitado y fidelización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no habitual accede igual, y recibe un incentivo inmediato para registrarse.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como invitado desde la pantalla principal, sin fricción.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160" y="30906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de bienvenida con un beneficio exclusivo por registrarse.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80160" y="3895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clara a crear perfil, o a explorar primero como invitado.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80160" y="47000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beneficio se activa en la primera reserva pagada.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463040"/>
            <a:ext cx="5303520" cy="4937760"/>
          </a:xfrm>
          <a:prstGeom prst="roundRect">
            <a:avLst>
              <a:gd name="adj" fmla="val 926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/home/claude/avance/build/mock_invit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245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37960" y="6016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invitado con pop-up promocional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desarrollo técnico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 MÓVIL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2011680"/>
            <a:ext cx="685800" cy="0"/>
          </a:xfrm>
          <a:prstGeom prst="line">
            <a:avLst/>
          </a:prstGeom>
          <a:noFill/>
          <a:ln w="25400">
            <a:solidFill>
              <a:srgbClr val="13294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11880" y="160020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1188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(BBDD)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2011680"/>
            <a:ext cx="685800" cy="0"/>
          </a:xfrm>
          <a:prstGeom prst="line">
            <a:avLst/>
          </a:prstGeom>
          <a:noFill/>
          <a:ln w="25400">
            <a:solidFill>
              <a:srgbClr val="13294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92240" y="160020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WEBPAY PLUS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(TRANSBANK)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Mantenedor (CRUD)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249424" y="3703320"/>
            <a:ext cx="164592" cy="164592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completo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B5762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(Transacciones)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98464" y="3703320"/>
            <a:ext cx="164592" cy="164592"/>
          </a:xfrm>
          <a:prstGeom prst="ellipse">
            <a:avLst/>
          </a:prstGeom>
          <a:solidFill>
            <a:srgbClr val="B5762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Abono $3.000 parametrizable; API en desarrollo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9AA3A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753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747504" y="3703320"/>
            <a:ext cx="164592" cy="164592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por sucursal y consolidado diseñados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ACTUALES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Yerko Rosales —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(completado para las pantallas mostradas) y gestión del proyecto.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852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Ojeda —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y modelamiento de la base de datos, en curso.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Compromisos logrados y 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6510">
            <a:solidFill>
              <a:srgbClr val="13294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COMPROMISOS LOGRADOS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25880" y="24231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(Propuesta) cerrada: problema, objetivos, arquitectura y alcance validados.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25880" y="33375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en alta fidelidad de 6 pantallas clave: login, registro, agendamiento, pago e invitado.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25880" y="42519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la pasarela de pago a integrar: Webpay Plus (Transbank).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52578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agendamiento de 5 pasos completamente mapeado.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PRÓXIMOS PASOS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24231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web y app a la API con PostgreSQL (desde el 13-10).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4290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33375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flujo de agendamiento y pago con Webpay Plus.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49440" y="42519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«Mis datos», consentimientos y auditoría.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52578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4944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integradas y validación con el/la dueño/a (UAT).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ocurrencia versus impacto en el proyecto, para los riesgos identificados.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16200000">
            <a:off x="320040" y="22174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78308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023360" y="178308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897880" y="178308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2743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274320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023360" y="274320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897880" y="274320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51560" y="37033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370332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023360" y="370332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97880" y="370332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4884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51206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4588" y="200710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4588" y="2007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830068" y="200710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30068" y="2007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79108" y="296722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79108" y="2967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04588" y="392734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04588" y="39273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366760" y="182880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36676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50808" y="178308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adopción por parte de los clientes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50808" y="216712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simple y beneficios visibles desde el primer ingreso.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278892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36676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50808" y="2743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en el módulo de pago del abono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50808" y="312724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exhaustivas de la integración con Webpay Plus.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66760" y="374904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667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50808" y="370332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en la etapa de desarrollo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50808" y="408736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por fase con hitos de control y revisión.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66760" y="470916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3667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50808" y="46634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del personal a usar el sistema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750808" y="504748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breve y panel de gestión simple e intuitivo.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48840" y="5989320"/>
            <a:ext cx="274320" cy="274320"/>
          </a:xfrm>
          <a:prstGeom prst="rect">
            <a:avLst/>
          </a:prstGeom>
          <a:solidFill>
            <a:srgbClr val="5E9E77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51460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bajo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69080" y="5989320"/>
            <a:ext cx="274320" cy="274320"/>
          </a:xfrm>
          <a:prstGeom prst="rect">
            <a:avLst/>
          </a:prstGeom>
          <a:solidFill>
            <a:srgbClr val="E0B03E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43484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medio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89320" y="5989320"/>
            <a:ext cx="274320" cy="27432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35508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1D3A63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1D3A63"/>
          </a:solidFill>
          <a:ln w="1270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ABIERTOS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supuestos de demanda y duración de cada servicio (máx. 60 min).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saldo a favor por cancelación ≥ 24 h (abono de $3.000).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al responsable de cumplimiento de datos personales.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2743200" cy="0"/>
          </a:xfrm>
          <a:prstGeom prst="line">
            <a:avLst/>
          </a:prstGeom>
          <a:noFill/>
          <a:ln w="19050">
            <a:solidFill>
              <a:srgbClr val="5B84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91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PROYECTO BARBERÍA BIG-BOYS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PROBLEMA EN CIFRAS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Clientes que hoy se pierden (día peak)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640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clientes atendidos por día peak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55848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848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clientes se van sin atención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63056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16,7%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3056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de la demanda se pierde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600000"/>
            <a:ext cx="2624328" cy="12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70264" y="1750000"/>
            <a:ext cx="2624328" cy="56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$51,5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0264" y="2287500"/>
            <a:ext cx="2404328" cy="47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de ingreso perdido al año (precio del corte $11.900*)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100000"/>
          <a:ext cx="11094718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993"/>
                <a:gridCol w="1109472"/>
                <a:gridCol w="998524"/>
                <a:gridCol w="1109472"/>
                <a:gridCol w="1442313"/>
                <a:gridCol w="2218944"/>
              </a:tblGrid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Sucursal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Atendidos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 van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pérdida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Perdidos/año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Ingreso perdido/año</a:t>
                      </a:r>
                    </a:p>
                  </a:txBody>
                  <a:tcPr marL="70000" marR="70000" marT="30000" marB="30000">
                    <a:solidFill>
                      <a:srgbClr val="13294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Peñaflor – Sucursal 21 de Mayo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14,6%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1.997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$23.761.920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Peñaflor – Sucursal Alcalde Luis Araya Cereceda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18,9%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1.165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$13.861.120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Subtotal Peñaflor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16,0%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3.162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$37.623.040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Talagante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18,9%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1.165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$13.861.120</a:t>
                      </a:r>
                    </a:p>
                  </a:txBody>
                  <a:tcPr marL="70000" marR="70000" marT="30000" marB="3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Total consolidado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16,7%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4.326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$51.484.160</a:t>
                      </a:r>
                    </a:p>
                  </a:txBody>
                  <a:tcPr marL="70000" marR="70000" marT="30000" marB="30000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150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Nota. Elaboración propia con datos del negocio. *Pérdida valorizada solo con el precio del corte; sensibilidad: $36,0 M (Barba) a $103,0 M (S. Completo). Supuestos: 2 días peak y 4 normales por semana.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IMPACTO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Recuperación de clientes y retorno de la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000"/>
            <a:ext cx="3566160" cy="39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750000"/>
            <a:ext cx="356616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100">
                <a:solidFill>
                  <a:srgbClr val="13294B"/>
                </a:solidFill>
                <a:latin typeface="Calibri"/>
              </a:rPr>
              <a:t>CONSERVADOR (30%)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00000"/>
            <a:ext cx="356616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$15.445.248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0000"/>
            <a:ext cx="356616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ingreso adicional por 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640" y="3250000"/>
            <a:ext cx="3066160" cy="2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1.298 clientes recuperados/año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Beneficio neto: $7.626.052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ROI primer año: 298%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Recuperación: 3,0 meses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600000"/>
            <a:ext cx="3566160" cy="39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12920" y="1750000"/>
            <a:ext cx="356616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100">
                <a:solidFill>
                  <a:srgbClr val="13294B"/>
                </a:solidFill>
                <a:latin typeface="Calibri"/>
              </a:rPr>
              <a:t>MEDIO (50%)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2920" y="2200000"/>
            <a:ext cx="356616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$25.742.080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2920" y="2780000"/>
            <a:ext cx="356616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ingreso adicional por 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920" y="3250000"/>
            <a:ext cx="3066160" cy="2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2.163 clientes recuperados/año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Beneficio neto: $12.787.354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ROI primer año: 567%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Recuperación: 1,8 meses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1600000"/>
            <a:ext cx="3566160" cy="39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77200" y="1750000"/>
            <a:ext cx="3566160" cy="3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100">
                <a:solidFill>
                  <a:srgbClr val="13294B"/>
                </a:solidFill>
                <a:latin typeface="Calibri"/>
              </a:rPr>
              <a:t>OPTIMISTA (70%)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2200000"/>
            <a:ext cx="356616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$36.038.912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2780000"/>
            <a:ext cx="356616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ingreso adicional por 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7200" y="3250000"/>
            <a:ext cx="3066160" cy="2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3.028 clientes recuperados/año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Beneficio neto: $17.948.656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ROI primer año: 836%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2430"/>
                </a:solidFill>
                <a:latin typeface="Calibri"/>
              </a:rPr>
              <a:t>Recuperación: 1,3 meses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00000"/>
            <a:ext cx="11094720" cy="6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Nota. Elaboración propia. Inversión valorizada $1.916.622 (312 h del equipo + dominio). Beneficio = margen de contribución 50% de los clientes recuperados + abonos retenidos − comisiones − operación. Supuestos por validar.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ABONO DE RESERVA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$3.000 que aseguran el cupo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000"/>
            <a:ext cx="5410200" cy="45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0000" y="1750000"/>
            <a:ext cx="50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  <a:latin typeface="Calibri"/>
              </a:rPr>
              <a:t>✓  REGLAS DEL ABONO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250000"/>
            <a:ext cx="4950000" cy="3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Fijo de $3.000 para todos los servicios; se descuenta del valor del servicio.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Sin abono autorizado la cita no queda tomada (15 min para pagar).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Reagendar con ≥ 24 h, hasta 2 veces con el mismo abono.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Anulación &lt; 24 h o no-show: se pierde el abono.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Cancelación del local: devolución del 100%.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Parametrizable por sucursal o servicio (monto o %), sin cambiar el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60" y="1600000"/>
            <a:ext cx="5410200" cy="45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85000" y="1750000"/>
            <a:ext cx="50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E2430"/>
                </a:solidFill>
                <a:latin typeface="Calibri"/>
              </a:rPr>
              <a:t>→  COSTO DE LA PASARELA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0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Nota. Tarifas de Webpay Plus (Transbank, 2026) y Mercado Pago (Digitalízame, 2026); UF del 06-10-2026 (Pauta, 2026).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5000" y="2250000"/>
            <a:ext cx="4950000" cy="3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Webpay débito: $111 por abono (3,7%)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Webpay crédito: $172 por abono (5,7%)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Mercado Pago: $114 por abono (3,8%)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En $3.000 aplica la comisión mínima en UF de Transbank.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No-show esperado ≤ 5% (referencia sin abono: ~15%, supuesto).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No se guardan datos de tarjeta: solo ID y estado.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VALOR AGREGADO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Cumplimiento anticipado Ley N° 21.719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01-12-2026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640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plena vigencia de la Ley N° 21.719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55848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Día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848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el sistema ya cumple, sin adecuaciones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63056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$722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3056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multa máxima evitada (grave, 10.000 UTM)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550000"/>
            <a:ext cx="2624328" cy="115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70264" y="1688000"/>
            <a:ext cx="2624328" cy="5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3294B"/>
                </a:solidFill>
                <a:latin typeface="Cambria"/>
              </a:rPr>
              <a:t>6 derechos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0264" y="2182500"/>
            <a:ext cx="2404328" cy="43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E2430"/>
                </a:solidFill>
                <a:latin typeface="Calibri"/>
              </a:rPr>
              <a:t>en el módulo «Mis datos»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00000"/>
            <a:ext cx="5410200" cy="34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0000" y="3020000"/>
            <a:ext cx="50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3294B"/>
                </a:solidFill>
                <a:latin typeface="Calibri"/>
              </a:rPr>
              <a:t>✓  IMPLEMENTADO EN EL PRODUCTO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00" y="3450000"/>
            <a:ext cx="4950000" cy="2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Consentimiento informado y versionado.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Consentimiento promocional separado y opcional.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«Mis datos»: acceso, rectificación, supresión, oposición, portabilidad y bloqueo (30 días).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Minimización: sin RUT, sin datos sensibles.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TLS, cifrado en reposo, RBAC, auditoría, respaldos.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• Retención automática, brechas y RAT.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160" y="2900000"/>
            <a:ext cx="5410200" cy="34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85000" y="3020000"/>
            <a:ext cx="50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E2430"/>
                </a:solidFill>
                <a:latin typeface="Calibri"/>
              </a:rPr>
              <a:t>→  BENEFICIO PARA LA BARBERÍA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5000" y="3450000"/>
            <a:ext cx="4950000" cy="2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Opera conforme a la nueva ley antes de que sea exigible.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Sin costos futuros de adecuación.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Confianza del cliente: «tus datos protegidos desde el primer día».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Protección de la reputación ante incidentes.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5B6472"/>
                </a:solidFill>
                <a:latin typeface="Calibri"/>
              </a:rPr>
              <a:t>• Proyecto de postergación a 2027: no afecta, el sistema ya cumple.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80000"/>
            <a:ext cx="1109472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Nota. Multas según la Ley N° 21.719 (Ley N° 21.719, 2024), convertidas con la UTM de octubre de 2026, $72.151 (SII, 2026a).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Base de datos relacional y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DIA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000"/>
            <a:ext cx="5650000" cy="41440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000" y="1550000"/>
            <a:ext cx="5243000" cy="470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50000" y="1700000"/>
            <a:ext cx="4800000" cy="4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Web (React) y app Android consumen una única API REST.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PostgreSQL: 26 tablas, FK, restricciones y auditoría inmutable.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La base impide la doble reserva del mismo barbero (validado).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Abono parametrizable en la tabla «configuracion».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Servidor en Santiago: datos en Chile.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Escalamiento futuro: región cloud en Chile (Azure / Google Cloud).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430"/>
                </a:solidFill>
                <a:latin typeface="Calibri"/>
              </a:rPr>
              <a:t>Arquitectura 4+1 completa: 34 diagramas en el DAS v3.0.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3294B"/>
                </a:solidFill>
                <a:latin typeface="Calibri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Cambria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AVANCE DE PROYECTO · PROYECTO BARBERÍA BIG-BOYS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B6472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0000"/>
            <a:ext cx="11094720" cy="4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Amazon. (2025, 7 de mayo). Amazon to invest more than $4 billion to launch infrastructure region in Chile [Comunicado de prensa]. Business Wire. https://www.businesswire.com/news/home/20250507585471/en/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Digitalízame. (2026). Comisiones de Transbank, Mercado Pago y Flow en Chile (2026). https://digitalizame.cl/comisiones-pasarelas-de-pago-chile/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Kruchten, P. B. (1995). The 4+1 view model of architecture. IEEE Software, 12(6), 42–50. https://doi.org/10.1109/52.469759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Ley N° 19.628. (1999, 28 de agosto). Sobre protección de la vida privada. Diario Oficial de la República de Chile. https://www.bcn.cl/leychile/navegar?idNorma=141599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Ley N° 21.719. (2024, 13 de diciembre). Regula la protección y el tratamiento de los datos personales y crea la Agencia de Protección de Datos Personales. Diario Oficial de la República de Chile. https://www.bcn.cl/leychile/navegar?idNorma=1209272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Pauta. (2026, 6 de octubre). Valor UF hoy martes 6 de octubre: revisa su precio en Chile. https://www.pauta.cl/dato-en-pauta/2026/10/06/valor-de-la-uf-hoy-martes-6-de-octubre-revisa-el-precio-de-la-unidad-de-fomento.html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Project Management Institute [PMI]. (2021). A guide to the project management body of knowledge (PMBOK® guide) (7.ª ed.). Project Management Institute.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Servicio de Impuestos Internos [SII]. (2026a). Unidad Tributaria Mensual (UTM) 2026. Recuperado el 6 de octubre de 2026, de https://www.sii.cl/valores_y_fechas/utm/utm2026.htm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Transbank. (2026). ¿Cuánto cobra Webpay por vender por internet? Centro de ayuda. Recuperado el 6 de octubre de 2026, de https://ayuda.transbank.cl/tarifas-vender-webpay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E2430"/>
                </a:solidFill>
                <a:latin typeface="Calibri"/>
              </a:rPr>
              <a:t>V2Networks. (2026). VPS Chile, servidores rápidos con respaldo incluido. Recuperado el 6 de octubre de 2026, de https://v2networks.cl/vps/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2026-09-11T23:43:33Z</dcterms:created>
  <dcterms:modified xsi:type="dcterms:W3CDTF">2026-09-11T23:43:33Z</dcterms:modified>
</cp:coreProperties>
</file>