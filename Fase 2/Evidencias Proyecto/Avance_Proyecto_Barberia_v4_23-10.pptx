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67" r:id="rId3"/>
    <p:sldId id="272" r:id="rId4"/>
    <p:sldId id="264" r:id="rId5"/>
    <p:sldId id="273" r:id="rId6"/>
    <p:sldId id="274" r:id="rId7"/>
    <p:sldId id="275" r:id="rId8"/>
    <p:sldId id="258" r:id="rId9"/>
    <p:sldId id="261" r:id="rId10"/>
    <p:sldId id="262" r:id="rId11"/>
    <p:sldId id="263" r:id="rId12"/>
    <p:sldId id="266" r:id="rId13"/>
    <p:sldId id="268" r:id="rId14"/>
    <p:sldId id="278"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4" d="100"/>
          <a:sy n="64" d="100"/>
        </p:scale>
        <p:origin x="72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00" b="0" i="0" u="none" strike="noStrike">
                <a:solidFill>
                  <a:srgbClr val="1E2430"/>
                </a:solidFill>
                <a:latin typeface="Calibri"/>
              </a:defRPr>
            </a:pPr>
            <a:r>
              <a:rPr lang="es-CL" sz="1200" b="0" i="0" u="none" strike="noStrike">
                <a:solidFill>
                  <a:srgbClr val="1E2430"/>
                </a:solidFill>
                <a:latin typeface="Calibri"/>
              </a:rPr>
              <a:t>Ingreso perdido al año por sucursal (MM$)</a:t>
            </a:r>
          </a:p>
        </c:rich>
      </c:tx>
      <c:overlay val="0"/>
    </c:title>
    <c:autoTitleDeleted val="0"/>
    <c:plotArea>
      <c:layout/>
      <c:barChart>
        <c:barDir val="bar"/>
        <c:grouping val="clustered"/>
        <c:varyColors val="0"/>
        <c:ser>
          <c:idx val="0"/>
          <c:order val="0"/>
          <c:tx>
            <c:strRef>
              <c:f>Sheet1!$B$1</c:f>
              <c:strCache>
                <c:ptCount val="1"/>
                <c:pt idx="0">
                  <c:v>Ingreso perdido al año (MM$)</c:v>
                </c:pt>
              </c:strCache>
            </c:strRef>
          </c:tx>
          <c:spPr>
            <a:solidFill>
              <a:srgbClr val="13294B"/>
            </a:solidFill>
            <a:effectLst/>
          </c:spPr>
          <c:invertIfNegative val="0"/>
          <c:dLbls>
            <c:numFmt formatCode="0.0" sourceLinked="0"/>
            <c:spPr>
              <a:noFill/>
              <a:ln>
                <a:noFill/>
              </a:ln>
              <a:effectLst/>
            </c:spPr>
            <c:txPr>
              <a:bodyPr/>
              <a:lstStyle/>
              <a:p>
                <a:pPr>
                  <a:defRPr sz="1100" b="0" i="0" u="none" strike="noStrike">
                    <a:solidFill>
                      <a:srgbClr val="1E2430"/>
                    </a:solidFill>
                    <a:latin typeface="Calibri"/>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21 de Mayo</c:v>
                </c:pt>
                <c:pt idx="1">
                  <c:v>Alcalde L. Araya</c:v>
                </c:pt>
                <c:pt idx="2">
                  <c:v>Talagante</c:v>
                </c:pt>
              </c:strCache>
            </c:strRef>
          </c:cat>
          <c:val>
            <c:numRef>
              <c:f>Sheet1!$B$2:$B$4</c:f>
              <c:numCache>
                <c:formatCode>General</c:formatCode>
                <c:ptCount val="3"/>
                <c:pt idx="0">
                  <c:v>23.76</c:v>
                </c:pt>
                <c:pt idx="1">
                  <c:v>13.86</c:v>
                </c:pt>
                <c:pt idx="2">
                  <c:v>13.86</c:v>
                </c:pt>
              </c:numCache>
            </c:numRef>
          </c:val>
          <c:extLst>
            <c:ext xmlns:c16="http://schemas.microsoft.com/office/drawing/2014/chart" uri="{C3380CC4-5D6E-409C-BE32-E72D297353CC}">
              <c16:uniqueId val="{00000000-4BE4-4354-8484-0102098964FF}"/>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4515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Presentamos el avance del Proyecto Barbería Big-Boys al 23 de octubre, semana 11 de 14. Esta entrega corresponde a la fase de diseño y al inicio del desarrollo, con metodología tradicional (cascada). Mostraremos la arquitectura 4+1 con énfasis en los casos de uso, el modelo entidad-relación y el prototipo, y la evidencia del desarrollo en GitHub.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Los indicadores clave. Hoy, en un día peak, se atienden 130 clientes y se van 26, el 16,7%: son 4.326 clientes y $51,5 millones al año. La casa matriz concentra casi la mitad de la pérdida. Con la reserva online y el abono, en un escenario medio recuperamos 2.163 clientes al año, $25,7 millones de ingreso bruto, con un ROI de 567% el primer año. Estos supuestos se validarán con datos reales de operación.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La solución es una plataforma web y una app Android que comparten la misma base de datos. No reemplaza la atención por orden de llegada: la complementa. El cliente que quiere asegurar su hora reserva en cinco pasos y paga un abono de 3.000 pesos que se descuenta del servicio. El barbero consulta su agenda y sus montos sin anotar a mano. El cajero o la cajera registra la atención, el monto y el medio de pago. Y la administración ve indicadores por sucursal en vez de una planilla Excel. La fila por orden de llegada y las cuentas del personal se completan en la semana 12.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El prototipo es funcional. La web, en React, ya trabaja con la base de datos real: muestra el inicio del cliente, la reserva en 5 pasos y las sucursales reales con su mapa. La app Android, en Kotlin con Jetpack Compose, usa la misma API. Si hay tiempo, mostramos una reserva en vivo con la cuenta de prueba.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min) ¿Por qué conviene? La inversión es de 1,92 millones: las 312 horas del equipo valorizadas más el dominio. La operación cuesta unos 20.700 pesos al mes, y la comisión de Webpay, unos 135 pesos por abono, queda cubierta por los abonos que se retienen cuando un cliente no llega. El ROI es el beneficio neto anual menos la inversión, dividido por la inversión. Con el 50% de recuperación de clientes da 567% y la inversión se recupera en 1,8 meses. Pero quiero ser transparente: los datos de demanda y precios son reales del negocio; la recuperación, el margen, la adopción y el no-show son supuestos. Por eso mostramos tres escenarios, y aun el conservador, con 30%, da un ROI de 298% y recupera la inversión en tres meses. Esos supuestos se reemplazan por datos reales del propio sistema.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Un sistema de reservas maneja datos personales, y la Ley 21.719 entra en vigencia el 1 de diciembre. Por eso lo diseñamos para cumplirla desde el inicio. La base de datos impide reservas duplicadas. El pago se hace en Webpay y no guardamos RUT ni datos de tarjeta. Las tablas están cerradas al acceso público y todo pasa por la API, con contraseñas cifradas y auditoría. Y el cliente tiene consentimiento informado y una sección para ejercer sus derechos. El valor para el negocio es evitar multas que van de 5.000 a 20.000 UTM, entre 361 millones y 1.443 millones de pesos.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Usamos la metodología tradicional en cascada, con control de proyecto según la guía PMBOK. Las fases son inicio y planificación, diseño, desarrollo, pruebas, despliegue y presentación final. Es pertinente porque los requisitos se obtuvieron del negocio desde el inicio, los plazos del curso son fijos por fase y cerrar el diseño antes de programar reduce el retrabajo. El control se hace con nueve hitos, un registro formal de cambios, con 21 solicitudes, un plan de riesgos con 17 riesgos y un roadmap que se actualiza cada semana.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Este es el roadmap completo, desde la semana 1. No es un documento cerrado: lo actualizamos cada semana, y esta es la versión al 23 de octubre. En verde lo realizado: planificación, diseño, prototipos y la base de datos en PostgreSQL. En amarillo lo de esta semana: la API y esta presentación. En azul lo planificado: Webpay, la fila por orden de llegada, «Mis datos» y las cuentas del personal; luego las pruebas, el paso al ambiente UAT el 10 de noviembre, la entrega y la defensa.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arquitectura sigue el modelo 4+1. La vista lógica muestra el dominio; la de procesos, las secuencias de reserva con abono y de atención; la de desarrollo, los componentes; y la física, el despliegue, que actualizamos esta semana: la API REST y la base de datos están en Supabase. La quinta vista, la de escenarios, son los casos de uso, que vemos a continuación.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Este es el foco de la evaluación. Tenemos 41 casos de uso en 7 módulos, cada uno especificado con flujos y reglas. Los actores son cliente, invitado, barbero, cajero de sucursal y administración, más la pasarela de pago y el sistema de notificaciones. Hoy 10 casos ya funcionan sobre la base de datos real, principalmente el flujo central de reserva: registro, acceso, invitado, catálogo, agendamiento, reprogramación y cancelación.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El modelo tiene 27 tablas y 239 campos en tercera forma normal. La base impide reservas traslapadas para un mismo barbero, deja el abono de $3.000 como parámetro y cumple la Ley 21.719 desde el diseño: no guarda RUT ni datos de tarjeta, y registra consentimientos y auditoría. El script se valida con 24 pruebas automáticas, todas aprobadas.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Así funciona hoy. La web y la app llaman a una API publicada en Supabase; nunca leen las tablas directamente. Son 13 operaciones porque cubren exactamente lo que el sistema ya hace: 3 de catálogo (sucursales, servicios y barberos), 5 de cuenta (verificar correo, iniciar sesión, registrarse, actualizar perfil y suprimir la cuenta), 3 de reservas (listar, crear y actualizar, que incluye reagendar y anular) y 2 de reseñas (listar y crear). En S12 se suman las de Webpay, la fila, «Mis datos» y las cuentas del personal. Las reglas del negocio las valida la base de datos: el abono, el reagendamiento con 24 horas y máximo dos veces, y que no se repitan horarios. Todas las pruebas pasaron: 24 de la base de datos, 17 de la API, la web de punta a punta, y la app compila.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 La matriz de 3 por 3 muestra solo los riesgos actuales y los que pueden presentarse hasta el cierre del proyecto. Hay tres en nivel alto: el atraso de la integración, que es la ruta crítica de la semana 12; la integración con Webpay; y la seguridad de las credenciales. En nivel medio están la ventana corta para el paso al ambiente UAT, la app que aún no se prueba en un teléfono real, las notificaciones por correo, la continuidad de la base de datos y la disponibilidad del equipo. Los riesgos propios de la operación posterior, como la adopción o la comisión de la pasarela, quedan fuera de esta matriz.</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 Para cerrar, tres razones para adoptar la plataforma. Primero, recupera clientes que hoy se pierden: incluso recuperando solo el 30%, el ROI es de 298% y la inversión se recupera en tres meses. Segundo, ordena la operación: reservas sin duplicados, menos inasistencias y cada atención registrada. Y tercero, es de bajo riesgo: la inversión es pequeña, la operación cuesta unos 20 mil pesos al mes y cumple la ley de datos personales desde el diseño. El siguiente paso es el sistema integrado el 30 de octubre y el paso al ambiente UAT el 10 de noviembre, donde mediremos los indicadores reales.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Quedan abiertos tres temas: validar los supuestos con datos reales, cargar la nómina real de barberos y aprobar la fase de despliegue. Gracias; quedamos atentos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457200" y="6492240"/>
            <a:ext cx="6400800" cy="274320"/>
          </a:xfrm>
          <a:prstGeom prst="rect">
            <a:avLst/>
          </a:prstGeom>
          <a:noFill/>
          <a:ln/>
        </p:spPr>
        <p:txBody>
          <a:bodyPr wrap="square"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AVANCE DE PROYECTO · PROYECTO BARBERÍA BIG-BOYS</a:t>
            </a:r>
            <a:endParaRPr lang="en-US" sz="9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A">
    <p:bg>
      <p:bgPr>
        <a:solidFill>
          <a:srgbClr val="13294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869680" y="0"/>
            <a:ext cx="3322015" cy="6858000"/>
          </a:xfrm>
          <a:prstGeom prst="rect">
            <a:avLst/>
          </a:prstGeom>
          <a:solidFill>
            <a:srgbClr val="1D3A63"/>
          </a:solidFill>
          <a:ln w="12700">
            <a:solidFill>
              <a:srgbClr val="1D3A63"/>
            </a:solidFill>
            <a:prstDash val="solid"/>
          </a:ln>
        </p:spPr>
        <p:txBody>
          <a:bodyPr/>
          <a:lstStyle/>
          <a:p>
            <a:endParaRPr lang="es-CL"/>
          </a:p>
        </p:txBody>
      </p:sp>
      <p:sp>
        <p:nvSpPr>
          <p:cNvPr id="3" name="Shape 1"/>
          <p:cNvSpPr/>
          <p:nvPr/>
        </p:nvSpPr>
        <p:spPr>
          <a:xfrm>
            <a:off x="9418320" y="1005840"/>
            <a:ext cx="2194560" cy="2194560"/>
          </a:xfrm>
          <a:prstGeom prst="ellipse">
            <a:avLst/>
          </a:prstGeom>
          <a:solidFill>
            <a:srgbClr val="234670"/>
          </a:solidFill>
          <a:ln w="12700">
            <a:solidFill>
              <a:srgbClr val="5B84B8"/>
            </a:solidFill>
            <a:prstDash val="solid"/>
          </a:ln>
        </p:spPr>
        <p:txBody>
          <a:bodyPr/>
          <a:lstStyle/>
          <a:p>
            <a:endParaRPr lang="es-CL"/>
          </a:p>
        </p:txBody>
      </p:sp>
      <p:sp>
        <p:nvSpPr>
          <p:cNvPr id="4" name="Shape 2"/>
          <p:cNvSpPr/>
          <p:nvPr/>
        </p:nvSpPr>
        <p:spPr>
          <a:xfrm>
            <a:off x="9966960" y="3657600"/>
            <a:ext cx="1371600" cy="1371600"/>
          </a:xfrm>
          <a:prstGeom prst="ellipse">
            <a:avLst/>
          </a:prstGeom>
          <a:solidFill>
            <a:srgbClr val="234670"/>
          </a:solidFill>
          <a:ln w="12700">
            <a:solidFill>
              <a:srgbClr val="5B84B8"/>
            </a:solidFill>
            <a:prstDash val="solid"/>
          </a:ln>
        </p:spPr>
        <p:txBody>
          <a:bodyPr/>
          <a:lstStyle/>
          <a:p>
            <a:endParaRPr lang="es-CL"/>
          </a:p>
        </p:txBody>
      </p:sp>
      <p:sp>
        <p:nvSpPr>
          <p:cNvPr id="5" name="Shape 3"/>
          <p:cNvSpPr/>
          <p:nvPr/>
        </p:nvSpPr>
        <p:spPr>
          <a:xfrm>
            <a:off x="9052560" y="5120640"/>
            <a:ext cx="731520" cy="731520"/>
          </a:xfrm>
          <a:prstGeom prst="ellipse">
            <a:avLst/>
          </a:prstGeom>
          <a:solidFill>
            <a:srgbClr val="234670"/>
          </a:solidFill>
          <a:ln w="12700">
            <a:solidFill>
              <a:srgbClr val="5B84B8"/>
            </a:solidFill>
            <a:prstDash val="solid"/>
          </a:ln>
        </p:spPr>
        <p:txBody>
          <a:bodyPr/>
          <a:lstStyle/>
          <a:p>
            <a:endParaRPr lang="es-CL"/>
          </a:p>
        </p:txBody>
      </p:sp>
      <p:sp>
        <p:nvSpPr>
          <p:cNvPr id="6" name="Text 4"/>
          <p:cNvSpPr txBox="1"/>
          <p:nvPr/>
        </p:nvSpPr>
        <p:spPr>
          <a:xfrm>
            <a:off x="640080" y="1600200"/>
            <a:ext cx="7772400" cy="365760"/>
          </a:xfrm>
          <a:prstGeom prst="rect">
            <a:avLst/>
          </a:prstGeom>
          <a:noFill/>
          <a:ln/>
        </p:spPr>
        <p:txBody>
          <a:bodyPr wrap="square" lIns="0" tIns="0" rIns="0" bIns="0" rtlCol="0" anchor="ctr"/>
          <a:lstStyle/>
          <a:p>
            <a:pPr marL="0" indent="0">
              <a:buNone/>
            </a:pPr>
            <a:r>
              <a:rPr lang="en-US" sz="1400" kern="0" spc="400" dirty="0">
                <a:solidFill>
                  <a:srgbClr val="8FB2DE"/>
                </a:solidFill>
                <a:latin typeface="Calibri" pitchFamily="34" charset="0"/>
                <a:ea typeface="Calibri" pitchFamily="34" charset="-122"/>
                <a:cs typeface="Calibri" pitchFamily="34" charset="-120"/>
              </a:rPr>
              <a:t>AVANCE DE PROYECTO · CAPSTONE</a:t>
            </a:r>
            <a:endParaRPr lang="en-US" sz="1400" dirty="0"/>
          </a:p>
        </p:txBody>
      </p:sp>
      <p:sp>
        <p:nvSpPr>
          <p:cNvPr id="7" name="Text 5"/>
          <p:cNvSpPr txBox="1"/>
          <p:nvPr/>
        </p:nvSpPr>
        <p:spPr>
          <a:xfrm>
            <a:off x="640080" y="1965960"/>
            <a:ext cx="7955280" cy="146304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Plataforma Web y App Móvil · Proyecto Barbería Big-Boys</a:t>
            </a:r>
            <a:endParaRPr lang="en-US" sz="3600" dirty="0"/>
          </a:p>
        </p:txBody>
      </p:sp>
      <p:sp>
        <p:nvSpPr>
          <p:cNvPr id="8" name="Text 6"/>
          <p:cNvSpPr txBox="1"/>
          <p:nvPr/>
        </p:nvSpPr>
        <p:spPr>
          <a:xfrm>
            <a:off x="640080" y="3520440"/>
            <a:ext cx="7863840" cy="457200"/>
          </a:xfrm>
          <a:prstGeom prst="rect">
            <a:avLst/>
          </a:prstGeom>
          <a:noFill/>
          <a:ln/>
        </p:spPr>
        <p:txBody>
          <a:bodyPr wrap="square" lIns="0" tIns="0" rIns="0" bIns="0" rtlCol="0" anchor="ctr"/>
          <a:lstStyle/>
          <a:p>
            <a:pPr marL="0" indent="0">
              <a:buNone/>
            </a:pPr>
            <a:r>
              <a:rPr lang="en-US" sz="1500" i="1" dirty="0">
                <a:solidFill>
                  <a:srgbClr val="C3D3E8"/>
                </a:solidFill>
                <a:latin typeface="Calibri" pitchFamily="34" charset="0"/>
                <a:ea typeface="Calibri" pitchFamily="34" charset="-122"/>
                <a:cs typeface="Calibri" pitchFamily="34" charset="-120"/>
              </a:rPr>
              <a:t>Propuesta de valor y avance de la Fase 2 · 23 de octubre de 2026 · semana S11 de S14</a:t>
            </a:r>
            <a:endParaRPr lang="en-US" sz="1500" dirty="0"/>
          </a:p>
        </p:txBody>
      </p:sp>
      <p:sp>
        <p:nvSpPr>
          <p:cNvPr id="9" name="Shape 7"/>
          <p:cNvSpPr/>
          <p:nvPr/>
        </p:nvSpPr>
        <p:spPr>
          <a:xfrm>
            <a:off x="658368" y="4343400"/>
            <a:ext cx="2926080" cy="0"/>
          </a:xfrm>
          <a:prstGeom prst="line">
            <a:avLst/>
          </a:prstGeom>
          <a:noFill/>
          <a:ln w="12700">
            <a:solidFill>
              <a:srgbClr val="5B84B8"/>
            </a:solidFill>
            <a:prstDash val="solid"/>
          </a:ln>
        </p:spPr>
        <p:txBody>
          <a:bodyPr/>
          <a:lstStyle/>
          <a:p>
            <a:endParaRPr lang="es-CL"/>
          </a:p>
        </p:txBody>
      </p:sp>
      <p:sp>
        <p:nvSpPr>
          <p:cNvPr id="10" name="Text 8"/>
          <p:cNvSpPr txBox="1"/>
          <p:nvPr/>
        </p:nvSpPr>
        <p:spPr>
          <a:xfrm>
            <a:off x="640080" y="4526280"/>
            <a:ext cx="8046720" cy="310896"/>
          </a:xfrm>
          <a:prstGeom prst="rect">
            <a:avLst/>
          </a:prstGeom>
          <a:noFill/>
          <a:ln/>
        </p:spPr>
        <p:txBody>
          <a:bodyPr wrap="square" lIns="0" tIns="0" rIns="0" bIns="0" rtlCol="0" anchor="ctr"/>
          <a:lstStyle/>
          <a:p>
            <a:pPr marL="0" indent="0">
              <a:buNone/>
            </a:pPr>
            <a:r>
              <a:rPr lang="en-US" sz="1300" b="1" dirty="0">
                <a:solidFill>
                  <a:srgbClr val="8FB2DE"/>
                </a:solidFill>
                <a:latin typeface="Calibri" pitchFamily="34" charset="0"/>
                <a:ea typeface="Calibri" pitchFamily="34" charset="-122"/>
                <a:cs typeface="Calibri" pitchFamily="34" charset="-120"/>
              </a:rPr>
              <a:t>Equipo:  </a:t>
            </a:r>
            <a:r>
              <a:rPr lang="en-US" sz="1300" dirty="0">
                <a:solidFill>
                  <a:srgbClr val="C3D3E8"/>
                </a:solidFill>
                <a:latin typeface="Calibri" pitchFamily="34" charset="0"/>
                <a:ea typeface="Calibri" pitchFamily="34" charset="-122"/>
                <a:cs typeface="Calibri" pitchFamily="34" charset="-120"/>
              </a:rPr>
              <a:t>Yerko Rosales (Jefe de Proyecto) · Jonathan Ojeda (Backend y Base de Datos)</a:t>
            </a:r>
            <a:endParaRPr lang="en-US" sz="1300" dirty="0"/>
          </a:p>
        </p:txBody>
      </p:sp>
      <p:sp>
        <p:nvSpPr>
          <p:cNvPr id="11" name="Text 9"/>
          <p:cNvSpPr txBox="1"/>
          <p:nvPr/>
        </p:nvSpPr>
        <p:spPr>
          <a:xfrm>
            <a:off x="640080" y="4855464"/>
            <a:ext cx="8046720" cy="310896"/>
          </a:xfrm>
          <a:prstGeom prst="rect">
            <a:avLst/>
          </a:prstGeom>
          <a:noFill/>
          <a:ln/>
        </p:spPr>
        <p:txBody>
          <a:bodyPr wrap="square" lIns="0" tIns="0" rIns="0" bIns="0" rtlCol="0" anchor="ctr"/>
          <a:lstStyle/>
          <a:p>
            <a:pPr marL="0" indent="0">
              <a:buNone/>
            </a:pPr>
            <a:r>
              <a:rPr lang="en-US" sz="1300" b="1" dirty="0">
                <a:solidFill>
                  <a:srgbClr val="8FB2DE"/>
                </a:solidFill>
                <a:latin typeface="Calibri" pitchFamily="34" charset="0"/>
                <a:ea typeface="Calibri" pitchFamily="34" charset="-122"/>
                <a:cs typeface="Calibri" pitchFamily="34" charset="-120"/>
              </a:rPr>
              <a:t>Curso / Sección / Profesor:  </a:t>
            </a:r>
            <a:r>
              <a:rPr lang="en-US" sz="1300" dirty="0">
                <a:solidFill>
                  <a:srgbClr val="C3D3E8"/>
                </a:solidFill>
                <a:latin typeface="Calibri" pitchFamily="34" charset="0"/>
                <a:ea typeface="Calibri" pitchFamily="34" charset="-122"/>
                <a:cs typeface="Calibri" pitchFamily="34" charset="-120"/>
              </a:rPr>
              <a:t>PTY4614 Capstone · CAPSTONE_011V · Fernando Herrera</a:t>
            </a:r>
            <a:endParaRPr lang="en-US" sz="1300" dirty="0"/>
          </a:p>
        </p:txBody>
      </p:sp>
      <p:sp>
        <p:nvSpPr>
          <p:cNvPr id="12" name="Text 10"/>
          <p:cNvSpPr txBox="1"/>
          <p:nvPr/>
        </p:nvSpPr>
        <p:spPr>
          <a:xfrm>
            <a:off x="640080" y="5184648"/>
            <a:ext cx="8046720" cy="310896"/>
          </a:xfrm>
          <a:prstGeom prst="rect">
            <a:avLst/>
          </a:prstGeom>
          <a:noFill/>
          <a:ln/>
        </p:spPr>
        <p:txBody>
          <a:bodyPr wrap="square" lIns="0" tIns="0" rIns="0" bIns="0" rtlCol="0" anchor="ctr"/>
          <a:lstStyle/>
          <a:p>
            <a:pPr marL="0" indent="0">
              <a:buNone/>
            </a:pPr>
            <a:r>
              <a:rPr lang="en-US" sz="1300" b="1" dirty="0">
                <a:solidFill>
                  <a:srgbClr val="8FB2DE"/>
                </a:solidFill>
                <a:latin typeface="Calibri" pitchFamily="34" charset="0"/>
                <a:ea typeface="Calibri" pitchFamily="34" charset="-122"/>
                <a:cs typeface="Calibri" pitchFamily="34" charset="-120"/>
              </a:rPr>
              <a:t>Metodología:  </a:t>
            </a:r>
            <a:r>
              <a:rPr lang="en-US" sz="1300" dirty="0">
                <a:solidFill>
                  <a:srgbClr val="C3D3E8"/>
                </a:solidFill>
                <a:latin typeface="Calibri" pitchFamily="34" charset="0"/>
                <a:ea typeface="Calibri" pitchFamily="34" charset="-122"/>
                <a:cs typeface="Calibri" pitchFamily="34" charset="-120"/>
              </a:rPr>
              <a:t>Tradicional (</a:t>
            </a:r>
            <a:r>
              <a:rPr lang="en-US" sz="1300" dirty="0" err="1">
                <a:solidFill>
                  <a:srgbClr val="C3D3E8"/>
                </a:solidFill>
                <a:latin typeface="Calibri" pitchFamily="34" charset="0"/>
                <a:ea typeface="Calibri" pitchFamily="34" charset="-122"/>
                <a:cs typeface="Calibri" pitchFamily="34" charset="-120"/>
              </a:rPr>
              <a:t>cascada</a:t>
            </a:r>
            <a:r>
              <a:rPr lang="en-US" sz="1300" dirty="0">
                <a:solidFill>
                  <a:srgbClr val="C3D3E8"/>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INDICADORES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KPI más relevantes: el problema y el impacto esperado</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Línea base del día peak entregada por el negocio; proyección con supuestos por validar (libro KPIs y Costos).</a:t>
            </a:r>
            <a:endParaRPr lang="en-US" sz="1250" dirty="0"/>
          </a:p>
        </p:txBody>
      </p:sp>
      <p:sp>
        <p:nvSpPr>
          <p:cNvPr id="5" name="Shape 3"/>
          <p:cNvSpPr/>
          <p:nvPr/>
        </p:nvSpPr>
        <p:spPr>
          <a:xfrm>
            <a:off x="548640"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40080" y="1892808"/>
            <a:ext cx="2441448" cy="570586"/>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130</a:t>
            </a:r>
            <a:endParaRPr lang="en-US" sz="2600" dirty="0"/>
          </a:p>
        </p:txBody>
      </p:sp>
      <p:sp>
        <p:nvSpPr>
          <p:cNvPr id="7" name="Text 5"/>
          <p:cNvSpPr txBox="1"/>
          <p:nvPr/>
        </p:nvSpPr>
        <p:spPr>
          <a:xfrm>
            <a:off x="685800"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clientes atendidos en un día peak (3 sucursales)</a:t>
            </a:r>
            <a:endParaRPr lang="en-US" sz="1150" dirty="0"/>
          </a:p>
        </p:txBody>
      </p:sp>
      <p:sp>
        <p:nvSpPr>
          <p:cNvPr id="8" name="Shape 6"/>
          <p:cNvSpPr/>
          <p:nvPr/>
        </p:nvSpPr>
        <p:spPr>
          <a:xfrm>
            <a:off x="3355848"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9" name="Text 7"/>
          <p:cNvSpPr txBox="1"/>
          <p:nvPr/>
        </p:nvSpPr>
        <p:spPr>
          <a:xfrm>
            <a:off x="3447288" y="1892808"/>
            <a:ext cx="2441448" cy="570586"/>
          </a:xfrm>
          <a:prstGeom prst="rect">
            <a:avLst/>
          </a:prstGeom>
          <a:noFill/>
          <a:ln/>
        </p:spPr>
        <p:txBody>
          <a:bodyPr wrap="square" lIns="0" tIns="0" rIns="0" bIns="0" rtlCol="0" anchor="ctr"/>
          <a:lstStyle/>
          <a:p>
            <a:pPr marL="0" indent="0" algn="ctr">
              <a:buNone/>
            </a:pPr>
            <a:r>
              <a:rPr lang="en-US" sz="2600" b="1" dirty="0">
                <a:solidFill>
                  <a:srgbClr val="B83A3A"/>
                </a:solidFill>
                <a:latin typeface="Cambria" pitchFamily="34" charset="0"/>
                <a:ea typeface="Cambria" pitchFamily="34" charset="-122"/>
                <a:cs typeface="Cambria" pitchFamily="34" charset="-120"/>
              </a:rPr>
              <a:t>16,7%</a:t>
            </a:r>
            <a:endParaRPr lang="en-US" sz="2600" dirty="0"/>
          </a:p>
        </p:txBody>
      </p:sp>
      <p:sp>
        <p:nvSpPr>
          <p:cNvPr id="10" name="Text 8"/>
          <p:cNvSpPr txBox="1"/>
          <p:nvPr/>
        </p:nvSpPr>
        <p:spPr>
          <a:xfrm>
            <a:off x="3493008"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se van sin atención: 26 clientes por día peak</a:t>
            </a:r>
            <a:endParaRPr lang="en-US" sz="1150" dirty="0"/>
          </a:p>
        </p:txBody>
      </p:sp>
      <p:sp>
        <p:nvSpPr>
          <p:cNvPr id="11" name="Shape 9"/>
          <p:cNvSpPr/>
          <p:nvPr/>
        </p:nvSpPr>
        <p:spPr>
          <a:xfrm>
            <a:off x="6163056"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12" name="Text 10"/>
          <p:cNvSpPr txBox="1"/>
          <p:nvPr/>
        </p:nvSpPr>
        <p:spPr>
          <a:xfrm>
            <a:off x="6254496" y="1892808"/>
            <a:ext cx="2441448" cy="570586"/>
          </a:xfrm>
          <a:prstGeom prst="rect">
            <a:avLst/>
          </a:prstGeom>
          <a:noFill/>
          <a:ln/>
        </p:spPr>
        <p:txBody>
          <a:bodyPr wrap="square" lIns="0" tIns="0" rIns="0" bIns="0" rtlCol="0" anchor="ctr"/>
          <a:lstStyle/>
          <a:p>
            <a:pPr marL="0" indent="0" algn="ctr">
              <a:buNone/>
            </a:pPr>
            <a:r>
              <a:rPr lang="en-US" sz="2600" b="1" dirty="0">
                <a:solidFill>
                  <a:srgbClr val="B83A3A"/>
                </a:solidFill>
                <a:latin typeface="Cambria" pitchFamily="34" charset="0"/>
                <a:ea typeface="Cambria" pitchFamily="34" charset="-122"/>
                <a:cs typeface="Cambria" pitchFamily="34" charset="-120"/>
              </a:rPr>
              <a:t>4.326</a:t>
            </a:r>
            <a:endParaRPr lang="en-US" sz="2600" dirty="0"/>
          </a:p>
        </p:txBody>
      </p:sp>
      <p:sp>
        <p:nvSpPr>
          <p:cNvPr id="13" name="Text 11"/>
          <p:cNvSpPr txBox="1"/>
          <p:nvPr/>
        </p:nvSpPr>
        <p:spPr>
          <a:xfrm>
            <a:off x="6300216"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clientes perdidos al año</a:t>
            </a:r>
            <a:endParaRPr lang="en-US" sz="1150" dirty="0"/>
          </a:p>
        </p:txBody>
      </p:sp>
      <p:sp>
        <p:nvSpPr>
          <p:cNvPr id="14" name="Shape 12"/>
          <p:cNvSpPr/>
          <p:nvPr/>
        </p:nvSpPr>
        <p:spPr>
          <a:xfrm>
            <a:off x="8970264"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15" name="Text 13"/>
          <p:cNvSpPr txBox="1"/>
          <p:nvPr/>
        </p:nvSpPr>
        <p:spPr>
          <a:xfrm>
            <a:off x="9061704" y="1892808"/>
            <a:ext cx="2441448" cy="570586"/>
          </a:xfrm>
          <a:prstGeom prst="rect">
            <a:avLst/>
          </a:prstGeom>
          <a:noFill/>
          <a:ln/>
        </p:spPr>
        <p:txBody>
          <a:bodyPr wrap="square" lIns="0" tIns="0" rIns="0" bIns="0" rtlCol="0" anchor="ctr"/>
          <a:lstStyle/>
          <a:p>
            <a:pPr marL="0" indent="0" algn="ctr">
              <a:buNone/>
            </a:pPr>
            <a:r>
              <a:rPr lang="en-US" sz="2600" b="1" dirty="0">
                <a:solidFill>
                  <a:srgbClr val="B83A3A"/>
                </a:solidFill>
                <a:latin typeface="Cambria" pitchFamily="34" charset="0"/>
                <a:ea typeface="Cambria" pitchFamily="34" charset="-122"/>
                <a:cs typeface="Cambria" pitchFamily="34" charset="-120"/>
              </a:rPr>
              <a:t>$51,5 M</a:t>
            </a:r>
            <a:endParaRPr lang="en-US" sz="2600" dirty="0"/>
          </a:p>
        </p:txBody>
      </p:sp>
      <p:sp>
        <p:nvSpPr>
          <p:cNvPr id="16" name="Text 14"/>
          <p:cNvSpPr txBox="1"/>
          <p:nvPr/>
        </p:nvSpPr>
        <p:spPr>
          <a:xfrm>
            <a:off x="9107424"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ingreso perdido al año (precio del corte, $11.900)</a:t>
            </a:r>
            <a:endParaRPr lang="en-US" sz="1150" dirty="0"/>
          </a:p>
        </p:txBody>
      </p:sp>
      <p:sp>
        <p:nvSpPr>
          <p:cNvPr id="17" name="Shape 15"/>
          <p:cNvSpPr/>
          <p:nvPr/>
        </p:nvSpPr>
        <p:spPr>
          <a:xfrm>
            <a:off x="548640" y="3154680"/>
            <a:ext cx="5760720" cy="3063240"/>
          </a:xfrm>
          <a:prstGeom prst="rect">
            <a:avLst/>
          </a:prstGeom>
          <a:solidFill>
            <a:srgbClr val="FFFFFF"/>
          </a:solidFill>
          <a:ln w="9525">
            <a:solidFill>
              <a:srgbClr val="D7DCE3"/>
            </a:solidFill>
            <a:prstDash val="solid"/>
          </a:ln>
        </p:spPr>
        <p:txBody>
          <a:bodyPr/>
          <a:lstStyle/>
          <a:p>
            <a:endParaRPr lang="es-CL"/>
          </a:p>
        </p:txBody>
      </p:sp>
      <p:graphicFrame>
        <p:nvGraphicFramePr>
          <p:cNvPr id="18" name="Chart 0"/>
          <p:cNvGraphicFramePr/>
          <p:nvPr/>
        </p:nvGraphicFramePr>
        <p:xfrm>
          <a:off x="685800" y="3200400"/>
          <a:ext cx="548640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19" name="Shape 16"/>
          <p:cNvSpPr/>
          <p:nvPr/>
        </p:nvSpPr>
        <p:spPr>
          <a:xfrm>
            <a:off x="6537960" y="3154680"/>
            <a:ext cx="5074920" cy="3063240"/>
          </a:xfrm>
          <a:prstGeom prst="rect">
            <a:avLst/>
          </a:prstGeom>
          <a:solidFill>
            <a:srgbClr val="EEF1F5"/>
          </a:solidFill>
          <a:ln w="9525">
            <a:solidFill>
              <a:srgbClr val="D7DCE3"/>
            </a:solidFill>
            <a:prstDash val="solid"/>
          </a:ln>
        </p:spPr>
        <p:txBody>
          <a:bodyPr/>
          <a:lstStyle/>
          <a:p>
            <a:endParaRPr lang="es-CL"/>
          </a:p>
        </p:txBody>
      </p:sp>
      <p:sp>
        <p:nvSpPr>
          <p:cNvPr id="20" name="Text 17"/>
          <p:cNvSpPr txBox="1"/>
          <p:nvPr/>
        </p:nvSpPr>
        <p:spPr>
          <a:xfrm>
            <a:off x="6720840" y="3246120"/>
            <a:ext cx="475488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Impacto esperado (escenario medio)</a:t>
            </a:r>
            <a:endParaRPr lang="en-US" sz="1400" dirty="0"/>
          </a:p>
        </p:txBody>
      </p:sp>
      <p:sp>
        <p:nvSpPr>
          <p:cNvPr id="21" name="Text 18"/>
          <p:cNvSpPr txBox="1"/>
          <p:nvPr/>
        </p:nvSpPr>
        <p:spPr>
          <a:xfrm>
            <a:off x="6720840" y="3703320"/>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2.163</a:t>
            </a:r>
            <a:endParaRPr lang="en-US" sz="1700" dirty="0"/>
          </a:p>
        </p:txBody>
      </p:sp>
      <p:sp>
        <p:nvSpPr>
          <p:cNvPr id="22" name="Text 19"/>
          <p:cNvSpPr txBox="1"/>
          <p:nvPr/>
        </p:nvSpPr>
        <p:spPr>
          <a:xfrm>
            <a:off x="8366760" y="3703320"/>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clientes recuperados al año (50% de los que se van)</a:t>
            </a:r>
            <a:endParaRPr lang="en-US" sz="1150" dirty="0"/>
          </a:p>
        </p:txBody>
      </p:sp>
      <p:sp>
        <p:nvSpPr>
          <p:cNvPr id="23" name="Text 20"/>
          <p:cNvSpPr txBox="1"/>
          <p:nvPr/>
        </p:nvSpPr>
        <p:spPr>
          <a:xfrm>
            <a:off x="6720840" y="4306824"/>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+$25,7 M</a:t>
            </a:r>
            <a:endParaRPr lang="en-US" sz="1700" dirty="0"/>
          </a:p>
        </p:txBody>
      </p:sp>
      <p:sp>
        <p:nvSpPr>
          <p:cNvPr id="24" name="Text 21"/>
          <p:cNvSpPr txBox="1"/>
          <p:nvPr/>
        </p:nvSpPr>
        <p:spPr>
          <a:xfrm>
            <a:off x="8366760" y="4306824"/>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ingreso bruto adicional al año</a:t>
            </a:r>
            <a:endParaRPr lang="en-US" sz="1150" dirty="0"/>
          </a:p>
        </p:txBody>
      </p:sp>
      <p:sp>
        <p:nvSpPr>
          <p:cNvPr id="25" name="Text 22"/>
          <p:cNvSpPr txBox="1"/>
          <p:nvPr/>
        </p:nvSpPr>
        <p:spPr>
          <a:xfrm>
            <a:off x="6720840" y="4910328"/>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567%</a:t>
            </a:r>
            <a:endParaRPr lang="en-US" sz="1700" dirty="0"/>
          </a:p>
        </p:txBody>
      </p:sp>
      <p:sp>
        <p:nvSpPr>
          <p:cNvPr id="26" name="Text 23"/>
          <p:cNvSpPr txBox="1"/>
          <p:nvPr/>
        </p:nvSpPr>
        <p:spPr>
          <a:xfrm>
            <a:off x="8366760" y="4910328"/>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ROI del primer año · inversión recuperada en 1,8 meses</a:t>
            </a:r>
            <a:endParaRPr lang="en-US" sz="1150" dirty="0"/>
          </a:p>
        </p:txBody>
      </p:sp>
      <p:sp>
        <p:nvSpPr>
          <p:cNvPr id="27" name="Text 24"/>
          <p:cNvSpPr txBox="1"/>
          <p:nvPr/>
        </p:nvSpPr>
        <p:spPr>
          <a:xfrm>
            <a:off x="6720840" y="5513832"/>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15% → 5%</a:t>
            </a:r>
            <a:endParaRPr lang="en-US" sz="1700" dirty="0"/>
          </a:p>
        </p:txBody>
      </p:sp>
      <p:sp>
        <p:nvSpPr>
          <p:cNvPr id="28" name="Text 25"/>
          <p:cNvSpPr txBox="1"/>
          <p:nvPr/>
        </p:nvSpPr>
        <p:spPr>
          <a:xfrm>
            <a:off x="8366760" y="5513832"/>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no-show esperado al exigir el abono de $3.000</a:t>
            </a:r>
            <a:endParaRPr lang="en-US" sz="1150" dirty="0"/>
          </a:p>
        </p:txBody>
      </p:sp>
      <p:sp>
        <p:nvSpPr>
          <p:cNvPr id="29"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PROPUESTA DE VALOR · LA SOLUCIÓN</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Una plataforma que complementa la fila y reemplaza el Excel</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Web (React) y app Android (Kotlin) sobre una misma base de datos. El cliente elige: reservar con hora asegurada o seguir llegando por orden de llegada.</a:t>
            </a:r>
            <a:endParaRPr lang="en-US" sz="1250" dirty="0"/>
          </a:p>
        </p:txBody>
      </p:sp>
      <p:sp>
        <p:nvSpPr>
          <p:cNvPr id="5" name="Shape 3"/>
          <p:cNvSpPr/>
          <p:nvPr/>
        </p:nvSpPr>
        <p:spPr>
          <a:xfrm>
            <a:off x="548640" y="1783080"/>
            <a:ext cx="2624328" cy="3611880"/>
          </a:xfrm>
          <a:prstGeom prst="rect">
            <a:avLst/>
          </a:prstGeom>
          <a:solidFill>
            <a:srgbClr val="FFFFFF"/>
          </a:solidFill>
          <a:ln w="9525">
            <a:solidFill>
              <a:srgbClr val="D7DCE3"/>
            </a:solidFill>
            <a:prstDash val="solid"/>
          </a:ln>
        </p:spPr>
        <p:txBody>
          <a:bodyPr/>
          <a:lstStyle/>
          <a:p>
            <a:endParaRPr lang="es-CL"/>
          </a:p>
        </p:txBody>
      </p:sp>
      <p:sp>
        <p:nvSpPr>
          <p:cNvPr id="6" name="Shape 4"/>
          <p:cNvSpPr/>
          <p:nvPr/>
        </p:nvSpPr>
        <p:spPr>
          <a:xfrm>
            <a:off x="548640" y="1783080"/>
            <a:ext cx="2624328" cy="502920"/>
          </a:xfrm>
          <a:prstGeom prst="rect">
            <a:avLst/>
          </a:prstGeom>
          <a:solidFill>
            <a:srgbClr val="13294B"/>
          </a:solidFill>
          <a:ln w="12700">
            <a:solidFill>
              <a:srgbClr val="13294B"/>
            </a:solidFill>
            <a:prstDash val="solid"/>
          </a:ln>
        </p:spPr>
        <p:txBody>
          <a:bodyPr/>
          <a:lstStyle/>
          <a:p>
            <a:endParaRPr lang="es-CL"/>
          </a:p>
        </p:txBody>
      </p:sp>
      <p:sp>
        <p:nvSpPr>
          <p:cNvPr id="7" name="Text 5"/>
          <p:cNvSpPr txBox="1"/>
          <p:nvPr/>
        </p:nvSpPr>
        <p:spPr>
          <a:xfrm>
            <a:off x="685800" y="1783080"/>
            <a:ext cx="2350008" cy="5029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Cliente</a:t>
            </a:r>
            <a:endParaRPr lang="en-US" sz="1500" dirty="0"/>
          </a:p>
        </p:txBody>
      </p:sp>
      <p:sp>
        <p:nvSpPr>
          <p:cNvPr id="8" name="Text 6"/>
          <p:cNvSpPr txBox="1"/>
          <p:nvPr/>
        </p:nvSpPr>
        <p:spPr>
          <a:xfrm>
            <a:off x="685800" y="2404872"/>
            <a:ext cx="2350008" cy="777240"/>
          </a:xfrm>
          <a:prstGeom prst="rect">
            <a:avLst/>
          </a:prstGeom>
          <a:noFill/>
          <a:ln/>
        </p:spPr>
        <p:txBody>
          <a:bodyPr wrap="square" lIns="0" tIns="0" rIns="0" bIns="0" rtlCol="0" anchor="t"/>
          <a:lstStyle/>
          <a:p>
            <a:pPr marL="0" indent="0">
              <a:buNone/>
            </a:pPr>
            <a:r>
              <a:rPr lang="en-US" sz="1200" b="1" dirty="0">
                <a:solidFill>
                  <a:srgbClr val="1E2430"/>
                </a:solidFill>
                <a:latin typeface="Calibri" pitchFamily="34" charset="0"/>
                <a:ea typeface="Calibri" pitchFamily="34" charset="-122"/>
                <a:cs typeface="Calibri" pitchFamily="34" charset="-120"/>
              </a:rPr>
              <a:t>Reserva en 5 pasos desde la web o la app: sucursal, servicio, barbero y hora.</a:t>
            </a:r>
            <a:endParaRPr lang="en-US" sz="1200" dirty="0"/>
          </a:p>
        </p:txBody>
      </p:sp>
      <p:sp>
        <p:nvSpPr>
          <p:cNvPr id="9" name="Text 7"/>
          <p:cNvSpPr txBox="1"/>
          <p:nvPr/>
        </p:nvSpPr>
        <p:spPr>
          <a:xfrm>
            <a:off x="685800" y="3200400"/>
            <a:ext cx="2350008" cy="21031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E2430"/>
                </a:solidFill>
                <a:latin typeface="Calibri" pitchFamily="34" charset="0"/>
                <a:ea typeface="Calibri" pitchFamily="34" charset="-122"/>
                <a:cs typeface="Calibri" pitchFamily="34" charset="-120"/>
              </a:rPr>
              <a:t>Abono de $3.000 que se descuenta del servicio</a:t>
            </a:r>
            <a:endParaRPr lang="en-US" sz="1150" dirty="0"/>
          </a:p>
          <a:p>
            <a:pPr marL="342900" indent="-342900">
              <a:spcAft>
                <a:spcPts val="600"/>
              </a:spcAft>
              <a:buSzPct val="100000"/>
              <a:buChar char="•"/>
            </a:pPr>
            <a:r>
              <a:rPr lang="en-US" sz="1150" dirty="0">
                <a:solidFill>
                  <a:srgbClr val="1E2430"/>
                </a:solidFill>
                <a:latin typeface="Calibri" pitchFamily="34" charset="0"/>
                <a:ea typeface="Calibri" pitchFamily="34" charset="-122"/>
                <a:cs typeface="Calibri" pitchFamily="34" charset="-120"/>
              </a:rPr>
              <a:t>Reagenda hasta 2 veces con 24 h de anticipación</a:t>
            </a:r>
            <a:endParaRPr lang="en-US" sz="1150" dirty="0"/>
          </a:p>
          <a:p>
            <a:pPr marL="342900" indent="-342900">
              <a:spcAft>
                <a:spcPts val="600"/>
              </a:spcAft>
              <a:buSzPct val="100000"/>
              <a:buChar char="•"/>
            </a:pPr>
            <a:r>
              <a:rPr lang="en-US" sz="1150" dirty="0">
                <a:solidFill>
                  <a:srgbClr val="1E2430"/>
                </a:solidFill>
                <a:latin typeface="Calibri" pitchFamily="34" charset="0"/>
                <a:ea typeface="Calibri" pitchFamily="34" charset="-122"/>
                <a:cs typeface="Calibri" pitchFamily="34" charset="-120"/>
              </a:rPr>
              <a:t>Puede entrar como invitado y registrarse después</a:t>
            </a:r>
            <a:endParaRPr lang="en-US" sz="1150" dirty="0"/>
          </a:p>
        </p:txBody>
      </p:sp>
      <p:sp>
        <p:nvSpPr>
          <p:cNvPr id="10" name="Shape 8"/>
          <p:cNvSpPr/>
          <p:nvPr/>
        </p:nvSpPr>
        <p:spPr>
          <a:xfrm>
            <a:off x="3355848" y="1783080"/>
            <a:ext cx="2624328" cy="3611880"/>
          </a:xfrm>
          <a:prstGeom prst="rect">
            <a:avLst/>
          </a:prstGeom>
          <a:solidFill>
            <a:srgbClr val="FFFFFF"/>
          </a:solidFill>
          <a:ln w="9525">
            <a:solidFill>
              <a:srgbClr val="D7DCE3"/>
            </a:solidFill>
            <a:prstDash val="solid"/>
          </a:ln>
        </p:spPr>
        <p:txBody>
          <a:bodyPr/>
          <a:lstStyle/>
          <a:p>
            <a:endParaRPr lang="es-CL"/>
          </a:p>
        </p:txBody>
      </p:sp>
      <p:sp>
        <p:nvSpPr>
          <p:cNvPr id="11" name="Shape 9"/>
          <p:cNvSpPr/>
          <p:nvPr/>
        </p:nvSpPr>
        <p:spPr>
          <a:xfrm>
            <a:off x="3355848" y="1783080"/>
            <a:ext cx="2624328" cy="502920"/>
          </a:xfrm>
          <a:prstGeom prst="rect">
            <a:avLst/>
          </a:prstGeom>
          <a:solidFill>
            <a:srgbClr val="1D3A63"/>
          </a:solidFill>
          <a:ln w="12700">
            <a:solidFill>
              <a:srgbClr val="1D3A63"/>
            </a:solidFill>
            <a:prstDash val="solid"/>
          </a:ln>
        </p:spPr>
        <p:txBody>
          <a:bodyPr/>
          <a:lstStyle/>
          <a:p>
            <a:endParaRPr lang="es-CL"/>
          </a:p>
        </p:txBody>
      </p:sp>
      <p:sp>
        <p:nvSpPr>
          <p:cNvPr id="12" name="Text 10"/>
          <p:cNvSpPr txBox="1"/>
          <p:nvPr/>
        </p:nvSpPr>
        <p:spPr>
          <a:xfrm>
            <a:off x="3493008" y="1783080"/>
            <a:ext cx="2350008" cy="5029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Barbero</a:t>
            </a:r>
            <a:endParaRPr lang="en-US" sz="1500" dirty="0"/>
          </a:p>
        </p:txBody>
      </p:sp>
      <p:sp>
        <p:nvSpPr>
          <p:cNvPr id="13" name="Text 11"/>
          <p:cNvSpPr txBox="1"/>
          <p:nvPr/>
        </p:nvSpPr>
        <p:spPr>
          <a:xfrm>
            <a:off x="3493008" y="2404872"/>
            <a:ext cx="2350008" cy="777240"/>
          </a:xfrm>
          <a:prstGeom prst="rect">
            <a:avLst/>
          </a:prstGeom>
          <a:noFill/>
          <a:ln/>
        </p:spPr>
        <p:txBody>
          <a:bodyPr wrap="square" lIns="0" tIns="0" rIns="0" bIns="0" rtlCol="0" anchor="t"/>
          <a:lstStyle/>
          <a:p>
            <a:pPr marL="0" indent="0">
              <a:buNone/>
            </a:pPr>
            <a:r>
              <a:rPr lang="en-US" sz="1200" b="1" dirty="0">
                <a:solidFill>
                  <a:srgbClr val="1E2430"/>
                </a:solidFill>
                <a:latin typeface="Calibri" pitchFamily="34" charset="0"/>
                <a:ea typeface="Calibri" pitchFamily="34" charset="-122"/>
                <a:cs typeface="Calibri" pitchFamily="34" charset="-120"/>
              </a:rPr>
              <a:t>Consulta su agenda y sus atenciones sin anotar a mano.</a:t>
            </a:r>
            <a:endParaRPr lang="en-US" sz="1200" dirty="0"/>
          </a:p>
        </p:txBody>
      </p:sp>
      <p:sp>
        <p:nvSpPr>
          <p:cNvPr id="14" name="Text 12"/>
          <p:cNvSpPr txBox="1"/>
          <p:nvPr/>
        </p:nvSpPr>
        <p:spPr>
          <a:xfrm>
            <a:off x="3493008" y="3200400"/>
            <a:ext cx="2350008" cy="21031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E2430"/>
                </a:solidFill>
                <a:latin typeface="Calibri" pitchFamily="34" charset="0"/>
                <a:ea typeface="Calibri" pitchFamily="34" charset="-122"/>
                <a:cs typeface="Calibri" pitchFamily="34" charset="-120"/>
              </a:rPr>
              <a:t>Ve sus montos y su total acumulado</a:t>
            </a:r>
            <a:endParaRPr lang="en-US" sz="1150" dirty="0"/>
          </a:p>
          <a:p>
            <a:pPr marL="342900" indent="-342900">
              <a:spcAft>
                <a:spcPts val="600"/>
              </a:spcAft>
              <a:buSzPct val="100000"/>
              <a:buChar char="•"/>
            </a:pPr>
            <a:r>
              <a:rPr lang="en-US" sz="1150" dirty="0">
                <a:solidFill>
                  <a:srgbClr val="1E2430"/>
                </a:solidFill>
                <a:latin typeface="Calibri" pitchFamily="34" charset="0"/>
                <a:ea typeface="Calibri" pitchFamily="34" charset="-122"/>
                <a:cs typeface="Calibri" pitchFamily="34" charset="-120"/>
              </a:rPr>
              <a:t>Perfil de solo lectura</a:t>
            </a:r>
            <a:endParaRPr lang="en-US" sz="1150" dirty="0"/>
          </a:p>
          <a:p>
            <a:pPr marL="342900" indent="-342900">
              <a:spcAft>
                <a:spcPts val="600"/>
              </a:spcAft>
              <a:buSzPct val="100000"/>
              <a:buChar char="•"/>
            </a:pPr>
            <a:r>
              <a:rPr lang="en-US" sz="1150" dirty="0">
                <a:solidFill>
                  <a:srgbClr val="1E2430"/>
                </a:solidFill>
                <a:latin typeface="Calibri" pitchFamily="34" charset="0"/>
                <a:ea typeface="Calibri" pitchFamily="34" charset="-122"/>
                <a:cs typeface="Calibri" pitchFamily="34" charset="-120"/>
              </a:rPr>
              <a:t>Recibe calificaciones de los clientes</a:t>
            </a:r>
            <a:endParaRPr lang="en-US" sz="1150" dirty="0"/>
          </a:p>
        </p:txBody>
      </p:sp>
      <p:sp>
        <p:nvSpPr>
          <p:cNvPr id="15" name="Shape 13"/>
          <p:cNvSpPr/>
          <p:nvPr/>
        </p:nvSpPr>
        <p:spPr>
          <a:xfrm>
            <a:off x="6163056" y="1783080"/>
            <a:ext cx="2624328" cy="3611880"/>
          </a:xfrm>
          <a:prstGeom prst="rect">
            <a:avLst/>
          </a:prstGeom>
          <a:solidFill>
            <a:srgbClr val="FFFFFF"/>
          </a:solidFill>
          <a:ln w="9525">
            <a:solidFill>
              <a:srgbClr val="D7DCE3"/>
            </a:solidFill>
            <a:prstDash val="solid"/>
          </a:ln>
        </p:spPr>
        <p:txBody>
          <a:bodyPr/>
          <a:lstStyle/>
          <a:p>
            <a:endParaRPr lang="es-CL"/>
          </a:p>
        </p:txBody>
      </p:sp>
      <p:sp>
        <p:nvSpPr>
          <p:cNvPr id="16" name="Shape 14"/>
          <p:cNvSpPr/>
          <p:nvPr/>
        </p:nvSpPr>
        <p:spPr>
          <a:xfrm>
            <a:off x="6163056" y="1783080"/>
            <a:ext cx="2624328" cy="502920"/>
          </a:xfrm>
          <a:prstGeom prst="rect">
            <a:avLst/>
          </a:prstGeom>
          <a:solidFill>
            <a:srgbClr val="1D3A63"/>
          </a:solidFill>
          <a:ln w="12700">
            <a:solidFill>
              <a:srgbClr val="1D3A63"/>
            </a:solidFill>
            <a:prstDash val="solid"/>
          </a:ln>
        </p:spPr>
        <p:txBody>
          <a:bodyPr/>
          <a:lstStyle/>
          <a:p>
            <a:endParaRPr lang="es-CL"/>
          </a:p>
        </p:txBody>
      </p:sp>
      <p:sp>
        <p:nvSpPr>
          <p:cNvPr id="17" name="Text 15"/>
          <p:cNvSpPr txBox="1"/>
          <p:nvPr/>
        </p:nvSpPr>
        <p:spPr>
          <a:xfrm>
            <a:off x="6300216" y="1783080"/>
            <a:ext cx="2350008" cy="5029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Cajero/a de sucursal</a:t>
            </a:r>
            <a:endParaRPr lang="en-US" sz="1500" dirty="0"/>
          </a:p>
        </p:txBody>
      </p:sp>
      <p:sp>
        <p:nvSpPr>
          <p:cNvPr id="18" name="Text 16"/>
          <p:cNvSpPr txBox="1"/>
          <p:nvPr/>
        </p:nvSpPr>
        <p:spPr>
          <a:xfrm>
            <a:off x="6300216" y="2404872"/>
            <a:ext cx="2350008" cy="777240"/>
          </a:xfrm>
          <a:prstGeom prst="rect">
            <a:avLst/>
          </a:prstGeom>
          <a:noFill/>
          <a:ln/>
        </p:spPr>
        <p:txBody>
          <a:bodyPr wrap="square" lIns="0" tIns="0" rIns="0" bIns="0" rtlCol="0" anchor="t"/>
          <a:lstStyle/>
          <a:p>
            <a:pPr marL="0" indent="0">
              <a:buNone/>
            </a:pPr>
            <a:r>
              <a:rPr lang="en-US" sz="1200" b="1" dirty="0">
                <a:solidFill>
                  <a:srgbClr val="1E2430"/>
                </a:solidFill>
                <a:latin typeface="Calibri" pitchFamily="34" charset="0"/>
                <a:ea typeface="Calibri" pitchFamily="34" charset="-122"/>
                <a:cs typeface="Calibri" pitchFamily="34" charset="-120"/>
              </a:rPr>
              <a:t>Registra la operación del local en un solo lugar.</a:t>
            </a:r>
            <a:endParaRPr lang="en-US" sz="1200" dirty="0"/>
          </a:p>
        </p:txBody>
      </p:sp>
      <p:sp>
        <p:nvSpPr>
          <p:cNvPr id="19" name="Text 17"/>
          <p:cNvSpPr txBox="1"/>
          <p:nvPr/>
        </p:nvSpPr>
        <p:spPr>
          <a:xfrm>
            <a:off x="6300216" y="3200400"/>
            <a:ext cx="2350008" cy="21031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E2430"/>
                </a:solidFill>
                <a:latin typeface="Calibri" pitchFamily="34" charset="0"/>
                <a:ea typeface="Calibri" pitchFamily="34" charset="-122"/>
                <a:cs typeface="Calibri" pitchFamily="34" charset="-120"/>
              </a:rPr>
              <a:t>Llegada, atención, monto y medio de pago</a:t>
            </a:r>
            <a:endParaRPr lang="en-US" sz="1150" dirty="0"/>
          </a:p>
          <a:p>
            <a:pPr marL="342900" indent="-342900">
              <a:spcAft>
                <a:spcPts val="600"/>
              </a:spcAft>
              <a:buSzPct val="100000"/>
              <a:buChar char="•"/>
            </a:pPr>
            <a:r>
              <a:rPr lang="en-US" sz="1150" dirty="0">
                <a:solidFill>
                  <a:srgbClr val="1E2430"/>
                </a:solidFill>
                <a:latin typeface="Calibri" pitchFamily="34" charset="0"/>
                <a:ea typeface="Calibri" pitchFamily="34" charset="-122"/>
                <a:cs typeface="Calibri" pitchFamily="34" charset="-120"/>
              </a:rPr>
              <a:t>Fila por orden de llegada (S12)</a:t>
            </a:r>
            <a:endParaRPr lang="en-US" sz="1150" dirty="0"/>
          </a:p>
          <a:p>
            <a:pPr marL="342900" indent="-342900">
              <a:spcAft>
                <a:spcPts val="600"/>
              </a:spcAft>
              <a:buSzPct val="100000"/>
              <a:buChar char="•"/>
            </a:pPr>
            <a:r>
              <a:rPr lang="en-US" sz="1150" dirty="0">
                <a:solidFill>
                  <a:srgbClr val="1E2430"/>
                </a:solidFill>
                <a:latin typeface="Calibri" pitchFamily="34" charset="0"/>
                <a:ea typeface="Calibri" pitchFamily="34" charset="-122"/>
                <a:cs typeface="Calibri" pitchFamily="34" charset="-120"/>
              </a:rPr>
              <a:t>Marca no-show y atención completada</a:t>
            </a:r>
            <a:endParaRPr lang="en-US" sz="1150" dirty="0"/>
          </a:p>
        </p:txBody>
      </p:sp>
      <p:sp>
        <p:nvSpPr>
          <p:cNvPr id="20" name="Shape 18"/>
          <p:cNvSpPr/>
          <p:nvPr/>
        </p:nvSpPr>
        <p:spPr>
          <a:xfrm>
            <a:off x="8970264" y="1783080"/>
            <a:ext cx="2624328" cy="3611880"/>
          </a:xfrm>
          <a:prstGeom prst="rect">
            <a:avLst/>
          </a:prstGeom>
          <a:solidFill>
            <a:srgbClr val="FFFFFF"/>
          </a:solidFill>
          <a:ln w="9525">
            <a:solidFill>
              <a:srgbClr val="D7DCE3"/>
            </a:solidFill>
            <a:prstDash val="solid"/>
          </a:ln>
        </p:spPr>
        <p:txBody>
          <a:bodyPr/>
          <a:lstStyle/>
          <a:p>
            <a:endParaRPr lang="es-CL"/>
          </a:p>
        </p:txBody>
      </p:sp>
      <p:sp>
        <p:nvSpPr>
          <p:cNvPr id="21" name="Shape 19"/>
          <p:cNvSpPr/>
          <p:nvPr/>
        </p:nvSpPr>
        <p:spPr>
          <a:xfrm>
            <a:off x="8970264" y="1783080"/>
            <a:ext cx="2624328" cy="502920"/>
          </a:xfrm>
          <a:prstGeom prst="rect">
            <a:avLst/>
          </a:prstGeom>
          <a:solidFill>
            <a:srgbClr val="1D3A63"/>
          </a:solidFill>
          <a:ln w="12700">
            <a:solidFill>
              <a:srgbClr val="1D3A63"/>
            </a:solidFill>
            <a:prstDash val="solid"/>
          </a:ln>
        </p:spPr>
        <p:txBody>
          <a:bodyPr/>
          <a:lstStyle/>
          <a:p>
            <a:endParaRPr lang="es-CL"/>
          </a:p>
        </p:txBody>
      </p:sp>
      <p:sp>
        <p:nvSpPr>
          <p:cNvPr id="22" name="Text 20"/>
          <p:cNvSpPr txBox="1"/>
          <p:nvPr/>
        </p:nvSpPr>
        <p:spPr>
          <a:xfrm>
            <a:off x="9107424" y="1783080"/>
            <a:ext cx="2350008" cy="5029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Administración</a:t>
            </a:r>
            <a:endParaRPr lang="en-US" sz="1500" dirty="0"/>
          </a:p>
        </p:txBody>
      </p:sp>
      <p:sp>
        <p:nvSpPr>
          <p:cNvPr id="23" name="Text 21"/>
          <p:cNvSpPr txBox="1"/>
          <p:nvPr/>
        </p:nvSpPr>
        <p:spPr>
          <a:xfrm>
            <a:off x="9107424" y="2404872"/>
            <a:ext cx="2350008" cy="777240"/>
          </a:xfrm>
          <a:prstGeom prst="rect">
            <a:avLst/>
          </a:prstGeom>
          <a:noFill/>
          <a:ln/>
        </p:spPr>
        <p:txBody>
          <a:bodyPr wrap="square" lIns="0" tIns="0" rIns="0" bIns="0" rtlCol="0" anchor="t"/>
          <a:lstStyle/>
          <a:p>
            <a:pPr marL="0" indent="0">
              <a:buNone/>
            </a:pPr>
            <a:r>
              <a:rPr lang="en-US" sz="1200" b="1" dirty="0">
                <a:solidFill>
                  <a:srgbClr val="1E2430"/>
                </a:solidFill>
                <a:latin typeface="Calibri" pitchFamily="34" charset="0"/>
                <a:ea typeface="Calibri" pitchFamily="34" charset="-122"/>
                <a:cs typeface="Calibri" pitchFamily="34" charset="-120"/>
              </a:rPr>
              <a:t>Gestiona las 3 sucursales con datos en línea.</a:t>
            </a:r>
            <a:endParaRPr lang="en-US" sz="1200" dirty="0"/>
          </a:p>
        </p:txBody>
      </p:sp>
      <p:sp>
        <p:nvSpPr>
          <p:cNvPr id="24" name="Text 22"/>
          <p:cNvSpPr txBox="1"/>
          <p:nvPr/>
        </p:nvSpPr>
        <p:spPr>
          <a:xfrm>
            <a:off x="9107424" y="3200400"/>
            <a:ext cx="2350008" cy="21031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E2430"/>
                </a:solidFill>
                <a:latin typeface="Calibri" pitchFamily="34" charset="0"/>
                <a:ea typeface="Calibri" pitchFamily="34" charset="-122"/>
                <a:cs typeface="Calibri" pitchFamily="34" charset="-120"/>
              </a:rPr>
              <a:t>Servicios, precios y abono parametrizables</a:t>
            </a:r>
            <a:endParaRPr lang="en-US" sz="1150" dirty="0"/>
          </a:p>
          <a:p>
            <a:pPr marL="342900" indent="-342900">
              <a:spcAft>
                <a:spcPts val="600"/>
              </a:spcAft>
              <a:buSzPct val="100000"/>
              <a:buChar char="•"/>
            </a:pPr>
            <a:r>
              <a:rPr lang="en-US" sz="1150" dirty="0">
                <a:solidFill>
                  <a:srgbClr val="1E2430"/>
                </a:solidFill>
                <a:latin typeface="Calibri" pitchFamily="34" charset="0"/>
                <a:ea typeface="Calibri" pitchFamily="34" charset="-122"/>
                <a:cs typeface="Calibri" pitchFamily="34" charset="-120"/>
              </a:rPr>
              <a:t>Cuentas del personal (S12)</a:t>
            </a:r>
            <a:endParaRPr lang="en-US" sz="1150" dirty="0"/>
          </a:p>
          <a:p>
            <a:pPr marL="342900" indent="-342900">
              <a:spcAft>
                <a:spcPts val="600"/>
              </a:spcAft>
              <a:buSzPct val="100000"/>
              <a:buChar char="•"/>
            </a:pPr>
            <a:r>
              <a:rPr lang="en-US" sz="1150" dirty="0">
                <a:solidFill>
                  <a:srgbClr val="1E2430"/>
                </a:solidFill>
                <a:latin typeface="Calibri" pitchFamily="34" charset="0"/>
                <a:ea typeface="Calibri" pitchFamily="34" charset="-122"/>
                <a:cs typeface="Calibri" pitchFamily="34" charset="-120"/>
              </a:rPr>
              <a:t>Indicadores por sucursal en vez de la planilla Excel</a:t>
            </a:r>
            <a:endParaRPr lang="en-US" sz="1150" dirty="0"/>
          </a:p>
        </p:txBody>
      </p:sp>
      <p:sp>
        <p:nvSpPr>
          <p:cNvPr id="25" name="Shape 23"/>
          <p:cNvSpPr/>
          <p:nvPr/>
        </p:nvSpPr>
        <p:spPr>
          <a:xfrm>
            <a:off x="548640" y="5532120"/>
            <a:ext cx="11064240" cy="685800"/>
          </a:xfrm>
          <a:prstGeom prst="rect">
            <a:avLst/>
          </a:prstGeom>
          <a:solidFill>
            <a:srgbClr val="EEF1F5"/>
          </a:solidFill>
          <a:ln w="9525">
            <a:solidFill>
              <a:srgbClr val="D7DCE3"/>
            </a:solidFill>
            <a:prstDash val="solid"/>
          </a:ln>
        </p:spPr>
        <p:txBody>
          <a:bodyPr/>
          <a:lstStyle/>
          <a:p>
            <a:endParaRPr lang="es-CL"/>
          </a:p>
        </p:txBody>
      </p:sp>
      <p:sp>
        <p:nvSpPr>
          <p:cNvPr id="26" name="Text 24"/>
          <p:cNvSpPr txBox="1"/>
          <p:nvPr/>
        </p:nvSpPr>
        <p:spPr>
          <a:xfrm>
            <a:off x="731520" y="5532120"/>
            <a:ext cx="10698480" cy="685800"/>
          </a:xfrm>
          <a:prstGeom prst="rect">
            <a:avLst/>
          </a:prstGeom>
          <a:noFill/>
          <a:ln/>
        </p:spPr>
        <p:txBody>
          <a:bodyPr wrap="square" lIns="0" tIns="0" rIns="0" bIns="0" rtlCol="0" anchor="ctr"/>
          <a:lstStyle/>
          <a:p>
            <a:pPr marL="0" indent="0">
              <a:buNone/>
            </a:pPr>
            <a:r>
              <a:rPr lang="en-US" sz="1200" b="1" dirty="0">
                <a:solidFill>
                  <a:srgbClr val="13294B"/>
                </a:solidFill>
                <a:latin typeface="Calibri" pitchFamily="34" charset="0"/>
                <a:ea typeface="Calibri" pitchFamily="34" charset="-122"/>
                <a:cs typeface="Calibri" pitchFamily="34" charset="-120"/>
              </a:rPr>
              <a:t>Qué cambia para el negocio: </a:t>
            </a:r>
            <a:r>
              <a:rPr lang="en-US" sz="1200" dirty="0">
                <a:solidFill>
                  <a:srgbClr val="1E2430"/>
                </a:solidFill>
                <a:latin typeface="Calibri" pitchFamily="34" charset="0"/>
                <a:ea typeface="Calibri" pitchFamily="34" charset="-122"/>
                <a:cs typeface="Calibri" pitchFamily="34" charset="-120"/>
              </a:rPr>
              <a:t>los clientes que hoy se van en las horas de alta demanda pueden asegurar su hora, el abono reduce las inasistencias y cada atención queda registrada por sucursal, sin planillas.</a:t>
            </a:r>
            <a:endParaRPr lang="en-US" sz="1200" dirty="0"/>
          </a:p>
        </p:txBody>
      </p:sp>
      <p:sp>
        <p:nvSpPr>
          <p:cNvPr id="33"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PROTOTIPO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Prototipo funcional: web y app</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Capturas de la web conectada a la base de datos real (22-10-2026) y del prototipo de la app Android.</a:t>
            </a:r>
            <a:endParaRPr lang="en-US" sz="1250" dirty="0"/>
          </a:p>
        </p:txBody>
      </p:sp>
      <p:sp>
        <p:nvSpPr>
          <p:cNvPr id="5" name="Shape 3"/>
          <p:cNvSpPr/>
          <p:nvPr/>
        </p:nvSpPr>
        <p:spPr>
          <a:xfrm>
            <a:off x="548640" y="1737360"/>
            <a:ext cx="5212080" cy="3291840"/>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AppData/Local/Temp/claude/C--Users-User-Desktop-informatica-8--Semestre/a3947737-32ff-4826-af91-ab831361c14e/scratchpad/ppt/shots/web_02.png"/>
          <p:cNvPicPr>
            <a:picLocks noChangeAspect="1"/>
          </p:cNvPicPr>
          <p:nvPr/>
        </p:nvPicPr>
        <p:blipFill>
          <a:blip r:embed="rId3"/>
          <a:srcRect/>
          <a:stretch/>
        </p:blipFill>
        <p:spPr>
          <a:xfrm>
            <a:off x="594360" y="1783080"/>
            <a:ext cx="5120640" cy="3200400"/>
          </a:xfrm>
          <a:prstGeom prst="rect">
            <a:avLst/>
          </a:prstGeom>
        </p:spPr>
      </p:pic>
      <p:sp>
        <p:nvSpPr>
          <p:cNvPr id="7" name="Text 4"/>
          <p:cNvSpPr txBox="1"/>
          <p:nvPr/>
        </p:nvSpPr>
        <p:spPr>
          <a:xfrm>
            <a:off x="548640" y="5074920"/>
            <a:ext cx="521208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Web · inicio del cliente con su cupón de bienvenida</a:t>
            </a:r>
            <a:endParaRPr lang="en-US" sz="1050" dirty="0"/>
          </a:p>
        </p:txBody>
      </p:sp>
      <p:sp>
        <p:nvSpPr>
          <p:cNvPr id="8" name="Shape 5"/>
          <p:cNvSpPr/>
          <p:nvPr/>
        </p:nvSpPr>
        <p:spPr>
          <a:xfrm>
            <a:off x="5989320" y="1737360"/>
            <a:ext cx="3108960" cy="2468880"/>
          </a:xfrm>
          <a:prstGeom prst="rect">
            <a:avLst/>
          </a:prstGeom>
          <a:solidFill>
            <a:srgbClr val="FFFFFF"/>
          </a:solidFill>
          <a:ln w="9525">
            <a:solidFill>
              <a:srgbClr val="D7DCE3"/>
            </a:solidFill>
            <a:prstDash val="solid"/>
          </a:ln>
        </p:spPr>
        <p:txBody>
          <a:bodyPr/>
          <a:lstStyle/>
          <a:p>
            <a:endParaRPr lang="es-CL"/>
          </a:p>
        </p:txBody>
      </p:sp>
      <p:pic>
        <p:nvPicPr>
          <p:cNvPr id="9" name="Image 1" descr="C:/Users/User/AppData/Local/Temp/claude/C--Users-User-Desktop-informatica-8--Semestre/a3947737-32ff-4826-af91-ab831361c14e/scratchpad/ppt/shots/web_06c.png"/>
          <p:cNvPicPr>
            <a:picLocks noChangeAspect="1"/>
          </p:cNvPicPr>
          <p:nvPr/>
        </p:nvPicPr>
        <p:blipFill>
          <a:blip r:embed="rId4"/>
          <a:srcRect/>
          <a:stretch/>
        </p:blipFill>
        <p:spPr>
          <a:xfrm>
            <a:off x="6035040" y="1783080"/>
            <a:ext cx="3017520" cy="2377440"/>
          </a:xfrm>
          <a:prstGeom prst="rect">
            <a:avLst/>
          </a:prstGeom>
        </p:spPr>
      </p:pic>
      <p:sp>
        <p:nvSpPr>
          <p:cNvPr id="10" name="Text 6"/>
          <p:cNvSpPr txBox="1"/>
          <p:nvPr/>
        </p:nvSpPr>
        <p:spPr>
          <a:xfrm>
            <a:off x="5989320" y="4224528"/>
            <a:ext cx="31089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Web · reserva en 5 pasos (paso 1: sucursal)</a:t>
            </a:r>
            <a:endParaRPr lang="en-US" sz="1050" dirty="0"/>
          </a:p>
        </p:txBody>
      </p:sp>
      <p:sp>
        <p:nvSpPr>
          <p:cNvPr id="11" name="Shape 7"/>
          <p:cNvSpPr/>
          <p:nvPr/>
        </p:nvSpPr>
        <p:spPr>
          <a:xfrm>
            <a:off x="5989320" y="4526280"/>
            <a:ext cx="3108960" cy="1508760"/>
          </a:xfrm>
          <a:prstGeom prst="rect">
            <a:avLst/>
          </a:prstGeom>
          <a:solidFill>
            <a:srgbClr val="FFFFFF"/>
          </a:solidFill>
          <a:ln w="9525">
            <a:solidFill>
              <a:srgbClr val="D7DCE3"/>
            </a:solidFill>
            <a:prstDash val="solid"/>
          </a:ln>
        </p:spPr>
        <p:txBody>
          <a:bodyPr/>
          <a:lstStyle/>
          <a:p>
            <a:endParaRPr lang="es-CL"/>
          </a:p>
        </p:txBody>
      </p:sp>
      <p:pic>
        <p:nvPicPr>
          <p:cNvPr id="12" name="Image 2" descr="C:/Users/User/AppData/Local/Temp/claude/C--Users-User-Desktop-informatica-8--Semestre/a3947737-32ff-4826-af91-ab831361c14e/scratchpad/ppt/shots/web_04c.png"/>
          <p:cNvPicPr>
            <a:picLocks noChangeAspect="1"/>
          </p:cNvPicPr>
          <p:nvPr/>
        </p:nvPicPr>
        <p:blipFill>
          <a:blip r:embed="rId5"/>
          <a:srcRect/>
          <a:stretch/>
        </p:blipFill>
        <p:spPr>
          <a:xfrm>
            <a:off x="6035040" y="4572000"/>
            <a:ext cx="3017520" cy="1417320"/>
          </a:xfrm>
          <a:prstGeom prst="rect">
            <a:avLst/>
          </a:prstGeom>
        </p:spPr>
      </p:pic>
      <p:sp>
        <p:nvSpPr>
          <p:cNvPr id="13" name="Text 8"/>
          <p:cNvSpPr txBox="1"/>
          <p:nvPr/>
        </p:nvSpPr>
        <p:spPr>
          <a:xfrm>
            <a:off x="5989320" y="6035040"/>
            <a:ext cx="31089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Web · sucursales reales con mapa</a:t>
            </a:r>
            <a:endParaRPr lang="en-US" sz="1050" dirty="0"/>
          </a:p>
        </p:txBody>
      </p:sp>
      <p:sp>
        <p:nvSpPr>
          <p:cNvPr id="14" name="Shape 9"/>
          <p:cNvSpPr/>
          <p:nvPr/>
        </p:nvSpPr>
        <p:spPr>
          <a:xfrm>
            <a:off x="9418320" y="1737360"/>
            <a:ext cx="2194560" cy="4343400"/>
          </a:xfrm>
          <a:prstGeom prst="rect">
            <a:avLst/>
          </a:prstGeom>
          <a:solidFill>
            <a:srgbClr val="FFFFFF"/>
          </a:solidFill>
          <a:ln w="9525">
            <a:solidFill>
              <a:srgbClr val="D7DCE3"/>
            </a:solidFill>
            <a:prstDash val="solid"/>
          </a:ln>
        </p:spPr>
        <p:txBody>
          <a:bodyPr/>
          <a:lstStyle/>
          <a:p>
            <a:endParaRPr lang="es-CL"/>
          </a:p>
        </p:txBody>
      </p:sp>
      <p:pic>
        <p:nvPicPr>
          <p:cNvPr id="15" name="Image 3" descr="C:/Users/User/AppData/Local/Temp/claude/C--Users-User-Desktop-informatica-8--Semestre/a3947737-32ff-4826-af91-ab831361c14e/scratchpad/ppt/v3x/ppt/media/image-5-1.png"/>
          <p:cNvPicPr>
            <a:picLocks noChangeAspect="1"/>
          </p:cNvPicPr>
          <p:nvPr/>
        </p:nvPicPr>
        <p:blipFill>
          <a:blip r:embed="rId6"/>
          <a:srcRect/>
          <a:stretch/>
        </p:blipFill>
        <p:spPr>
          <a:xfrm>
            <a:off x="9464040" y="1783080"/>
            <a:ext cx="2103120" cy="4251960"/>
          </a:xfrm>
          <a:prstGeom prst="rect">
            <a:avLst/>
          </a:prstGeom>
        </p:spPr>
      </p:pic>
      <p:sp>
        <p:nvSpPr>
          <p:cNvPr id="16" name="Text 10"/>
          <p:cNvSpPr txBox="1"/>
          <p:nvPr/>
        </p:nvSpPr>
        <p:spPr>
          <a:xfrm>
            <a:off x="9326880" y="6080760"/>
            <a:ext cx="237744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App Android · inicio de sesión (01-10)</a:t>
            </a:r>
            <a:endParaRPr lang="en-US" sz="1050" dirty="0"/>
          </a:p>
        </p:txBody>
      </p:sp>
      <p:sp>
        <p:nvSpPr>
          <p:cNvPr id="17" name="Shape 11"/>
          <p:cNvSpPr/>
          <p:nvPr/>
        </p:nvSpPr>
        <p:spPr>
          <a:xfrm>
            <a:off x="548640" y="5440680"/>
            <a:ext cx="5212080" cy="777240"/>
          </a:xfrm>
          <a:prstGeom prst="rect">
            <a:avLst/>
          </a:prstGeom>
          <a:solidFill>
            <a:srgbClr val="EEF1F5"/>
          </a:solidFill>
          <a:ln w="9525">
            <a:solidFill>
              <a:srgbClr val="D7DCE3"/>
            </a:solidFill>
            <a:prstDash val="solid"/>
          </a:ln>
        </p:spPr>
        <p:txBody>
          <a:bodyPr/>
          <a:lstStyle/>
          <a:p>
            <a:endParaRPr lang="es-CL"/>
          </a:p>
        </p:txBody>
      </p:sp>
      <p:sp>
        <p:nvSpPr>
          <p:cNvPr id="18" name="Text 12"/>
          <p:cNvSpPr txBox="1"/>
          <p:nvPr/>
        </p:nvSpPr>
        <p:spPr>
          <a:xfrm>
            <a:off x="685800" y="5458968"/>
            <a:ext cx="4983480" cy="7315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Web en React y app en Kotlin con Jetpack Compose (MVVM). Ambas usan la misma API y muestran las 3 sucursales, los barberos y los servicios con precios reales.</a:t>
            </a:r>
            <a:endParaRPr lang="en-US" sz="11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PROPUESTA DE VALOR · RETORNO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Se recupera en meses, incluso en el escenario conservador</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ROI = (beneficio neto anual − inversión) / inversión. Libro «KPIs y Costos», hoja Abono_ROI.</a:t>
            </a:r>
            <a:endParaRPr lang="en-US" sz="1250" dirty="0"/>
          </a:p>
        </p:txBody>
      </p:sp>
      <p:sp>
        <p:nvSpPr>
          <p:cNvPr id="5" name="Shape 3"/>
          <p:cNvSpPr/>
          <p:nvPr/>
        </p:nvSpPr>
        <p:spPr>
          <a:xfrm>
            <a:off x="548640" y="1783080"/>
            <a:ext cx="2743200" cy="109728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40080" y="1874520"/>
            <a:ext cx="2560320" cy="526694"/>
          </a:xfrm>
          <a:prstGeom prst="rect">
            <a:avLst/>
          </a:prstGeom>
          <a:noFill/>
          <a:ln/>
        </p:spPr>
        <p:txBody>
          <a:bodyPr wrap="square" lIns="0" tIns="0" rIns="0" bIns="0" rtlCol="0" anchor="ctr"/>
          <a:lstStyle/>
          <a:p>
            <a:pPr marL="0" indent="0" algn="ctr">
              <a:buNone/>
            </a:pPr>
            <a:r>
              <a:rPr lang="en-US" sz="2400" b="1" dirty="0">
                <a:solidFill>
                  <a:srgbClr val="13294B"/>
                </a:solidFill>
                <a:latin typeface="Cambria" pitchFamily="34" charset="0"/>
                <a:ea typeface="Cambria" pitchFamily="34" charset="-122"/>
                <a:cs typeface="Cambria" pitchFamily="34" charset="-120"/>
              </a:rPr>
              <a:t>$1,92 M</a:t>
            </a:r>
            <a:endParaRPr lang="en-US" sz="2400" dirty="0"/>
          </a:p>
        </p:txBody>
      </p:sp>
      <p:sp>
        <p:nvSpPr>
          <p:cNvPr id="7" name="Text 5"/>
          <p:cNvSpPr txBox="1"/>
          <p:nvPr/>
        </p:nvSpPr>
        <p:spPr>
          <a:xfrm>
            <a:off x="685800" y="2397557"/>
            <a:ext cx="2468880" cy="438912"/>
          </a:xfrm>
          <a:prstGeom prst="rect">
            <a:avLst/>
          </a:prstGeom>
          <a:noFill/>
          <a:ln/>
        </p:spPr>
        <p:txBody>
          <a:bodyPr wrap="square" lIns="0" tIns="0" rIns="0" bIns="0" rtlCol="0" anchor="t"/>
          <a:lstStyle/>
          <a:p>
            <a:pPr marL="0" indent="0" algn="ctr">
              <a:buNone/>
            </a:pPr>
            <a:r>
              <a:rPr lang="en-US" sz="1100" dirty="0">
                <a:solidFill>
                  <a:srgbClr val="1E2430"/>
                </a:solidFill>
                <a:latin typeface="Calibri" pitchFamily="34" charset="0"/>
                <a:ea typeface="Calibri" pitchFamily="34" charset="-122"/>
                <a:cs typeface="Calibri" pitchFamily="34" charset="-120"/>
              </a:rPr>
              <a:t>inversión: 312 h del equipo valorizadas + dominio</a:t>
            </a:r>
            <a:endParaRPr lang="en-US" sz="1100" dirty="0"/>
          </a:p>
        </p:txBody>
      </p:sp>
      <p:sp>
        <p:nvSpPr>
          <p:cNvPr id="8" name="Shape 6"/>
          <p:cNvSpPr/>
          <p:nvPr/>
        </p:nvSpPr>
        <p:spPr>
          <a:xfrm>
            <a:off x="548640" y="2990088"/>
            <a:ext cx="2743200" cy="1097280"/>
          </a:xfrm>
          <a:prstGeom prst="rect">
            <a:avLst/>
          </a:prstGeom>
          <a:solidFill>
            <a:srgbClr val="FFFFFF"/>
          </a:solidFill>
          <a:ln w="9525">
            <a:solidFill>
              <a:srgbClr val="D7DCE3"/>
            </a:solidFill>
            <a:prstDash val="solid"/>
          </a:ln>
        </p:spPr>
        <p:txBody>
          <a:bodyPr/>
          <a:lstStyle/>
          <a:p>
            <a:endParaRPr lang="es-CL"/>
          </a:p>
        </p:txBody>
      </p:sp>
      <p:sp>
        <p:nvSpPr>
          <p:cNvPr id="9" name="Text 7"/>
          <p:cNvSpPr txBox="1"/>
          <p:nvPr/>
        </p:nvSpPr>
        <p:spPr>
          <a:xfrm>
            <a:off x="640080" y="3081528"/>
            <a:ext cx="2560320" cy="526694"/>
          </a:xfrm>
          <a:prstGeom prst="rect">
            <a:avLst/>
          </a:prstGeom>
          <a:noFill/>
          <a:ln/>
        </p:spPr>
        <p:txBody>
          <a:bodyPr wrap="square" lIns="0" tIns="0" rIns="0" bIns="0" rtlCol="0" anchor="ctr"/>
          <a:lstStyle/>
          <a:p>
            <a:pPr marL="0" indent="0" algn="ctr">
              <a:buNone/>
            </a:pPr>
            <a:r>
              <a:rPr lang="en-US" sz="2400" b="1" dirty="0">
                <a:solidFill>
                  <a:srgbClr val="13294B"/>
                </a:solidFill>
                <a:latin typeface="Cambria" pitchFamily="34" charset="0"/>
                <a:ea typeface="Cambria" pitchFamily="34" charset="-122"/>
                <a:cs typeface="Cambria" pitchFamily="34" charset="-120"/>
              </a:rPr>
              <a:t>$20.700</a:t>
            </a:r>
            <a:endParaRPr lang="en-US" sz="2400" dirty="0"/>
          </a:p>
        </p:txBody>
      </p:sp>
      <p:sp>
        <p:nvSpPr>
          <p:cNvPr id="10" name="Text 8"/>
          <p:cNvSpPr txBox="1"/>
          <p:nvPr/>
        </p:nvSpPr>
        <p:spPr>
          <a:xfrm>
            <a:off x="685800" y="3604565"/>
            <a:ext cx="2468880" cy="438912"/>
          </a:xfrm>
          <a:prstGeom prst="rect">
            <a:avLst/>
          </a:prstGeom>
          <a:noFill/>
          <a:ln/>
        </p:spPr>
        <p:txBody>
          <a:bodyPr wrap="square" lIns="0" tIns="0" rIns="0" bIns="0" rtlCol="0" anchor="t"/>
          <a:lstStyle/>
          <a:p>
            <a:pPr marL="0" indent="0" algn="ctr">
              <a:buNone/>
            </a:pPr>
            <a:r>
              <a:rPr lang="en-US" sz="1100" dirty="0">
                <a:solidFill>
                  <a:srgbClr val="1E2430"/>
                </a:solidFill>
                <a:latin typeface="Calibri" pitchFamily="34" charset="0"/>
                <a:ea typeface="Calibri" pitchFamily="34" charset="-122"/>
                <a:cs typeface="Calibri" pitchFamily="34" charset="-120"/>
              </a:rPr>
              <a:t>costo de operación mensual (servidor y dominio)</a:t>
            </a:r>
            <a:endParaRPr lang="en-US" sz="1100" dirty="0"/>
          </a:p>
        </p:txBody>
      </p:sp>
      <p:sp>
        <p:nvSpPr>
          <p:cNvPr id="11" name="Shape 9"/>
          <p:cNvSpPr/>
          <p:nvPr/>
        </p:nvSpPr>
        <p:spPr>
          <a:xfrm>
            <a:off x="548640" y="4197096"/>
            <a:ext cx="2743200" cy="1097280"/>
          </a:xfrm>
          <a:prstGeom prst="rect">
            <a:avLst/>
          </a:prstGeom>
          <a:solidFill>
            <a:srgbClr val="FFFFFF"/>
          </a:solidFill>
          <a:ln w="9525">
            <a:solidFill>
              <a:srgbClr val="D7DCE3"/>
            </a:solidFill>
            <a:prstDash val="solid"/>
          </a:ln>
        </p:spPr>
        <p:txBody>
          <a:bodyPr/>
          <a:lstStyle/>
          <a:p>
            <a:endParaRPr lang="es-CL"/>
          </a:p>
        </p:txBody>
      </p:sp>
      <p:sp>
        <p:nvSpPr>
          <p:cNvPr id="12" name="Text 10"/>
          <p:cNvSpPr txBox="1"/>
          <p:nvPr/>
        </p:nvSpPr>
        <p:spPr>
          <a:xfrm>
            <a:off x="640080" y="4288536"/>
            <a:ext cx="2560320" cy="526694"/>
          </a:xfrm>
          <a:prstGeom prst="rect">
            <a:avLst/>
          </a:prstGeom>
          <a:noFill/>
          <a:ln/>
        </p:spPr>
        <p:txBody>
          <a:bodyPr wrap="square" lIns="0" tIns="0" rIns="0" bIns="0" rtlCol="0" anchor="ctr"/>
          <a:lstStyle/>
          <a:p>
            <a:pPr marL="0" indent="0" algn="ctr">
              <a:buNone/>
            </a:pPr>
            <a:r>
              <a:rPr lang="en-US" sz="2400" b="1" dirty="0">
                <a:solidFill>
                  <a:srgbClr val="13294B"/>
                </a:solidFill>
                <a:latin typeface="Cambria" pitchFamily="34" charset="0"/>
                <a:ea typeface="Cambria" pitchFamily="34" charset="-122"/>
                <a:cs typeface="Cambria" pitchFamily="34" charset="-120"/>
              </a:rPr>
              <a:t>$135</a:t>
            </a:r>
            <a:endParaRPr lang="en-US" sz="2400" dirty="0"/>
          </a:p>
        </p:txBody>
      </p:sp>
      <p:sp>
        <p:nvSpPr>
          <p:cNvPr id="13" name="Text 11"/>
          <p:cNvSpPr txBox="1"/>
          <p:nvPr/>
        </p:nvSpPr>
        <p:spPr>
          <a:xfrm>
            <a:off x="685800" y="4811573"/>
            <a:ext cx="2468880" cy="438912"/>
          </a:xfrm>
          <a:prstGeom prst="rect">
            <a:avLst/>
          </a:prstGeom>
          <a:noFill/>
          <a:ln/>
        </p:spPr>
        <p:txBody>
          <a:bodyPr wrap="square" lIns="0" tIns="0" rIns="0" bIns="0" rtlCol="0" anchor="t"/>
          <a:lstStyle/>
          <a:p>
            <a:pPr marL="0" indent="0" algn="ctr">
              <a:buNone/>
            </a:pPr>
            <a:r>
              <a:rPr lang="en-US" sz="1100" dirty="0">
                <a:solidFill>
                  <a:srgbClr val="1E2430"/>
                </a:solidFill>
                <a:latin typeface="Calibri" pitchFamily="34" charset="0"/>
                <a:ea typeface="Calibri" pitchFamily="34" charset="-122"/>
                <a:cs typeface="Calibri" pitchFamily="34" charset="-120"/>
              </a:rPr>
              <a:t>comisión de Webpay por abono, cubierta por los abonos retenidos</a:t>
            </a:r>
            <a:endParaRPr lang="en-US" sz="1100" dirty="0"/>
          </a:p>
        </p:txBody>
      </p:sp>
      <p:sp>
        <p:nvSpPr>
          <p:cNvPr id="14" name="Shape 12"/>
          <p:cNvSpPr/>
          <p:nvPr/>
        </p:nvSpPr>
        <p:spPr>
          <a:xfrm>
            <a:off x="3520440" y="1783080"/>
            <a:ext cx="4343400" cy="3511296"/>
          </a:xfrm>
          <a:prstGeom prst="rect">
            <a:avLst/>
          </a:prstGeom>
          <a:solidFill>
            <a:srgbClr val="FFFFFF"/>
          </a:solidFill>
          <a:ln w="9525">
            <a:solidFill>
              <a:srgbClr val="D7DCE3"/>
            </a:solidFill>
            <a:prstDash val="solid"/>
          </a:ln>
        </p:spPr>
        <p:txBody>
          <a:bodyPr/>
          <a:lstStyle/>
          <a:p>
            <a:endParaRPr lang="es-CL"/>
          </a:p>
        </p:txBody>
      </p:sp>
      <p:sp>
        <p:nvSpPr>
          <p:cNvPr id="15" name="Text 13"/>
          <p:cNvSpPr txBox="1"/>
          <p:nvPr/>
        </p:nvSpPr>
        <p:spPr>
          <a:xfrm>
            <a:off x="3703320" y="1874520"/>
            <a:ext cx="4023360" cy="320040"/>
          </a:xfrm>
          <a:prstGeom prst="rect">
            <a:avLst/>
          </a:prstGeom>
          <a:noFill/>
          <a:ln/>
        </p:spPr>
        <p:txBody>
          <a:bodyPr wrap="square" lIns="0" tIns="0" rIns="0" bIns="0" rtlCol="0" anchor="ctr"/>
          <a:lstStyle/>
          <a:p>
            <a:pPr marL="0" indent="0">
              <a:buNone/>
            </a:pPr>
            <a:r>
              <a:rPr lang="en-US" sz="1350" b="1" dirty="0">
                <a:solidFill>
                  <a:srgbClr val="13294B"/>
                </a:solidFill>
                <a:latin typeface="Cambria" pitchFamily="34" charset="0"/>
                <a:ea typeface="Cambria" pitchFamily="34" charset="-122"/>
                <a:cs typeface="Cambria" pitchFamily="34" charset="-120"/>
              </a:rPr>
              <a:t>Beneficio neto anual por escenario</a:t>
            </a:r>
            <a:endParaRPr lang="en-US" sz="1350" dirty="0"/>
          </a:p>
        </p:txBody>
      </p:sp>
      <p:sp>
        <p:nvSpPr>
          <p:cNvPr id="16" name="Text 14"/>
          <p:cNvSpPr txBox="1"/>
          <p:nvPr/>
        </p:nvSpPr>
        <p:spPr>
          <a:xfrm>
            <a:off x="3703320" y="2377440"/>
            <a:ext cx="1188720" cy="566928"/>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Conservador</a:t>
            </a:r>
            <a:endParaRPr lang="en-US" sz="1200" dirty="0"/>
          </a:p>
          <a:p>
            <a:pPr marL="0" indent="0">
              <a:buNone/>
            </a:pPr>
            <a:r>
              <a:rPr lang="en-US" sz="1000" dirty="0">
                <a:solidFill>
                  <a:srgbClr val="5B6472"/>
                </a:solidFill>
                <a:latin typeface="Calibri" pitchFamily="34" charset="0"/>
                <a:ea typeface="Calibri" pitchFamily="34" charset="-122"/>
                <a:cs typeface="Calibri" pitchFamily="34" charset="-120"/>
              </a:rPr>
              <a:t>30% recuperado</a:t>
            </a:r>
            <a:endParaRPr lang="en-US" sz="1200" dirty="0"/>
          </a:p>
        </p:txBody>
      </p:sp>
      <p:sp>
        <p:nvSpPr>
          <p:cNvPr id="17" name="Shape 15"/>
          <p:cNvSpPr/>
          <p:nvPr/>
        </p:nvSpPr>
        <p:spPr>
          <a:xfrm>
            <a:off x="4937760" y="2450592"/>
            <a:ext cx="912357" cy="420624"/>
          </a:xfrm>
          <a:prstGeom prst="rect">
            <a:avLst/>
          </a:prstGeom>
          <a:solidFill>
            <a:srgbClr val="2F855A"/>
          </a:solidFill>
          <a:ln w="12700">
            <a:solidFill>
              <a:srgbClr val="2F855A"/>
            </a:solidFill>
            <a:prstDash val="solid"/>
          </a:ln>
        </p:spPr>
        <p:txBody>
          <a:bodyPr/>
          <a:lstStyle/>
          <a:p>
            <a:endParaRPr lang="es-CL"/>
          </a:p>
        </p:txBody>
      </p:sp>
      <p:sp>
        <p:nvSpPr>
          <p:cNvPr id="18" name="Text 16"/>
          <p:cNvSpPr txBox="1"/>
          <p:nvPr/>
        </p:nvSpPr>
        <p:spPr>
          <a:xfrm>
            <a:off x="5923269" y="2450592"/>
            <a:ext cx="914400" cy="420624"/>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$7,6 M</a:t>
            </a:r>
            <a:endParaRPr lang="en-US" sz="1200" dirty="0"/>
          </a:p>
        </p:txBody>
      </p:sp>
      <p:sp>
        <p:nvSpPr>
          <p:cNvPr id="19" name="Text 17"/>
          <p:cNvSpPr txBox="1"/>
          <p:nvPr/>
        </p:nvSpPr>
        <p:spPr>
          <a:xfrm>
            <a:off x="4937760" y="2889504"/>
            <a:ext cx="2834640" cy="274320"/>
          </a:xfrm>
          <a:prstGeom prst="rect">
            <a:avLst/>
          </a:prstGeom>
          <a:noFill/>
          <a:ln/>
        </p:spPr>
        <p:txBody>
          <a:bodyPr wrap="square" lIns="0" tIns="0" rIns="0" bIns="0" rtlCol="0" anchor="ctr"/>
          <a:lstStyle/>
          <a:p>
            <a:pPr marL="0" indent="0">
              <a:buNone/>
            </a:pPr>
            <a:r>
              <a:rPr lang="en-US" sz="1050" b="1" dirty="0">
                <a:solidFill>
                  <a:srgbClr val="2F855A"/>
                </a:solidFill>
                <a:latin typeface="Calibri" pitchFamily="34" charset="0"/>
                <a:ea typeface="Calibri" pitchFamily="34" charset="-122"/>
                <a:cs typeface="Calibri" pitchFamily="34" charset="-120"/>
              </a:rPr>
              <a:t>ROI 298% · recupera en 3,0 meses</a:t>
            </a:r>
            <a:endParaRPr lang="en-US" sz="1050" dirty="0"/>
          </a:p>
        </p:txBody>
      </p:sp>
      <p:sp>
        <p:nvSpPr>
          <p:cNvPr id="20" name="Text 18"/>
          <p:cNvSpPr txBox="1"/>
          <p:nvPr/>
        </p:nvSpPr>
        <p:spPr>
          <a:xfrm>
            <a:off x="3703320" y="3319272"/>
            <a:ext cx="1188720" cy="566928"/>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Medio</a:t>
            </a:r>
            <a:endParaRPr lang="en-US" sz="1200" dirty="0"/>
          </a:p>
          <a:p>
            <a:pPr marL="0" indent="0">
              <a:buNone/>
            </a:pPr>
            <a:r>
              <a:rPr lang="en-US" sz="1000" dirty="0">
                <a:solidFill>
                  <a:srgbClr val="5B6472"/>
                </a:solidFill>
                <a:latin typeface="Calibri" pitchFamily="34" charset="0"/>
                <a:ea typeface="Calibri" pitchFamily="34" charset="-122"/>
                <a:cs typeface="Calibri" pitchFamily="34" charset="-120"/>
              </a:rPr>
              <a:t>50% recuperado</a:t>
            </a:r>
            <a:endParaRPr lang="en-US" sz="1200" dirty="0"/>
          </a:p>
        </p:txBody>
      </p:sp>
      <p:sp>
        <p:nvSpPr>
          <p:cNvPr id="21" name="Shape 19"/>
          <p:cNvSpPr/>
          <p:nvPr/>
        </p:nvSpPr>
        <p:spPr>
          <a:xfrm>
            <a:off x="4937760" y="3392424"/>
            <a:ext cx="1536601" cy="420624"/>
          </a:xfrm>
          <a:prstGeom prst="rect">
            <a:avLst/>
          </a:prstGeom>
          <a:solidFill>
            <a:srgbClr val="13294B"/>
          </a:solidFill>
          <a:ln w="12700">
            <a:solidFill>
              <a:srgbClr val="13294B"/>
            </a:solidFill>
            <a:prstDash val="solid"/>
          </a:ln>
        </p:spPr>
        <p:txBody>
          <a:bodyPr/>
          <a:lstStyle/>
          <a:p>
            <a:endParaRPr lang="es-CL"/>
          </a:p>
        </p:txBody>
      </p:sp>
      <p:sp>
        <p:nvSpPr>
          <p:cNvPr id="22" name="Text 20"/>
          <p:cNvSpPr txBox="1"/>
          <p:nvPr/>
        </p:nvSpPr>
        <p:spPr>
          <a:xfrm>
            <a:off x="6547513" y="3392424"/>
            <a:ext cx="914400" cy="420624"/>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$12,8 M</a:t>
            </a:r>
            <a:endParaRPr lang="en-US" sz="1200" dirty="0"/>
          </a:p>
        </p:txBody>
      </p:sp>
      <p:sp>
        <p:nvSpPr>
          <p:cNvPr id="23" name="Text 21"/>
          <p:cNvSpPr txBox="1"/>
          <p:nvPr/>
        </p:nvSpPr>
        <p:spPr>
          <a:xfrm>
            <a:off x="4937760" y="3831336"/>
            <a:ext cx="2834640" cy="27432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ROI 567% · recupera en 1,8 meses</a:t>
            </a:r>
            <a:endParaRPr lang="en-US" sz="1050" dirty="0"/>
          </a:p>
        </p:txBody>
      </p:sp>
      <p:sp>
        <p:nvSpPr>
          <p:cNvPr id="24" name="Text 22"/>
          <p:cNvSpPr txBox="1"/>
          <p:nvPr/>
        </p:nvSpPr>
        <p:spPr>
          <a:xfrm>
            <a:off x="3703320" y="4261104"/>
            <a:ext cx="1188720" cy="566928"/>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Optimista</a:t>
            </a:r>
            <a:endParaRPr lang="en-US" sz="1200" dirty="0"/>
          </a:p>
          <a:p>
            <a:pPr marL="0" indent="0">
              <a:buNone/>
            </a:pPr>
            <a:r>
              <a:rPr lang="en-US" sz="1000" dirty="0">
                <a:solidFill>
                  <a:srgbClr val="5B6472"/>
                </a:solidFill>
                <a:latin typeface="Calibri" pitchFamily="34" charset="0"/>
                <a:ea typeface="Calibri" pitchFamily="34" charset="-122"/>
                <a:cs typeface="Calibri" pitchFamily="34" charset="-120"/>
              </a:rPr>
              <a:t>70% recuperado</a:t>
            </a:r>
            <a:endParaRPr lang="en-US" sz="1200" dirty="0"/>
          </a:p>
        </p:txBody>
      </p:sp>
      <p:sp>
        <p:nvSpPr>
          <p:cNvPr id="25" name="Shape 23"/>
          <p:cNvSpPr/>
          <p:nvPr/>
        </p:nvSpPr>
        <p:spPr>
          <a:xfrm>
            <a:off x="4937760" y="4334256"/>
            <a:ext cx="2148840" cy="420624"/>
          </a:xfrm>
          <a:prstGeom prst="rect">
            <a:avLst/>
          </a:prstGeom>
          <a:solidFill>
            <a:srgbClr val="1D3A63"/>
          </a:solidFill>
          <a:ln w="12700">
            <a:solidFill>
              <a:srgbClr val="1D3A63"/>
            </a:solidFill>
            <a:prstDash val="solid"/>
          </a:ln>
        </p:spPr>
        <p:txBody>
          <a:bodyPr/>
          <a:lstStyle/>
          <a:p>
            <a:endParaRPr lang="es-CL"/>
          </a:p>
        </p:txBody>
      </p:sp>
      <p:sp>
        <p:nvSpPr>
          <p:cNvPr id="26" name="Text 24"/>
          <p:cNvSpPr txBox="1"/>
          <p:nvPr/>
        </p:nvSpPr>
        <p:spPr>
          <a:xfrm>
            <a:off x="7159752" y="4334256"/>
            <a:ext cx="914400" cy="420624"/>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$17,9 M</a:t>
            </a:r>
            <a:endParaRPr lang="en-US" sz="1200" dirty="0"/>
          </a:p>
        </p:txBody>
      </p:sp>
      <p:sp>
        <p:nvSpPr>
          <p:cNvPr id="27" name="Text 25"/>
          <p:cNvSpPr txBox="1"/>
          <p:nvPr/>
        </p:nvSpPr>
        <p:spPr>
          <a:xfrm>
            <a:off x="4937760" y="4773168"/>
            <a:ext cx="2834640" cy="274320"/>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ROI 836% · recupera en 1,3 meses</a:t>
            </a:r>
            <a:endParaRPr lang="en-US" sz="1050" dirty="0"/>
          </a:p>
        </p:txBody>
      </p:sp>
      <p:sp>
        <p:nvSpPr>
          <p:cNvPr id="28" name="Shape 26"/>
          <p:cNvSpPr/>
          <p:nvPr/>
        </p:nvSpPr>
        <p:spPr>
          <a:xfrm>
            <a:off x="8092440" y="1783080"/>
            <a:ext cx="3520440" cy="3511296"/>
          </a:xfrm>
          <a:prstGeom prst="rect">
            <a:avLst/>
          </a:prstGeom>
          <a:solidFill>
            <a:srgbClr val="EEF1F5"/>
          </a:solidFill>
          <a:ln w="9525">
            <a:solidFill>
              <a:srgbClr val="D7DCE3"/>
            </a:solidFill>
            <a:prstDash val="solid"/>
          </a:ln>
        </p:spPr>
        <p:txBody>
          <a:bodyPr/>
          <a:lstStyle/>
          <a:p>
            <a:endParaRPr lang="es-CL"/>
          </a:p>
        </p:txBody>
      </p:sp>
      <p:sp>
        <p:nvSpPr>
          <p:cNvPr id="29" name="Text 27"/>
          <p:cNvSpPr txBox="1"/>
          <p:nvPr/>
        </p:nvSpPr>
        <p:spPr>
          <a:xfrm>
            <a:off x="8275320" y="1874520"/>
            <a:ext cx="3200400" cy="320040"/>
          </a:xfrm>
          <a:prstGeom prst="rect">
            <a:avLst/>
          </a:prstGeom>
          <a:noFill/>
          <a:ln/>
        </p:spPr>
        <p:txBody>
          <a:bodyPr wrap="square" lIns="0" tIns="0" rIns="0" bIns="0" rtlCol="0" anchor="ctr"/>
          <a:lstStyle/>
          <a:p>
            <a:pPr marL="0" indent="0">
              <a:buNone/>
            </a:pPr>
            <a:r>
              <a:rPr lang="en-US" sz="1350" b="1" dirty="0">
                <a:solidFill>
                  <a:srgbClr val="13294B"/>
                </a:solidFill>
                <a:latin typeface="Cambria" pitchFamily="34" charset="0"/>
                <a:ea typeface="Cambria" pitchFamily="34" charset="-122"/>
                <a:cs typeface="Cambria" pitchFamily="34" charset="-120"/>
              </a:rPr>
              <a:t>Qué es real y qué es supuesto</a:t>
            </a:r>
            <a:endParaRPr lang="en-US" sz="1350" dirty="0"/>
          </a:p>
        </p:txBody>
      </p:sp>
      <p:sp>
        <p:nvSpPr>
          <p:cNvPr id="30" name="Text 28"/>
          <p:cNvSpPr txBox="1"/>
          <p:nvPr/>
        </p:nvSpPr>
        <p:spPr>
          <a:xfrm>
            <a:off x="8275320" y="2240280"/>
            <a:ext cx="3200400" cy="2971800"/>
          </a:xfrm>
          <a:prstGeom prst="rect">
            <a:avLst/>
          </a:prstGeom>
          <a:noFill/>
          <a:ln/>
        </p:spPr>
        <p:txBody>
          <a:bodyPr wrap="square" lIns="0" tIns="0" rIns="0" bIns="0" rtlCol="0" anchor="t"/>
          <a:lstStyle/>
          <a:p>
            <a:pPr marL="0" indent="0">
              <a:spcAft>
                <a:spcPts val="400"/>
              </a:spcAft>
              <a:buNone/>
            </a:pPr>
            <a:r>
              <a:rPr lang="en-US" sz="1150" b="1" dirty="0">
                <a:solidFill>
                  <a:srgbClr val="2F855A"/>
                </a:solidFill>
                <a:latin typeface="Calibri" pitchFamily="34" charset="0"/>
                <a:ea typeface="Calibri" pitchFamily="34" charset="-122"/>
                <a:cs typeface="Calibri" pitchFamily="34" charset="-120"/>
              </a:rPr>
              <a:t>Datos reales del negocio</a:t>
            </a:r>
            <a:endParaRPr lang="en-US" sz="1150" dirty="0"/>
          </a:p>
          <a:p>
            <a:pPr marL="342900" indent="-342900">
              <a:spcAft>
                <a:spcPts val="400"/>
              </a:spcAft>
              <a:buSzPct val="100000"/>
              <a:buChar char="•"/>
            </a:pPr>
            <a:r>
              <a:rPr lang="en-US" sz="1150" dirty="0">
                <a:solidFill>
                  <a:srgbClr val="1E2430"/>
                </a:solidFill>
                <a:latin typeface="Calibri" pitchFamily="34" charset="0"/>
                <a:ea typeface="Calibri" pitchFamily="34" charset="-122"/>
                <a:cs typeface="Calibri" pitchFamily="34" charset="-120"/>
              </a:rPr>
              <a:t>130 atendidos y 26 que se van por día peak</a:t>
            </a:r>
            <a:endParaRPr lang="en-US" sz="1150" dirty="0"/>
          </a:p>
          <a:p>
            <a:pPr marL="342900" indent="-342900">
              <a:spcAft>
                <a:spcPts val="400"/>
              </a:spcAft>
              <a:buSzPct val="100000"/>
              <a:buChar char="•"/>
            </a:pPr>
            <a:r>
              <a:rPr lang="en-US" sz="1150" dirty="0">
                <a:solidFill>
                  <a:srgbClr val="1E2430"/>
                </a:solidFill>
                <a:latin typeface="Calibri" pitchFamily="34" charset="0"/>
                <a:ea typeface="Calibri" pitchFamily="34" charset="-122"/>
                <a:cs typeface="Calibri" pitchFamily="34" charset="-120"/>
              </a:rPr>
              <a:t>Precio del corte $11.900 y tarifas de Webpay</a:t>
            </a:r>
            <a:endParaRPr lang="en-US" sz="1150" dirty="0"/>
          </a:p>
          <a:p>
            <a:pPr marL="0" indent="0">
              <a:spcAft>
                <a:spcPts val="400"/>
              </a:spcAft>
              <a:buNone/>
            </a:pPr>
            <a:r>
              <a:rPr lang="en-US" sz="1150" b="1" dirty="0">
                <a:solidFill>
                  <a:srgbClr val="B5762A"/>
                </a:solidFill>
                <a:latin typeface="Calibri" pitchFamily="34" charset="0"/>
                <a:ea typeface="Calibri" pitchFamily="34" charset="-122"/>
                <a:cs typeface="Calibri" pitchFamily="34" charset="-120"/>
              </a:rPr>
              <a:t>Supuestos por validar</a:t>
            </a:r>
            <a:endParaRPr lang="en-US" sz="1150" dirty="0"/>
          </a:p>
          <a:p>
            <a:pPr marL="342900" indent="-342900">
              <a:spcAft>
                <a:spcPts val="400"/>
              </a:spcAft>
              <a:buSzPct val="100000"/>
              <a:buChar char="•"/>
            </a:pPr>
            <a:r>
              <a:rPr lang="en-US" sz="1150" dirty="0">
                <a:solidFill>
                  <a:srgbClr val="1E2430"/>
                </a:solidFill>
                <a:latin typeface="Calibri" pitchFamily="34" charset="0"/>
                <a:ea typeface="Calibri" pitchFamily="34" charset="-122"/>
                <a:cs typeface="Calibri" pitchFamily="34" charset="-120"/>
              </a:rPr>
              <a:t>Recuperación de clientes 30%–70%</a:t>
            </a:r>
            <a:endParaRPr lang="en-US" sz="1150" dirty="0"/>
          </a:p>
          <a:p>
            <a:pPr marL="342900" indent="-342900">
              <a:spcAft>
                <a:spcPts val="400"/>
              </a:spcAft>
              <a:buSzPct val="100000"/>
              <a:buChar char="•"/>
            </a:pPr>
            <a:r>
              <a:rPr lang="en-US" sz="1150" dirty="0">
                <a:solidFill>
                  <a:srgbClr val="1E2430"/>
                </a:solidFill>
                <a:latin typeface="Calibri" pitchFamily="34" charset="0"/>
                <a:ea typeface="Calibri" pitchFamily="34" charset="-122"/>
                <a:cs typeface="Calibri" pitchFamily="34" charset="-120"/>
              </a:rPr>
              <a:t>Margen 50% · adopción online 30%</a:t>
            </a:r>
            <a:endParaRPr lang="en-US" sz="1150" dirty="0"/>
          </a:p>
          <a:p>
            <a:pPr marL="342900" indent="-342900">
              <a:spcAft>
                <a:spcPts val="400"/>
              </a:spcAft>
              <a:buSzPct val="100000"/>
              <a:buChar char="•"/>
            </a:pPr>
            <a:r>
              <a:rPr lang="en-US" sz="1150" dirty="0">
                <a:solidFill>
                  <a:srgbClr val="1E2430"/>
                </a:solidFill>
                <a:latin typeface="Calibri" pitchFamily="34" charset="0"/>
                <a:ea typeface="Calibri" pitchFamily="34" charset="-122"/>
                <a:cs typeface="Calibri" pitchFamily="34" charset="-120"/>
              </a:rPr>
              <a:t>No-show 15% sin abono y 5% con abono</a:t>
            </a:r>
            <a:endParaRPr lang="en-US" sz="1150" dirty="0"/>
          </a:p>
        </p:txBody>
      </p:sp>
      <p:sp>
        <p:nvSpPr>
          <p:cNvPr id="31" name="Shape 29"/>
          <p:cNvSpPr/>
          <p:nvPr/>
        </p:nvSpPr>
        <p:spPr>
          <a:xfrm>
            <a:off x="548640" y="5486400"/>
            <a:ext cx="11064240" cy="731520"/>
          </a:xfrm>
          <a:prstGeom prst="rect">
            <a:avLst/>
          </a:prstGeom>
          <a:solidFill>
            <a:srgbClr val="EEF1F5"/>
          </a:solidFill>
          <a:ln w="9525">
            <a:solidFill>
              <a:srgbClr val="D7DCE3"/>
            </a:solidFill>
            <a:prstDash val="solid"/>
          </a:ln>
        </p:spPr>
        <p:txBody>
          <a:bodyPr/>
          <a:lstStyle/>
          <a:p>
            <a:endParaRPr lang="es-CL"/>
          </a:p>
        </p:txBody>
      </p:sp>
      <p:sp>
        <p:nvSpPr>
          <p:cNvPr id="32" name="Text 30"/>
          <p:cNvSpPr txBox="1"/>
          <p:nvPr/>
        </p:nvSpPr>
        <p:spPr>
          <a:xfrm>
            <a:off x="731520" y="5486400"/>
            <a:ext cx="10698480" cy="731520"/>
          </a:xfrm>
          <a:prstGeom prst="rect">
            <a:avLst/>
          </a:prstGeom>
          <a:noFill/>
          <a:ln/>
        </p:spPr>
        <p:txBody>
          <a:bodyPr wrap="square" lIns="0" tIns="0" rIns="0" bIns="0" rtlCol="0" anchor="ctr"/>
          <a:lstStyle/>
          <a:p>
            <a:pPr marL="0" indent="0">
              <a:buNone/>
            </a:pPr>
            <a:r>
              <a:rPr lang="en-US" sz="1200" b="1" dirty="0">
                <a:solidFill>
                  <a:srgbClr val="13294B"/>
                </a:solidFill>
                <a:latin typeface="Calibri" pitchFamily="34" charset="0"/>
                <a:ea typeface="Calibri" pitchFamily="34" charset="-122"/>
                <a:cs typeface="Calibri" pitchFamily="34" charset="-120"/>
              </a:rPr>
              <a:t>Lectura: </a:t>
            </a:r>
            <a:r>
              <a:rPr lang="en-US" sz="1200" dirty="0">
                <a:solidFill>
                  <a:srgbClr val="1E2430"/>
                </a:solidFill>
                <a:latin typeface="Calibri" pitchFamily="34" charset="0"/>
                <a:ea typeface="Calibri" pitchFamily="34" charset="-122"/>
                <a:cs typeface="Calibri" pitchFamily="34" charset="-120"/>
              </a:rPr>
              <a:t>aun con el supuesto más bajo, 30% de recuperación, el beneficio neto es de $7,6 millones al año frente a una inversión de $1,92 </a:t>
            </a:r>
            <a:r>
              <a:rPr lang="en-US" sz="1200" dirty="0" err="1">
                <a:solidFill>
                  <a:srgbClr val="1E2430"/>
                </a:solidFill>
                <a:latin typeface="Calibri" pitchFamily="34" charset="0"/>
                <a:ea typeface="Calibri" pitchFamily="34" charset="-122"/>
                <a:cs typeface="Calibri" pitchFamily="34" charset="-120"/>
              </a:rPr>
              <a:t>millones</a:t>
            </a:r>
            <a:r>
              <a:rPr lang="en-US" sz="1200" dirty="0">
                <a:solidFill>
                  <a:srgbClr val="1E2430"/>
                </a:solidFill>
                <a:latin typeface="Calibri" pitchFamily="34" charset="0"/>
                <a:ea typeface="Calibri" pitchFamily="34" charset="-122"/>
                <a:cs typeface="Calibri" pitchFamily="34" charset="-120"/>
              </a:rPr>
              <a:t>.</a:t>
            </a:r>
            <a:endParaRPr lang="en-US" sz="1200" dirty="0"/>
          </a:p>
        </p:txBody>
      </p:sp>
      <p:sp>
        <p:nvSpPr>
          <p:cNvPr id="33"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PROPUESTA DE VALOR · CONFIANZA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Seguro y alineado con la Ley N° 21.719 desde el diseño</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La ley de protección de datos personales entra en vigencia el 01-12-2026: el sistema ya la considera en su modelo de datos y en sus pantallas.</a:t>
            </a:r>
            <a:endParaRPr lang="en-US" sz="1250" dirty="0"/>
          </a:p>
        </p:txBody>
      </p:sp>
      <p:sp>
        <p:nvSpPr>
          <p:cNvPr id="5" name="Shape 3"/>
          <p:cNvSpPr/>
          <p:nvPr/>
        </p:nvSpPr>
        <p:spPr>
          <a:xfrm>
            <a:off x="548640" y="1783080"/>
            <a:ext cx="3474720" cy="1737360"/>
          </a:xfrm>
          <a:prstGeom prst="rect">
            <a:avLst/>
          </a:prstGeom>
          <a:solidFill>
            <a:srgbClr val="FFFFFF"/>
          </a:solidFill>
          <a:ln w="9525">
            <a:solidFill>
              <a:srgbClr val="D7DCE3"/>
            </a:solidFill>
            <a:prstDash val="solid"/>
          </a:ln>
        </p:spPr>
        <p:txBody>
          <a:bodyPr/>
          <a:lstStyle/>
          <a:p>
            <a:endParaRPr lang="es-CL"/>
          </a:p>
        </p:txBody>
      </p:sp>
      <p:sp>
        <p:nvSpPr>
          <p:cNvPr id="6" name="Shape 4"/>
          <p:cNvSpPr/>
          <p:nvPr/>
        </p:nvSpPr>
        <p:spPr>
          <a:xfrm>
            <a:off x="731520" y="1984248"/>
            <a:ext cx="384048" cy="384048"/>
          </a:xfrm>
          <a:prstGeom prst="ellipse">
            <a:avLst/>
          </a:prstGeom>
          <a:solidFill>
            <a:srgbClr val="2F855A"/>
          </a:solidFill>
          <a:ln w="12700">
            <a:solidFill>
              <a:srgbClr val="2F855A"/>
            </a:solidFill>
            <a:prstDash val="solid"/>
          </a:ln>
        </p:spPr>
        <p:txBody>
          <a:bodyPr/>
          <a:lstStyle/>
          <a:p>
            <a:endParaRPr lang="es-CL"/>
          </a:p>
        </p:txBody>
      </p:sp>
      <p:sp>
        <p:nvSpPr>
          <p:cNvPr id="7" name="Text 5"/>
          <p:cNvSpPr txBox="1"/>
          <p:nvPr/>
        </p:nvSpPr>
        <p:spPr>
          <a:xfrm>
            <a:off x="731520" y="19842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6"/>
          <p:cNvSpPr txBox="1"/>
          <p:nvPr/>
        </p:nvSpPr>
        <p:spPr>
          <a:xfrm>
            <a:off x="1234440" y="1947672"/>
            <a:ext cx="2651760" cy="457200"/>
          </a:xfrm>
          <a:prstGeom prst="rect">
            <a:avLst/>
          </a:prstGeom>
          <a:noFill/>
          <a:ln/>
        </p:spPr>
        <p:txBody>
          <a:bodyPr wrap="square" lIns="0" tIns="0" rIns="0" bIns="0" rtlCol="0" anchor="ctr"/>
          <a:lstStyle/>
          <a:p>
            <a:pPr marL="0" indent="0">
              <a:buNone/>
            </a:pPr>
            <a:r>
              <a:rPr lang="en-US" sz="1400" b="1" dirty="0">
                <a:solidFill>
                  <a:srgbClr val="1E2430"/>
                </a:solidFill>
                <a:latin typeface="Cambria" pitchFamily="34" charset="0"/>
                <a:ea typeface="Cambria" pitchFamily="34" charset="-122"/>
                <a:cs typeface="Cambria" pitchFamily="34" charset="-120"/>
              </a:rPr>
              <a:t>Sin reservas duplicadas</a:t>
            </a:r>
            <a:endParaRPr lang="en-US" sz="1400" dirty="0"/>
          </a:p>
        </p:txBody>
      </p:sp>
      <p:sp>
        <p:nvSpPr>
          <p:cNvPr id="9" name="Text 7"/>
          <p:cNvSpPr txBox="1"/>
          <p:nvPr/>
        </p:nvSpPr>
        <p:spPr>
          <a:xfrm>
            <a:off x="731520" y="2496312"/>
            <a:ext cx="3154680" cy="960120"/>
          </a:xfrm>
          <a:prstGeom prst="rect">
            <a:avLst/>
          </a:prstGeom>
          <a:noFill/>
          <a:ln/>
        </p:spPr>
        <p:txBody>
          <a:bodyPr wrap="square" lIns="0" tIns="0" rIns="0" bIns="0" rtlCol="0" anchor="t"/>
          <a:lstStyle/>
          <a:p>
            <a:pPr marL="0" indent="0">
              <a:buNone/>
            </a:pPr>
            <a:r>
              <a:rPr lang="en-US" sz="1150" dirty="0">
                <a:solidFill>
                  <a:srgbClr val="1E2430"/>
                </a:solidFill>
                <a:latin typeface="Calibri" pitchFamily="34" charset="0"/>
                <a:ea typeface="Calibri" pitchFamily="34" charset="-122"/>
                <a:cs typeface="Calibri" pitchFamily="34" charset="-120"/>
              </a:rPr>
              <a:t>La base de datos impide dos reservas del mismo barbero en el mismo horario (restricción de exclusión de PostgreSQL).</a:t>
            </a:r>
            <a:endParaRPr lang="en-US" sz="1150" dirty="0"/>
          </a:p>
        </p:txBody>
      </p:sp>
      <p:sp>
        <p:nvSpPr>
          <p:cNvPr id="10" name="Shape 8"/>
          <p:cNvSpPr/>
          <p:nvPr/>
        </p:nvSpPr>
        <p:spPr>
          <a:xfrm>
            <a:off x="4206240" y="1783080"/>
            <a:ext cx="3474720" cy="1737360"/>
          </a:xfrm>
          <a:prstGeom prst="rect">
            <a:avLst/>
          </a:prstGeom>
          <a:solidFill>
            <a:srgbClr val="FFFFFF"/>
          </a:solidFill>
          <a:ln w="9525">
            <a:solidFill>
              <a:srgbClr val="D7DCE3"/>
            </a:solidFill>
            <a:prstDash val="solid"/>
          </a:ln>
        </p:spPr>
        <p:txBody>
          <a:bodyPr/>
          <a:lstStyle/>
          <a:p>
            <a:endParaRPr lang="es-CL"/>
          </a:p>
        </p:txBody>
      </p:sp>
      <p:sp>
        <p:nvSpPr>
          <p:cNvPr id="11" name="Shape 9"/>
          <p:cNvSpPr/>
          <p:nvPr/>
        </p:nvSpPr>
        <p:spPr>
          <a:xfrm>
            <a:off x="4389120" y="1984248"/>
            <a:ext cx="384048" cy="384048"/>
          </a:xfrm>
          <a:prstGeom prst="ellipse">
            <a:avLst/>
          </a:prstGeom>
          <a:solidFill>
            <a:srgbClr val="2F855A"/>
          </a:solidFill>
          <a:ln w="12700">
            <a:solidFill>
              <a:srgbClr val="2F855A"/>
            </a:solidFill>
            <a:prstDash val="solid"/>
          </a:ln>
        </p:spPr>
        <p:txBody>
          <a:bodyPr/>
          <a:lstStyle/>
          <a:p>
            <a:endParaRPr lang="es-CL"/>
          </a:p>
        </p:txBody>
      </p:sp>
      <p:sp>
        <p:nvSpPr>
          <p:cNvPr id="12" name="Text 10"/>
          <p:cNvSpPr txBox="1"/>
          <p:nvPr/>
        </p:nvSpPr>
        <p:spPr>
          <a:xfrm>
            <a:off x="4389120" y="19842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1"/>
          <p:cNvSpPr txBox="1"/>
          <p:nvPr/>
        </p:nvSpPr>
        <p:spPr>
          <a:xfrm>
            <a:off x="4892040" y="1947672"/>
            <a:ext cx="2651760" cy="457200"/>
          </a:xfrm>
          <a:prstGeom prst="rect">
            <a:avLst/>
          </a:prstGeom>
          <a:noFill/>
          <a:ln/>
        </p:spPr>
        <p:txBody>
          <a:bodyPr wrap="square" lIns="0" tIns="0" rIns="0" bIns="0" rtlCol="0" anchor="ctr"/>
          <a:lstStyle/>
          <a:p>
            <a:pPr marL="0" indent="0">
              <a:buNone/>
            </a:pPr>
            <a:r>
              <a:rPr lang="en-US" sz="1400" b="1" dirty="0">
                <a:solidFill>
                  <a:srgbClr val="1E2430"/>
                </a:solidFill>
                <a:latin typeface="Cambria" pitchFamily="34" charset="0"/>
                <a:ea typeface="Cambria" pitchFamily="34" charset="-122"/>
                <a:cs typeface="Cambria" pitchFamily="34" charset="-120"/>
              </a:rPr>
              <a:t>Pagos sin guardar tarjetas</a:t>
            </a:r>
            <a:endParaRPr lang="en-US" sz="1400" dirty="0"/>
          </a:p>
        </p:txBody>
      </p:sp>
      <p:sp>
        <p:nvSpPr>
          <p:cNvPr id="14" name="Text 12"/>
          <p:cNvSpPr txBox="1"/>
          <p:nvPr/>
        </p:nvSpPr>
        <p:spPr>
          <a:xfrm>
            <a:off x="4389120" y="2496312"/>
            <a:ext cx="3154680" cy="960120"/>
          </a:xfrm>
          <a:prstGeom prst="rect">
            <a:avLst/>
          </a:prstGeom>
          <a:noFill/>
          <a:ln/>
        </p:spPr>
        <p:txBody>
          <a:bodyPr wrap="square" lIns="0" tIns="0" rIns="0" bIns="0" rtlCol="0" anchor="t"/>
          <a:lstStyle/>
          <a:p>
            <a:pPr marL="0" indent="0">
              <a:buNone/>
            </a:pPr>
            <a:r>
              <a:rPr lang="en-US" sz="1150" dirty="0">
                <a:solidFill>
                  <a:srgbClr val="1E2430"/>
                </a:solidFill>
                <a:latin typeface="Calibri" pitchFamily="34" charset="0"/>
                <a:ea typeface="Calibri" pitchFamily="34" charset="-122"/>
                <a:cs typeface="Calibri" pitchFamily="34" charset="-120"/>
              </a:rPr>
              <a:t>El abono se paga en Webpay; el sistema no almacena RUT ni datos de tarjeta.</a:t>
            </a:r>
            <a:endParaRPr lang="en-US" sz="1150" dirty="0"/>
          </a:p>
        </p:txBody>
      </p:sp>
      <p:sp>
        <p:nvSpPr>
          <p:cNvPr id="15" name="Shape 13"/>
          <p:cNvSpPr/>
          <p:nvPr/>
        </p:nvSpPr>
        <p:spPr>
          <a:xfrm>
            <a:off x="548640" y="3657600"/>
            <a:ext cx="3474720" cy="1737360"/>
          </a:xfrm>
          <a:prstGeom prst="rect">
            <a:avLst/>
          </a:prstGeom>
          <a:solidFill>
            <a:srgbClr val="FFFFFF"/>
          </a:solidFill>
          <a:ln w="9525">
            <a:solidFill>
              <a:srgbClr val="D7DCE3"/>
            </a:solidFill>
            <a:prstDash val="solid"/>
          </a:ln>
        </p:spPr>
        <p:txBody>
          <a:bodyPr/>
          <a:lstStyle/>
          <a:p>
            <a:endParaRPr lang="es-CL"/>
          </a:p>
        </p:txBody>
      </p:sp>
      <p:sp>
        <p:nvSpPr>
          <p:cNvPr id="16" name="Shape 14"/>
          <p:cNvSpPr/>
          <p:nvPr/>
        </p:nvSpPr>
        <p:spPr>
          <a:xfrm>
            <a:off x="731520" y="3858768"/>
            <a:ext cx="384048" cy="384048"/>
          </a:xfrm>
          <a:prstGeom prst="ellipse">
            <a:avLst/>
          </a:prstGeom>
          <a:solidFill>
            <a:srgbClr val="2F855A"/>
          </a:solidFill>
          <a:ln w="12700">
            <a:solidFill>
              <a:srgbClr val="2F855A"/>
            </a:solidFill>
            <a:prstDash val="solid"/>
          </a:ln>
        </p:spPr>
        <p:txBody>
          <a:bodyPr/>
          <a:lstStyle/>
          <a:p>
            <a:endParaRPr lang="es-CL"/>
          </a:p>
        </p:txBody>
      </p:sp>
      <p:sp>
        <p:nvSpPr>
          <p:cNvPr id="17" name="Text 15"/>
          <p:cNvSpPr txBox="1"/>
          <p:nvPr/>
        </p:nvSpPr>
        <p:spPr>
          <a:xfrm>
            <a:off x="731520" y="38587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1234440" y="3822192"/>
            <a:ext cx="2651760" cy="457200"/>
          </a:xfrm>
          <a:prstGeom prst="rect">
            <a:avLst/>
          </a:prstGeom>
          <a:noFill/>
          <a:ln/>
        </p:spPr>
        <p:txBody>
          <a:bodyPr wrap="square" lIns="0" tIns="0" rIns="0" bIns="0" rtlCol="0" anchor="ctr"/>
          <a:lstStyle/>
          <a:p>
            <a:pPr marL="0" indent="0">
              <a:buNone/>
            </a:pPr>
            <a:r>
              <a:rPr lang="en-US" sz="1400" b="1" dirty="0">
                <a:solidFill>
                  <a:srgbClr val="1E2430"/>
                </a:solidFill>
                <a:latin typeface="Cambria" pitchFamily="34" charset="0"/>
                <a:ea typeface="Cambria" pitchFamily="34" charset="-122"/>
                <a:cs typeface="Cambria" pitchFamily="34" charset="-120"/>
              </a:rPr>
              <a:t>Datos protegidos</a:t>
            </a:r>
            <a:endParaRPr lang="en-US" sz="1400" dirty="0"/>
          </a:p>
        </p:txBody>
      </p:sp>
      <p:sp>
        <p:nvSpPr>
          <p:cNvPr id="19" name="Text 17"/>
          <p:cNvSpPr txBox="1"/>
          <p:nvPr/>
        </p:nvSpPr>
        <p:spPr>
          <a:xfrm>
            <a:off x="731520" y="4370832"/>
            <a:ext cx="3154680" cy="960120"/>
          </a:xfrm>
          <a:prstGeom prst="rect">
            <a:avLst/>
          </a:prstGeom>
          <a:noFill/>
          <a:ln/>
        </p:spPr>
        <p:txBody>
          <a:bodyPr wrap="square" lIns="0" tIns="0" rIns="0" bIns="0" rtlCol="0" anchor="t"/>
          <a:lstStyle/>
          <a:p>
            <a:pPr marL="0" indent="0">
              <a:buNone/>
            </a:pPr>
            <a:r>
              <a:rPr lang="en-US" sz="1150" dirty="0">
                <a:solidFill>
                  <a:srgbClr val="1E2430"/>
                </a:solidFill>
                <a:latin typeface="Calibri" pitchFamily="34" charset="0"/>
                <a:ea typeface="Calibri" pitchFamily="34" charset="-122"/>
                <a:cs typeface="Calibri" pitchFamily="34" charset="-120"/>
              </a:rPr>
              <a:t>Tablas cerradas al acceso público; la web y la app solo usan la API. Contraseñas con bcrypt y auditoría de accesos.</a:t>
            </a:r>
            <a:endParaRPr lang="en-US" sz="1150" dirty="0"/>
          </a:p>
        </p:txBody>
      </p:sp>
      <p:sp>
        <p:nvSpPr>
          <p:cNvPr id="20" name="Shape 18"/>
          <p:cNvSpPr/>
          <p:nvPr/>
        </p:nvSpPr>
        <p:spPr>
          <a:xfrm>
            <a:off x="4206240" y="3657600"/>
            <a:ext cx="3474720" cy="1737360"/>
          </a:xfrm>
          <a:prstGeom prst="rect">
            <a:avLst/>
          </a:prstGeom>
          <a:solidFill>
            <a:srgbClr val="FFFFFF"/>
          </a:solidFill>
          <a:ln w="9525">
            <a:solidFill>
              <a:srgbClr val="D7DCE3"/>
            </a:solidFill>
            <a:prstDash val="solid"/>
          </a:ln>
        </p:spPr>
        <p:txBody>
          <a:bodyPr/>
          <a:lstStyle/>
          <a:p>
            <a:endParaRPr lang="es-CL"/>
          </a:p>
        </p:txBody>
      </p:sp>
      <p:sp>
        <p:nvSpPr>
          <p:cNvPr id="21" name="Shape 19"/>
          <p:cNvSpPr/>
          <p:nvPr/>
        </p:nvSpPr>
        <p:spPr>
          <a:xfrm>
            <a:off x="4389120" y="3858768"/>
            <a:ext cx="384048" cy="384048"/>
          </a:xfrm>
          <a:prstGeom prst="ellipse">
            <a:avLst/>
          </a:prstGeom>
          <a:solidFill>
            <a:srgbClr val="2F855A"/>
          </a:solidFill>
          <a:ln w="12700">
            <a:solidFill>
              <a:srgbClr val="2F855A"/>
            </a:solidFill>
            <a:prstDash val="solid"/>
          </a:ln>
        </p:spPr>
        <p:txBody>
          <a:bodyPr/>
          <a:lstStyle/>
          <a:p>
            <a:endParaRPr lang="es-CL"/>
          </a:p>
        </p:txBody>
      </p:sp>
      <p:sp>
        <p:nvSpPr>
          <p:cNvPr id="22" name="Text 20"/>
          <p:cNvSpPr txBox="1"/>
          <p:nvPr/>
        </p:nvSpPr>
        <p:spPr>
          <a:xfrm>
            <a:off x="4389120" y="38587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3" name="Text 21"/>
          <p:cNvSpPr txBox="1"/>
          <p:nvPr/>
        </p:nvSpPr>
        <p:spPr>
          <a:xfrm>
            <a:off x="4892040" y="3822192"/>
            <a:ext cx="2651760" cy="457200"/>
          </a:xfrm>
          <a:prstGeom prst="rect">
            <a:avLst/>
          </a:prstGeom>
          <a:noFill/>
          <a:ln/>
        </p:spPr>
        <p:txBody>
          <a:bodyPr wrap="square" lIns="0" tIns="0" rIns="0" bIns="0" rtlCol="0" anchor="ctr"/>
          <a:lstStyle/>
          <a:p>
            <a:pPr marL="0" indent="0">
              <a:buNone/>
            </a:pPr>
            <a:r>
              <a:rPr lang="en-US" sz="1400" b="1" dirty="0">
                <a:solidFill>
                  <a:srgbClr val="1E2430"/>
                </a:solidFill>
                <a:latin typeface="Cambria" pitchFamily="34" charset="0"/>
                <a:ea typeface="Cambria" pitchFamily="34" charset="-122"/>
                <a:cs typeface="Cambria" pitchFamily="34" charset="-120"/>
              </a:rPr>
              <a:t>Derechos del titular</a:t>
            </a:r>
            <a:endParaRPr lang="en-US" sz="1400" dirty="0"/>
          </a:p>
        </p:txBody>
      </p:sp>
      <p:sp>
        <p:nvSpPr>
          <p:cNvPr id="24" name="Text 22"/>
          <p:cNvSpPr txBox="1"/>
          <p:nvPr/>
        </p:nvSpPr>
        <p:spPr>
          <a:xfrm>
            <a:off x="4389120" y="4370832"/>
            <a:ext cx="3154680" cy="960120"/>
          </a:xfrm>
          <a:prstGeom prst="rect">
            <a:avLst/>
          </a:prstGeom>
          <a:noFill/>
          <a:ln/>
        </p:spPr>
        <p:txBody>
          <a:bodyPr wrap="square" lIns="0" tIns="0" rIns="0" bIns="0" rtlCol="0" anchor="t"/>
          <a:lstStyle/>
          <a:p>
            <a:pPr marL="0" indent="0">
              <a:buNone/>
            </a:pPr>
            <a:r>
              <a:rPr lang="en-US" sz="1150" dirty="0">
                <a:solidFill>
                  <a:srgbClr val="1E2430"/>
                </a:solidFill>
                <a:latin typeface="Calibri" pitchFamily="34" charset="0"/>
                <a:ea typeface="Calibri" pitchFamily="34" charset="-122"/>
                <a:cs typeface="Calibri" pitchFamily="34" charset="-120"/>
              </a:rPr>
              <a:t>Consentimiento informado al registrarse, «Mis datos» para acceder, rectificar o suprimir, y registro de actividades de tratamiento.</a:t>
            </a:r>
            <a:endParaRPr lang="en-US" sz="1150" dirty="0"/>
          </a:p>
        </p:txBody>
      </p:sp>
      <p:sp>
        <p:nvSpPr>
          <p:cNvPr id="25" name="Shape 23"/>
          <p:cNvSpPr/>
          <p:nvPr/>
        </p:nvSpPr>
        <p:spPr>
          <a:xfrm>
            <a:off x="8001000" y="1783080"/>
            <a:ext cx="3611880" cy="3611880"/>
          </a:xfrm>
          <a:prstGeom prst="rect">
            <a:avLst/>
          </a:prstGeom>
          <a:solidFill>
            <a:srgbClr val="EEF1F5"/>
          </a:solidFill>
          <a:ln w="9525">
            <a:solidFill>
              <a:srgbClr val="D7DCE3"/>
            </a:solidFill>
            <a:prstDash val="solid"/>
          </a:ln>
        </p:spPr>
        <p:txBody>
          <a:bodyPr/>
          <a:lstStyle/>
          <a:p>
            <a:endParaRPr lang="es-CL"/>
          </a:p>
        </p:txBody>
      </p:sp>
      <p:sp>
        <p:nvSpPr>
          <p:cNvPr id="26" name="Text 24"/>
          <p:cNvSpPr txBox="1"/>
          <p:nvPr/>
        </p:nvSpPr>
        <p:spPr>
          <a:xfrm>
            <a:off x="8183880" y="1874520"/>
            <a:ext cx="3291840" cy="320040"/>
          </a:xfrm>
          <a:prstGeom prst="rect">
            <a:avLst/>
          </a:prstGeom>
          <a:noFill/>
          <a:ln/>
        </p:spPr>
        <p:txBody>
          <a:bodyPr wrap="square" lIns="0" tIns="0" rIns="0" bIns="0" rtlCol="0" anchor="ctr"/>
          <a:lstStyle/>
          <a:p>
            <a:pPr marL="0" indent="0">
              <a:buNone/>
            </a:pPr>
            <a:r>
              <a:rPr lang="en-US" sz="1350" b="1" dirty="0">
                <a:solidFill>
                  <a:srgbClr val="13294B"/>
                </a:solidFill>
                <a:latin typeface="Cambria" pitchFamily="34" charset="0"/>
                <a:ea typeface="Cambria" pitchFamily="34" charset="-122"/>
                <a:cs typeface="Cambria" pitchFamily="34" charset="-120"/>
              </a:rPr>
              <a:t>Multas que se evitan (art. 35)</a:t>
            </a:r>
            <a:endParaRPr lang="en-US" sz="1350" dirty="0"/>
          </a:p>
        </p:txBody>
      </p:sp>
      <p:sp>
        <p:nvSpPr>
          <p:cNvPr id="27" name="Text 25"/>
          <p:cNvSpPr txBox="1"/>
          <p:nvPr/>
        </p:nvSpPr>
        <p:spPr>
          <a:xfrm>
            <a:off x="8183880" y="2331720"/>
            <a:ext cx="1143000" cy="731520"/>
          </a:xfrm>
          <a:prstGeom prst="rect">
            <a:avLst/>
          </a:prstGeom>
          <a:noFill/>
          <a:ln/>
        </p:spPr>
        <p:txBody>
          <a:bodyPr wrap="square" lIns="0" tIns="0" rIns="0" bIns="0" rtlCol="0" anchor="ctr"/>
          <a:lstStyle/>
          <a:p>
            <a:pPr marL="0" indent="0">
              <a:buNone/>
            </a:pPr>
            <a:r>
              <a:rPr lang="en-US" sz="1250" b="1" dirty="0">
                <a:solidFill>
                  <a:srgbClr val="1E2430"/>
                </a:solidFill>
                <a:latin typeface="Calibri" pitchFamily="34" charset="0"/>
                <a:ea typeface="Calibri" pitchFamily="34" charset="-122"/>
                <a:cs typeface="Calibri" pitchFamily="34" charset="-120"/>
              </a:rPr>
              <a:t>Leve</a:t>
            </a:r>
            <a:endParaRPr lang="en-US" sz="1250" dirty="0"/>
          </a:p>
        </p:txBody>
      </p:sp>
      <p:sp>
        <p:nvSpPr>
          <p:cNvPr id="28" name="Text 26"/>
          <p:cNvSpPr txBox="1"/>
          <p:nvPr/>
        </p:nvSpPr>
        <p:spPr>
          <a:xfrm>
            <a:off x="9326880" y="2331720"/>
            <a:ext cx="2194560" cy="731520"/>
          </a:xfrm>
          <a:prstGeom prst="rect">
            <a:avLst/>
          </a:prstGeom>
          <a:noFill/>
          <a:ln/>
        </p:spPr>
        <p:txBody>
          <a:bodyPr wrap="square" lIns="0" tIns="0" rIns="0" bIns="0" rtlCol="0" anchor="ctr"/>
          <a:lstStyle/>
          <a:p>
            <a:pPr marL="0" indent="0">
              <a:buNone/>
            </a:pPr>
            <a:r>
              <a:rPr lang="en-US" sz="1700" b="1" dirty="0">
                <a:solidFill>
                  <a:srgbClr val="B83A3A"/>
                </a:solidFill>
                <a:latin typeface="Calibri" pitchFamily="34" charset="0"/>
                <a:ea typeface="Calibri" pitchFamily="34" charset="-122"/>
                <a:cs typeface="Calibri" pitchFamily="34" charset="-120"/>
              </a:rPr>
              <a:t>≈ $361 M</a:t>
            </a:r>
            <a:endParaRPr lang="en-US" sz="1700" dirty="0"/>
          </a:p>
          <a:p>
            <a:pPr marL="0" indent="0">
              <a:buNone/>
            </a:pPr>
            <a:r>
              <a:rPr lang="en-US" sz="1050" dirty="0">
                <a:solidFill>
                  <a:srgbClr val="5B6472"/>
                </a:solidFill>
                <a:latin typeface="Calibri" pitchFamily="34" charset="0"/>
                <a:ea typeface="Calibri" pitchFamily="34" charset="-122"/>
                <a:cs typeface="Calibri" pitchFamily="34" charset="-120"/>
              </a:rPr>
              <a:t>hasta 5.000 UTM</a:t>
            </a:r>
            <a:endParaRPr lang="en-US" sz="1700" dirty="0"/>
          </a:p>
        </p:txBody>
      </p:sp>
      <p:sp>
        <p:nvSpPr>
          <p:cNvPr id="29" name="Text 27"/>
          <p:cNvSpPr txBox="1"/>
          <p:nvPr/>
        </p:nvSpPr>
        <p:spPr>
          <a:xfrm>
            <a:off x="8183880" y="3200400"/>
            <a:ext cx="1143000" cy="731520"/>
          </a:xfrm>
          <a:prstGeom prst="rect">
            <a:avLst/>
          </a:prstGeom>
          <a:noFill/>
          <a:ln/>
        </p:spPr>
        <p:txBody>
          <a:bodyPr wrap="square" lIns="0" tIns="0" rIns="0" bIns="0" rtlCol="0" anchor="ctr"/>
          <a:lstStyle/>
          <a:p>
            <a:pPr marL="0" indent="0">
              <a:buNone/>
            </a:pPr>
            <a:r>
              <a:rPr lang="en-US" sz="1250" b="1" dirty="0">
                <a:solidFill>
                  <a:srgbClr val="1E2430"/>
                </a:solidFill>
                <a:latin typeface="Calibri" pitchFamily="34" charset="0"/>
                <a:ea typeface="Calibri" pitchFamily="34" charset="-122"/>
                <a:cs typeface="Calibri" pitchFamily="34" charset="-120"/>
              </a:rPr>
              <a:t>Grave</a:t>
            </a:r>
            <a:endParaRPr lang="en-US" sz="1250" dirty="0"/>
          </a:p>
        </p:txBody>
      </p:sp>
      <p:sp>
        <p:nvSpPr>
          <p:cNvPr id="30" name="Text 28"/>
          <p:cNvSpPr txBox="1"/>
          <p:nvPr/>
        </p:nvSpPr>
        <p:spPr>
          <a:xfrm>
            <a:off x="9326880" y="3200400"/>
            <a:ext cx="2194560" cy="731520"/>
          </a:xfrm>
          <a:prstGeom prst="rect">
            <a:avLst/>
          </a:prstGeom>
          <a:noFill/>
          <a:ln/>
        </p:spPr>
        <p:txBody>
          <a:bodyPr wrap="square" lIns="0" tIns="0" rIns="0" bIns="0" rtlCol="0" anchor="ctr"/>
          <a:lstStyle/>
          <a:p>
            <a:pPr marL="0" indent="0">
              <a:buNone/>
            </a:pPr>
            <a:r>
              <a:rPr lang="en-US" sz="1700" b="1" dirty="0">
                <a:solidFill>
                  <a:srgbClr val="B83A3A"/>
                </a:solidFill>
                <a:latin typeface="Calibri" pitchFamily="34" charset="0"/>
                <a:ea typeface="Calibri" pitchFamily="34" charset="-122"/>
                <a:cs typeface="Calibri" pitchFamily="34" charset="-120"/>
              </a:rPr>
              <a:t>≈ $722 M</a:t>
            </a:r>
            <a:endParaRPr lang="en-US" sz="1700" dirty="0"/>
          </a:p>
          <a:p>
            <a:pPr marL="0" indent="0">
              <a:buNone/>
            </a:pPr>
            <a:r>
              <a:rPr lang="en-US" sz="1050" dirty="0">
                <a:solidFill>
                  <a:srgbClr val="5B6472"/>
                </a:solidFill>
                <a:latin typeface="Calibri" pitchFamily="34" charset="0"/>
                <a:ea typeface="Calibri" pitchFamily="34" charset="-122"/>
                <a:cs typeface="Calibri" pitchFamily="34" charset="-120"/>
              </a:rPr>
              <a:t>hasta 10.000 UTM</a:t>
            </a:r>
            <a:endParaRPr lang="en-US" sz="1700" dirty="0"/>
          </a:p>
        </p:txBody>
      </p:sp>
      <p:sp>
        <p:nvSpPr>
          <p:cNvPr id="31" name="Text 29"/>
          <p:cNvSpPr txBox="1"/>
          <p:nvPr/>
        </p:nvSpPr>
        <p:spPr>
          <a:xfrm>
            <a:off x="8183880" y="4069080"/>
            <a:ext cx="1143000" cy="731520"/>
          </a:xfrm>
          <a:prstGeom prst="rect">
            <a:avLst/>
          </a:prstGeom>
          <a:noFill/>
          <a:ln/>
        </p:spPr>
        <p:txBody>
          <a:bodyPr wrap="square" lIns="0" tIns="0" rIns="0" bIns="0" rtlCol="0" anchor="ctr"/>
          <a:lstStyle/>
          <a:p>
            <a:pPr marL="0" indent="0">
              <a:buNone/>
            </a:pPr>
            <a:r>
              <a:rPr lang="en-US" sz="1250" b="1" dirty="0">
                <a:solidFill>
                  <a:srgbClr val="1E2430"/>
                </a:solidFill>
                <a:latin typeface="Calibri" pitchFamily="34" charset="0"/>
                <a:ea typeface="Calibri" pitchFamily="34" charset="-122"/>
                <a:cs typeface="Calibri" pitchFamily="34" charset="-120"/>
              </a:rPr>
              <a:t>Gravísima</a:t>
            </a:r>
            <a:endParaRPr lang="en-US" sz="1250" dirty="0"/>
          </a:p>
        </p:txBody>
      </p:sp>
      <p:sp>
        <p:nvSpPr>
          <p:cNvPr id="32" name="Text 30"/>
          <p:cNvSpPr txBox="1"/>
          <p:nvPr/>
        </p:nvSpPr>
        <p:spPr>
          <a:xfrm>
            <a:off x="9326880" y="4069080"/>
            <a:ext cx="2194560" cy="731520"/>
          </a:xfrm>
          <a:prstGeom prst="rect">
            <a:avLst/>
          </a:prstGeom>
          <a:noFill/>
          <a:ln/>
        </p:spPr>
        <p:txBody>
          <a:bodyPr wrap="square" lIns="0" tIns="0" rIns="0" bIns="0" rtlCol="0" anchor="ctr"/>
          <a:lstStyle/>
          <a:p>
            <a:pPr marL="0" indent="0">
              <a:buNone/>
            </a:pPr>
            <a:r>
              <a:rPr lang="en-US" sz="1700" b="1" dirty="0">
                <a:solidFill>
                  <a:srgbClr val="B83A3A"/>
                </a:solidFill>
                <a:latin typeface="Calibri" pitchFamily="34" charset="0"/>
                <a:ea typeface="Calibri" pitchFamily="34" charset="-122"/>
                <a:cs typeface="Calibri" pitchFamily="34" charset="-120"/>
              </a:rPr>
              <a:t>≈ $1.443 M</a:t>
            </a:r>
            <a:endParaRPr lang="en-US" sz="1700" dirty="0"/>
          </a:p>
          <a:p>
            <a:pPr marL="0" indent="0">
              <a:buNone/>
            </a:pPr>
            <a:r>
              <a:rPr lang="en-US" sz="1050" dirty="0">
                <a:solidFill>
                  <a:srgbClr val="5B6472"/>
                </a:solidFill>
                <a:latin typeface="Calibri" pitchFamily="34" charset="0"/>
                <a:ea typeface="Calibri" pitchFamily="34" charset="-122"/>
                <a:cs typeface="Calibri" pitchFamily="34" charset="-120"/>
              </a:rPr>
              <a:t>hasta 20.000 UTM</a:t>
            </a:r>
            <a:endParaRPr lang="en-US" sz="1700" dirty="0"/>
          </a:p>
        </p:txBody>
      </p:sp>
      <p:sp>
        <p:nvSpPr>
          <p:cNvPr id="33" name="Text 31"/>
          <p:cNvSpPr txBox="1"/>
          <p:nvPr/>
        </p:nvSpPr>
        <p:spPr>
          <a:xfrm>
            <a:off x="8183880" y="4983480"/>
            <a:ext cx="3291840" cy="274320"/>
          </a:xfrm>
          <a:prstGeom prst="rect">
            <a:avLst/>
          </a:prstGeom>
          <a:noFill/>
          <a:ln/>
        </p:spPr>
        <p:txBody>
          <a:bodyPr wrap="square" lIns="0" tIns="0" rIns="0" bIns="0" rtlCol="0" anchor="ctr"/>
          <a:lstStyle/>
          <a:p>
            <a:pPr marL="0" indent="0">
              <a:buNone/>
            </a:pPr>
            <a:r>
              <a:rPr lang="en-US" sz="1000" i="1" dirty="0">
                <a:solidFill>
                  <a:srgbClr val="5B6472"/>
                </a:solidFill>
                <a:latin typeface="Calibri" pitchFamily="34" charset="0"/>
                <a:ea typeface="Calibri" pitchFamily="34" charset="-122"/>
                <a:cs typeface="Calibri" pitchFamily="34" charset="-120"/>
              </a:rPr>
              <a:t>UTM de octubre de 2026: $72.151.</a:t>
            </a:r>
            <a:endParaRPr lang="en-US" sz="1000" dirty="0"/>
          </a:p>
        </p:txBody>
      </p:sp>
      <p:sp>
        <p:nvSpPr>
          <p:cNvPr id="34" name="Shape 32"/>
          <p:cNvSpPr/>
          <p:nvPr/>
        </p:nvSpPr>
        <p:spPr>
          <a:xfrm>
            <a:off x="548640" y="5532120"/>
            <a:ext cx="11064240" cy="685800"/>
          </a:xfrm>
          <a:prstGeom prst="rect">
            <a:avLst/>
          </a:prstGeom>
          <a:solidFill>
            <a:srgbClr val="EEF1F5"/>
          </a:solidFill>
          <a:ln w="9525">
            <a:solidFill>
              <a:srgbClr val="D7DCE3"/>
            </a:solidFill>
            <a:prstDash val="solid"/>
          </a:ln>
        </p:spPr>
        <p:txBody>
          <a:bodyPr/>
          <a:lstStyle/>
          <a:p>
            <a:endParaRPr lang="es-CL"/>
          </a:p>
        </p:txBody>
      </p:sp>
      <p:sp>
        <p:nvSpPr>
          <p:cNvPr id="35" name="Text 33"/>
          <p:cNvSpPr txBox="1"/>
          <p:nvPr/>
        </p:nvSpPr>
        <p:spPr>
          <a:xfrm>
            <a:off x="731520" y="5532120"/>
            <a:ext cx="10698480" cy="685800"/>
          </a:xfrm>
          <a:prstGeom prst="rect">
            <a:avLst/>
          </a:prstGeom>
          <a:noFill/>
          <a:ln/>
        </p:spPr>
        <p:txBody>
          <a:bodyPr wrap="square" lIns="0" tIns="0" rIns="0" bIns="0" rtlCol="0" anchor="ctr"/>
          <a:lstStyle/>
          <a:p>
            <a:pPr marL="0" indent="0">
              <a:buNone/>
            </a:pPr>
            <a:r>
              <a:rPr lang="en-US" sz="1200" b="1" dirty="0">
                <a:solidFill>
                  <a:srgbClr val="13294B"/>
                </a:solidFill>
                <a:latin typeface="Calibri" pitchFamily="34" charset="0"/>
                <a:ea typeface="Calibri" pitchFamily="34" charset="-122"/>
                <a:cs typeface="Calibri" pitchFamily="34" charset="-120"/>
              </a:rPr>
              <a:t>Para el negocio: </a:t>
            </a:r>
            <a:r>
              <a:rPr lang="en-US" sz="1200" dirty="0">
                <a:solidFill>
                  <a:srgbClr val="1E2430"/>
                </a:solidFill>
                <a:latin typeface="Calibri" pitchFamily="34" charset="0"/>
                <a:ea typeface="Calibri" pitchFamily="34" charset="-122"/>
                <a:cs typeface="Calibri" pitchFamily="34" charset="-120"/>
              </a:rPr>
              <a:t>una pyme que hoy guarda datos de clientes en una planilla quedaría expuesta a estas multas. La plataforma deja el cumplimiento resuelto antes de que la ley entre en vigencia (Anexo A y Política de Privacidad).</a:t>
            </a:r>
            <a:endParaRPr lang="en-US" sz="1200" dirty="0"/>
          </a:p>
        </p:txBody>
      </p:sp>
      <p:sp>
        <p:nvSpPr>
          <p:cNvPr id="36"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FASE 2 · METODOLOGÍA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Metodología tradicional (cascada) con control según PMBOK</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Fases secuenciales con hitos de control; planificación y control con la guía PMBOK (Project Management Institute [PMI], 2021).</a:t>
            </a:r>
            <a:endParaRPr lang="en-US" sz="1250" dirty="0"/>
          </a:p>
        </p:txBody>
      </p:sp>
      <p:sp>
        <p:nvSpPr>
          <p:cNvPr id="5" name="Shape 3"/>
          <p:cNvSpPr/>
          <p:nvPr/>
        </p:nvSpPr>
        <p:spPr>
          <a:xfrm>
            <a:off x="548640" y="1783080"/>
            <a:ext cx="1920240" cy="868680"/>
          </a:xfrm>
          <a:prstGeom prst="chevron">
            <a:avLst/>
          </a:prstGeom>
          <a:solidFill>
            <a:srgbClr val="2F855A"/>
          </a:solidFill>
          <a:ln w="12700">
            <a:solidFill>
              <a:srgbClr val="2F855A"/>
            </a:solidFill>
            <a:prstDash val="solid"/>
          </a:ln>
        </p:spPr>
        <p:txBody>
          <a:bodyPr/>
          <a:lstStyle/>
          <a:p>
            <a:endParaRPr lang="es-CL"/>
          </a:p>
        </p:txBody>
      </p:sp>
      <p:sp>
        <p:nvSpPr>
          <p:cNvPr id="6" name="Text 4"/>
          <p:cNvSpPr txBox="1"/>
          <p:nvPr/>
        </p:nvSpPr>
        <p:spPr>
          <a:xfrm>
            <a:off x="960120" y="1783080"/>
            <a:ext cx="1188720" cy="868680"/>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Inicio y planificación</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S1–S4</a:t>
            </a:r>
            <a:endParaRPr lang="en-US" sz="1050" dirty="0"/>
          </a:p>
        </p:txBody>
      </p:sp>
      <p:sp>
        <p:nvSpPr>
          <p:cNvPr id="7" name="Shape 5"/>
          <p:cNvSpPr/>
          <p:nvPr/>
        </p:nvSpPr>
        <p:spPr>
          <a:xfrm>
            <a:off x="2395728" y="1783080"/>
            <a:ext cx="1920240" cy="868680"/>
          </a:xfrm>
          <a:prstGeom prst="chevron">
            <a:avLst/>
          </a:prstGeom>
          <a:solidFill>
            <a:srgbClr val="2F855A"/>
          </a:solidFill>
          <a:ln w="12700">
            <a:solidFill>
              <a:srgbClr val="2F855A"/>
            </a:solidFill>
            <a:prstDash val="solid"/>
          </a:ln>
        </p:spPr>
        <p:txBody>
          <a:bodyPr/>
          <a:lstStyle/>
          <a:p>
            <a:endParaRPr lang="es-CL"/>
          </a:p>
        </p:txBody>
      </p:sp>
      <p:sp>
        <p:nvSpPr>
          <p:cNvPr id="8" name="Text 6"/>
          <p:cNvSpPr txBox="1"/>
          <p:nvPr/>
        </p:nvSpPr>
        <p:spPr>
          <a:xfrm>
            <a:off x="2807208" y="1783080"/>
            <a:ext cx="1188720" cy="868680"/>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Diseño</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S5–S10</a:t>
            </a:r>
            <a:endParaRPr lang="en-US" sz="1050" dirty="0"/>
          </a:p>
        </p:txBody>
      </p:sp>
      <p:sp>
        <p:nvSpPr>
          <p:cNvPr id="9" name="Shape 7"/>
          <p:cNvSpPr/>
          <p:nvPr/>
        </p:nvSpPr>
        <p:spPr>
          <a:xfrm>
            <a:off x="4242816" y="1783080"/>
            <a:ext cx="1920240" cy="868680"/>
          </a:xfrm>
          <a:prstGeom prst="chevron">
            <a:avLst/>
          </a:prstGeom>
          <a:solidFill>
            <a:srgbClr val="B5762A"/>
          </a:solidFill>
          <a:ln w="12700">
            <a:solidFill>
              <a:srgbClr val="B5762A"/>
            </a:solidFill>
            <a:prstDash val="solid"/>
          </a:ln>
        </p:spPr>
        <p:txBody>
          <a:bodyPr/>
          <a:lstStyle/>
          <a:p>
            <a:endParaRPr lang="es-CL"/>
          </a:p>
        </p:txBody>
      </p:sp>
      <p:sp>
        <p:nvSpPr>
          <p:cNvPr id="10" name="Text 8"/>
          <p:cNvSpPr txBox="1"/>
          <p:nvPr/>
        </p:nvSpPr>
        <p:spPr>
          <a:xfrm>
            <a:off x="4654296" y="1783080"/>
            <a:ext cx="1188720" cy="868680"/>
          </a:xfrm>
          <a:prstGeom prst="rect">
            <a:avLst/>
          </a:prstGeom>
          <a:noFill/>
          <a:ln/>
        </p:spPr>
        <p:txBody>
          <a:bodyPr wrap="square" lIns="0" tIns="0" rIns="0" bIns="0" rtlCol="0" anchor="ctr">
            <a:normAutofit/>
          </a:bodyPr>
          <a:lstStyle/>
          <a:p>
            <a:pPr marL="0" indent="0" algn="ctr">
              <a:buNone/>
            </a:pPr>
            <a:r>
              <a:rPr lang="en-US" sz="1050" b="1" dirty="0">
                <a:solidFill>
                  <a:srgbClr val="1E2430"/>
                </a:solidFill>
                <a:latin typeface="Calibri" pitchFamily="34" charset="0"/>
                <a:ea typeface="Calibri" pitchFamily="34" charset="-122"/>
                <a:cs typeface="Calibri" pitchFamily="34" charset="-120"/>
              </a:rPr>
              <a:t>Desarrollo</a:t>
            </a:r>
            <a:endParaRPr lang="en-US" sz="1050" dirty="0"/>
          </a:p>
          <a:p>
            <a:pPr marL="0" indent="0" algn="ctr">
              <a:buNone/>
            </a:pPr>
            <a:r>
              <a:rPr lang="en-US" sz="1050" dirty="0">
                <a:solidFill>
                  <a:srgbClr val="1E2430"/>
                </a:solidFill>
                <a:latin typeface="Calibri" pitchFamily="34" charset="0"/>
                <a:ea typeface="Calibri" pitchFamily="34" charset="-122"/>
                <a:cs typeface="Calibri" pitchFamily="34" charset="-120"/>
              </a:rPr>
              <a:t>S7–S13</a:t>
            </a:r>
            <a:endParaRPr lang="en-US" sz="1050" dirty="0"/>
          </a:p>
        </p:txBody>
      </p:sp>
      <p:sp>
        <p:nvSpPr>
          <p:cNvPr id="11" name="Shape 9"/>
          <p:cNvSpPr/>
          <p:nvPr/>
        </p:nvSpPr>
        <p:spPr>
          <a:xfrm>
            <a:off x="6089904" y="1783080"/>
            <a:ext cx="1920240" cy="868680"/>
          </a:xfrm>
          <a:prstGeom prst="chevron">
            <a:avLst/>
          </a:prstGeom>
          <a:solidFill>
            <a:srgbClr val="B5762A"/>
          </a:solidFill>
          <a:ln w="12700">
            <a:solidFill>
              <a:srgbClr val="B5762A"/>
            </a:solidFill>
            <a:prstDash val="solid"/>
          </a:ln>
        </p:spPr>
        <p:txBody>
          <a:bodyPr/>
          <a:lstStyle/>
          <a:p>
            <a:endParaRPr lang="es-CL"/>
          </a:p>
        </p:txBody>
      </p:sp>
      <p:sp>
        <p:nvSpPr>
          <p:cNvPr id="12" name="Text 10"/>
          <p:cNvSpPr txBox="1"/>
          <p:nvPr/>
        </p:nvSpPr>
        <p:spPr>
          <a:xfrm>
            <a:off x="6501384" y="1783080"/>
            <a:ext cx="1188720" cy="868680"/>
          </a:xfrm>
          <a:prstGeom prst="rect">
            <a:avLst/>
          </a:prstGeom>
          <a:noFill/>
          <a:ln/>
        </p:spPr>
        <p:txBody>
          <a:bodyPr wrap="square" lIns="0" tIns="0" rIns="0" bIns="0" rtlCol="0" anchor="ctr">
            <a:normAutofit/>
          </a:bodyPr>
          <a:lstStyle/>
          <a:p>
            <a:pPr marL="0" indent="0" algn="ctr">
              <a:buNone/>
            </a:pPr>
            <a:r>
              <a:rPr lang="en-US" sz="1050" b="1" dirty="0">
                <a:solidFill>
                  <a:srgbClr val="1E2430"/>
                </a:solidFill>
                <a:latin typeface="Calibri" pitchFamily="34" charset="0"/>
                <a:ea typeface="Calibri" pitchFamily="34" charset="-122"/>
                <a:cs typeface="Calibri" pitchFamily="34" charset="-120"/>
              </a:rPr>
              <a:t>Pruebas / QA</a:t>
            </a:r>
            <a:endParaRPr lang="en-US" sz="1050" dirty="0"/>
          </a:p>
          <a:p>
            <a:pPr marL="0" indent="0" algn="ctr">
              <a:buNone/>
            </a:pPr>
            <a:r>
              <a:rPr lang="en-US" sz="1050" dirty="0">
                <a:solidFill>
                  <a:srgbClr val="1E2430"/>
                </a:solidFill>
                <a:latin typeface="Calibri" pitchFamily="34" charset="0"/>
                <a:ea typeface="Calibri" pitchFamily="34" charset="-122"/>
                <a:cs typeface="Calibri" pitchFamily="34" charset="-120"/>
              </a:rPr>
              <a:t>S9–S14</a:t>
            </a:r>
            <a:endParaRPr lang="en-US" sz="1050" dirty="0"/>
          </a:p>
        </p:txBody>
      </p:sp>
      <p:sp>
        <p:nvSpPr>
          <p:cNvPr id="13" name="Shape 11"/>
          <p:cNvSpPr/>
          <p:nvPr/>
        </p:nvSpPr>
        <p:spPr>
          <a:xfrm>
            <a:off x="7936992" y="1783080"/>
            <a:ext cx="1920240" cy="868680"/>
          </a:xfrm>
          <a:prstGeom prst="chevron">
            <a:avLst/>
          </a:prstGeom>
          <a:solidFill>
            <a:srgbClr val="13294B"/>
          </a:solidFill>
          <a:ln w="12700">
            <a:solidFill>
              <a:srgbClr val="13294B"/>
            </a:solidFill>
            <a:prstDash val="solid"/>
          </a:ln>
        </p:spPr>
        <p:txBody>
          <a:bodyPr/>
          <a:lstStyle/>
          <a:p>
            <a:endParaRPr lang="es-CL"/>
          </a:p>
        </p:txBody>
      </p:sp>
      <p:sp>
        <p:nvSpPr>
          <p:cNvPr id="14" name="Text 12"/>
          <p:cNvSpPr txBox="1"/>
          <p:nvPr/>
        </p:nvSpPr>
        <p:spPr>
          <a:xfrm>
            <a:off x="8348472" y="1783080"/>
            <a:ext cx="1188720" cy="868680"/>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Despliegue</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S12–S14</a:t>
            </a:r>
            <a:endParaRPr lang="en-US" sz="1050" dirty="0"/>
          </a:p>
        </p:txBody>
      </p:sp>
      <p:sp>
        <p:nvSpPr>
          <p:cNvPr id="15" name="Shape 13"/>
          <p:cNvSpPr/>
          <p:nvPr/>
        </p:nvSpPr>
        <p:spPr>
          <a:xfrm>
            <a:off x="9784080" y="1783080"/>
            <a:ext cx="1920240" cy="868680"/>
          </a:xfrm>
          <a:prstGeom prst="chevron">
            <a:avLst/>
          </a:prstGeom>
          <a:solidFill>
            <a:srgbClr val="13294B"/>
          </a:solidFill>
          <a:ln w="12700">
            <a:solidFill>
              <a:srgbClr val="13294B"/>
            </a:solidFill>
            <a:prstDash val="solid"/>
          </a:ln>
        </p:spPr>
        <p:txBody>
          <a:bodyPr/>
          <a:lstStyle/>
          <a:p>
            <a:endParaRPr lang="es-CL"/>
          </a:p>
        </p:txBody>
      </p:sp>
      <p:sp>
        <p:nvSpPr>
          <p:cNvPr id="16" name="Text 14"/>
          <p:cNvSpPr txBox="1"/>
          <p:nvPr/>
        </p:nvSpPr>
        <p:spPr>
          <a:xfrm>
            <a:off x="10195560" y="1783080"/>
            <a:ext cx="1188720" cy="868680"/>
          </a:xfrm>
          <a:prstGeom prst="rect">
            <a:avLst/>
          </a:prstGeom>
          <a:noFill/>
          <a:ln/>
        </p:spPr>
        <p:txBody>
          <a:bodyPr wrap="square" lIns="0" tIns="0" rIns="0" bIns="0" rtlCol="0" anchor="ctr">
            <a:normAutofit/>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Presentación final</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S14–S16</a:t>
            </a:r>
            <a:endParaRPr lang="en-US" sz="1050" dirty="0"/>
          </a:p>
        </p:txBody>
      </p:sp>
      <p:sp>
        <p:nvSpPr>
          <p:cNvPr id="17" name="Shape 15"/>
          <p:cNvSpPr/>
          <p:nvPr/>
        </p:nvSpPr>
        <p:spPr>
          <a:xfrm>
            <a:off x="548640" y="2788920"/>
            <a:ext cx="201168" cy="164592"/>
          </a:xfrm>
          <a:prstGeom prst="rect">
            <a:avLst/>
          </a:prstGeom>
          <a:solidFill>
            <a:srgbClr val="2F855A"/>
          </a:solidFill>
          <a:ln w="12700">
            <a:solidFill>
              <a:srgbClr val="2F855A"/>
            </a:solidFill>
            <a:prstDash val="solid"/>
          </a:ln>
        </p:spPr>
        <p:txBody>
          <a:bodyPr/>
          <a:lstStyle/>
          <a:p>
            <a:endParaRPr lang="es-CL"/>
          </a:p>
        </p:txBody>
      </p:sp>
      <p:sp>
        <p:nvSpPr>
          <p:cNvPr id="18" name="Text 16"/>
          <p:cNvSpPr txBox="1"/>
          <p:nvPr/>
        </p:nvSpPr>
        <p:spPr>
          <a:xfrm>
            <a:off x="822960" y="274320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Realizado</a:t>
            </a:r>
            <a:endParaRPr lang="en-US" sz="1050" dirty="0"/>
          </a:p>
        </p:txBody>
      </p:sp>
      <p:sp>
        <p:nvSpPr>
          <p:cNvPr id="19" name="Shape 17"/>
          <p:cNvSpPr/>
          <p:nvPr/>
        </p:nvSpPr>
        <p:spPr>
          <a:xfrm>
            <a:off x="2286000" y="2788920"/>
            <a:ext cx="201168" cy="164592"/>
          </a:xfrm>
          <a:prstGeom prst="rect">
            <a:avLst/>
          </a:prstGeom>
          <a:solidFill>
            <a:srgbClr val="B5762A"/>
          </a:solidFill>
          <a:ln w="12700">
            <a:solidFill>
              <a:srgbClr val="B5762A"/>
            </a:solidFill>
            <a:prstDash val="solid"/>
          </a:ln>
        </p:spPr>
        <p:txBody>
          <a:bodyPr/>
          <a:lstStyle/>
          <a:p>
            <a:endParaRPr lang="es-CL"/>
          </a:p>
        </p:txBody>
      </p:sp>
      <p:sp>
        <p:nvSpPr>
          <p:cNvPr id="20" name="Text 18"/>
          <p:cNvSpPr txBox="1"/>
          <p:nvPr/>
        </p:nvSpPr>
        <p:spPr>
          <a:xfrm>
            <a:off x="2560320" y="274320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En curso</a:t>
            </a:r>
            <a:endParaRPr lang="en-US" sz="1050" dirty="0"/>
          </a:p>
        </p:txBody>
      </p:sp>
      <p:sp>
        <p:nvSpPr>
          <p:cNvPr id="21" name="Shape 19"/>
          <p:cNvSpPr/>
          <p:nvPr/>
        </p:nvSpPr>
        <p:spPr>
          <a:xfrm>
            <a:off x="4023360" y="2788920"/>
            <a:ext cx="201168" cy="164592"/>
          </a:xfrm>
          <a:prstGeom prst="rect">
            <a:avLst/>
          </a:prstGeom>
          <a:solidFill>
            <a:srgbClr val="13294B"/>
          </a:solidFill>
          <a:ln w="12700">
            <a:solidFill>
              <a:srgbClr val="13294B"/>
            </a:solidFill>
            <a:prstDash val="solid"/>
          </a:ln>
        </p:spPr>
        <p:txBody>
          <a:bodyPr/>
          <a:lstStyle/>
          <a:p>
            <a:endParaRPr lang="es-CL"/>
          </a:p>
        </p:txBody>
      </p:sp>
      <p:sp>
        <p:nvSpPr>
          <p:cNvPr id="22" name="Text 20"/>
          <p:cNvSpPr txBox="1"/>
          <p:nvPr/>
        </p:nvSpPr>
        <p:spPr>
          <a:xfrm>
            <a:off x="4297680" y="274320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Planificado</a:t>
            </a:r>
            <a:endParaRPr lang="en-US" sz="1050" dirty="0"/>
          </a:p>
        </p:txBody>
      </p:sp>
      <p:sp>
        <p:nvSpPr>
          <p:cNvPr id="23" name="Shape 21"/>
          <p:cNvSpPr/>
          <p:nvPr/>
        </p:nvSpPr>
        <p:spPr>
          <a:xfrm>
            <a:off x="548640" y="3154680"/>
            <a:ext cx="5486400" cy="3063240"/>
          </a:xfrm>
          <a:prstGeom prst="rect">
            <a:avLst/>
          </a:prstGeom>
          <a:solidFill>
            <a:srgbClr val="FFFFFF"/>
          </a:solidFill>
          <a:ln w="9525">
            <a:solidFill>
              <a:srgbClr val="D7DCE3"/>
            </a:solidFill>
            <a:prstDash val="solid"/>
          </a:ln>
        </p:spPr>
        <p:txBody>
          <a:bodyPr/>
          <a:lstStyle/>
          <a:p>
            <a:endParaRPr lang="es-CL"/>
          </a:p>
        </p:txBody>
      </p:sp>
      <p:sp>
        <p:nvSpPr>
          <p:cNvPr id="24" name="Text 22"/>
          <p:cNvSpPr txBox="1"/>
          <p:nvPr/>
        </p:nvSpPr>
        <p:spPr>
          <a:xfrm>
            <a:off x="731520" y="3246120"/>
            <a:ext cx="5120640" cy="32004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Por qué cascada es pertinente</a:t>
            </a:r>
            <a:endParaRPr lang="en-US" sz="1400" dirty="0"/>
          </a:p>
        </p:txBody>
      </p:sp>
      <p:sp>
        <p:nvSpPr>
          <p:cNvPr id="25" name="Text 23"/>
          <p:cNvSpPr txBox="1"/>
          <p:nvPr/>
        </p:nvSpPr>
        <p:spPr>
          <a:xfrm>
            <a:off x="731520" y="3611880"/>
            <a:ext cx="5166360" cy="25603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Los requisitos se obtuvieron del negocio desde el inicio y están bien definidos (ERS rev. 04.1, 63 requisitos funcionales).</a:t>
            </a:r>
            <a:endParaRPr lang="en-US" sz="1200" dirty="0"/>
          </a:p>
          <a:p>
            <a:pPr marL="342900" indent="-342900">
              <a:spcAft>
                <a:spcPts val="600"/>
              </a:spcAft>
              <a:buSzPct val="100000"/>
              <a:buChar char="•"/>
            </a:pPr>
            <a:endParaRPr lang="en-US" sz="1200" dirty="0">
              <a:solidFill>
                <a:srgbClr val="1E2430"/>
              </a:solidFill>
              <a:latin typeface="Calibri" pitchFamily="34" charset="0"/>
              <a:ea typeface="Calibri" pitchFamily="34" charset="-122"/>
              <a:cs typeface="Calibri" pitchFamily="34" charset="-120"/>
            </a:endParaRPr>
          </a:p>
          <a:p>
            <a:pPr marL="342900" indent="-342900">
              <a:spcAft>
                <a:spcPts val="600"/>
              </a:spcAft>
              <a:buSzPct val="100000"/>
              <a:buChar char="•"/>
            </a:pPr>
            <a:endParaRPr lang="en-US" sz="1200" dirty="0">
              <a:solidFill>
                <a:srgbClr val="1E2430"/>
              </a:solidFill>
              <a:latin typeface="Calibri" pitchFamily="34" charset="0"/>
              <a:ea typeface="Calibri" pitchFamily="34" charset="-122"/>
              <a:cs typeface="Calibri" pitchFamily="34" charset="-120"/>
            </a:endParaRPr>
          </a:p>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Los plazos del curso son fijos por fase y cada fase entrega un producto revisable.</a:t>
            </a:r>
            <a:endParaRPr lang="en-US" sz="1200" dirty="0"/>
          </a:p>
          <a:p>
            <a:pPr marL="342900" indent="-342900">
              <a:spcAft>
                <a:spcPts val="600"/>
              </a:spcAft>
              <a:buSzPct val="100000"/>
              <a:buChar char="•"/>
            </a:pPr>
            <a:endParaRPr lang="en-US" sz="1200" dirty="0">
              <a:solidFill>
                <a:srgbClr val="1E2430"/>
              </a:solidFill>
              <a:latin typeface="Calibri" pitchFamily="34" charset="0"/>
              <a:ea typeface="Calibri" pitchFamily="34" charset="-122"/>
              <a:cs typeface="Calibri" pitchFamily="34" charset="-120"/>
            </a:endParaRPr>
          </a:p>
          <a:p>
            <a:pPr marL="342900" indent="-342900">
              <a:spcAft>
                <a:spcPts val="600"/>
              </a:spcAft>
              <a:buSzPct val="100000"/>
              <a:buChar char="•"/>
            </a:pPr>
            <a:endParaRPr lang="en-US" sz="1200" dirty="0">
              <a:solidFill>
                <a:srgbClr val="1E2430"/>
              </a:solidFill>
              <a:latin typeface="Calibri" pitchFamily="34" charset="0"/>
              <a:ea typeface="Calibri" pitchFamily="34" charset="-122"/>
              <a:cs typeface="Calibri" pitchFamily="34" charset="-120"/>
            </a:endParaRPr>
          </a:p>
          <a:p>
            <a:pPr marL="342900" indent="-342900">
              <a:spcAft>
                <a:spcPts val="600"/>
              </a:spcAft>
              <a:buSzPct val="100000"/>
              <a:buChar char="•"/>
            </a:pPr>
            <a:r>
              <a:rPr lang="en-US" sz="1200" dirty="0" err="1">
                <a:solidFill>
                  <a:srgbClr val="1E2430"/>
                </a:solidFill>
                <a:latin typeface="Calibri" pitchFamily="34" charset="0"/>
                <a:ea typeface="Calibri" pitchFamily="34" charset="-122"/>
                <a:cs typeface="Calibri" pitchFamily="34" charset="-120"/>
              </a:rPr>
              <a:t>Cerrar</a:t>
            </a:r>
            <a:r>
              <a:rPr lang="en-US" sz="1200" dirty="0">
                <a:solidFill>
                  <a:srgbClr val="1E2430"/>
                </a:solidFill>
                <a:latin typeface="Calibri" pitchFamily="34" charset="0"/>
                <a:ea typeface="Calibri" pitchFamily="34" charset="-122"/>
                <a:cs typeface="Calibri" pitchFamily="34" charset="-120"/>
              </a:rPr>
              <a:t> el diseño (requisitos, arquitectura, casos de uso y modelo de datos) antes de programar reduce el </a:t>
            </a:r>
            <a:r>
              <a:rPr lang="en-US" sz="1200" dirty="0" err="1">
                <a:solidFill>
                  <a:srgbClr val="1E2430"/>
                </a:solidFill>
                <a:latin typeface="Calibri" pitchFamily="34" charset="0"/>
                <a:ea typeface="Calibri" pitchFamily="34" charset="-122"/>
                <a:cs typeface="Calibri" pitchFamily="34" charset="-120"/>
              </a:rPr>
              <a:t>retrabajo</a:t>
            </a:r>
            <a:r>
              <a:rPr lang="en-US" sz="1200" dirty="0">
                <a:solidFill>
                  <a:srgbClr val="1E2430"/>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6263640" y="3154680"/>
            <a:ext cx="2606040" cy="1481328"/>
          </a:xfrm>
          <a:prstGeom prst="rect">
            <a:avLst/>
          </a:prstGeom>
          <a:solidFill>
            <a:srgbClr val="FFFFFF"/>
          </a:solidFill>
          <a:ln w="9525">
            <a:solidFill>
              <a:srgbClr val="D7DCE3"/>
            </a:solidFill>
            <a:prstDash val="solid"/>
          </a:ln>
        </p:spPr>
        <p:txBody>
          <a:bodyPr/>
          <a:lstStyle/>
          <a:p>
            <a:endParaRPr lang="es-CL"/>
          </a:p>
        </p:txBody>
      </p:sp>
      <p:sp>
        <p:nvSpPr>
          <p:cNvPr id="27" name="Text 25"/>
          <p:cNvSpPr txBox="1"/>
          <p:nvPr/>
        </p:nvSpPr>
        <p:spPr>
          <a:xfrm>
            <a:off x="6355080" y="3246120"/>
            <a:ext cx="2423160" cy="711037"/>
          </a:xfrm>
          <a:prstGeom prst="rect">
            <a:avLst/>
          </a:prstGeom>
          <a:noFill/>
          <a:ln/>
        </p:spPr>
        <p:txBody>
          <a:bodyPr wrap="square" lIns="0" tIns="0" rIns="0" bIns="0" rtlCol="0" anchor="ctr"/>
          <a:lstStyle/>
          <a:p>
            <a:pPr marL="0" indent="0" algn="ctr">
              <a:buNone/>
            </a:pPr>
            <a:r>
              <a:rPr lang="en-US" sz="2400" b="1" dirty="0">
                <a:solidFill>
                  <a:srgbClr val="13294B"/>
                </a:solidFill>
                <a:latin typeface="Cambria" pitchFamily="34" charset="0"/>
                <a:ea typeface="Cambria" pitchFamily="34" charset="-122"/>
                <a:cs typeface="Cambria" pitchFamily="34" charset="-120"/>
              </a:rPr>
              <a:t>9</a:t>
            </a:r>
            <a:endParaRPr lang="en-US" sz="2400" dirty="0"/>
          </a:p>
        </p:txBody>
      </p:sp>
      <p:sp>
        <p:nvSpPr>
          <p:cNvPr id="28" name="Text 26"/>
          <p:cNvSpPr txBox="1"/>
          <p:nvPr/>
        </p:nvSpPr>
        <p:spPr>
          <a:xfrm>
            <a:off x="6400800" y="3984224"/>
            <a:ext cx="2331720" cy="592531"/>
          </a:xfrm>
          <a:prstGeom prst="rect">
            <a:avLst/>
          </a:prstGeom>
          <a:noFill/>
          <a:ln/>
        </p:spPr>
        <p:txBody>
          <a:bodyPr wrap="square" lIns="0" tIns="0" rIns="0" bIns="0" rtlCol="0" anchor="t"/>
          <a:lstStyle/>
          <a:p>
            <a:pPr marL="0" indent="0" algn="ctr">
              <a:buNone/>
            </a:pPr>
            <a:r>
              <a:rPr lang="en-US" sz="1100" dirty="0">
                <a:solidFill>
                  <a:srgbClr val="1E2430"/>
                </a:solidFill>
                <a:latin typeface="Calibri" pitchFamily="34" charset="0"/>
                <a:ea typeface="Calibri" pitchFamily="34" charset="-122"/>
                <a:cs typeface="Calibri" pitchFamily="34" charset="-120"/>
              </a:rPr>
              <a:t>hitos de control (H1 a H9)</a:t>
            </a:r>
            <a:endParaRPr lang="en-US" sz="1100" dirty="0"/>
          </a:p>
        </p:txBody>
      </p:sp>
      <p:sp>
        <p:nvSpPr>
          <p:cNvPr id="29" name="Shape 27"/>
          <p:cNvSpPr/>
          <p:nvPr/>
        </p:nvSpPr>
        <p:spPr>
          <a:xfrm>
            <a:off x="8961120" y="3154680"/>
            <a:ext cx="2606040" cy="1481328"/>
          </a:xfrm>
          <a:prstGeom prst="rect">
            <a:avLst/>
          </a:prstGeom>
          <a:solidFill>
            <a:srgbClr val="FFFFFF"/>
          </a:solidFill>
          <a:ln w="9525">
            <a:solidFill>
              <a:srgbClr val="D7DCE3"/>
            </a:solidFill>
            <a:prstDash val="solid"/>
          </a:ln>
        </p:spPr>
        <p:txBody>
          <a:bodyPr/>
          <a:lstStyle/>
          <a:p>
            <a:endParaRPr lang="es-CL"/>
          </a:p>
        </p:txBody>
      </p:sp>
      <p:sp>
        <p:nvSpPr>
          <p:cNvPr id="30" name="Text 28"/>
          <p:cNvSpPr txBox="1"/>
          <p:nvPr/>
        </p:nvSpPr>
        <p:spPr>
          <a:xfrm>
            <a:off x="9052560" y="3246120"/>
            <a:ext cx="2423160" cy="711037"/>
          </a:xfrm>
          <a:prstGeom prst="rect">
            <a:avLst/>
          </a:prstGeom>
          <a:noFill/>
          <a:ln/>
        </p:spPr>
        <p:txBody>
          <a:bodyPr wrap="square" lIns="0" tIns="0" rIns="0" bIns="0" rtlCol="0" anchor="ctr"/>
          <a:lstStyle/>
          <a:p>
            <a:pPr marL="0" indent="0" algn="ctr">
              <a:buNone/>
            </a:pPr>
            <a:r>
              <a:rPr lang="en-US" sz="2400" b="1" dirty="0">
                <a:solidFill>
                  <a:srgbClr val="13294B"/>
                </a:solidFill>
                <a:latin typeface="Cambria" pitchFamily="34" charset="0"/>
                <a:ea typeface="Cambria" pitchFamily="34" charset="-122"/>
                <a:cs typeface="Cambria" pitchFamily="34" charset="-120"/>
              </a:rPr>
              <a:t>21</a:t>
            </a:r>
            <a:endParaRPr lang="en-US" sz="2400" dirty="0"/>
          </a:p>
        </p:txBody>
      </p:sp>
      <p:sp>
        <p:nvSpPr>
          <p:cNvPr id="31" name="Text 29"/>
          <p:cNvSpPr txBox="1"/>
          <p:nvPr/>
        </p:nvSpPr>
        <p:spPr>
          <a:xfrm>
            <a:off x="9098280" y="3984224"/>
            <a:ext cx="2331720" cy="592531"/>
          </a:xfrm>
          <a:prstGeom prst="rect">
            <a:avLst/>
          </a:prstGeom>
          <a:noFill/>
          <a:ln/>
        </p:spPr>
        <p:txBody>
          <a:bodyPr wrap="square" lIns="0" tIns="0" rIns="0" bIns="0" rtlCol="0" anchor="t"/>
          <a:lstStyle/>
          <a:p>
            <a:pPr marL="0" indent="0" algn="ctr">
              <a:buNone/>
            </a:pPr>
            <a:r>
              <a:rPr lang="en-US" sz="1100" dirty="0">
                <a:solidFill>
                  <a:srgbClr val="1E2430"/>
                </a:solidFill>
                <a:latin typeface="Calibri" pitchFamily="34" charset="0"/>
                <a:ea typeface="Calibri" pitchFamily="34" charset="-122"/>
                <a:cs typeface="Calibri" pitchFamily="34" charset="-120"/>
              </a:rPr>
              <a:t>solicitudes de cambio registradas</a:t>
            </a:r>
            <a:endParaRPr lang="en-US" sz="1100" dirty="0"/>
          </a:p>
        </p:txBody>
      </p:sp>
      <p:sp>
        <p:nvSpPr>
          <p:cNvPr id="32" name="Shape 30"/>
          <p:cNvSpPr/>
          <p:nvPr/>
        </p:nvSpPr>
        <p:spPr>
          <a:xfrm>
            <a:off x="6263640" y="4727448"/>
            <a:ext cx="2606040" cy="1481328"/>
          </a:xfrm>
          <a:prstGeom prst="rect">
            <a:avLst/>
          </a:prstGeom>
          <a:solidFill>
            <a:srgbClr val="FFFFFF"/>
          </a:solidFill>
          <a:ln w="9525">
            <a:solidFill>
              <a:srgbClr val="D7DCE3"/>
            </a:solidFill>
            <a:prstDash val="solid"/>
          </a:ln>
        </p:spPr>
        <p:txBody>
          <a:bodyPr/>
          <a:lstStyle/>
          <a:p>
            <a:endParaRPr lang="es-CL"/>
          </a:p>
        </p:txBody>
      </p:sp>
      <p:sp>
        <p:nvSpPr>
          <p:cNvPr id="33" name="Text 31"/>
          <p:cNvSpPr txBox="1"/>
          <p:nvPr/>
        </p:nvSpPr>
        <p:spPr>
          <a:xfrm>
            <a:off x="6355080" y="4818888"/>
            <a:ext cx="2423160" cy="711037"/>
          </a:xfrm>
          <a:prstGeom prst="rect">
            <a:avLst/>
          </a:prstGeom>
          <a:noFill/>
          <a:ln/>
        </p:spPr>
        <p:txBody>
          <a:bodyPr wrap="square" lIns="0" tIns="0" rIns="0" bIns="0" rtlCol="0" anchor="ctr"/>
          <a:lstStyle/>
          <a:p>
            <a:pPr marL="0" indent="0" algn="ctr">
              <a:buNone/>
            </a:pPr>
            <a:r>
              <a:rPr lang="en-US" sz="2400" b="1" dirty="0">
                <a:solidFill>
                  <a:srgbClr val="13294B"/>
                </a:solidFill>
                <a:latin typeface="Cambria" pitchFamily="34" charset="0"/>
                <a:ea typeface="Cambria" pitchFamily="34" charset="-122"/>
                <a:cs typeface="Cambria" pitchFamily="34" charset="-120"/>
              </a:rPr>
              <a:t>17</a:t>
            </a:r>
            <a:endParaRPr lang="en-US" sz="2400" dirty="0"/>
          </a:p>
        </p:txBody>
      </p:sp>
      <p:sp>
        <p:nvSpPr>
          <p:cNvPr id="34" name="Text 32"/>
          <p:cNvSpPr txBox="1"/>
          <p:nvPr/>
        </p:nvSpPr>
        <p:spPr>
          <a:xfrm>
            <a:off x="6400800" y="5556992"/>
            <a:ext cx="2331720" cy="592531"/>
          </a:xfrm>
          <a:prstGeom prst="rect">
            <a:avLst/>
          </a:prstGeom>
          <a:noFill/>
          <a:ln/>
        </p:spPr>
        <p:txBody>
          <a:bodyPr wrap="square" lIns="0" tIns="0" rIns="0" bIns="0" rtlCol="0" anchor="t"/>
          <a:lstStyle/>
          <a:p>
            <a:pPr marL="0" indent="0" algn="ctr">
              <a:buNone/>
            </a:pPr>
            <a:r>
              <a:rPr lang="en-US" sz="1100" dirty="0">
                <a:solidFill>
                  <a:srgbClr val="1E2430"/>
                </a:solidFill>
                <a:latin typeface="Calibri" pitchFamily="34" charset="0"/>
                <a:ea typeface="Calibri" pitchFamily="34" charset="-122"/>
                <a:cs typeface="Calibri" pitchFamily="34" charset="-120"/>
              </a:rPr>
              <a:t>riesgos identificados, 16 activos</a:t>
            </a:r>
            <a:endParaRPr lang="en-US" sz="1100" dirty="0"/>
          </a:p>
        </p:txBody>
      </p:sp>
      <p:sp>
        <p:nvSpPr>
          <p:cNvPr id="35" name="Shape 33"/>
          <p:cNvSpPr/>
          <p:nvPr/>
        </p:nvSpPr>
        <p:spPr>
          <a:xfrm>
            <a:off x="8961120" y="4727448"/>
            <a:ext cx="2606040" cy="1481328"/>
          </a:xfrm>
          <a:prstGeom prst="rect">
            <a:avLst/>
          </a:prstGeom>
          <a:solidFill>
            <a:srgbClr val="FFFFFF"/>
          </a:solidFill>
          <a:ln w="9525">
            <a:solidFill>
              <a:srgbClr val="D7DCE3"/>
            </a:solidFill>
            <a:prstDash val="solid"/>
          </a:ln>
        </p:spPr>
        <p:txBody>
          <a:bodyPr/>
          <a:lstStyle/>
          <a:p>
            <a:endParaRPr lang="es-CL"/>
          </a:p>
        </p:txBody>
      </p:sp>
      <p:sp>
        <p:nvSpPr>
          <p:cNvPr id="36" name="Text 34"/>
          <p:cNvSpPr txBox="1"/>
          <p:nvPr/>
        </p:nvSpPr>
        <p:spPr>
          <a:xfrm>
            <a:off x="9052560" y="4818888"/>
            <a:ext cx="2423160" cy="711037"/>
          </a:xfrm>
          <a:prstGeom prst="rect">
            <a:avLst/>
          </a:prstGeom>
          <a:noFill/>
          <a:ln/>
        </p:spPr>
        <p:txBody>
          <a:bodyPr wrap="square" lIns="0" tIns="0" rIns="0" bIns="0" rtlCol="0" anchor="ctr"/>
          <a:lstStyle/>
          <a:p>
            <a:pPr marL="0" indent="0" algn="ctr">
              <a:buNone/>
            </a:pPr>
            <a:r>
              <a:rPr lang="en-US" sz="2400" b="1" dirty="0">
                <a:solidFill>
                  <a:srgbClr val="13294B"/>
                </a:solidFill>
                <a:latin typeface="Cambria" pitchFamily="34" charset="0"/>
                <a:ea typeface="Cambria" pitchFamily="34" charset="-122"/>
                <a:cs typeface="Cambria" pitchFamily="34" charset="-120"/>
              </a:rPr>
              <a:t>Semanal</a:t>
            </a:r>
            <a:endParaRPr lang="en-US" sz="2400" dirty="0"/>
          </a:p>
        </p:txBody>
      </p:sp>
      <p:sp>
        <p:nvSpPr>
          <p:cNvPr id="37" name="Text 35"/>
          <p:cNvSpPr txBox="1"/>
          <p:nvPr/>
        </p:nvSpPr>
        <p:spPr>
          <a:xfrm>
            <a:off x="9098280" y="5556992"/>
            <a:ext cx="2331720" cy="592531"/>
          </a:xfrm>
          <a:prstGeom prst="rect">
            <a:avLst/>
          </a:prstGeom>
          <a:noFill/>
          <a:ln/>
        </p:spPr>
        <p:txBody>
          <a:bodyPr wrap="square" lIns="0" tIns="0" rIns="0" bIns="0" rtlCol="0" anchor="t"/>
          <a:lstStyle/>
          <a:p>
            <a:pPr marL="0" indent="0" algn="ctr">
              <a:buNone/>
            </a:pPr>
            <a:r>
              <a:rPr lang="en-US" sz="1100" dirty="0">
                <a:solidFill>
                  <a:srgbClr val="1E2430"/>
                </a:solidFill>
                <a:latin typeface="Calibri" pitchFamily="34" charset="0"/>
                <a:ea typeface="Calibri" pitchFamily="34" charset="-122"/>
                <a:cs typeface="Calibri" pitchFamily="34" charset="-120"/>
              </a:rPr>
              <a:t>seguimiento y roadmap actualizado</a:t>
            </a:r>
            <a:endParaRPr lang="en-US" sz="1100" dirty="0"/>
          </a:p>
        </p:txBody>
      </p:sp>
      <p:sp>
        <p:nvSpPr>
          <p:cNvPr id="38"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ROADMAP · PROYECTO COMPLETO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Roadmap S1 a S16: desde el inicio del proyecto</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Metodología tradicional (cascada). Columnas: semanas (S1 = 10 al 16 de agosto); la franja roja es la semana actual. Se actualiza cada semana: versión al 23-10-2026.</a:t>
            </a:r>
            <a:endParaRPr lang="en-US" sz="1250" dirty="0"/>
          </a:p>
        </p:txBody>
      </p:sp>
      <p:sp>
        <p:nvSpPr>
          <p:cNvPr id="5" name="Shape 3"/>
          <p:cNvSpPr/>
          <p:nvPr/>
        </p:nvSpPr>
        <p:spPr>
          <a:xfrm>
            <a:off x="2788920" y="1783080"/>
            <a:ext cx="1636205" cy="228600"/>
          </a:xfrm>
          <a:prstGeom prst="rect">
            <a:avLst/>
          </a:prstGeom>
          <a:solidFill>
            <a:srgbClr val="13294B"/>
          </a:solidFill>
          <a:ln w="12700">
            <a:solidFill>
              <a:srgbClr val="13294B"/>
            </a:solidFill>
            <a:prstDash val="solid"/>
          </a:ln>
        </p:spPr>
        <p:txBody>
          <a:bodyPr/>
          <a:lstStyle/>
          <a:p>
            <a:endParaRPr lang="es-CL"/>
          </a:p>
        </p:txBody>
      </p:sp>
      <p:sp>
        <p:nvSpPr>
          <p:cNvPr id="6" name="Text 4"/>
          <p:cNvSpPr txBox="1"/>
          <p:nvPr/>
        </p:nvSpPr>
        <p:spPr>
          <a:xfrm>
            <a:off x="2788920" y="1783080"/>
            <a:ext cx="1654493"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Agosto</a:t>
            </a:r>
            <a:endParaRPr lang="en-US" sz="1000" dirty="0"/>
          </a:p>
        </p:txBody>
      </p:sp>
      <p:sp>
        <p:nvSpPr>
          <p:cNvPr id="7" name="Shape 5"/>
          <p:cNvSpPr/>
          <p:nvPr/>
        </p:nvSpPr>
        <p:spPr>
          <a:xfrm>
            <a:off x="4443413" y="1783080"/>
            <a:ext cx="2187702" cy="228600"/>
          </a:xfrm>
          <a:prstGeom prst="rect">
            <a:avLst/>
          </a:prstGeom>
          <a:solidFill>
            <a:srgbClr val="13294B"/>
          </a:solidFill>
          <a:ln w="12700">
            <a:solidFill>
              <a:srgbClr val="13294B"/>
            </a:solidFill>
            <a:prstDash val="solid"/>
          </a:ln>
        </p:spPr>
        <p:txBody>
          <a:bodyPr/>
          <a:lstStyle/>
          <a:p>
            <a:endParaRPr lang="es-CL"/>
          </a:p>
        </p:txBody>
      </p:sp>
      <p:sp>
        <p:nvSpPr>
          <p:cNvPr id="8" name="Text 6"/>
          <p:cNvSpPr txBox="1"/>
          <p:nvPr/>
        </p:nvSpPr>
        <p:spPr>
          <a:xfrm>
            <a:off x="4443413" y="1783080"/>
            <a:ext cx="220599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Septiembre</a:t>
            </a:r>
            <a:endParaRPr lang="en-US" sz="1000" dirty="0"/>
          </a:p>
        </p:txBody>
      </p:sp>
      <p:sp>
        <p:nvSpPr>
          <p:cNvPr id="9" name="Shape 7"/>
          <p:cNvSpPr/>
          <p:nvPr/>
        </p:nvSpPr>
        <p:spPr>
          <a:xfrm>
            <a:off x="6649403" y="1783080"/>
            <a:ext cx="2739200" cy="228600"/>
          </a:xfrm>
          <a:prstGeom prst="rect">
            <a:avLst/>
          </a:prstGeom>
          <a:solidFill>
            <a:srgbClr val="13294B"/>
          </a:solidFill>
          <a:ln w="12700">
            <a:solidFill>
              <a:srgbClr val="13294B"/>
            </a:solidFill>
            <a:prstDash val="solid"/>
          </a:ln>
        </p:spPr>
        <p:txBody>
          <a:bodyPr/>
          <a:lstStyle/>
          <a:p>
            <a:endParaRPr lang="es-CL"/>
          </a:p>
        </p:txBody>
      </p:sp>
      <p:sp>
        <p:nvSpPr>
          <p:cNvPr id="10" name="Text 8"/>
          <p:cNvSpPr txBox="1"/>
          <p:nvPr/>
        </p:nvSpPr>
        <p:spPr>
          <a:xfrm>
            <a:off x="6649403" y="1783080"/>
            <a:ext cx="2757488"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Octubre</a:t>
            </a:r>
            <a:endParaRPr lang="en-US" sz="1000" dirty="0"/>
          </a:p>
        </p:txBody>
      </p:sp>
      <p:sp>
        <p:nvSpPr>
          <p:cNvPr id="11" name="Shape 9"/>
          <p:cNvSpPr/>
          <p:nvPr/>
        </p:nvSpPr>
        <p:spPr>
          <a:xfrm>
            <a:off x="9406890" y="1783080"/>
            <a:ext cx="2187702" cy="228600"/>
          </a:xfrm>
          <a:prstGeom prst="rect">
            <a:avLst/>
          </a:prstGeom>
          <a:solidFill>
            <a:srgbClr val="13294B"/>
          </a:solidFill>
          <a:ln w="12700">
            <a:solidFill>
              <a:srgbClr val="13294B"/>
            </a:solidFill>
            <a:prstDash val="solid"/>
          </a:ln>
        </p:spPr>
        <p:txBody>
          <a:bodyPr/>
          <a:lstStyle/>
          <a:p>
            <a:endParaRPr lang="es-CL"/>
          </a:p>
        </p:txBody>
      </p:sp>
      <p:sp>
        <p:nvSpPr>
          <p:cNvPr id="12" name="Text 10"/>
          <p:cNvSpPr txBox="1"/>
          <p:nvPr/>
        </p:nvSpPr>
        <p:spPr>
          <a:xfrm>
            <a:off x="9406890" y="1783080"/>
            <a:ext cx="220599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Noviembre</a:t>
            </a:r>
            <a:endParaRPr lang="en-US" sz="1000" dirty="0"/>
          </a:p>
        </p:txBody>
      </p:sp>
      <p:sp>
        <p:nvSpPr>
          <p:cNvPr id="13" name="Shape 11"/>
          <p:cNvSpPr/>
          <p:nvPr/>
        </p:nvSpPr>
        <p:spPr>
          <a:xfrm>
            <a:off x="8303895" y="2011680"/>
            <a:ext cx="551498" cy="3886200"/>
          </a:xfrm>
          <a:prstGeom prst="rect">
            <a:avLst/>
          </a:prstGeom>
          <a:solidFill>
            <a:srgbClr val="B83A3A">
              <a:alpha val="18000"/>
            </a:srgbClr>
          </a:solidFill>
          <a:ln w="12700">
            <a:solidFill>
              <a:srgbClr val="B83A3A"/>
            </a:solidFill>
            <a:prstDash val="solid"/>
          </a:ln>
        </p:spPr>
        <p:txBody>
          <a:bodyPr/>
          <a:lstStyle/>
          <a:p>
            <a:endParaRPr lang="es-CL"/>
          </a:p>
        </p:txBody>
      </p:sp>
      <p:sp>
        <p:nvSpPr>
          <p:cNvPr id="14" name="Text 12"/>
          <p:cNvSpPr txBox="1"/>
          <p:nvPr/>
        </p:nvSpPr>
        <p:spPr>
          <a:xfrm>
            <a:off x="278892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a:t>
            </a:r>
            <a:endParaRPr lang="en-US" sz="900" dirty="0"/>
          </a:p>
        </p:txBody>
      </p:sp>
      <p:sp>
        <p:nvSpPr>
          <p:cNvPr id="15" name="Text 13"/>
          <p:cNvSpPr txBox="1"/>
          <p:nvPr/>
        </p:nvSpPr>
        <p:spPr>
          <a:xfrm>
            <a:off x="3340417"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S2</a:t>
            </a:r>
            <a:endParaRPr lang="en-US" sz="900" dirty="0"/>
          </a:p>
        </p:txBody>
      </p:sp>
      <p:sp>
        <p:nvSpPr>
          <p:cNvPr id="16" name="Text 14"/>
          <p:cNvSpPr txBox="1"/>
          <p:nvPr/>
        </p:nvSpPr>
        <p:spPr>
          <a:xfrm>
            <a:off x="3891915"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S3</a:t>
            </a:r>
            <a:endParaRPr lang="en-US" sz="900" dirty="0"/>
          </a:p>
        </p:txBody>
      </p:sp>
      <p:sp>
        <p:nvSpPr>
          <p:cNvPr id="17" name="Text 15"/>
          <p:cNvSpPr txBox="1"/>
          <p:nvPr/>
        </p:nvSpPr>
        <p:spPr>
          <a:xfrm>
            <a:off x="444341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S4</a:t>
            </a:r>
            <a:endParaRPr lang="en-US" sz="900" dirty="0"/>
          </a:p>
        </p:txBody>
      </p:sp>
      <p:sp>
        <p:nvSpPr>
          <p:cNvPr id="18" name="Text 16"/>
          <p:cNvSpPr txBox="1"/>
          <p:nvPr/>
        </p:nvSpPr>
        <p:spPr>
          <a:xfrm>
            <a:off x="499491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S5</a:t>
            </a:r>
            <a:endParaRPr lang="en-US" sz="900" dirty="0"/>
          </a:p>
        </p:txBody>
      </p:sp>
      <p:sp>
        <p:nvSpPr>
          <p:cNvPr id="19" name="Text 17"/>
          <p:cNvSpPr txBox="1"/>
          <p:nvPr/>
        </p:nvSpPr>
        <p:spPr>
          <a:xfrm>
            <a:off x="5546408"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S6</a:t>
            </a:r>
            <a:endParaRPr lang="en-US" sz="900" dirty="0"/>
          </a:p>
        </p:txBody>
      </p:sp>
      <p:sp>
        <p:nvSpPr>
          <p:cNvPr id="20" name="Text 18"/>
          <p:cNvSpPr txBox="1"/>
          <p:nvPr/>
        </p:nvSpPr>
        <p:spPr>
          <a:xfrm>
            <a:off x="6097905"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S7</a:t>
            </a:r>
            <a:endParaRPr lang="en-US" sz="900" dirty="0"/>
          </a:p>
        </p:txBody>
      </p:sp>
      <p:sp>
        <p:nvSpPr>
          <p:cNvPr id="21" name="Text 19"/>
          <p:cNvSpPr txBox="1"/>
          <p:nvPr/>
        </p:nvSpPr>
        <p:spPr>
          <a:xfrm>
            <a:off x="664940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S8</a:t>
            </a:r>
            <a:endParaRPr lang="en-US" sz="900" dirty="0"/>
          </a:p>
        </p:txBody>
      </p:sp>
      <p:sp>
        <p:nvSpPr>
          <p:cNvPr id="22" name="Text 20"/>
          <p:cNvSpPr txBox="1"/>
          <p:nvPr/>
        </p:nvSpPr>
        <p:spPr>
          <a:xfrm>
            <a:off x="720090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S9</a:t>
            </a:r>
            <a:endParaRPr lang="en-US" sz="900" dirty="0"/>
          </a:p>
        </p:txBody>
      </p:sp>
      <p:sp>
        <p:nvSpPr>
          <p:cNvPr id="23" name="Text 21"/>
          <p:cNvSpPr txBox="1"/>
          <p:nvPr/>
        </p:nvSpPr>
        <p:spPr>
          <a:xfrm>
            <a:off x="7752398"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S10</a:t>
            </a:r>
            <a:endParaRPr lang="en-US" sz="900" dirty="0"/>
          </a:p>
        </p:txBody>
      </p:sp>
      <p:sp>
        <p:nvSpPr>
          <p:cNvPr id="24" name="Text 22"/>
          <p:cNvSpPr txBox="1"/>
          <p:nvPr/>
        </p:nvSpPr>
        <p:spPr>
          <a:xfrm>
            <a:off x="8303895" y="2029968"/>
            <a:ext cx="551498" cy="228600"/>
          </a:xfrm>
          <a:prstGeom prst="rect">
            <a:avLst/>
          </a:prstGeom>
          <a:noFill/>
          <a:ln/>
        </p:spPr>
        <p:txBody>
          <a:bodyPr wrap="square" lIns="0" tIns="0" rIns="0" bIns="0" rtlCol="0" anchor="ctr"/>
          <a:lstStyle/>
          <a:p>
            <a:pPr marL="0" indent="0" algn="ctr">
              <a:buNone/>
            </a:pPr>
            <a:r>
              <a:rPr lang="en-US" sz="900" b="1" dirty="0">
                <a:solidFill>
                  <a:srgbClr val="B83A3A"/>
                </a:solidFill>
                <a:latin typeface="Calibri" pitchFamily="34" charset="0"/>
                <a:ea typeface="Calibri" pitchFamily="34" charset="-122"/>
                <a:cs typeface="Calibri" pitchFamily="34" charset="-120"/>
              </a:rPr>
              <a:t>S11</a:t>
            </a:r>
            <a:endParaRPr lang="en-US" sz="900" dirty="0"/>
          </a:p>
        </p:txBody>
      </p:sp>
      <p:sp>
        <p:nvSpPr>
          <p:cNvPr id="25" name="Text 23"/>
          <p:cNvSpPr txBox="1"/>
          <p:nvPr/>
        </p:nvSpPr>
        <p:spPr>
          <a:xfrm>
            <a:off x="885539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S12</a:t>
            </a:r>
            <a:endParaRPr lang="en-US" sz="900" dirty="0"/>
          </a:p>
        </p:txBody>
      </p:sp>
      <p:sp>
        <p:nvSpPr>
          <p:cNvPr id="26" name="Text 24"/>
          <p:cNvSpPr txBox="1"/>
          <p:nvPr/>
        </p:nvSpPr>
        <p:spPr>
          <a:xfrm>
            <a:off x="940689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S13</a:t>
            </a:r>
            <a:endParaRPr lang="en-US" sz="900" dirty="0"/>
          </a:p>
        </p:txBody>
      </p:sp>
      <p:sp>
        <p:nvSpPr>
          <p:cNvPr id="27" name="Text 25"/>
          <p:cNvSpPr txBox="1"/>
          <p:nvPr/>
        </p:nvSpPr>
        <p:spPr>
          <a:xfrm>
            <a:off x="9958388"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S14</a:t>
            </a:r>
            <a:endParaRPr lang="en-US" sz="900" dirty="0"/>
          </a:p>
        </p:txBody>
      </p:sp>
      <p:sp>
        <p:nvSpPr>
          <p:cNvPr id="28" name="Text 26"/>
          <p:cNvSpPr txBox="1"/>
          <p:nvPr/>
        </p:nvSpPr>
        <p:spPr>
          <a:xfrm>
            <a:off x="10509885"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S15</a:t>
            </a:r>
            <a:endParaRPr lang="en-US" sz="900" dirty="0"/>
          </a:p>
        </p:txBody>
      </p:sp>
      <p:sp>
        <p:nvSpPr>
          <p:cNvPr id="29" name="Text 27"/>
          <p:cNvSpPr txBox="1"/>
          <p:nvPr/>
        </p:nvSpPr>
        <p:spPr>
          <a:xfrm>
            <a:off x="1106138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S16</a:t>
            </a:r>
            <a:endParaRPr lang="en-US" sz="900" dirty="0"/>
          </a:p>
        </p:txBody>
      </p:sp>
      <p:sp>
        <p:nvSpPr>
          <p:cNvPr id="30" name="Text 28"/>
          <p:cNvSpPr txBox="1"/>
          <p:nvPr/>
        </p:nvSpPr>
        <p:spPr>
          <a:xfrm>
            <a:off x="548640" y="2331720"/>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Planificación y control</a:t>
            </a:r>
            <a:endParaRPr lang="en-US" sz="1200" dirty="0"/>
          </a:p>
        </p:txBody>
      </p:sp>
      <p:sp>
        <p:nvSpPr>
          <p:cNvPr id="31" name="Shape 29"/>
          <p:cNvSpPr/>
          <p:nvPr/>
        </p:nvSpPr>
        <p:spPr>
          <a:xfrm>
            <a:off x="2788920" y="2807208"/>
            <a:ext cx="8823960" cy="0"/>
          </a:xfrm>
          <a:prstGeom prst="line">
            <a:avLst/>
          </a:prstGeom>
          <a:noFill/>
          <a:ln w="6350">
            <a:solidFill>
              <a:srgbClr val="D7DCE3"/>
            </a:solidFill>
            <a:prstDash val="solid"/>
          </a:ln>
        </p:spPr>
        <p:txBody>
          <a:bodyPr/>
          <a:lstStyle/>
          <a:p>
            <a:endParaRPr lang="es-CL"/>
          </a:p>
        </p:txBody>
      </p:sp>
      <p:sp>
        <p:nvSpPr>
          <p:cNvPr id="32" name="Shape 30"/>
          <p:cNvSpPr/>
          <p:nvPr/>
        </p:nvSpPr>
        <p:spPr>
          <a:xfrm>
            <a:off x="2807208" y="2386584"/>
            <a:ext cx="2169414" cy="329184"/>
          </a:xfrm>
          <a:prstGeom prst="rect">
            <a:avLst/>
          </a:prstGeom>
          <a:solidFill>
            <a:srgbClr val="2F855A"/>
          </a:solidFill>
          <a:ln w="12700">
            <a:solidFill>
              <a:srgbClr val="2F855A"/>
            </a:solidFill>
            <a:prstDash val="solid"/>
          </a:ln>
        </p:spPr>
        <p:txBody>
          <a:bodyPr/>
          <a:lstStyle/>
          <a:p>
            <a:endParaRPr lang="es-CL"/>
          </a:p>
        </p:txBody>
      </p:sp>
      <p:sp>
        <p:nvSpPr>
          <p:cNvPr id="33" name="Text 31"/>
          <p:cNvSpPr txBox="1"/>
          <p:nvPr/>
        </p:nvSpPr>
        <p:spPr>
          <a:xfrm>
            <a:off x="2807208" y="2386584"/>
            <a:ext cx="2169414"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Acta, ERS, EDT, planes</a:t>
            </a:r>
            <a:endParaRPr lang="en-US" sz="850" dirty="0"/>
          </a:p>
        </p:txBody>
      </p:sp>
      <p:sp>
        <p:nvSpPr>
          <p:cNvPr id="34" name="Shape 32"/>
          <p:cNvSpPr/>
          <p:nvPr/>
        </p:nvSpPr>
        <p:spPr>
          <a:xfrm>
            <a:off x="5013198" y="2386584"/>
            <a:ext cx="3272409" cy="329184"/>
          </a:xfrm>
          <a:prstGeom prst="rect">
            <a:avLst/>
          </a:prstGeom>
          <a:solidFill>
            <a:srgbClr val="2F855A"/>
          </a:solidFill>
          <a:ln w="12700">
            <a:solidFill>
              <a:srgbClr val="2F855A"/>
            </a:solidFill>
            <a:prstDash val="solid"/>
          </a:ln>
        </p:spPr>
        <p:txBody>
          <a:bodyPr/>
          <a:lstStyle/>
          <a:p>
            <a:endParaRPr lang="es-CL"/>
          </a:p>
        </p:txBody>
      </p:sp>
      <p:sp>
        <p:nvSpPr>
          <p:cNvPr id="35" name="Text 33"/>
          <p:cNvSpPr txBox="1"/>
          <p:nvPr/>
        </p:nvSpPr>
        <p:spPr>
          <a:xfrm>
            <a:off x="5013198" y="2386584"/>
            <a:ext cx="327240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Seguimiento semanal y control de cambios</a:t>
            </a:r>
            <a:endParaRPr lang="en-US" sz="850" dirty="0"/>
          </a:p>
        </p:txBody>
      </p:sp>
      <p:sp>
        <p:nvSpPr>
          <p:cNvPr id="36" name="Shape 34"/>
          <p:cNvSpPr/>
          <p:nvPr/>
        </p:nvSpPr>
        <p:spPr>
          <a:xfrm>
            <a:off x="8322183" y="2386584"/>
            <a:ext cx="514922" cy="329184"/>
          </a:xfrm>
          <a:prstGeom prst="rect">
            <a:avLst/>
          </a:prstGeom>
          <a:solidFill>
            <a:srgbClr val="B5762A"/>
          </a:solidFill>
          <a:ln w="12700">
            <a:solidFill>
              <a:srgbClr val="B5762A"/>
            </a:solidFill>
            <a:prstDash val="solid"/>
          </a:ln>
        </p:spPr>
        <p:txBody>
          <a:bodyPr/>
          <a:lstStyle/>
          <a:p>
            <a:endParaRPr lang="es-CL"/>
          </a:p>
        </p:txBody>
      </p:sp>
      <p:sp>
        <p:nvSpPr>
          <p:cNvPr id="37" name="Text 35"/>
          <p:cNvSpPr txBox="1"/>
          <p:nvPr/>
        </p:nvSpPr>
        <p:spPr>
          <a:xfrm>
            <a:off x="8322183" y="2386584"/>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Roadmap</a:t>
            </a:r>
            <a:endParaRPr lang="en-US" sz="850" dirty="0"/>
          </a:p>
        </p:txBody>
      </p:sp>
      <p:sp>
        <p:nvSpPr>
          <p:cNvPr id="38" name="Shape 36"/>
          <p:cNvSpPr/>
          <p:nvPr/>
        </p:nvSpPr>
        <p:spPr>
          <a:xfrm>
            <a:off x="8873680" y="2386584"/>
            <a:ext cx="2720912" cy="329184"/>
          </a:xfrm>
          <a:prstGeom prst="rect">
            <a:avLst/>
          </a:prstGeom>
          <a:solidFill>
            <a:srgbClr val="13294B"/>
          </a:solidFill>
          <a:ln w="12700">
            <a:solidFill>
              <a:srgbClr val="13294B"/>
            </a:solidFill>
            <a:prstDash val="solid"/>
          </a:ln>
        </p:spPr>
        <p:txBody>
          <a:bodyPr/>
          <a:lstStyle/>
          <a:p>
            <a:endParaRPr lang="es-CL"/>
          </a:p>
        </p:txBody>
      </p:sp>
      <p:sp>
        <p:nvSpPr>
          <p:cNvPr id="39" name="Text 37"/>
          <p:cNvSpPr txBox="1"/>
          <p:nvPr/>
        </p:nvSpPr>
        <p:spPr>
          <a:xfrm>
            <a:off x="8873680" y="2386584"/>
            <a:ext cx="2720912"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Seguimiento semanal y roadmap actualizado</a:t>
            </a:r>
            <a:endParaRPr lang="en-US" sz="850" dirty="0"/>
          </a:p>
        </p:txBody>
      </p:sp>
      <p:sp>
        <p:nvSpPr>
          <p:cNvPr id="40" name="Text 38"/>
          <p:cNvSpPr txBox="1"/>
          <p:nvPr/>
        </p:nvSpPr>
        <p:spPr>
          <a:xfrm>
            <a:off x="548640" y="2843784"/>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Diseño</a:t>
            </a:r>
            <a:endParaRPr lang="en-US" sz="1200" dirty="0"/>
          </a:p>
        </p:txBody>
      </p:sp>
      <p:sp>
        <p:nvSpPr>
          <p:cNvPr id="41" name="Shape 39"/>
          <p:cNvSpPr/>
          <p:nvPr/>
        </p:nvSpPr>
        <p:spPr>
          <a:xfrm>
            <a:off x="2788920" y="3319272"/>
            <a:ext cx="8823960" cy="0"/>
          </a:xfrm>
          <a:prstGeom prst="line">
            <a:avLst/>
          </a:prstGeom>
          <a:noFill/>
          <a:ln w="6350">
            <a:solidFill>
              <a:srgbClr val="D7DCE3"/>
            </a:solidFill>
            <a:prstDash val="solid"/>
          </a:ln>
        </p:spPr>
        <p:txBody>
          <a:bodyPr/>
          <a:lstStyle/>
          <a:p>
            <a:endParaRPr lang="es-CL"/>
          </a:p>
        </p:txBody>
      </p:sp>
      <p:sp>
        <p:nvSpPr>
          <p:cNvPr id="42" name="Shape 40"/>
          <p:cNvSpPr/>
          <p:nvPr/>
        </p:nvSpPr>
        <p:spPr>
          <a:xfrm>
            <a:off x="5013198" y="2898648"/>
            <a:ext cx="3272409" cy="329184"/>
          </a:xfrm>
          <a:prstGeom prst="rect">
            <a:avLst/>
          </a:prstGeom>
          <a:solidFill>
            <a:srgbClr val="2F855A"/>
          </a:solidFill>
          <a:ln w="12700">
            <a:solidFill>
              <a:srgbClr val="2F855A"/>
            </a:solidFill>
            <a:prstDash val="solid"/>
          </a:ln>
        </p:spPr>
        <p:txBody>
          <a:bodyPr/>
          <a:lstStyle/>
          <a:p>
            <a:endParaRPr lang="es-CL"/>
          </a:p>
        </p:txBody>
      </p:sp>
      <p:sp>
        <p:nvSpPr>
          <p:cNvPr id="43" name="Text 41"/>
          <p:cNvSpPr txBox="1"/>
          <p:nvPr/>
        </p:nvSpPr>
        <p:spPr>
          <a:xfrm>
            <a:off x="5013198" y="2898648"/>
            <a:ext cx="327240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UX/UI, 4+1, casos de uso, modelo E-R, Ley 21.719</a:t>
            </a:r>
            <a:endParaRPr lang="en-US" sz="850" dirty="0"/>
          </a:p>
        </p:txBody>
      </p:sp>
      <p:sp>
        <p:nvSpPr>
          <p:cNvPr id="44" name="Shape 42"/>
          <p:cNvSpPr/>
          <p:nvPr/>
        </p:nvSpPr>
        <p:spPr>
          <a:xfrm>
            <a:off x="8322183" y="2898648"/>
            <a:ext cx="514922" cy="329184"/>
          </a:xfrm>
          <a:prstGeom prst="rect">
            <a:avLst/>
          </a:prstGeom>
          <a:solidFill>
            <a:srgbClr val="2F855A"/>
          </a:solidFill>
          <a:ln w="12700">
            <a:solidFill>
              <a:srgbClr val="2F855A"/>
            </a:solidFill>
            <a:prstDash val="solid"/>
          </a:ln>
        </p:spPr>
        <p:txBody>
          <a:bodyPr/>
          <a:lstStyle/>
          <a:p>
            <a:endParaRPr lang="es-CL"/>
          </a:p>
        </p:txBody>
      </p:sp>
      <p:sp>
        <p:nvSpPr>
          <p:cNvPr id="45" name="Text 43"/>
          <p:cNvSpPr txBox="1"/>
          <p:nvPr/>
        </p:nvSpPr>
        <p:spPr>
          <a:xfrm>
            <a:off x="8322183" y="2898648"/>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Modelo v1.2</a:t>
            </a:r>
            <a:endParaRPr lang="en-US" sz="850" dirty="0"/>
          </a:p>
        </p:txBody>
      </p:sp>
      <p:sp>
        <p:nvSpPr>
          <p:cNvPr id="46" name="Text 44"/>
          <p:cNvSpPr txBox="1"/>
          <p:nvPr/>
        </p:nvSpPr>
        <p:spPr>
          <a:xfrm>
            <a:off x="548640" y="3355848"/>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Desarrollo</a:t>
            </a:r>
            <a:endParaRPr lang="en-US" sz="1200" dirty="0"/>
          </a:p>
        </p:txBody>
      </p:sp>
      <p:sp>
        <p:nvSpPr>
          <p:cNvPr id="47" name="Shape 45"/>
          <p:cNvSpPr/>
          <p:nvPr/>
        </p:nvSpPr>
        <p:spPr>
          <a:xfrm>
            <a:off x="2788920" y="3831336"/>
            <a:ext cx="8823960" cy="0"/>
          </a:xfrm>
          <a:prstGeom prst="line">
            <a:avLst/>
          </a:prstGeom>
          <a:noFill/>
          <a:ln w="6350">
            <a:solidFill>
              <a:srgbClr val="D7DCE3"/>
            </a:solidFill>
            <a:prstDash val="solid"/>
          </a:ln>
        </p:spPr>
        <p:txBody>
          <a:bodyPr/>
          <a:lstStyle/>
          <a:p>
            <a:endParaRPr lang="es-CL"/>
          </a:p>
        </p:txBody>
      </p:sp>
      <p:sp>
        <p:nvSpPr>
          <p:cNvPr id="48" name="Shape 46"/>
          <p:cNvSpPr/>
          <p:nvPr/>
        </p:nvSpPr>
        <p:spPr>
          <a:xfrm>
            <a:off x="6116193" y="3410712"/>
            <a:ext cx="2169414" cy="329184"/>
          </a:xfrm>
          <a:prstGeom prst="rect">
            <a:avLst/>
          </a:prstGeom>
          <a:solidFill>
            <a:srgbClr val="2F855A"/>
          </a:solidFill>
          <a:ln w="12700">
            <a:solidFill>
              <a:srgbClr val="2F855A"/>
            </a:solidFill>
            <a:prstDash val="solid"/>
          </a:ln>
        </p:spPr>
        <p:txBody>
          <a:bodyPr/>
          <a:lstStyle/>
          <a:p>
            <a:endParaRPr lang="es-CL"/>
          </a:p>
        </p:txBody>
      </p:sp>
      <p:sp>
        <p:nvSpPr>
          <p:cNvPr id="49" name="Text 47"/>
          <p:cNvSpPr txBox="1"/>
          <p:nvPr/>
        </p:nvSpPr>
        <p:spPr>
          <a:xfrm>
            <a:off x="6116193" y="3410712"/>
            <a:ext cx="2169414"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Prototipos web y app · BD en PostgreSQL</a:t>
            </a:r>
            <a:endParaRPr lang="en-US" sz="850" dirty="0"/>
          </a:p>
        </p:txBody>
      </p:sp>
      <p:sp>
        <p:nvSpPr>
          <p:cNvPr id="50" name="Shape 48"/>
          <p:cNvSpPr/>
          <p:nvPr/>
        </p:nvSpPr>
        <p:spPr>
          <a:xfrm>
            <a:off x="8322183" y="3410712"/>
            <a:ext cx="514922" cy="329184"/>
          </a:xfrm>
          <a:prstGeom prst="rect">
            <a:avLst/>
          </a:prstGeom>
          <a:solidFill>
            <a:srgbClr val="B5762A"/>
          </a:solidFill>
          <a:ln w="12700">
            <a:solidFill>
              <a:srgbClr val="B5762A"/>
            </a:solidFill>
            <a:prstDash val="solid"/>
          </a:ln>
        </p:spPr>
        <p:txBody>
          <a:bodyPr/>
          <a:lstStyle/>
          <a:p>
            <a:endParaRPr lang="es-CL"/>
          </a:p>
        </p:txBody>
      </p:sp>
      <p:sp>
        <p:nvSpPr>
          <p:cNvPr id="51" name="Text 49"/>
          <p:cNvSpPr txBox="1"/>
          <p:nvPr/>
        </p:nvSpPr>
        <p:spPr>
          <a:xfrm>
            <a:off x="8322183" y="3410712"/>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API</a:t>
            </a:r>
            <a:endParaRPr lang="en-US" sz="850" dirty="0"/>
          </a:p>
        </p:txBody>
      </p:sp>
      <p:sp>
        <p:nvSpPr>
          <p:cNvPr id="52" name="Shape 50"/>
          <p:cNvSpPr/>
          <p:nvPr/>
        </p:nvSpPr>
        <p:spPr>
          <a:xfrm>
            <a:off x="8873680" y="3410712"/>
            <a:ext cx="1066419" cy="329184"/>
          </a:xfrm>
          <a:prstGeom prst="rect">
            <a:avLst/>
          </a:prstGeom>
          <a:solidFill>
            <a:srgbClr val="13294B"/>
          </a:solidFill>
          <a:ln w="12700">
            <a:solidFill>
              <a:srgbClr val="13294B"/>
            </a:solidFill>
            <a:prstDash val="solid"/>
          </a:ln>
        </p:spPr>
        <p:txBody>
          <a:bodyPr/>
          <a:lstStyle/>
          <a:p>
            <a:endParaRPr lang="es-CL"/>
          </a:p>
        </p:txBody>
      </p:sp>
      <p:sp>
        <p:nvSpPr>
          <p:cNvPr id="53" name="Text 51"/>
          <p:cNvSpPr txBox="1"/>
          <p:nvPr/>
        </p:nvSpPr>
        <p:spPr>
          <a:xfrm>
            <a:off x="8873680" y="3410712"/>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Webpay, fila, «Mis datos», personal</a:t>
            </a:r>
            <a:endParaRPr lang="en-US" sz="850" dirty="0"/>
          </a:p>
        </p:txBody>
      </p:sp>
      <p:sp>
        <p:nvSpPr>
          <p:cNvPr id="54" name="Text 52"/>
          <p:cNvSpPr txBox="1"/>
          <p:nvPr/>
        </p:nvSpPr>
        <p:spPr>
          <a:xfrm>
            <a:off x="548640" y="3867912"/>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Pruebas / QA</a:t>
            </a:r>
            <a:endParaRPr lang="en-US" sz="1200" dirty="0"/>
          </a:p>
        </p:txBody>
      </p:sp>
      <p:sp>
        <p:nvSpPr>
          <p:cNvPr id="55" name="Shape 53"/>
          <p:cNvSpPr/>
          <p:nvPr/>
        </p:nvSpPr>
        <p:spPr>
          <a:xfrm>
            <a:off x="2788920" y="4343400"/>
            <a:ext cx="8823960" cy="0"/>
          </a:xfrm>
          <a:prstGeom prst="line">
            <a:avLst/>
          </a:prstGeom>
          <a:noFill/>
          <a:ln w="6350">
            <a:solidFill>
              <a:srgbClr val="D7DCE3"/>
            </a:solidFill>
            <a:prstDash val="solid"/>
          </a:ln>
        </p:spPr>
        <p:txBody>
          <a:bodyPr/>
          <a:lstStyle/>
          <a:p>
            <a:endParaRPr lang="es-CL"/>
          </a:p>
        </p:txBody>
      </p:sp>
      <p:sp>
        <p:nvSpPr>
          <p:cNvPr id="56" name="Shape 54"/>
          <p:cNvSpPr/>
          <p:nvPr/>
        </p:nvSpPr>
        <p:spPr>
          <a:xfrm>
            <a:off x="7219188" y="3922776"/>
            <a:ext cx="1617917" cy="329184"/>
          </a:xfrm>
          <a:prstGeom prst="rect">
            <a:avLst/>
          </a:prstGeom>
          <a:solidFill>
            <a:srgbClr val="2F855A"/>
          </a:solidFill>
          <a:ln w="12700">
            <a:solidFill>
              <a:srgbClr val="2F855A"/>
            </a:solidFill>
            <a:prstDash val="solid"/>
          </a:ln>
        </p:spPr>
        <p:txBody>
          <a:bodyPr/>
          <a:lstStyle/>
          <a:p>
            <a:endParaRPr lang="es-CL"/>
          </a:p>
        </p:txBody>
      </p:sp>
      <p:sp>
        <p:nvSpPr>
          <p:cNvPr id="57" name="Text 55"/>
          <p:cNvSpPr txBox="1"/>
          <p:nvPr/>
        </p:nvSpPr>
        <p:spPr>
          <a:xfrm>
            <a:off x="7219188" y="3922776"/>
            <a:ext cx="1617917"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BD 24/24 · API 17/17 · plan</a:t>
            </a:r>
            <a:endParaRPr lang="en-US" sz="850" dirty="0"/>
          </a:p>
        </p:txBody>
      </p:sp>
      <p:sp>
        <p:nvSpPr>
          <p:cNvPr id="58" name="Shape 56"/>
          <p:cNvSpPr/>
          <p:nvPr/>
        </p:nvSpPr>
        <p:spPr>
          <a:xfrm>
            <a:off x="8873680" y="3922776"/>
            <a:ext cx="1617917" cy="329184"/>
          </a:xfrm>
          <a:prstGeom prst="rect">
            <a:avLst/>
          </a:prstGeom>
          <a:solidFill>
            <a:srgbClr val="13294B"/>
          </a:solidFill>
          <a:ln w="12700">
            <a:solidFill>
              <a:srgbClr val="13294B"/>
            </a:solidFill>
            <a:prstDash val="solid"/>
          </a:ln>
        </p:spPr>
        <p:txBody>
          <a:bodyPr/>
          <a:lstStyle/>
          <a:p>
            <a:endParaRPr lang="es-CL"/>
          </a:p>
        </p:txBody>
      </p:sp>
      <p:sp>
        <p:nvSpPr>
          <p:cNvPr id="59" name="Text 57"/>
          <p:cNvSpPr txBox="1"/>
          <p:nvPr/>
        </p:nvSpPr>
        <p:spPr>
          <a:xfrm>
            <a:off x="8873680" y="3922776"/>
            <a:ext cx="1617917"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Funcionales, integración, seguridad, UAT</a:t>
            </a:r>
            <a:endParaRPr lang="en-US" sz="850" dirty="0"/>
          </a:p>
        </p:txBody>
      </p:sp>
      <p:sp>
        <p:nvSpPr>
          <p:cNvPr id="60" name="Text 58"/>
          <p:cNvSpPr txBox="1"/>
          <p:nvPr/>
        </p:nvSpPr>
        <p:spPr>
          <a:xfrm>
            <a:off x="548640" y="4379976"/>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Despliegue</a:t>
            </a:r>
            <a:endParaRPr lang="en-US" sz="1200" dirty="0"/>
          </a:p>
        </p:txBody>
      </p:sp>
      <p:sp>
        <p:nvSpPr>
          <p:cNvPr id="61" name="Shape 59"/>
          <p:cNvSpPr/>
          <p:nvPr/>
        </p:nvSpPr>
        <p:spPr>
          <a:xfrm>
            <a:off x="2788920" y="4855464"/>
            <a:ext cx="8823960" cy="0"/>
          </a:xfrm>
          <a:prstGeom prst="line">
            <a:avLst/>
          </a:prstGeom>
          <a:noFill/>
          <a:ln w="6350">
            <a:solidFill>
              <a:srgbClr val="D7DCE3"/>
            </a:solidFill>
            <a:prstDash val="solid"/>
          </a:ln>
        </p:spPr>
        <p:txBody>
          <a:bodyPr/>
          <a:lstStyle/>
          <a:p>
            <a:endParaRPr lang="es-CL"/>
          </a:p>
        </p:txBody>
      </p:sp>
      <p:sp>
        <p:nvSpPr>
          <p:cNvPr id="62" name="Shape 60"/>
          <p:cNvSpPr/>
          <p:nvPr/>
        </p:nvSpPr>
        <p:spPr>
          <a:xfrm>
            <a:off x="8873680" y="4434840"/>
            <a:ext cx="1066419" cy="329184"/>
          </a:xfrm>
          <a:prstGeom prst="rect">
            <a:avLst/>
          </a:prstGeom>
          <a:solidFill>
            <a:srgbClr val="13294B"/>
          </a:solidFill>
          <a:ln w="12700">
            <a:solidFill>
              <a:srgbClr val="13294B"/>
            </a:solidFill>
            <a:prstDash val="solid"/>
          </a:ln>
        </p:spPr>
        <p:txBody>
          <a:bodyPr/>
          <a:lstStyle/>
          <a:p>
            <a:endParaRPr lang="es-CL"/>
          </a:p>
        </p:txBody>
      </p:sp>
      <p:sp>
        <p:nvSpPr>
          <p:cNvPr id="63" name="Text 61"/>
          <p:cNvSpPr txBox="1"/>
          <p:nvPr/>
        </p:nvSpPr>
        <p:spPr>
          <a:xfrm>
            <a:off x="8873680" y="4434840"/>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Ambiente UAT y APK firmada</a:t>
            </a:r>
            <a:endParaRPr lang="en-US" sz="850" dirty="0"/>
          </a:p>
        </p:txBody>
      </p:sp>
      <p:sp>
        <p:nvSpPr>
          <p:cNvPr id="64" name="Shape 62"/>
          <p:cNvSpPr/>
          <p:nvPr/>
        </p:nvSpPr>
        <p:spPr>
          <a:xfrm>
            <a:off x="9976676" y="4434840"/>
            <a:ext cx="514922" cy="329184"/>
          </a:xfrm>
          <a:prstGeom prst="rect">
            <a:avLst/>
          </a:prstGeom>
          <a:solidFill>
            <a:srgbClr val="13294B"/>
          </a:solidFill>
          <a:ln w="12700">
            <a:solidFill>
              <a:srgbClr val="13294B"/>
            </a:solidFill>
            <a:prstDash val="solid"/>
          </a:ln>
        </p:spPr>
        <p:txBody>
          <a:bodyPr/>
          <a:lstStyle/>
          <a:p>
            <a:endParaRPr lang="es-CL"/>
          </a:p>
        </p:txBody>
      </p:sp>
      <p:sp>
        <p:nvSpPr>
          <p:cNvPr id="65" name="Text 63"/>
          <p:cNvSpPr txBox="1"/>
          <p:nvPr/>
        </p:nvSpPr>
        <p:spPr>
          <a:xfrm>
            <a:off x="9976676" y="4434840"/>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UAT</a:t>
            </a:r>
            <a:endParaRPr lang="en-US" sz="850" dirty="0"/>
          </a:p>
        </p:txBody>
      </p:sp>
      <p:sp>
        <p:nvSpPr>
          <p:cNvPr id="66" name="Text 64"/>
          <p:cNvSpPr txBox="1"/>
          <p:nvPr/>
        </p:nvSpPr>
        <p:spPr>
          <a:xfrm>
            <a:off x="548640" y="4892040"/>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Presentación final</a:t>
            </a:r>
            <a:endParaRPr lang="en-US" sz="1200" dirty="0"/>
          </a:p>
        </p:txBody>
      </p:sp>
      <p:sp>
        <p:nvSpPr>
          <p:cNvPr id="67" name="Shape 65"/>
          <p:cNvSpPr/>
          <p:nvPr/>
        </p:nvSpPr>
        <p:spPr>
          <a:xfrm>
            <a:off x="2788920" y="5367528"/>
            <a:ext cx="8823960" cy="0"/>
          </a:xfrm>
          <a:prstGeom prst="line">
            <a:avLst/>
          </a:prstGeom>
          <a:noFill/>
          <a:ln w="6350">
            <a:solidFill>
              <a:srgbClr val="D7DCE3"/>
            </a:solidFill>
            <a:prstDash val="solid"/>
          </a:ln>
        </p:spPr>
        <p:txBody>
          <a:bodyPr/>
          <a:lstStyle/>
          <a:p>
            <a:endParaRPr lang="es-CL"/>
          </a:p>
        </p:txBody>
      </p:sp>
      <p:sp>
        <p:nvSpPr>
          <p:cNvPr id="68" name="Shape 66"/>
          <p:cNvSpPr/>
          <p:nvPr/>
        </p:nvSpPr>
        <p:spPr>
          <a:xfrm>
            <a:off x="8322183" y="4946904"/>
            <a:ext cx="514922" cy="329184"/>
          </a:xfrm>
          <a:prstGeom prst="rect">
            <a:avLst/>
          </a:prstGeom>
          <a:solidFill>
            <a:srgbClr val="B5762A"/>
          </a:solidFill>
          <a:ln w="12700">
            <a:solidFill>
              <a:srgbClr val="B5762A"/>
            </a:solidFill>
            <a:prstDash val="solid"/>
          </a:ln>
        </p:spPr>
        <p:txBody>
          <a:bodyPr/>
          <a:lstStyle/>
          <a:p>
            <a:endParaRPr lang="es-CL"/>
          </a:p>
        </p:txBody>
      </p:sp>
      <p:sp>
        <p:nvSpPr>
          <p:cNvPr id="69" name="Text 67"/>
          <p:cNvSpPr txBox="1"/>
          <p:nvPr/>
        </p:nvSpPr>
        <p:spPr>
          <a:xfrm>
            <a:off x="8322183" y="4946904"/>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H5</a:t>
            </a:r>
            <a:endParaRPr lang="en-US" sz="850" dirty="0"/>
          </a:p>
        </p:txBody>
      </p:sp>
      <p:sp>
        <p:nvSpPr>
          <p:cNvPr id="70" name="Shape 68"/>
          <p:cNvSpPr/>
          <p:nvPr/>
        </p:nvSpPr>
        <p:spPr>
          <a:xfrm>
            <a:off x="9425178" y="4946904"/>
            <a:ext cx="1066419" cy="329184"/>
          </a:xfrm>
          <a:prstGeom prst="rect">
            <a:avLst/>
          </a:prstGeom>
          <a:solidFill>
            <a:srgbClr val="13294B"/>
          </a:solidFill>
          <a:ln w="12700">
            <a:solidFill>
              <a:srgbClr val="13294B"/>
            </a:solidFill>
            <a:prstDash val="solid"/>
          </a:ln>
        </p:spPr>
        <p:txBody>
          <a:bodyPr/>
          <a:lstStyle/>
          <a:p>
            <a:endParaRPr lang="es-CL"/>
          </a:p>
        </p:txBody>
      </p:sp>
      <p:sp>
        <p:nvSpPr>
          <p:cNvPr id="71" name="Text 69"/>
          <p:cNvSpPr txBox="1"/>
          <p:nvPr/>
        </p:nvSpPr>
        <p:spPr>
          <a:xfrm>
            <a:off x="9425178" y="4946904"/>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Informe y entrega</a:t>
            </a:r>
            <a:endParaRPr lang="en-US" sz="850" dirty="0"/>
          </a:p>
        </p:txBody>
      </p:sp>
      <p:sp>
        <p:nvSpPr>
          <p:cNvPr id="72" name="Shape 70"/>
          <p:cNvSpPr/>
          <p:nvPr/>
        </p:nvSpPr>
        <p:spPr>
          <a:xfrm>
            <a:off x="10528173" y="4946904"/>
            <a:ext cx="1066419" cy="329184"/>
          </a:xfrm>
          <a:prstGeom prst="rect">
            <a:avLst/>
          </a:prstGeom>
          <a:solidFill>
            <a:srgbClr val="13294B"/>
          </a:solidFill>
          <a:ln w="12700">
            <a:solidFill>
              <a:srgbClr val="13294B"/>
            </a:solidFill>
            <a:prstDash val="solid"/>
          </a:ln>
        </p:spPr>
        <p:txBody>
          <a:bodyPr/>
          <a:lstStyle/>
          <a:p>
            <a:endParaRPr lang="es-CL"/>
          </a:p>
        </p:txBody>
      </p:sp>
      <p:sp>
        <p:nvSpPr>
          <p:cNvPr id="73" name="Text 71"/>
          <p:cNvSpPr txBox="1"/>
          <p:nvPr/>
        </p:nvSpPr>
        <p:spPr>
          <a:xfrm>
            <a:off x="10528173" y="4946904"/>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Ensayo y defensa</a:t>
            </a:r>
            <a:endParaRPr lang="en-US" sz="850" dirty="0"/>
          </a:p>
        </p:txBody>
      </p:sp>
      <p:sp>
        <p:nvSpPr>
          <p:cNvPr id="74" name="Text 72"/>
          <p:cNvSpPr txBox="1"/>
          <p:nvPr/>
        </p:nvSpPr>
        <p:spPr>
          <a:xfrm>
            <a:off x="548640" y="5404104"/>
            <a:ext cx="2194560" cy="411480"/>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Hitos</a:t>
            </a:r>
            <a:endParaRPr lang="en-US" sz="1200" dirty="0"/>
          </a:p>
        </p:txBody>
      </p:sp>
      <p:sp>
        <p:nvSpPr>
          <p:cNvPr id="75" name="Shape 73"/>
          <p:cNvSpPr/>
          <p:nvPr/>
        </p:nvSpPr>
        <p:spPr>
          <a:xfrm>
            <a:off x="4627721"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76" name="Text 74"/>
          <p:cNvSpPr txBox="1"/>
          <p:nvPr/>
        </p:nvSpPr>
        <p:spPr>
          <a:xfrm>
            <a:off x="4399121"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H1</a:t>
            </a:r>
            <a:endParaRPr lang="en-US" sz="850" dirty="0"/>
          </a:p>
        </p:txBody>
      </p:sp>
      <p:sp>
        <p:nvSpPr>
          <p:cNvPr id="77" name="Shape 75"/>
          <p:cNvSpPr/>
          <p:nvPr/>
        </p:nvSpPr>
        <p:spPr>
          <a:xfrm>
            <a:off x="5179219"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78" name="Text 76"/>
          <p:cNvSpPr txBox="1"/>
          <p:nvPr/>
        </p:nvSpPr>
        <p:spPr>
          <a:xfrm>
            <a:off x="4950619"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H2</a:t>
            </a:r>
            <a:endParaRPr lang="en-US" sz="850" dirty="0"/>
          </a:p>
        </p:txBody>
      </p:sp>
      <p:sp>
        <p:nvSpPr>
          <p:cNvPr id="79" name="Shape 77"/>
          <p:cNvSpPr/>
          <p:nvPr/>
        </p:nvSpPr>
        <p:spPr>
          <a:xfrm>
            <a:off x="7936706"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80" name="Text 78"/>
          <p:cNvSpPr txBox="1"/>
          <p:nvPr/>
        </p:nvSpPr>
        <p:spPr>
          <a:xfrm>
            <a:off x="7708106"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H3·H4</a:t>
            </a:r>
            <a:endParaRPr lang="en-US" sz="850" dirty="0"/>
          </a:p>
        </p:txBody>
      </p:sp>
      <p:sp>
        <p:nvSpPr>
          <p:cNvPr id="81" name="Shape 79"/>
          <p:cNvSpPr/>
          <p:nvPr/>
        </p:nvSpPr>
        <p:spPr>
          <a:xfrm>
            <a:off x="8488204" y="5431536"/>
            <a:ext cx="182880" cy="182880"/>
          </a:xfrm>
          <a:prstGeom prst="diamond">
            <a:avLst/>
          </a:prstGeom>
          <a:solidFill>
            <a:srgbClr val="B83A3A"/>
          </a:solidFill>
          <a:ln w="12700">
            <a:solidFill>
              <a:srgbClr val="B83A3A"/>
            </a:solidFill>
            <a:prstDash val="solid"/>
          </a:ln>
        </p:spPr>
        <p:txBody>
          <a:bodyPr/>
          <a:lstStyle/>
          <a:p>
            <a:endParaRPr lang="es-CL"/>
          </a:p>
        </p:txBody>
      </p:sp>
      <p:sp>
        <p:nvSpPr>
          <p:cNvPr id="82" name="Text 80"/>
          <p:cNvSpPr txBox="1"/>
          <p:nvPr/>
        </p:nvSpPr>
        <p:spPr>
          <a:xfrm>
            <a:off x="8259604" y="5623560"/>
            <a:ext cx="640080" cy="201168"/>
          </a:xfrm>
          <a:prstGeom prst="rect">
            <a:avLst/>
          </a:prstGeom>
          <a:noFill/>
          <a:ln/>
        </p:spPr>
        <p:txBody>
          <a:bodyPr wrap="square" lIns="0" tIns="0" rIns="0" bIns="0" rtlCol="0" anchor="ctr"/>
          <a:lstStyle/>
          <a:p>
            <a:pPr marL="0" indent="0" algn="ctr">
              <a:buNone/>
            </a:pPr>
            <a:r>
              <a:rPr lang="en-US" sz="850" b="1" dirty="0">
                <a:solidFill>
                  <a:srgbClr val="B83A3A"/>
                </a:solidFill>
                <a:latin typeface="Calibri" pitchFamily="34" charset="0"/>
                <a:ea typeface="Calibri" pitchFamily="34" charset="-122"/>
                <a:cs typeface="Calibri" pitchFamily="34" charset="-120"/>
              </a:rPr>
              <a:t>H5</a:t>
            </a:r>
            <a:endParaRPr lang="en-US" sz="850" dirty="0"/>
          </a:p>
        </p:txBody>
      </p:sp>
      <p:sp>
        <p:nvSpPr>
          <p:cNvPr id="83" name="Shape 81"/>
          <p:cNvSpPr/>
          <p:nvPr/>
        </p:nvSpPr>
        <p:spPr>
          <a:xfrm>
            <a:off x="9039701" y="5431536"/>
            <a:ext cx="182880" cy="182880"/>
          </a:xfrm>
          <a:prstGeom prst="diamond">
            <a:avLst/>
          </a:prstGeom>
          <a:solidFill>
            <a:srgbClr val="13294B"/>
          </a:solidFill>
          <a:ln w="12700">
            <a:solidFill>
              <a:srgbClr val="13294B"/>
            </a:solidFill>
            <a:prstDash val="solid"/>
          </a:ln>
        </p:spPr>
        <p:txBody>
          <a:bodyPr/>
          <a:lstStyle/>
          <a:p>
            <a:endParaRPr lang="es-CL"/>
          </a:p>
        </p:txBody>
      </p:sp>
      <p:sp>
        <p:nvSpPr>
          <p:cNvPr id="84" name="Text 82"/>
          <p:cNvSpPr txBox="1"/>
          <p:nvPr/>
        </p:nvSpPr>
        <p:spPr>
          <a:xfrm>
            <a:off x="8811101" y="5623560"/>
            <a:ext cx="640080" cy="201168"/>
          </a:xfrm>
          <a:prstGeom prst="rect">
            <a:avLst/>
          </a:prstGeom>
          <a:noFill/>
          <a:ln/>
        </p:spPr>
        <p:txBody>
          <a:bodyPr wrap="square" lIns="0" tIns="0" rIns="0" bIns="0" rtlCol="0" anchor="ctr"/>
          <a:lstStyle/>
          <a:p>
            <a:pPr marL="0" indent="0" algn="ctr">
              <a:buNone/>
            </a:pPr>
            <a:r>
              <a:rPr lang="en-US" sz="850" b="1" dirty="0">
                <a:solidFill>
                  <a:srgbClr val="13294B"/>
                </a:solidFill>
                <a:latin typeface="Calibri" pitchFamily="34" charset="0"/>
                <a:ea typeface="Calibri" pitchFamily="34" charset="-122"/>
                <a:cs typeface="Calibri" pitchFamily="34" charset="-120"/>
              </a:rPr>
              <a:t>H6</a:t>
            </a:r>
            <a:endParaRPr lang="en-US" sz="850" dirty="0"/>
          </a:p>
        </p:txBody>
      </p:sp>
      <p:sp>
        <p:nvSpPr>
          <p:cNvPr id="85" name="Shape 83"/>
          <p:cNvSpPr/>
          <p:nvPr/>
        </p:nvSpPr>
        <p:spPr>
          <a:xfrm>
            <a:off x="10142696" y="5431536"/>
            <a:ext cx="182880" cy="182880"/>
          </a:xfrm>
          <a:prstGeom prst="diamond">
            <a:avLst/>
          </a:prstGeom>
          <a:solidFill>
            <a:srgbClr val="13294B"/>
          </a:solidFill>
          <a:ln w="12700">
            <a:solidFill>
              <a:srgbClr val="13294B"/>
            </a:solidFill>
            <a:prstDash val="solid"/>
          </a:ln>
        </p:spPr>
        <p:txBody>
          <a:bodyPr/>
          <a:lstStyle/>
          <a:p>
            <a:endParaRPr lang="es-CL"/>
          </a:p>
        </p:txBody>
      </p:sp>
      <p:sp>
        <p:nvSpPr>
          <p:cNvPr id="86" name="Text 84"/>
          <p:cNvSpPr txBox="1"/>
          <p:nvPr/>
        </p:nvSpPr>
        <p:spPr>
          <a:xfrm>
            <a:off x="9914096" y="5623560"/>
            <a:ext cx="640080" cy="201168"/>
          </a:xfrm>
          <a:prstGeom prst="rect">
            <a:avLst/>
          </a:prstGeom>
          <a:noFill/>
          <a:ln/>
        </p:spPr>
        <p:txBody>
          <a:bodyPr wrap="square" lIns="0" tIns="0" rIns="0" bIns="0" rtlCol="0" anchor="ctr"/>
          <a:lstStyle/>
          <a:p>
            <a:pPr marL="0" indent="0" algn="ctr">
              <a:buNone/>
            </a:pPr>
            <a:r>
              <a:rPr lang="en-US" sz="850" b="1" dirty="0">
                <a:solidFill>
                  <a:srgbClr val="13294B"/>
                </a:solidFill>
                <a:latin typeface="Calibri" pitchFamily="34" charset="0"/>
                <a:ea typeface="Calibri" pitchFamily="34" charset="-122"/>
                <a:cs typeface="Calibri" pitchFamily="34" charset="-120"/>
              </a:rPr>
              <a:t>H7·H8</a:t>
            </a:r>
            <a:endParaRPr lang="en-US" sz="850" dirty="0"/>
          </a:p>
        </p:txBody>
      </p:sp>
      <p:sp>
        <p:nvSpPr>
          <p:cNvPr id="87" name="Shape 85"/>
          <p:cNvSpPr/>
          <p:nvPr/>
        </p:nvSpPr>
        <p:spPr>
          <a:xfrm>
            <a:off x="11245691" y="5431536"/>
            <a:ext cx="182880" cy="182880"/>
          </a:xfrm>
          <a:prstGeom prst="diamond">
            <a:avLst/>
          </a:prstGeom>
          <a:solidFill>
            <a:srgbClr val="13294B"/>
          </a:solidFill>
          <a:ln w="12700">
            <a:solidFill>
              <a:srgbClr val="13294B"/>
            </a:solidFill>
            <a:prstDash val="solid"/>
          </a:ln>
        </p:spPr>
        <p:txBody>
          <a:bodyPr/>
          <a:lstStyle/>
          <a:p>
            <a:endParaRPr lang="es-CL"/>
          </a:p>
        </p:txBody>
      </p:sp>
      <p:sp>
        <p:nvSpPr>
          <p:cNvPr id="88" name="Text 86"/>
          <p:cNvSpPr txBox="1"/>
          <p:nvPr/>
        </p:nvSpPr>
        <p:spPr>
          <a:xfrm>
            <a:off x="11017091" y="5623560"/>
            <a:ext cx="640080" cy="201168"/>
          </a:xfrm>
          <a:prstGeom prst="rect">
            <a:avLst/>
          </a:prstGeom>
          <a:noFill/>
          <a:ln/>
        </p:spPr>
        <p:txBody>
          <a:bodyPr wrap="square" lIns="0" tIns="0" rIns="0" bIns="0" rtlCol="0" anchor="ctr"/>
          <a:lstStyle/>
          <a:p>
            <a:pPr marL="0" indent="0" algn="ctr">
              <a:buNone/>
            </a:pPr>
            <a:r>
              <a:rPr lang="en-US" sz="850" b="1" dirty="0">
                <a:solidFill>
                  <a:srgbClr val="13294B"/>
                </a:solidFill>
                <a:latin typeface="Calibri" pitchFamily="34" charset="0"/>
                <a:ea typeface="Calibri" pitchFamily="34" charset="-122"/>
                <a:cs typeface="Calibri" pitchFamily="34" charset="-120"/>
              </a:rPr>
              <a:t>H9</a:t>
            </a:r>
            <a:endParaRPr lang="en-US" sz="850" dirty="0"/>
          </a:p>
        </p:txBody>
      </p:sp>
      <p:sp>
        <p:nvSpPr>
          <p:cNvPr id="89" name="Shape 87"/>
          <p:cNvSpPr/>
          <p:nvPr/>
        </p:nvSpPr>
        <p:spPr>
          <a:xfrm>
            <a:off x="2788920" y="5897880"/>
            <a:ext cx="201168" cy="164592"/>
          </a:xfrm>
          <a:prstGeom prst="rect">
            <a:avLst/>
          </a:prstGeom>
          <a:solidFill>
            <a:srgbClr val="2F855A"/>
          </a:solidFill>
          <a:ln w="12700">
            <a:solidFill>
              <a:srgbClr val="2F855A"/>
            </a:solidFill>
            <a:prstDash val="solid"/>
          </a:ln>
        </p:spPr>
        <p:txBody>
          <a:bodyPr/>
          <a:lstStyle/>
          <a:p>
            <a:endParaRPr lang="es-CL"/>
          </a:p>
        </p:txBody>
      </p:sp>
      <p:sp>
        <p:nvSpPr>
          <p:cNvPr id="90" name="Text 88"/>
          <p:cNvSpPr txBox="1"/>
          <p:nvPr/>
        </p:nvSpPr>
        <p:spPr>
          <a:xfrm>
            <a:off x="306324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Realizado</a:t>
            </a:r>
            <a:endParaRPr lang="en-US" sz="1050" dirty="0"/>
          </a:p>
        </p:txBody>
      </p:sp>
      <p:sp>
        <p:nvSpPr>
          <p:cNvPr id="91" name="Shape 89"/>
          <p:cNvSpPr/>
          <p:nvPr/>
        </p:nvSpPr>
        <p:spPr>
          <a:xfrm>
            <a:off x="4526280" y="5897880"/>
            <a:ext cx="201168" cy="164592"/>
          </a:xfrm>
          <a:prstGeom prst="rect">
            <a:avLst/>
          </a:prstGeom>
          <a:solidFill>
            <a:srgbClr val="B5762A"/>
          </a:solidFill>
          <a:ln w="12700">
            <a:solidFill>
              <a:srgbClr val="B5762A"/>
            </a:solidFill>
            <a:prstDash val="solid"/>
          </a:ln>
        </p:spPr>
        <p:txBody>
          <a:bodyPr/>
          <a:lstStyle/>
          <a:p>
            <a:endParaRPr lang="es-CL"/>
          </a:p>
        </p:txBody>
      </p:sp>
      <p:sp>
        <p:nvSpPr>
          <p:cNvPr id="92" name="Text 90"/>
          <p:cNvSpPr txBox="1"/>
          <p:nvPr/>
        </p:nvSpPr>
        <p:spPr>
          <a:xfrm>
            <a:off x="480060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En progreso</a:t>
            </a:r>
            <a:endParaRPr lang="en-US" sz="1050" dirty="0"/>
          </a:p>
        </p:txBody>
      </p:sp>
      <p:sp>
        <p:nvSpPr>
          <p:cNvPr id="93" name="Shape 91"/>
          <p:cNvSpPr/>
          <p:nvPr/>
        </p:nvSpPr>
        <p:spPr>
          <a:xfrm>
            <a:off x="6263640" y="5897880"/>
            <a:ext cx="201168" cy="164592"/>
          </a:xfrm>
          <a:prstGeom prst="rect">
            <a:avLst/>
          </a:prstGeom>
          <a:solidFill>
            <a:srgbClr val="13294B"/>
          </a:solidFill>
          <a:ln w="12700">
            <a:solidFill>
              <a:srgbClr val="13294B"/>
            </a:solidFill>
            <a:prstDash val="solid"/>
          </a:ln>
        </p:spPr>
        <p:txBody>
          <a:bodyPr/>
          <a:lstStyle/>
          <a:p>
            <a:endParaRPr lang="es-CL"/>
          </a:p>
        </p:txBody>
      </p:sp>
      <p:sp>
        <p:nvSpPr>
          <p:cNvPr id="94" name="Text 92"/>
          <p:cNvSpPr txBox="1"/>
          <p:nvPr/>
        </p:nvSpPr>
        <p:spPr>
          <a:xfrm>
            <a:off x="653796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Planificado</a:t>
            </a:r>
            <a:endParaRPr lang="en-US" sz="1050" dirty="0"/>
          </a:p>
        </p:txBody>
      </p:sp>
      <p:sp>
        <p:nvSpPr>
          <p:cNvPr id="95" name="Text 93"/>
          <p:cNvSpPr txBox="1"/>
          <p:nvPr/>
        </p:nvSpPr>
        <p:spPr>
          <a:xfrm>
            <a:off x="548640" y="6144768"/>
            <a:ext cx="11064240" cy="274320"/>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H1 cierre F1 (04-09) · H2 avance (11-09) · H3 diseño aprobado (16-10) · H4 cierre F2 (18-10) · H5 hoy · H6 sistema integrado (30-10) · H7 paso al ambiente UAT (10-11) · H8 entrega (13-11) · H9 defensa (27-11)</a:t>
            </a:r>
            <a:endParaRPr lang="en-US" sz="950" dirty="0"/>
          </a:p>
        </p:txBody>
      </p:sp>
      <p:sp>
        <p:nvSpPr>
          <p:cNvPr id="96"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ARQUITECTURA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Arquitectura: modelo de vistas 4+1</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Modelo 4+1 (Kruchten, 1995) en notación UML (Object Management Group [OMG], 2017). 35 diagramas documentados en el DAS v3.2.</a:t>
            </a:r>
            <a:endParaRPr lang="en-US" sz="1250" dirty="0"/>
          </a:p>
        </p:txBody>
      </p:sp>
      <p:sp>
        <p:nvSpPr>
          <p:cNvPr id="5" name="Shape 3"/>
          <p:cNvSpPr/>
          <p:nvPr/>
        </p:nvSpPr>
        <p:spPr>
          <a:xfrm>
            <a:off x="54864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8580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Lógica</a:t>
            </a:r>
            <a:endParaRPr lang="en-US" sz="1400" dirty="0"/>
          </a:p>
        </p:txBody>
      </p:sp>
      <p:pic>
        <p:nvPicPr>
          <p:cNvPr id="7" name="Image 0" descr="C:/Users/User/Desktop/informatica/8°_Semestre/Diagramas/png/DIAG-02_Vista_logica_modelo_de_clases_del_dominio.png"/>
          <p:cNvPicPr>
            <a:picLocks noChangeAspect="1"/>
          </p:cNvPicPr>
          <p:nvPr/>
        </p:nvPicPr>
        <p:blipFill>
          <a:blip r:embed="rId3"/>
          <a:srcRect/>
          <a:stretch/>
        </p:blipFill>
        <p:spPr>
          <a:xfrm>
            <a:off x="658368" y="2331720"/>
            <a:ext cx="1883664" cy="2377440"/>
          </a:xfrm>
          <a:prstGeom prst="rect">
            <a:avLst/>
          </a:prstGeom>
        </p:spPr>
      </p:pic>
      <p:sp>
        <p:nvSpPr>
          <p:cNvPr id="8" name="Text 5"/>
          <p:cNvSpPr txBox="1"/>
          <p:nvPr/>
        </p:nvSpPr>
        <p:spPr>
          <a:xfrm>
            <a:off x="68580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Modelo de clases del dominio y capas (DIAG-01, DIAG-02)</a:t>
            </a:r>
            <a:endParaRPr lang="en-US" sz="1100" dirty="0"/>
          </a:p>
        </p:txBody>
      </p:sp>
      <p:sp>
        <p:nvSpPr>
          <p:cNvPr id="9" name="Shape 6"/>
          <p:cNvSpPr/>
          <p:nvPr/>
        </p:nvSpPr>
        <p:spPr>
          <a:xfrm>
            <a:off x="278892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10" name="Text 7"/>
          <p:cNvSpPr txBox="1"/>
          <p:nvPr/>
        </p:nvSpPr>
        <p:spPr>
          <a:xfrm>
            <a:off x="292608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Procesos</a:t>
            </a:r>
            <a:endParaRPr lang="en-US" sz="1400" dirty="0"/>
          </a:p>
        </p:txBody>
      </p:sp>
      <p:pic>
        <p:nvPicPr>
          <p:cNvPr id="11" name="Image 1" descr="C:/Users/User/Desktop/informatica/8°_Semestre/Diagramas/png/DIAG-03_Vista_de_procesos_secuencia_de_reserva_con_abono.png"/>
          <p:cNvPicPr>
            <a:picLocks noChangeAspect="1"/>
          </p:cNvPicPr>
          <p:nvPr/>
        </p:nvPicPr>
        <p:blipFill>
          <a:blip r:embed="rId4"/>
          <a:srcRect/>
          <a:stretch/>
        </p:blipFill>
        <p:spPr>
          <a:xfrm>
            <a:off x="2898648" y="2331720"/>
            <a:ext cx="1883664" cy="2377440"/>
          </a:xfrm>
          <a:prstGeom prst="rect">
            <a:avLst/>
          </a:prstGeom>
        </p:spPr>
      </p:pic>
      <p:sp>
        <p:nvSpPr>
          <p:cNvPr id="12" name="Text 8"/>
          <p:cNvSpPr txBox="1"/>
          <p:nvPr/>
        </p:nvSpPr>
        <p:spPr>
          <a:xfrm>
            <a:off x="292608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Secuencias de reserva con abono, atención y cancelación (DIAG-03 a 11, 35)</a:t>
            </a:r>
            <a:endParaRPr lang="en-US" sz="1100" dirty="0"/>
          </a:p>
        </p:txBody>
      </p:sp>
      <p:sp>
        <p:nvSpPr>
          <p:cNvPr id="13" name="Shape 9"/>
          <p:cNvSpPr/>
          <p:nvPr/>
        </p:nvSpPr>
        <p:spPr>
          <a:xfrm>
            <a:off x="502920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14" name="Text 10"/>
          <p:cNvSpPr txBox="1"/>
          <p:nvPr/>
        </p:nvSpPr>
        <p:spPr>
          <a:xfrm>
            <a:off x="516636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Desarrollo</a:t>
            </a:r>
            <a:endParaRPr lang="en-US" sz="1400" dirty="0"/>
          </a:p>
        </p:txBody>
      </p:sp>
      <p:pic>
        <p:nvPicPr>
          <p:cNvPr id="15" name="Image 2" descr="C:/Users/User/Desktop/informatica/8°_Semestre/Diagramas/png/DIAG-12_Vista_de_desarrollo_componentes_y_modulos.png"/>
          <p:cNvPicPr>
            <a:picLocks noChangeAspect="1"/>
          </p:cNvPicPr>
          <p:nvPr/>
        </p:nvPicPr>
        <p:blipFill>
          <a:blip r:embed="rId5"/>
          <a:srcRect/>
          <a:stretch/>
        </p:blipFill>
        <p:spPr>
          <a:xfrm>
            <a:off x="5138928" y="2331720"/>
            <a:ext cx="1883664" cy="2377440"/>
          </a:xfrm>
          <a:prstGeom prst="rect">
            <a:avLst/>
          </a:prstGeom>
        </p:spPr>
      </p:pic>
      <p:sp>
        <p:nvSpPr>
          <p:cNvPr id="16" name="Text 11"/>
          <p:cNvSpPr txBox="1"/>
          <p:nvPr/>
        </p:nvSpPr>
        <p:spPr>
          <a:xfrm>
            <a:off x="516636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Componentes: web React, app Android (MVVM), API REST y PostgreSQL (DIAG-12)</a:t>
            </a:r>
            <a:endParaRPr lang="en-US" sz="1100" dirty="0"/>
          </a:p>
        </p:txBody>
      </p:sp>
      <p:sp>
        <p:nvSpPr>
          <p:cNvPr id="17" name="Shape 12"/>
          <p:cNvSpPr/>
          <p:nvPr/>
        </p:nvSpPr>
        <p:spPr>
          <a:xfrm>
            <a:off x="726948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18" name="Text 13"/>
          <p:cNvSpPr txBox="1"/>
          <p:nvPr/>
        </p:nvSpPr>
        <p:spPr>
          <a:xfrm>
            <a:off x="740664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Física</a:t>
            </a:r>
            <a:endParaRPr lang="en-US" sz="1400" dirty="0"/>
          </a:p>
        </p:txBody>
      </p:sp>
      <p:pic>
        <p:nvPicPr>
          <p:cNvPr id="19" name="Image 3" descr="C:/Users/User/Desktop/informatica/8°_Semestre/Diagramas/png/DIAG-13_Vista_fisica_despliegue_actual_3_sucursales.png"/>
          <p:cNvPicPr>
            <a:picLocks noChangeAspect="1"/>
          </p:cNvPicPr>
          <p:nvPr/>
        </p:nvPicPr>
        <p:blipFill>
          <a:blip r:embed="rId6"/>
          <a:srcRect/>
          <a:stretch/>
        </p:blipFill>
        <p:spPr>
          <a:xfrm>
            <a:off x="7379208" y="2331720"/>
            <a:ext cx="1883664" cy="2377440"/>
          </a:xfrm>
          <a:prstGeom prst="rect">
            <a:avLst/>
          </a:prstGeom>
        </p:spPr>
      </p:pic>
      <p:sp>
        <p:nvSpPr>
          <p:cNvPr id="20" name="Text 14"/>
          <p:cNvSpPr txBox="1"/>
          <p:nvPr/>
        </p:nvSpPr>
        <p:spPr>
          <a:xfrm>
            <a:off x="740664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Despliegue actual: API y base de datos en Supabase; 3 sucursales (DIAG-13, 14)</a:t>
            </a:r>
            <a:endParaRPr lang="en-US" sz="1100" dirty="0"/>
          </a:p>
        </p:txBody>
      </p:sp>
      <p:sp>
        <p:nvSpPr>
          <p:cNvPr id="21" name="Shape 15"/>
          <p:cNvSpPr/>
          <p:nvPr/>
        </p:nvSpPr>
        <p:spPr>
          <a:xfrm>
            <a:off x="9509760" y="1783080"/>
            <a:ext cx="2103120" cy="4434840"/>
          </a:xfrm>
          <a:prstGeom prst="rect">
            <a:avLst/>
          </a:prstGeom>
          <a:solidFill>
            <a:srgbClr val="EEF1F5"/>
          </a:solidFill>
          <a:ln w="9525">
            <a:solidFill>
              <a:srgbClr val="D7DCE3"/>
            </a:solidFill>
            <a:prstDash val="solid"/>
          </a:ln>
        </p:spPr>
        <p:txBody>
          <a:bodyPr/>
          <a:lstStyle/>
          <a:p>
            <a:endParaRPr lang="es-CL"/>
          </a:p>
        </p:txBody>
      </p:sp>
      <p:sp>
        <p:nvSpPr>
          <p:cNvPr id="22" name="Text 16"/>
          <p:cNvSpPr txBox="1"/>
          <p:nvPr/>
        </p:nvSpPr>
        <p:spPr>
          <a:xfrm>
            <a:off x="964692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Escenarios (+1)</a:t>
            </a:r>
            <a:endParaRPr lang="en-US" sz="1400" dirty="0"/>
          </a:p>
        </p:txBody>
      </p:sp>
      <p:pic>
        <p:nvPicPr>
          <p:cNvPr id="23" name="Image 4" descr="C:/Users/User/Desktop/informatica/8°_Semestre/Diagramas/png/DIAG-15_Vista_de_escenarios_diagrama_general_de_casos_de_uso.png"/>
          <p:cNvPicPr>
            <a:picLocks noChangeAspect="1"/>
          </p:cNvPicPr>
          <p:nvPr/>
        </p:nvPicPr>
        <p:blipFill>
          <a:blip r:embed="rId7"/>
          <a:srcRect/>
          <a:stretch/>
        </p:blipFill>
        <p:spPr>
          <a:xfrm>
            <a:off x="9619488" y="2331720"/>
            <a:ext cx="1883664" cy="2377440"/>
          </a:xfrm>
          <a:prstGeom prst="rect">
            <a:avLst/>
          </a:prstGeom>
        </p:spPr>
      </p:pic>
      <p:sp>
        <p:nvSpPr>
          <p:cNvPr id="24" name="Text 17"/>
          <p:cNvSpPr txBox="1"/>
          <p:nvPr/>
        </p:nvSpPr>
        <p:spPr>
          <a:xfrm>
            <a:off x="964692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41 casos de uso con 5 actores y 2 sistemas externos (DIAG-15 a 22)</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VISTA DE ESCENARIOS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Casos de uso: 41 casos en 7 módulos</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Especificados en el documento 17 con flujo principal, alternativos, reglas de negocio y trazabilidad a los RF.</a:t>
            </a:r>
            <a:endParaRPr lang="en-US" sz="1250" dirty="0"/>
          </a:p>
        </p:txBody>
      </p:sp>
      <p:sp>
        <p:nvSpPr>
          <p:cNvPr id="5" name="Shape 3"/>
          <p:cNvSpPr/>
          <p:nvPr/>
        </p:nvSpPr>
        <p:spPr>
          <a:xfrm>
            <a:off x="548640" y="1737360"/>
            <a:ext cx="4251960" cy="3749040"/>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Desktop/informatica/8°_Semestre/Diagramas/png/DIAG-15_Vista_de_escenarios_diagrama_general_de_casos_de_uso.png"/>
          <p:cNvPicPr>
            <a:picLocks noChangeAspect="1"/>
          </p:cNvPicPr>
          <p:nvPr/>
        </p:nvPicPr>
        <p:blipFill>
          <a:blip r:embed="rId3"/>
          <a:srcRect/>
          <a:stretch/>
        </p:blipFill>
        <p:spPr>
          <a:xfrm>
            <a:off x="594360" y="1783080"/>
            <a:ext cx="4160520" cy="3657600"/>
          </a:xfrm>
          <a:prstGeom prst="rect">
            <a:avLst/>
          </a:prstGeom>
        </p:spPr>
      </p:pic>
      <p:sp>
        <p:nvSpPr>
          <p:cNvPr id="7" name="Text 4"/>
          <p:cNvSpPr txBox="1"/>
          <p:nvPr/>
        </p:nvSpPr>
        <p:spPr>
          <a:xfrm>
            <a:off x="548640" y="5532120"/>
            <a:ext cx="42519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DIAG-15 · Diagrama general de casos de uso</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74920" y="1783080"/>
          <a:ext cx="6537960" cy="3560064"/>
        </p:xfrm>
        <a:graphic>
          <a:graphicData uri="http://schemas.openxmlformats.org/drawingml/2006/table">
            <a:tbl>
              <a:tblPr/>
              <a:tblGrid>
                <a:gridCol w="214884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43891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Módulo</a:t>
                      </a:r>
                      <a:endParaRPr lang="en-US" sz="115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CU</a:t>
                      </a:r>
                      <a:endParaRPr lang="en-US" sz="115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Estado al 23-10</a:t>
                      </a:r>
                      <a:endParaRPr lang="en-US" sz="115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Cuenta y acceso</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Registro, inicio de sesión e invitado conectados a la BD</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Catálogo, agendamiento y pagos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Sucursal, barbero, disponibilidad, agendar, reprogramar y cancelar en la BD; pago simulado</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Atención en sucursal</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Marcar completada o no-show; fila por orden de llegada pendiente</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Privacidad «Mis datos»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Supresión de cuenta en la API; resto pendiente</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Administración</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Panel de prototipo; perfiles de colaboradores pendientes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Cumplimiento y auditoría</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Auditoría de inicio de sesión y registro activa</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KPIs y reportes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Panel de prototipo con datos locales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Shape 5"/>
          <p:cNvSpPr/>
          <p:nvPr/>
        </p:nvSpPr>
        <p:spPr>
          <a:xfrm>
            <a:off x="5074920" y="5486400"/>
            <a:ext cx="6537960" cy="731520"/>
          </a:xfrm>
          <a:prstGeom prst="rect">
            <a:avLst/>
          </a:prstGeom>
          <a:solidFill>
            <a:srgbClr val="EEF1F5"/>
          </a:solidFill>
          <a:ln w="9525">
            <a:solidFill>
              <a:srgbClr val="D7DCE3"/>
            </a:solidFill>
            <a:prstDash val="solid"/>
          </a:ln>
        </p:spPr>
        <p:txBody>
          <a:bodyPr/>
          <a:lstStyle/>
          <a:p>
            <a:endParaRPr lang="es-CL"/>
          </a:p>
        </p:txBody>
      </p:sp>
      <p:sp>
        <p:nvSpPr>
          <p:cNvPr id="10" name="Text 6"/>
          <p:cNvSpPr txBox="1"/>
          <p:nvPr/>
        </p:nvSpPr>
        <p:spPr>
          <a:xfrm>
            <a:off x="5212080" y="5504688"/>
            <a:ext cx="6309360" cy="694944"/>
          </a:xfrm>
          <a:prstGeom prst="rect">
            <a:avLst/>
          </a:prstGeom>
          <a:noFill/>
          <a:ln/>
        </p:spPr>
        <p:txBody>
          <a:bodyPr wrap="square" lIns="0" tIns="0" rIns="0" bIns="0" rtlCol="0" anchor="ctr"/>
          <a:lstStyle/>
          <a:p>
            <a:pPr marL="0" indent="0">
              <a:buNone/>
            </a:pPr>
            <a:r>
              <a:rPr lang="en-US" sz="1150" b="1" dirty="0">
                <a:solidFill>
                  <a:srgbClr val="13294B"/>
                </a:solidFill>
                <a:latin typeface="Calibri" pitchFamily="34" charset="0"/>
                <a:ea typeface="Calibri" pitchFamily="34" charset="-122"/>
                <a:cs typeface="Calibri" pitchFamily="34" charset="-120"/>
              </a:rPr>
              <a:t>10 de 41 casos de uso ya funcionan sobre la base de datos real: </a:t>
            </a:r>
            <a:r>
              <a:rPr lang="en-US" sz="1150" dirty="0">
                <a:solidFill>
                  <a:srgbClr val="1E2430"/>
                </a:solidFill>
                <a:latin typeface="Calibri" pitchFamily="34" charset="0"/>
                <a:ea typeface="Calibri" pitchFamily="34" charset="-122"/>
                <a:cs typeface="Calibri" pitchFamily="34" charset="-120"/>
              </a:rPr>
              <a:t>CU-01, 02, 05, 16, 17, 18, 19, 20, 22 y 23 (registro, acceso, invitado, catálogo, agendamiento, reprogramación y cancelación).</a:t>
            </a:r>
            <a:endParaRPr lang="en-US" sz="11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MODELO DE DATOS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Modelo entidad-relación (PostgreSQL)</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Modelo conceptual (Chen, 1976) en tercera forma normal, implementado en Supabase (PostgreSQL 17). Detalle en el documento 16.</a:t>
            </a:r>
            <a:endParaRPr lang="en-US" sz="1250" dirty="0"/>
          </a:p>
        </p:txBody>
      </p:sp>
      <p:sp>
        <p:nvSpPr>
          <p:cNvPr id="5" name="Shape 3"/>
          <p:cNvSpPr/>
          <p:nvPr/>
        </p:nvSpPr>
        <p:spPr>
          <a:xfrm>
            <a:off x="548640" y="1737360"/>
            <a:ext cx="7955280" cy="3108960"/>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Desktop/informatica/8°_Semestre/Diagramas/png/DIAG-27_Modelo_Entidad_Relacion_conceptual.png"/>
          <p:cNvPicPr>
            <a:picLocks noChangeAspect="1"/>
          </p:cNvPicPr>
          <p:nvPr/>
        </p:nvPicPr>
        <p:blipFill>
          <a:blip r:embed="rId3"/>
          <a:srcRect/>
          <a:stretch/>
        </p:blipFill>
        <p:spPr>
          <a:xfrm>
            <a:off x="594360" y="1783080"/>
            <a:ext cx="7863840" cy="3017520"/>
          </a:xfrm>
          <a:prstGeom prst="rect">
            <a:avLst/>
          </a:prstGeom>
        </p:spPr>
      </p:pic>
      <p:sp>
        <p:nvSpPr>
          <p:cNvPr id="7" name="Text 4"/>
          <p:cNvSpPr txBox="1"/>
          <p:nvPr/>
        </p:nvSpPr>
        <p:spPr>
          <a:xfrm>
            <a:off x="548640" y="4892040"/>
            <a:ext cx="795528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DIAG-27 · Modelo entidad-relación conceptual (27 entidades)</a:t>
            </a:r>
            <a:endParaRPr lang="en-US" sz="1050" dirty="0"/>
          </a:p>
        </p:txBody>
      </p:sp>
      <p:sp>
        <p:nvSpPr>
          <p:cNvPr id="8" name="Shape 5"/>
          <p:cNvSpPr/>
          <p:nvPr/>
        </p:nvSpPr>
        <p:spPr>
          <a:xfrm>
            <a:off x="8778240" y="1783080"/>
            <a:ext cx="2834640" cy="1005840"/>
          </a:xfrm>
          <a:prstGeom prst="rect">
            <a:avLst/>
          </a:prstGeom>
          <a:solidFill>
            <a:srgbClr val="FFFFFF"/>
          </a:solidFill>
          <a:ln w="9525">
            <a:solidFill>
              <a:srgbClr val="D7DCE3"/>
            </a:solidFill>
            <a:prstDash val="solid"/>
          </a:ln>
        </p:spPr>
        <p:txBody>
          <a:bodyPr/>
          <a:lstStyle/>
          <a:p>
            <a:endParaRPr lang="es-CL"/>
          </a:p>
        </p:txBody>
      </p:sp>
      <p:sp>
        <p:nvSpPr>
          <p:cNvPr id="9" name="Text 6"/>
          <p:cNvSpPr txBox="1"/>
          <p:nvPr/>
        </p:nvSpPr>
        <p:spPr>
          <a:xfrm>
            <a:off x="8869680" y="1892808"/>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27</a:t>
            </a:r>
            <a:endParaRPr lang="en-US" sz="2600" dirty="0"/>
          </a:p>
        </p:txBody>
      </p:sp>
      <p:sp>
        <p:nvSpPr>
          <p:cNvPr id="10" name="Text 7"/>
          <p:cNvSpPr txBox="1"/>
          <p:nvPr/>
        </p:nvSpPr>
        <p:spPr>
          <a:xfrm>
            <a:off x="8915400" y="2346350"/>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tablas · 239 campos · 3FN</a:t>
            </a:r>
            <a:endParaRPr lang="en-US" sz="1150" dirty="0"/>
          </a:p>
        </p:txBody>
      </p:sp>
      <p:sp>
        <p:nvSpPr>
          <p:cNvPr id="11" name="Shape 8"/>
          <p:cNvSpPr/>
          <p:nvPr/>
        </p:nvSpPr>
        <p:spPr>
          <a:xfrm>
            <a:off x="8778240" y="2898648"/>
            <a:ext cx="2834640" cy="1005840"/>
          </a:xfrm>
          <a:prstGeom prst="rect">
            <a:avLst/>
          </a:prstGeom>
          <a:solidFill>
            <a:srgbClr val="FFFFFF"/>
          </a:solidFill>
          <a:ln w="9525">
            <a:solidFill>
              <a:srgbClr val="D7DCE3"/>
            </a:solidFill>
            <a:prstDash val="solid"/>
          </a:ln>
        </p:spPr>
        <p:txBody>
          <a:bodyPr/>
          <a:lstStyle/>
          <a:p>
            <a:endParaRPr lang="es-CL"/>
          </a:p>
        </p:txBody>
      </p:sp>
      <p:sp>
        <p:nvSpPr>
          <p:cNvPr id="12" name="Text 9"/>
          <p:cNvSpPr txBox="1"/>
          <p:nvPr/>
        </p:nvSpPr>
        <p:spPr>
          <a:xfrm>
            <a:off x="8869680" y="3008376"/>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0</a:t>
            </a:r>
            <a:endParaRPr lang="en-US" sz="2600" dirty="0"/>
          </a:p>
        </p:txBody>
      </p:sp>
      <p:sp>
        <p:nvSpPr>
          <p:cNvPr id="13" name="Text 10"/>
          <p:cNvSpPr txBox="1"/>
          <p:nvPr/>
        </p:nvSpPr>
        <p:spPr>
          <a:xfrm>
            <a:off x="8915400" y="3461918"/>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reservas traslapadas: restricción de exclusión por barbero y horario</a:t>
            </a:r>
            <a:endParaRPr lang="en-US" sz="1150" dirty="0"/>
          </a:p>
        </p:txBody>
      </p:sp>
      <p:sp>
        <p:nvSpPr>
          <p:cNvPr id="14" name="Shape 11"/>
          <p:cNvSpPr/>
          <p:nvPr/>
        </p:nvSpPr>
        <p:spPr>
          <a:xfrm>
            <a:off x="8778240" y="4014216"/>
            <a:ext cx="2834640" cy="1005840"/>
          </a:xfrm>
          <a:prstGeom prst="rect">
            <a:avLst/>
          </a:prstGeom>
          <a:solidFill>
            <a:srgbClr val="FFFFFF"/>
          </a:solidFill>
          <a:ln w="9525">
            <a:solidFill>
              <a:srgbClr val="D7DCE3"/>
            </a:solidFill>
            <a:prstDash val="solid"/>
          </a:ln>
        </p:spPr>
        <p:txBody>
          <a:bodyPr/>
          <a:lstStyle/>
          <a:p>
            <a:endParaRPr lang="es-CL"/>
          </a:p>
        </p:txBody>
      </p:sp>
      <p:sp>
        <p:nvSpPr>
          <p:cNvPr id="15" name="Text 12"/>
          <p:cNvSpPr txBox="1"/>
          <p:nvPr/>
        </p:nvSpPr>
        <p:spPr>
          <a:xfrm>
            <a:off x="8869680" y="4123944"/>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$3.000</a:t>
            </a:r>
            <a:endParaRPr lang="en-US" sz="2600" dirty="0"/>
          </a:p>
        </p:txBody>
      </p:sp>
      <p:sp>
        <p:nvSpPr>
          <p:cNvPr id="16" name="Text 13"/>
          <p:cNvSpPr txBox="1"/>
          <p:nvPr/>
        </p:nvSpPr>
        <p:spPr>
          <a:xfrm>
            <a:off x="8915400" y="4577486"/>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abono parametrizable por sucursal o servicio, sin cambiar el modelo</a:t>
            </a:r>
            <a:endParaRPr lang="en-US" sz="1150" dirty="0"/>
          </a:p>
        </p:txBody>
      </p:sp>
      <p:sp>
        <p:nvSpPr>
          <p:cNvPr id="20" name="Shape 17"/>
          <p:cNvSpPr/>
          <p:nvPr/>
        </p:nvSpPr>
        <p:spPr>
          <a:xfrm>
            <a:off x="548640" y="5257800"/>
            <a:ext cx="7955280" cy="960120"/>
          </a:xfrm>
          <a:prstGeom prst="rect">
            <a:avLst/>
          </a:prstGeom>
          <a:solidFill>
            <a:srgbClr val="EEF1F5"/>
          </a:solidFill>
          <a:ln w="9525">
            <a:solidFill>
              <a:srgbClr val="D7DCE3"/>
            </a:solidFill>
            <a:prstDash val="solid"/>
          </a:ln>
        </p:spPr>
        <p:txBody>
          <a:bodyPr/>
          <a:lstStyle/>
          <a:p>
            <a:endParaRPr lang="es-CL"/>
          </a:p>
        </p:txBody>
      </p:sp>
      <p:sp>
        <p:nvSpPr>
          <p:cNvPr id="21" name="Text 18"/>
          <p:cNvSpPr txBox="1"/>
          <p:nvPr/>
        </p:nvSpPr>
        <p:spPr>
          <a:xfrm>
            <a:off x="685800" y="5285232"/>
            <a:ext cx="7726680" cy="914400"/>
          </a:xfrm>
          <a:prstGeom prst="rect">
            <a:avLst/>
          </a:prstGeom>
          <a:noFill/>
          <a:ln/>
        </p:spPr>
        <p:txBody>
          <a:bodyPr wrap="square" lIns="0" tIns="0" rIns="0" bIns="0" rtlCol="0" anchor="ctr"/>
          <a:lstStyle/>
          <a:p>
            <a:pPr marL="0" indent="0">
              <a:buNone/>
            </a:pPr>
            <a:r>
              <a:rPr lang="en-US" sz="1150" b="1" dirty="0">
                <a:solidFill>
                  <a:srgbClr val="13294B"/>
                </a:solidFill>
                <a:latin typeface="Calibri" pitchFamily="34" charset="0"/>
                <a:ea typeface="Calibri" pitchFamily="34" charset="-122"/>
                <a:cs typeface="Calibri" pitchFamily="34" charset="-120"/>
              </a:rPr>
              <a:t>Privacidad desde el diseño: </a:t>
            </a:r>
            <a:r>
              <a:rPr lang="en-US" sz="1150" dirty="0">
                <a:solidFill>
                  <a:srgbClr val="1E2430"/>
                </a:solidFill>
                <a:latin typeface="Calibri" pitchFamily="34" charset="0"/>
                <a:ea typeface="Calibri" pitchFamily="34" charset="-122"/>
                <a:cs typeface="Calibri" pitchFamily="34" charset="-120"/>
              </a:rPr>
              <a:t>sin RUT ni datos de tarjeta; consentimiento, solicitudes de derechos, auditoría inmutable y registro de actividades de tratamiento (Ley N° 21.719, 2024). El 22-10 se agregó la tabla resena para la calificación de barberos (RF-09).</a:t>
            </a:r>
            <a:endParaRPr lang="en-US" sz="11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DESARROLLO · EVIDENCIA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Qué funciona hoy</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Implementado el 22-10-2026: la web y la app usan solo la API; las tablas siguen cerradas a la clave pública.</a:t>
            </a:r>
            <a:endParaRPr lang="en-US" sz="1250" dirty="0"/>
          </a:p>
        </p:txBody>
      </p:sp>
      <p:sp>
        <p:nvSpPr>
          <p:cNvPr id="5" name="Shape 3"/>
          <p:cNvSpPr/>
          <p:nvPr/>
        </p:nvSpPr>
        <p:spPr>
          <a:xfrm>
            <a:off x="548640" y="1828800"/>
            <a:ext cx="2377440" cy="86868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40080" y="1828800"/>
            <a:ext cx="2194560" cy="868680"/>
          </a:xfrm>
          <a:prstGeom prst="rect">
            <a:avLst/>
          </a:prstGeom>
          <a:noFill/>
          <a:ln/>
        </p:spPr>
        <p:txBody>
          <a:bodyPr wrap="square" lIns="0" tIns="0" rIns="0" bIns="0" rtlCol="0" anchor="ctr"/>
          <a:lstStyle/>
          <a:p>
            <a:pPr marL="0" indent="0" algn="ctr">
              <a:buNone/>
            </a:pPr>
            <a:r>
              <a:rPr lang="en-US" sz="1350" b="1" dirty="0">
                <a:solidFill>
                  <a:srgbClr val="1E2430"/>
                </a:solidFill>
                <a:latin typeface="Calibri" pitchFamily="34" charset="0"/>
                <a:ea typeface="Calibri" pitchFamily="34" charset="-122"/>
                <a:cs typeface="Calibri" pitchFamily="34" charset="-120"/>
              </a:rPr>
              <a:t>Web (React)</a:t>
            </a:r>
            <a:endParaRPr lang="en-US" sz="1350" dirty="0"/>
          </a:p>
          <a:p>
            <a:pPr marL="0" indent="0" algn="ctr">
              <a:buNone/>
            </a:pPr>
            <a:r>
              <a:rPr lang="en-US" sz="1100" dirty="0">
                <a:solidFill>
                  <a:srgbClr val="1E2430"/>
                </a:solidFill>
                <a:latin typeface="Calibri" pitchFamily="34" charset="0"/>
                <a:ea typeface="Calibri" pitchFamily="34" charset="-122"/>
                <a:cs typeface="Calibri" pitchFamily="34" charset="-120"/>
              </a:rPr>
              <a:t>clientes, invitados y administración</a:t>
            </a:r>
            <a:endParaRPr lang="en-US" sz="1350" dirty="0"/>
          </a:p>
        </p:txBody>
      </p:sp>
      <p:sp>
        <p:nvSpPr>
          <p:cNvPr id="7" name="Shape 5"/>
          <p:cNvSpPr/>
          <p:nvPr/>
        </p:nvSpPr>
        <p:spPr>
          <a:xfrm>
            <a:off x="548640" y="2880360"/>
            <a:ext cx="2377440" cy="868680"/>
          </a:xfrm>
          <a:prstGeom prst="rect">
            <a:avLst/>
          </a:prstGeom>
          <a:solidFill>
            <a:srgbClr val="FFFFFF"/>
          </a:solidFill>
          <a:ln w="9525">
            <a:solidFill>
              <a:srgbClr val="D7DCE3"/>
            </a:solidFill>
            <a:prstDash val="solid"/>
          </a:ln>
        </p:spPr>
        <p:txBody>
          <a:bodyPr/>
          <a:lstStyle/>
          <a:p>
            <a:endParaRPr lang="es-CL"/>
          </a:p>
        </p:txBody>
      </p:sp>
      <p:sp>
        <p:nvSpPr>
          <p:cNvPr id="8" name="Text 6"/>
          <p:cNvSpPr txBox="1"/>
          <p:nvPr/>
        </p:nvSpPr>
        <p:spPr>
          <a:xfrm>
            <a:off x="640080" y="2880360"/>
            <a:ext cx="2194560" cy="868680"/>
          </a:xfrm>
          <a:prstGeom prst="rect">
            <a:avLst/>
          </a:prstGeom>
          <a:noFill/>
          <a:ln/>
        </p:spPr>
        <p:txBody>
          <a:bodyPr wrap="square" lIns="0" tIns="0" rIns="0" bIns="0" rtlCol="0" anchor="ctr"/>
          <a:lstStyle/>
          <a:p>
            <a:pPr marL="0" indent="0" algn="ctr">
              <a:buNone/>
            </a:pPr>
            <a:r>
              <a:rPr lang="en-US" sz="1350" b="1" dirty="0">
                <a:solidFill>
                  <a:srgbClr val="1E2430"/>
                </a:solidFill>
                <a:latin typeface="Calibri" pitchFamily="34" charset="0"/>
                <a:ea typeface="Calibri" pitchFamily="34" charset="-122"/>
                <a:cs typeface="Calibri" pitchFamily="34" charset="-120"/>
              </a:rPr>
              <a:t>App Android</a:t>
            </a:r>
            <a:endParaRPr lang="en-US" sz="1350" dirty="0"/>
          </a:p>
          <a:p>
            <a:pPr marL="0" indent="0" algn="ctr">
              <a:buNone/>
            </a:pPr>
            <a:r>
              <a:rPr lang="en-US" sz="1100" dirty="0">
                <a:solidFill>
                  <a:srgbClr val="1E2430"/>
                </a:solidFill>
                <a:latin typeface="Calibri" pitchFamily="34" charset="0"/>
                <a:ea typeface="Calibri" pitchFamily="34" charset="-122"/>
                <a:cs typeface="Calibri" pitchFamily="34" charset="-120"/>
              </a:rPr>
              <a:t>Kotlin · Jetpack Compose · MVVM</a:t>
            </a:r>
            <a:endParaRPr lang="en-US" sz="1350" dirty="0"/>
          </a:p>
        </p:txBody>
      </p:sp>
      <p:sp>
        <p:nvSpPr>
          <p:cNvPr id="9" name="Shape 7"/>
          <p:cNvSpPr/>
          <p:nvPr/>
        </p:nvSpPr>
        <p:spPr>
          <a:xfrm>
            <a:off x="3749040" y="1828800"/>
            <a:ext cx="3291840" cy="1920240"/>
          </a:xfrm>
          <a:prstGeom prst="rect">
            <a:avLst/>
          </a:prstGeom>
          <a:solidFill>
            <a:srgbClr val="13294B"/>
          </a:solidFill>
          <a:ln w="9525">
            <a:solidFill>
              <a:srgbClr val="13294B"/>
            </a:solidFill>
            <a:prstDash val="solid"/>
          </a:ln>
        </p:spPr>
        <p:txBody>
          <a:bodyPr/>
          <a:lstStyle/>
          <a:p>
            <a:endParaRPr lang="es-CL"/>
          </a:p>
        </p:txBody>
      </p:sp>
      <p:sp>
        <p:nvSpPr>
          <p:cNvPr id="10" name="Text 8"/>
          <p:cNvSpPr txBox="1"/>
          <p:nvPr/>
        </p:nvSpPr>
        <p:spPr>
          <a:xfrm>
            <a:off x="3840480" y="1828800"/>
            <a:ext cx="3108960" cy="1920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API en Supabase: 13 operaciones</a:t>
            </a:r>
            <a:endParaRPr lang="en-US" sz="1350" dirty="0"/>
          </a:p>
          <a:p>
            <a:pPr marL="0" indent="0" algn="ctr">
              <a:buNone/>
            </a:pPr>
            <a:r>
              <a:rPr lang="en-US" sz="1100" dirty="0">
                <a:solidFill>
                  <a:srgbClr val="FFFFFF"/>
                </a:solidFill>
                <a:latin typeface="Calibri" pitchFamily="34" charset="0"/>
                <a:ea typeface="Calibri" pitchFamily="34" charset="-122"/>
                <a:cs typeface="Calibri" pitchFamily="34" charset="-120"/>
              </a:rPr>
              <a:t>Catálogo 3 · cuenta 5 · reservas 3 · reseñas 2 (crece en S12 con Webpay, fila, «Mis datos» y personal)</a:t>
            </a:r>
            <a:endParaRPr lang="en-US" sz="1350" dirty="0"/>
          </a:p>
        </p:txBody>
      </p:sp>
      <p:sp>
        <p:nvSpPr>
          <p:cNvPr id="11" name="Shape 9"/>
          <p:cNvSpPr/>
          <p:nvPr/>
        </p:nvSpPr>
        <p:spPr>
          <a:xfrm>
            <a:off x="7863840" y="1828800"/>
            <a:ext cx="3749040" cy="1920240"/>
          </a:xfrm>
          <a:prstGeom prst="rect">
            <a:avLst/>
          </a:prstGeom>
          <a:solidFill>
            <a:srgbClr val="1D3A63"/>
          </a:solidFill>
          <a:ln w="9525">
            <a:solidFill>
              <a:srgbClr val="1D3A63"/>
            </a:solidFill>
            <a:prstDash val="solid"/>
          </a:ln>
        </p:spPr>
        <p:txBody>
          <a:bodyPr/>
          <a:lstStyle/>
          <a:p>
            <a:endParaRPr lang="es-CL"/>
          </a:p>
        </p:txBody>
      </p:sp>
      <p:sp>
        <p:nvSpPr>
          <p:cNvPr id="12" name="Text 10"/>
          <p:cNvSpPr txBox="1"/>
          <p:nvPr/>
        </p:nvSpPr>
        <p:spPr>
          <a:xfrm>
            <a:off x="7955280" y="1828800"/>
            <a:ext cx="3566160" cy="1920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PostgreSQL 17</a:t>
            </a:r>
            <a:endParaRPr lang="en-US" sz="1350" dirty="0"/>
          </a:p>
          <a:p>
            <a:pPr marL="0" indent="0" algn="ctr">
              <a:buNone/>
            </a:pPr>
            <a:r>
              <a:rPr lang="en-US" sz="1100" dirty="0">
                <a:solidFill>
                  <a:srgbClr val="FFFFFF"/>
                </a:solidFill>
                <a:latin typeface="Calibri" pitchFamily="34" charset="0"/>
                <a:ea typeface="Calibri" pitchFamily="34" charset="-122"/>
                <a:cs typeface="Calibri" pitchFamily="34" charset="-120"/>
              </a:rPr>
              <a:t>27 tablas · RLS cerrado · contraseñas con bcrypt · datos de contacto enmascarados</a:t>
            </a:r>
            <a:endParaRPr lang="en-US" sz="1350" dirty="0"/>
          </a:p>
        </p:txBody>
      </p:sp>
      <p:sp>
        <p:nvSpPr>
          <p:cNvPr id="13" name="Shape 11"/>
          <p:cNvSpPr/>
          <p:nvPr/>
        </p:nvSpPr>
        <p:spPr>
          <a:xfrm>
            <a:off x="2926080" y="2258568"/>
            <a:ext cx="822960" cy="0"/>
          </a:xfrm>
          <a:prstGeom prst="line">
            <a:avLst/>
          </a:prstGeom>
          <a:noFill/>
          <a:ln w="19050">
            <a:solidFill>
              <a:srgbClr val="13294B"/>
            </a:solidFill>
            <a:prstDash val="solid"/>
            <a:tailEnd type="triangle"/>
          </a:ln>
        </p:spPr>
        <p:txBody>
          <a:bodyPr/>
          <a:lstStyle/>
          <a:p>
            <a:endParaRPr lang="es-CL"/>
          </a:p>
        </p:txBody>
      </p:sp>
      <p:sp>
        <p:nvSpPr>
          <p:cNvPr id="14" name="Shape 12"/>
          <p:cNvSpPr/>
          <p:nvPr/>
        </p:nvSpPr>
        <p:spPr>
          <a:xfrm>
            <a:off x="2926080" y="3310128"/>
            <a:ext cx="822960" cy="0"/>
          </a:xfrm>
          <a:prstGeom prst="line">
            <a:avLst/>
          </a:prstGeom>
          <a:noFill/>
          <a:ln w="19050">
            <a:solidFill>
              <a:srgbClr val="13294B"/>
            </a:solidFill>
            <a:prstDash val="solid"/>
            <a:tailEnd type="triangle"/>
          </a:ln>
        </p:spPr>
        <p:txBody>
          <a:bodyPr/>
          <a:lstStyle/>
          <a:p>
            <a:endParaRPr lang="es-CL"/>
          </a:p>
        </p:txBody>
      </p:sp>
      <p:sp>
        <p:nvSpPr>
          <p:cNvPr id="15" name="Shape 13"/>
          <p:cNvSpPr/>
          <p:nvPr/>
        </p:nvSpPr>
        <p:spPr>
          <a:xfrm>
            <a:off x="7040880" y="2788920"/>
            <a:ext cx="822960" cy="0"/>
          </a:xfrm>
          <a:prstGeom prst="line">
            <a:avLst/>
          </a:prstGeom>
          <a:noFill/>
          <a:ln w="19050">
            <a:solidFill>
              <a:srgbClr val="13294B"/>
            </a:solidFill>
            <a:prstDash val="solid"/>
            <a:tailEnd type="triangle"/>
          </a:ln>
        </p:spPr>
        <p:txBody>
          <a:bodyPr/>
          <a:lstStyle/>
          <a:p>
            <a:endParaRPr lang="es-CL"/>
          </a:p>
        </p:txBody>
      </p:sp>
      <p:sp>
        <p:nvSpPr>
          <p:cNvPr id="22" name="Shape 20"/>
          <p:cNvSpPr/>
          <p:nvPr/>
        </p:nvSpPr>
        <p:spPr>
          <a:xfrm>
            <a:off x="2090000" y="4011929"/>
            <a:ext cx="2624328" cy="1143000"/>
          </a:xfrm>
          <a:prstGeom prst="rect">
            <a:avLst/>
          </a:prstGeom>
          <a:solidFill>
            <a:srgbClr val="FFFFFF"/>
          </a:solidFill>
          <a:ln w="9525">
            <a:solidFill>
              <a:srgbClr val="D7DCE3"/>
            </a:solidFill>
            <a:prstDash val="solid"/>
          </a:ln>
        </p:spPr>
        <p:txBody>
          <a:bodyPr/>
          <a:lstStyle/>
          <a:p>
            <a:endParaRPr lang="es-CL"/>
          </a:p>
        </p:txBody>
      </p:sp>
      <p:sp>
        <p:nvSpPr>
          <p:cNvPr id="23" name="Text 21"/>
          <p:cNvSpPr txBox="1"/>
          <p:nvPr/>
        </p:nvSpPr>
        <p:spPr>
          <a:xfrm>
            <a:off x="2090000" y="4034789"/>
            <a:ext cx="2441448" cy="548640"/>
          </a:xfrm>
          <a:prstGeom prst="rect">
            <a:avLst/>
          </a:prstGeom>
          <a:noFill/>
          <a:ln/>
        </p:spPr>
        <p:txBody>
          <a:bodyPr wrap="square" lIns="0" tIns="0" rIns="0" bIns="0" rtlCol="0" anchor="ctr"/>
          <a:lstStyle/>
          <a:p>
            <a:pPr marL="0" indent="0" algn="ctr">
              <a:buNone/>
            </a:pPr>
            <a:r>
              <a:rPr lang="en-US" sz="2600" b="1" dirty="0">
                <a:solidFill>
                  <a:srgbClr val="2F855A"/>
                </a:solidFill>
                <a:latin typeface="Cambria" pitchFamily="34" charset="0"/>
                <a:ea typeface="Cambria" pitchFamily="34" charset="-122"/>
                <a:cs typeface="Cambria" pitchFamily="34" charset="-120"/>
              </a:rPr>
              <a:t>Web</a:t>
            </a:r>
            <a:endParaRPr lang="en-US" sz="2600" dirty="0"/>
          </a:p>
        </p:txBody>
      </p:sp>
      <p:sp>
        <p:nvSpPr>
          <p:cNvPr id="24" name="Text 22"/>
          <p:cNvSpPr txBox="1"/>
          <p:nvPr/>
        </p:nvSpPr>
        <p:spPr>
          <a:xfrm>
            <a:off x="2135720" y="4565141"/>
            <a:ext cx="2350008"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prueba de punta a punta: login, reserva, reagendar y anular</a:t>
            </a:r>
            <a:endParaRPr lang="en-US" sz="1150" dirty="0"/>
          </a:p>
        </p:txBody>
      </p:sp>
      <p:sp>
        <p:nvSpPr>
          <p:cNvPr id="25" name="Shape 23"/>
          <p:cNvSpPr/>
          <p:nvPr/>
        </p:nvSpPr>
        <p:spPr>
          <a:xfrm>
            <a:off x="6078772" y="4034789"/>
            <a:ext cx="2624328" cy="1143000"/>
          </a:xfrm>
          <a:prstGeom prst="rect">
            <a:avLst/>
          </a:prstGeom>
          <a:solidFill>
            <a:srgbClr val="FFFFFF"/>
          </a:solidFill>
          <a:ln w="9525">
            <a:solidFill>
              <a:srgbClr val="D7DCE3"/>
            </a:solidFill>
            <a:prstDash val="solid"/>
          </a:ln>
        </p:spPr>
        <p:txBody>
          <a:bodyPr/>
          <a:lstStyle/>
          <a:p>
            <a:endParaRPr lang="es-CL"/>
          </a:p>
        </p:txBody>
      </p:sp>
      <p:sp>
        <p:nvSpPr>
          <p:cNvPr id="26" name="Text 24"/>
          <p:cNvSpPr txBox="1"/>
          <p:nvPr/>
        </p:nvSpPr>
        <p:spPr>
          <a:xfrm>
            <a:off x="6189295" y="4178808"/>
            <a:ext cx="2441448" cy="548640"/>
          </a:xfrm>
          <a:prstGeom prst="rect">
            <a:avLst/>
          </a:prstGeom>
          <a:noFill/>
          <a:ln/>
        </p:spPr>
        <p:txBody>
          <a:bodyPr wrap="square" lIns="0" tIns="0" rIns="0" bIns="0" rtlCol="0" anchor="ctr"/>
          <a:lstStyle/>
          <a:p>
            <a:pPr marL="0" indent="0" algn="ctr">
              <a:buNone/>
            </a:pPr>
            <a:r>
              <a:rPr lang="en-US" sz="2600" b="1" dirty="0">
                <a:solidFill>
                  <a:srgbClr val="2F855A"/>
                </a:solidFill>
                <a:latin typeface="Cambria" pitchFamily="34" charset="0"/>
                <a:ea typeface="Cambria" pitchFamily="34" charset="-122"/>
                <a:cs typeface="Cambria" pitchFamily="34" charset="-120"/>
              </a:rPr>
              <a:t>App</a:t>
            </a:r>
            <a:endParaRPr lang="en-US" sz="2600" dirty="0"/>
          </a:p>
        </p:txBody>
      </p:sp>
      <p:sp>
        <p:nvSpPr>
          <p:cNvPr id="27" name="Text 25"/>
          <p:cNvSpPr txBox="1"/>
          <p:nvPr/>
        </p:nvSpPr>
        <p:spPr>
          <a:xfrm>
            <a:off x="6228654" y="4703791"/>
            <a:ext cx="2350008"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compila sin errores (Gradle)</a:t>
            </a:r>
            <a:endParaRPr lang="en-US" sz="1150" dirty="0"/>
          </a:p>
        </p:txBody>
      </p:sp>
      <p:sp>
        <p:nvSpPr>
          <p:cNvPr id="28" name="Shape 26"/>
          <p:cNvSpPr/>
          <p:nvPr/>
        </p:nvSpPr>
        <p:spPr>
          <a:xfrm>
            <a:off x="548640" y="5394960"/>
            <a:ext cx="11064240" cy="822960"/>
          </a:xfrm>
          <a:prstGeom prst="rect">
            <a:avLst/>
          </a:prstGeom>
          <a:solidFill>
            <a:srgbClr val="EEF1F5"/>
          </a:solidFill>
          <a:ln w="9525">
            <a:solidFill>
              <a:srgbClr val="D7DCE3"/>
            </a:solidFill>
            <a:prstDash val="solid"/>
          </a:ln>
        </p:spPr>
        <p:txBody>
          <a:bodyPr/>
          <a:lstStyle/>
          <a:p>
            <a:endParaRPr lang="es-CL"/>
          </a:p>
        </p:txBody>
      </p:sp>
      <p:sp>
        <p:nvSpPr>
          <p:cNvPr id="29" name="Text 27"/>
          <p:cNvSpPr txBox="1"/>
          <p:nvPr/>
        </p:nvSpPr>
        <p:spPr>
          <a:xfrm>
            <a:off x="685800" y="5413248"/>
            <a:ext cx="10789920" cy="786384"/>
          </a:xfrm>
          <a:prstGeom prst="rect">
            <a:avLst/>
          </a:prstGeom>
          <a:noFill/>
          <a:ln/>
        </p:spPr>
        <p:txBody>
          <a:bodyPr wrap="square" lIns="0" tIns="0" rIns="0" bIns="0" rtlCol="0" anchor="ctr"/>
          <a:lstStyle/>
          <a:p>
            <a:pPr marL="0" indent="0">
              <a:buNone/>
            </a:pPr>
            <a:r>
              <a:rPr lang="en-US" sz="1200" b="1" dirty="0">
                <a:solidFill>
                  <a:srgbClr val="13294B"/>
                </a:solidFill>
                <a:latin typeface="Calibri" pitchFamily="34" charset="0"/>
                <a:ea typeface="Calibri" pitchFamily="34" charset="-122"/>
                <a:cs typeface="Calibri" pitchFamily="34" charset="-120"/>
              </a:rPr>
              <a:t>Reglas que valida la base de datos: </a:t>
            </a:r>
            <a:r>
              <a:rPr lang="en-US" sz="1200" dirty="0">
                <a:solidFill>
                  <a:srgbClr val="1E2430"/>
                </a:solidFill>
                <a:latin typeface="Calibri" pitchFamily="34" charset="0"/>
                <a:ea typeface="Calibri" pitchFamily="34" charset="-122"/>
                <a:cs typeface="Calibri" pitchFamily="34" charset="-120"/>
              </a:rPr>
              <a:t>abono desde la configuración · reagendar con 24 h y máximo 2 veces · sin horarios duplicados · pérdida del abono según quién cancela · auditoría de accesos.</a:t>
            </a:r>
            <a:endParaRPr lang="en-US" sz="1200" dirty="0"/>
          </a:p>
        </p:txBody>
      </p:sp>
      <p:sp>
        <p:nvSpPr>
          <p:cNvPr id="30"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CONTROL · RIESGOS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Matriz de riesgos 3 × 3</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Riesgos actuales y los que pueden presentarse hasta el cierre del proyecto (S16): probabilidad versus impacto (Project Management Institute [PMI], 2021).</a:t>
            </a:r>
            <a:endParaRPr lang="en-US" sz="1250" dirty="0"/>
          </a:p>
        </p:txBody>
      </p:sp>
      <p:sp>
        <p:nvSpPr>
          <p:cNvPr id="5" name="Shape 3"/>
          <p:cNvSpPr/>
          <p:nvPr/>
        </p:nvSpPr>
        <p:spPr>
          <a:xfrm>
            <a:off x="1325880" y="1828800"/>
            <a:ext cx="1563624" cy="1197864"/>
          </a:xfrm>
          <a:prstGeom prst="rect">
            <a:avLst/>
          </a:prstGeom>
          <a:solidFill>
            <a:srgbClr val="F5E6CC"/>
          </a:solidFill>
          <a:ln w="12700">
            <a:solidFill>
              <a:srgbClr val="FFFFFF"/>
            </a:solidFill>
            <a:prstDash val="solid"/>
          </a:ln>
        </p:spPr>
        <p:txBody>
          <a:bodyPr/>
          <a:lstStyle/>
          <a:p>
            <a:endParaRPr lang="es-CL"/>
          </a:p>
        </p:txBody>
      </p:sp>
      <p:sp>
        <p:nvSpPr>
          <p:cNvPr id="6" name="Shape 4"/>
          <p:cNvSpPr/>
          <p:nvPr/>
        </p:nvSpPr>
        <p:spPr>
          <a:xfrm>
            <a:off x="2926080" y="1828800"/>
            <a:ext cx="1563624" cy="1197864"/>
          </a:xfrm>
          <a:prstGeom prst="rect">
            <a:avLst/>
          </a:prstGeom>
          <a:solidFill>
            <a:srgbClr val="F2D4D4"/>
          </a:solidFill>
          <a:ln w="12700">
            <a:solidFill>
              <a:srgbClr val="FFFFFF"/>
            </a:solidFill>
            <a:prstDash val="solid"/>
          </a:ln>
        </p:spPr>
        <p:txBody>
          <a:bodyPr/>
          <a:lstStyle/>
          <a:p>
            <a:endParaRPr lang="es-CL"/>
          </a:p>
        </p:txBody>
      </p:sp>
      <p:sp>
        <p:nvSpPr>
          <p:cNvPr id="7" name="Shape 5"/>
          <p:cNvSpPr/>
          <p:nvPr/>
        </p:nvSpPr>
        <p:spPr>
          <a:xfrm>
            <a:off x="4526280" y="1828800"/>
            <a:ext cx="1563624" cy="1197864"/>
          </a:xfrm>
          <a:prstGeom prst="rect">
            <a:avLst/>
          </a:prstGeom>
          <a:solidFill>
            <a:srgbClr val="F2D4D4"/>
          </a:solidFill>
          <a:ln w="12700">
            <a:solidFill>
              <a:srgbClr val="FFFFFF"/>
            </a:solidFill>
            <a:prstDash val="solid"/>
          </a:ln>
        </p:spPr>
        <p:txBody>
          <a:bodyPr/>
          <a:lstStyle/>
          <a:p>
            <a:endParaRPr lang="es-CL"/>
          </a:p>
        </p:txBody>
      </p:sp>
      <p:sp>
        <p:nvSpPr>
          <p:cNvPr id="8" name="Shape 6"/>
          <p:cNvSpPr/>
          <p:nvPr/>
        </p:nvSpPr>
        <p:spPr>
          <a:xfrm>
            <a:off x="4636008" y="1956816"/>
            <a:ext cx="420624" cy="420624"/>
          </a:xfrm>
          <a:prstGeom prst="ellipse">
            <a:avLst/>
          </a:prstGeom>
          <a:solidFill>
            <a:srgbClr val="B83A3A"/>
          </a:solidFill>
          <a:ln w="12700">
            <a:solidFill>
              <a:srgbClr val="FFFFFF"/>
            </a:solidFill>
            <a:prstDash val="solid"/>
          </a:ln>
        </p:spPr>
        <p:txBody>
          <a:bodyPr/>
          <a:lstStyle/>
          <a:p>
            <a:endParaRPr lang="es-CL"/>
          </a:p>
        </p:txBody>
      </p:sp>
      <p:sp>
        <p:nvSpPr>
          <p:cNvPr id="9" name="Text 7"/>
          <p:cNvSpPr txBox="1"/>
          <p:nvPr/>
        </p:nvSpPr>
        <p:spPr>
          <a:xfrm>
            <a:off x="4636008" y="195681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Shape 8"/>
          <p:cNvSpPr/>
          <p:nvPr/>
        </p:nvSpPr>
        <p:spPr>
          <a:xfrm>
            <a:off x="1325880" y="3063240"/>
            <a:ext cx="1563624" cy="1197864"/>
          </a:xfrm>
          <a:prstGeom prst="rect">
            <a:avLst/>
          </a:prstGeom>
          <a:solidFill>
            <a:srgbClr val="D8EBDF"/>
          </a:solidFill>
          <a:ln w="12700">
            <a:solidFill>
              <a:srgbClr val="FFFFFF"/>
            </a:solidFill>
            <a:prstDash val="solid"/>
          </a:ln>
        </p:spPr>
        <p:txBody>
          <a:bodyPr/>
          <a:lstStyle/>
          <a:p>
            <a:endParaRPr lang="es-CL"/>
          </a:p>
        </p:txBody>
      </p:sp>
      <p:sp>
        <p:nvSpPr>
          <p:cNvPr id="11" name="Shape 9"/>
          <p:cNvSpPr/>
          <p:nvPr/>
        </p:nvSpPr>
        <p:spPr>
          <a:xfrm>
            <a:off x="2926080" y="3063240"/>
            <a:ext cx="1563624" cy="1197864"/>
          </a:xfrm>
          <a:prstGeom prst="rect">
            <a:avLst/>
          </a:prstGeom>
          <a:solidFill>
            <a:srgbClr val="F5E6CC"/>
          </a:solidFill>
          <a:ln w="12700">
            <a:solidFill>
              <a:srgbClr val="FFFFFF"/>
            </a:solidFill>
            <a:prstDash val="solid"/>
          </a:ln>
        </p:spPr>
        <p:txBody>
          <a:bodyPr/>
          <a:lstStyle/>
          <a:p>
            <a:endParaRPr lang="es-CL"/>
          </a:p>
        </p:txBody>
      </p:sp>
      <p:sp>
        <p:nvSpPr>
          <p:cNvPr id="12" name="Shape 10"/>
          <p:cNvSpPr/>
          <p:nvPr/>
        </p:nvSpPr>
        <p:spPr>
          <a:xfrm>
            <a:off x="3035808" y="3191256"/>
            <a:ext cx="420624" cy="420624"/>
          </a:xfrm>
          <a:prstGeom prst="ellipse">
            <a:avLst/>
          </a:prstGeom>
          <a:solidFill>
            <a:srgbClr val="B5762A"/>
          </a:solidFill>
          <a:ln w="12700">
            <a:solidFill>
              <a:srgbClr val="FFFFFF"/>
            </a:solidFill>
            <a:prstDash val="solid"/>
          </a:ln>
        </p:spPr>
        <p:txBody>
          <a:bodyPr/>
          <a:lstStyle/>
          <a:p>
            <a:endParaRPr lang="es-CL"/>
          </a:p>
        </p:txBody>
      </p:sp>
      <p:sp>
        <p:nvSpPr>
          <p:cNvPr id="13" name="Text 11"/>
          <p:cNvSpPr txBox="1"/>
          <p:nvPr/>
        </p:nvSpPr>
        <p:spPr>
          <a:xfrm>
            <a:off x="3035808"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4" name="Shape 12"/>
          <p:cNvSpPr/>
          <p:nvPr/>
        </p:nvSpPr>
        <p:spPr>
          <a:xfrm>
            <a:off x="3529584" y="3191256"/>
            <a:ext cx="420624" cy="420624"/>
          </a:xfrm>
          <a:prstGeom prst="ellipse">
            <a:avLst/>
          </a:prstGeom>
          <a:solidFill>
            <a:srgbClr val="B5762A"/>
          </a:solidFill>
          <a:ln w="12700">
            <a:solidFill>
              <a:srgbClr val="FFFFFF"/>
            </a:solidFill>
            <a:prstDash val="solid"/>
          </a:ln>
        </p:spPr>
        <p:txBody>
          <a:bodyPr/>
          <a:lstStyle/>
          <a:p>
            <a:endParaRPr lang="es-CL"/>
          </a:p>
        </p:txBody>
      </p:sp>
      <p:sp>
        <p:nvSpPr>
          <p:cNvPr id="15" name="Text 13"/>
          <p:cNvSpPr txBox="1"/>
          <p:nvPr/>
        </p:nvSpPr>
        <p:spPr>
          <a:xfrm>
            <a:off x="3529584"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6" name="Shape 14"/>
          <p:cNvSpPr/>
          <p:nvPr/>
        </p:nvSpPr>
        <p:spPr>
          <a:xfrm>
            <a:off x="4023360" y="3191256"/>
            <a:ext cx="420624" cy="420624"/>
          </a:xfrm>
          <a:prstGeom prst="ellipse">
            <a:avLst/>
          </a:prstGeom>
          <a:solidFill>
            <a:srgbClr val="B5762A"/>
          </a:solidFill>
          <a:ln w="12700">
            <a:solidFill>
              <a:srgbClr val="FFFFFF"/>
            </a:solidFill>
            <a:prstDash val="solid"/>
          </a:ln>
        </p:spPr>
        <p:txBody>
          <a:bodyPr/>
          <a:lstStyle/>
          <a:p>
            <a:endParaRPr lang="es-CL"/>
          </a:p>
        </p:txBody>
      </p:sp>
      <p:sp>
        <p:nvSpPr>
          <p:cNvPr id="17" name="Text 15"/>
          <p:cNvSpPr txBox="1"/>
          <p:nvPr/>
        </p:nvSpPr>
        <p:spPr>
          <a:xfrm>
            <a:off x="4023360"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18" name="Shape 16"/>
          <p:cNvSpPr/>
          <p:nvPr/>
        </p:nvSpPr>
        <p:spPr>
          <a:xfrm>
            <a:off x="3035808" y="3703320"/>
            <a:ext cx="420624" cy="420624"/>
          </a:xfrm>
          <a:prstGeom prst="ellipse">
            <a:avLst/>
          </a:prstGeom>
          <a:solidFill>
            <a:srgbClr val="B5762A"/>
          </a:solidFill>
          <a:ln w="12700">
            <a:solidFill>
              <a:srgbClr val="FFFFFF"/>
            </a:solidFill>
            <a:prstDash val="solid"/>
          </a:ln>
        </p:spPr>
        <p:txBody>
          <a:bodyPr/>
          <a:lstStyle/>
          <a:p>
            <a:endParaRPr lang="es-CL"/>
          </a:p>
        </p:txBody>
      </p:sp>
      <p:sp>
        <p:nvSpPr>
          <p:cNvPr id="19" name="Text 17"/>
          <p:cNvSpPr txBox="1"/>
          <p:nvPr/>
        </p:nvSpPr>
        <p:spPr>
          <a:xfrm>
            <a:off x="3035808" y="3703320"/>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20" name="Shape 18"/>
          <p:cNvSpPr/>
          <p:nvPr/>
        </p:nvSpPr>
        <p:spPr>
          <a:xfrm>
            <a:off x="4526280" y="3063240"/>
            <a:ext cx="1563624" cy="1197864"/>
          </a:xfrm>
          <a:prstGeom prst="rect">
            <a:avLst/>
          </a:prstGeom>
          <a:solidFill>
            <a:srgbClr val="F2D4D4"/>
          </a:solidFill>
          <a:ln w="12700">
            <a:solidFill>
              <a:srgbClr val="FFFFFF"/>
            </a:solidFill>
            <a:prstDash val="solid"/>
          </a:ln>
        </p:spPr>
        <p:txBody>
          <a:bodyPr/>
          <a:lstStyle/>
          <a:p>
            <a:endParaRPr lang="es-CL"/>
          </a:p>
        </p:txBody>
      </p:sp>
      <p:sp>
        <p:nvSpPr>
          <p:cNvPr id="21" name="Shape 19"/>
          <p:cNvSpPr/>
          <p:nvPr/>
        </p:nvSpPr>
        <p:spPr>
          <a:xfrm>
            <a:off x="4636008" y="3191256"/>
            <a:ext cx="420624" cy="420624"/>
          </a:xfrm>
          <a:prstGeom prst="ellipse">
            <a:avLst/>
          </a:prstGeom>
          <a:solidFill>
            <a:srgbClr val="B83A3A"/>
          </a:solidFill>
          <a:ln w="12700">
            <a:solidFill>
              <a:srgbClr val="FFFFFF"/>
            </a:solidFill>
            <a:prstDash val="solid"/>
          </a:ln>
        </p:spPr>
        <p:txBody>
          <a:bodyPr/>
          <a:lstStyle/>
          <a:p>
            <a:endParaRPr lang="es-CL"/>
          </a:p>
        </p:txBody>
      </p:sp>
      <p:sp>
        <p:nvSpPr>
          <p:cNvPr id="22" name="Text 20"/>
          <p:cNvSpPr txBox="1"/>
          <p:nvPr/>
        </p:nvSpPr>
        <p:spPr>
          <a:xfrm>
            <a:off x="4636008"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Shape 21"/>
          <p:cNvSpPr/>
          <p:nvPr/>
        </p:nvSpPr>
        <p:spPr>
          <a:xfrm>
            <a:off x="5129784" y="3191256"/>
            <a:ext cx="420624" cy="420624"/>
          </a:xfrm>
          <a:prstGeom prst="ellipse">
            <a:avLst/>
          </a:prstGeom>
          <a:solidFill>
            <a:srgbClr val="B83A3A"/>
          </a:solidFill>
          <a:ln w="12700">
            <a:solidFill>
              <a:srgbClr val="FFFFFF"/>
            </a:solidFill>
            <a:prstDash val="solid"/>
          </a:ln>
        </p:spPr>
        <p:txBody>
          <a:bodyPr/>
          <a:lstStyle/>
          <a:p>
            <a:endParaRPr lang="es-CL"/>
          </a:p>
        </p:txBody>
      </p:sp>
      <p:sp>
        <p:nvSpPr>
          <p:cNvPr id="24" name="Text 22"/>
          <p:cNvSpPr txBox="1"/>
          <p:nvPr/>
        </p:nvSpPr>
        <p:spPr>
          <a:xfrm>
            <a:off x="5129784" y="319125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Shape 23"/>
          <p:cNvSpPr/>
          <p:nvPr/>
        </p:nvSpPr>
        <p:spPr>
          <a:xfrm>
            <a:off x="1325880" y="4297680"/>
            <a:ext cx="1563624" cy="1197864"/>
          </a:xfrm>
          <a:prstGeom prst="rect">
            <a:avLst/>
          </a:prstGeom>
          <a:solidFill>
            <a:srgbClr val="D8EBDF"/>
          </a:solidFill>
          <a:ln w="12700">
            <a:solidFill>
              <a:srgbClr val="FFFFFF"/>
            </a:solidFill>
            <a:prstDash val="solid"/>
          </a:ln>
        </p:spPr>
        <p:txBody>
          <a:bodyPr/>
          <a:lstStyle/>
          <a:p>
            <a:endParaRPr lang="es-CL"/>
          </a:p>
        </p:txBody>
      </p:sp>
      <p:sp>
        <p:nvSpPr>
          <p:cNvPr id="26" name="Shape 24"/>
          <p:cNvSpPr/>
          <p:nvPr/>
        </p:nvSpPr>
        <p:spPr>
          <a:xfrm>
            <a:off x="2926080" y="4297680"/>
            <a:ext cx="1563624" cy="1197864"/>
          </a:xfrm>
          <a:prstGeom prst="rect">
            <a:avLst/>
          </a:prstGeom>
          <a:solidFill>
            <a:srgbClr val="D8EBDF"/>
          </a:solidFill>
          <a:ln w="12700">
            <a:solidFill>
              <a:srgbClr val="FFFFFF"/>
            </a:solidFill>
            <a:prstDash val="solid"/>
          </a:ln>
        </p:spPr>
        <p:txBody>
          <a:bodyPr/>
          <a:lstStyle/>
          <a:p>
            <a:endParaRPr lang="es-CL"/>
          </a:p>
        </p:txBody>
      </p:sp>
      <p:sp>
        <p:nvSpPr>
          <p:cNvPr id="27" name="Shape 25"/>
          <p:cNvSpPr/>
          <p:nvPr/>
        </p:nvSpPr>
        <p:spPr>
          <a:xfrm>
            <a:off x="4526280" y="4297680"/>
            <a:ext cx="1563624" cy="1197864"/>
          </a:xfrm>
          <a:prstGeom prst="rect">
            <a:avLst/>
          </a:prstGeom>
          <a:solidFill>
            <a:srgbClr val="F5E6CC"/>
          </a:solidFill>
          <a:ln w="12700">
            <a:solidFill>
              <a:srgbClr val="FFFFFF"/>
            </a:solidFill>
            <a:prstDash val="solid"/>
          </a:ln>
        </p:spPr>
        <p:txBody>
          <a:bodyPr/>
          <a:lstStyle/>
          <a:p>
            <a:endParaRPr lang="es-CL"/>
          </a:p>
        </p:txBody>
      </p:sp>
      <p:sp>
        <p:nvSpPr>
          <p:cNvPr id="28" name="Shape 26"/>
          <p:cNvSpPr/>
          <p:nvPr/>
        </p:nvSpPr>
        <p:spPr>
          <a:xfrm>
            <a:off x="4636008" y="4425696"/>
            <a:ext cx="420624" cy="420624"/>
          </a:xfrm>
          <a:prstGeom prst="ellipse">
            <a:avLst/>
          </a:prstGeom>
          <a:solidFill>
            <a:srgbClr val="B5762A"/>
          </a:solidFill>
          <a:ln w="12700">
            <a:solidFill>
              <a:srgbClr val="FFFFFF"/>
            </a:solidFill>
            <a:prstDash val="solid"/>
          </a:ln>
        </p:spPr>
        <p:txBody>
          <a:bodyPr/>
          <a:lstStyle/>
          <a:p>
            <a:endParaRPr lang="es-CL"/>
          </a:p>
        </p:txBody>
      </p:sp>
      <p:sp>
        <p:nvSpPr>
          <p:cNvPr id="29" name="Text 27"/>
          <p:cNvSpPr txBox="1"/>
          <p:nvPr/>
        </p:nvSpPr>
        <p:spPr>
          <a:xfrm>
            <a:off x="4636008" y="4425696"/>
            <a:ext cx="420624"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0" name="Text 28"/>
          <p:cNvSpPr txBox="1"/>
          <p:nvPr/>
        </p:nvSpPr>
        <p:spPr>
          <a:xfrm>
            <a:off x="777240" y="1828800"/>
            <a:ext cx="502920" cy="1234440"/>
          </a:xfrm>
          <a:prstGeom prst="rect">
            <a:avLst/>
          </a:prstGeom>
          <a:noFill/>
          <a:ln/>
        </p:spPr>
        <p:txBody>
          <a:bodyPr wrap="square" lIns="0" tIns="0" rIns="0" bIns="0" rtlCol="0" anchor="ctr"/>
          <a:lstStyle/>
          <a:p>
            <a:pPr marL="0" indent="0" algn="r">
              <a:buNone/>
            </a:pPr>
            <a:r>
              <a:rPr lang="en-US" sz="1100" b="1" dirty="0">
                <a:solidFill>
                  <a:srgbClr val="1E2430"/>
                </a:solidFill>
                <a:latin typeface="Calibri" pitchFamily="34" charset="0"/>
                <a:ea typeface="Calibri" pitchFamily="34" charset="-122"/>
                <a:cs typeface="Calibri" pitchFamily="34" charset="-120"/>
              </a:rPr>
              <a:t>Alta</a:t>
            </a:r>
            <a:endParaRPr lang="en-US" sz="1100" dirty="0"/>
          </a:p>
        </p:txBody>
      </p:sp>
      <p:sp>
        <p:nvSpPr>
          <p:cNvPr id="31" name="Text 29"/>
          <p:cNvSpPr txBox="1"/>
          <p:nvPr/>
        </p:nvSpPr>
        <p:spPr>
          <a:xfrm>
            <a:off x="777240" y="3063240"/>
            <a:ext cx="502920" cy="1234440"/>
          </a:xfrm>
          <a:prstGeom prst="rect">
            <a:avLst/>
          </a:prstGeom>
          <a:noFill/>
          <a:ln/>
        </p:spPr>
        <p:txBody>
          <a:bodyPr wrap="square" lIns="0" tIns="0" rIns="0" bIns="0" rtlCol="0" anchor="ctr"/>
          <a:lstStyle/>
          <a:p>
            <a:pPr marL="0" indent="0" algn="r">
              <a:buNone/>
            </a:pPr>
            <a:r>
              <a:rPr lang="en-US" sz="1100" b="1" dirty="0">
                <a:solidFill>
                  <a:srgbClr val="1E2430"/>
                </a:solidFill>
                <a:latin typeface="Calibri" pitchFamily="34" charset="0"/>
                <a:ea typeface="Calibri" pitchFamily="34" charset="-122"/>
                <a:cs typeface="Calibri" pitchFamily="34" charset="-120"/>
              </a:rPr>
              <a:t>Media</a:t>
            </a:r>
            <a:endParaRPr lang="en-US" sz="1100" dirty="0"/>
          </a:p>
        </p:txBody>
      </p:sp>
      <p:sp>
        <p:nvSpPr>
          <p:cNvPr id="32" name="Text 30"/>
          <p:cNvSpPr txBox="1"/>
          <p:nvPr/>
        </p:nvSpPr>
        <p:spPr>
          <a:xfrm>
            <a:off x="777240" y="4297680"/>
            <a:ext cx="502920" cy="1234440"/>
          </a:xfrm>
          <a:prstGeom prst="rect">
            <a:avLst/>
          </a:prstGeom>
          <a:noFill/>
          <a:ln/>
        </p:spPr>
        <p:txBody>
          <a:bodyPr wrap="square" lIns="0" tIns="0" rIns="0" bIns="0" rtlCol="0" anchor="ctr"/>
          <a:lstStyle/>
          <a:p>
            <a:pPr marL="0" indent="0" algn="r">
              <a:buNone/>
            </a:pPr>
            <a:r>
              <a:rPr lang="en-US" sz="1100" b="1" dirty="0">
                <a:solidFill>
                  <a:srgbClr val="1E2430"/>
                </a:solidFill>
                <a:latin typeface="Calibri" pitchFamily="34" charset="0"/>
                <a:ea typeface="Calibri" pitchFamily="34" charset="-122"/>
                <a:cs typeface="Calibri" pitchFamily="34" charset="-120"/>
              </a:rPr>
              <a:t>Baja</a:t>
            </a:r>
            <a:endParaRPr lang="en-US" sz="1100" dirty="0"/>
          </a:p>
        </p:txBody>
      </p:sp>
      <p:sp>
        <p:nvSpPr>
          <p:cNvPr id="33" name="Text 31"/>
          <p:cNvSpPr txBox="1"/>
          <p:nvPr/>
        </p:nvSpPr>
        <p:spPr>
          <a:xfrm>
            <a:off x="1325880" y="5532120"/>
            <a:ext cx="1600200" cy="274320"/>
          </a:xfrm>
          <a:prstGeom prst="rect">
            <a:avLst/>
          </a:prstGeom>
          <a:noFill/>
          <a:ln/>
        </p:spPr>
        <p:txBody>
          <a:bodyPr wrap="square" lIns="0" tIns="0" rIns="0" bIns="0" rtlCol="0" anchor="ctr"/>
          <a:lstStyle/>
          <a:p>
            <a:pPr marL="0" indent="0" algn="ctr">
              <a:buNone/>
            </a:pPr>
            <a:r>
              <a:rPr lang="en-US" sz="1100" b="1" dirty="0">
                <a:solidFill>
                  <a:srgbClr val="1E2430"/>
                </a:solidFill>
                <a:latin typeface="Calibri" pitchFamily="34" charset="0"/>
                <a:ea typeface="Calibri" pitchFamily="34" charset="-122"/>
                <a:cs typeface="Calibri" pitchFamily="34" charset="-120"/>
              </a:rPr>
              <a:t>Bajo</a:t>
            </a:r>
            <a:endParaRPr lang="en-US" sz="1100" dirty="0"/>
          </a:p>
        </p:txBody>
      </p:sp>
      <p:sp>
        <p:nvSpPr>
          <p:cNvPr id="34" name="Text 32"/>
          <p:cNvSpPr txBox="1"/>
          <p:nvPr/>
        </p:nvSpPr>
        <p:spPr>
          <a:xfrm>
            <a:off x="2926080" y="5532120"/>
            <a:ext cx="1600200" cy="274320"/>
          </a:xfrm>
          <a:prstGeom prst="rect">
            <a:avLst/>
          </a:prstGeom>
          <a:noFill/>
          <a:ln/>
        </p:spPr>
        <p:txBody>
          <a:bodyPr wrap="square" lIns="0" tIns="0" rIns="0" bIns="0" rtlCol="0" anchor="ctr"/>
          <a:lstStyle/>
          <a:p>
            <a:pPr marL="0" indent="0" algn="ctr">
              <a:buNone/>
            </a:pPr>
            <a:r>
              <a:rPr lang="en-US" sz="1100" b="1" dirty="0">
                <a:solidFill>
                  <a:srgbClr val="1E2430"/>
                </a:solidFill>
                <a:latin typeface="Calibri" pitchFamily="34" charset="0"/>
                <a:ea typeface="Calibri" pitchFamily="34" charset="-122"/>
                <a:cs typeface="Calibri" pitchFamily="34" charset="-120"/>
              </a:rPr>
              <a:t>Medio</a:t>
            </a:r>
            <a:endParaRPr lang="en-US" sz="1100" dirty="0"/>
          </a:p>
        </p:txBody>
      </p:sp>
      <p:sp>
        <p:nvSpPr>
          <p:cNvPr id="35" name="Text 33"/>
          <p:cNvSpPr txBox="1"/>
          <p:nvPr/>
        </p:nvSpPr>
        <p:spPr>
          <a:xfrm>
            <a:off x="4526280" y="5532120"/>
            <a:ext cx="1600200" cy="274320"/>
          </a:xfrm>
          <a:prstGeom prst="rect">
            <a:avLst/>
          </a:prstGeom>
          <a:noFill/>
          <a:ln/>
        </p:spPr>
        <p:txBody>
          <a:bodyPr wrap="square" lIns="0" tIns="0" rIns="0" bIns="0" rtlCol="0" anchor="ctr"/>
          <a:lstStyle/>
          <a:p>
            <a:pPr marL="0" indent="0" algn="ctr">
              <a:buNone/>
            </a:pPr>
            <a:r>
              <a:rPr lang="en-US" sz="1100" b="1" dirty="0">
                <a:solidFill>
                  <a:srgbClr val="1E2430"/>
                </a:solidFill>
                <a:latin typeface="Calibri" pitchFamily="34" charset="0"/>
                <a:ea typeface="Calibri" pitchFamily="34" charset="-122"/>
                <a:cs typeface="Calibri" pitchFamily="34" charset="-120"/>
              </a:rPr>
              <a:t>Alto</a:t>
            </a:r>
            <a:endParaRPr lang="en-US" sz="1100" dirty="0"/>
          </a:p>
        </p:txBody>
      </p:sp>
      <p:sp>
        <p:nvSpPr>
          <p:cNvPr id="36" name="Text 34"/>
          <p:cNvSpPr txBox="1"/>
          <p:nvPr/>
        </p:nvSpPr>
        <p:spPr>
          <a:xfrm rot="16200000">
            <a:off x="-502920" y="3543300"/>
            <a:ext cx="1645920" cy="274320"/>
          </a:xfrm>
          <a:prstGeom prst="rect">
            <a:avLst/>
          </a:prstGeom>
          <a:noFill/>
          <a:ln/>
        </p:spPr>
        <p:txBody>
          <a:bodyPr wrap="square" lIns="0" tIns="0" rIns="0" bIns="0" rtlCol="0" anchor="ctr"/>
          <a:lstStyle/>
          <a:p>
            <a:pPr marL="0" indent="0" algn="ctr">
              <a:buNone/>
            </a:pPr>
            <a:r>
              <a:rPr lang="en-US" sz="1000" b="1" dirty="0">
                <a:solidFill>
                  <a:srgbClr val="5B6472"/>
                </a:solidFill>
                <a:latin typeface="Calibri" pitchFamily="34" charset="0"/>
                <a:ea typeface="Calibri" pitchFamily="34" charset="-122"/>
                <a:cs typeface="Calibri" pitchFamily="34" charset="-120"/>
              </a:rPr>
              <a:t>PROBABILIDAD</a:t>
            </a:r>
            <a:endParaRPr lang="en-US" sz="1000" dirty="0"/>
          </a:p>
        </p:txBody>
      </p:sp>
      <p:sp>
        <p:nvSpPr>
          <p:cNvPr id="37" name="Text 35"/>
          <p:cNvSpPr txBox="1"/>
          <p:nvPr/>
        </p:nvSpPr>
        <p:spPr>
          <a:xfrm>
            <a:off x="1325880" y="5806440"/>
            <a:ext cx="4800600" cy="274320"/>
          </a:xfrm>
          <a:prstGeom prst="rect">
            <a:avLst/>
          </a:prstGeom>
          <a:noFill/>
          <a:ln/>
        </p:spPr>
        <p:txBody>
          <a:bodyPr wrap="square" lIns="0" tIns="0" rIns="0" bIns="0" rtlCol="0" anchor="ctr"/>
          <a:lstStyle/>
          <a:p>
            <a:pPr marL="0" indent="0" algn="ctr">
              <a:buNone/>
            </a:pPr>
            <a:r>
              <a:rPr lang="en-US" sz="1000" b="1" kern="0" spc="200" dirty="0">
                <a:solidFill>
                  <a:srgbClr val="5B6472"/>
                </a:solidFill>
                <a:latin typeface="Calibri" pitchFamily="34" charset="0"/>
                <a:ea typeface="Calibri" pitchFamily="34" charset="-122"/>
                <a:cs typeface="Calibri" pitchFamily="34" charset="-120"/>
              </a:rPr>
              <a:t>IMPACTO</a:t>
            </a:r>
            <a:endParaRPr lang="en-US" sz="1000" dirty="0"/>
          </a:p>
        </p:txBody>
      </p:sp>
      <p:sp>
        <p:nvSpPr>
          <p:cNvPr id="38" name="Shape 36"/>
          <p:cNvSpPr/>
          <p:nvPr/>
        </p:nvSpPr>
        <p:spPr>
          <a:xfrm>
            <a:off x="6400800" y="1783080"/>
            <a:ext cx="5212080" cy="4434840"/>
          </a:xfrm>
          <a:prstGeom prst="rect">
            <a:avLst/>
          </a:prstGeom>
          <a:solidFill>
            <a:srgbClr val="FFFFFF"/>
          </a:solidFill>
          <a:ln w="9525">
            <a:solidFill>
              <a:srgbClr val="D7DCE3"/>
            </a:solidFill>
            <a:prstDash val="solid"/>
          </a:ln>
        </p:spPr>
        <p:txBody>
          <a:bodyPr/>
          <a:lstStyle/>
          <a:p>
            <a:endParaRPr lang="es-CL"/>
          </a:p>
        </p:txBody>
      </p:sp>
      <p:sp>
        <p:nvSpPr>
          <p:cNvPr id="39" name="Shape 37"/>
          <p:cNvSpPr/>
          <p:nvPr/>
        </p:nvSpPr>
        <p:spPr>
          <a:xfrm>
            <a:off x="6583680" y="2057400"/>
            <a:ext cx="292608" cy="292608"/>
          </a:xfrm>
          <a:prstGeom prst="ellipse">
            <a:avLst/>
          </a:prstGeom>
          <a:solidFill>
            <a:srgbClr val="B83A3A"/>
          </a:solidFill>
          <a:ln w="12700">
            <a:solidFill>
              <a:srgbClr val="B83A3A"/>
            </a:solidFill>
            <a:prstDash val="solid"/>
          </a:ln>
        </p:spPr>
        <p:txBody>
          <a:bodyPr/>
          <a:lstStyle/>
          <a:p>
            <a:endParaRPr lang="es-CL"/>
          </a:p>
        </p:txBody>
      </p:sp>
      <p:sp>
        <p:nvSpPr>
          <p:cNvPr id="40" name="Text 38"/>
          <p:cNvSpPr txBox="1"/>
          <p:nvPr/>
        </p:nvSpPr>
        <p:spPr>
          <a:xfrm>
            <a:off x="6583680" y="20574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41" name="Text 39"/>
          <p:cNvSpPr txBox="1"/>
          <p:nvPr/>
        </p:nvSpPr>
        <p:spPr>
          <a:xfrm>
            <a:off x="7040880" y="1965960"/>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Atraso de la integración (Webpay, fila, «Mis datos» y personal en S12)  </a:t>
            </a:r>
            <a:r>
              <a:rPr lang="en-US" sz="1150" b="1" dirty="0">
                <a:solidFill>
                  <a:srgbClr val="B83A3A"/>
                </a:solidFill>
                <a:latin typeface="Calibri" pitchFamily="34" charset="0"/>
                <a:ea typeface="Calibri" pitchFamily="34" charset="-122"/>
                <a:cs typeface="Calibri" pitchFamily="34" charset="-120"/>
              </a:rPr>
              <a:t>Alto</a:t>
            </a:r>
            <a:endParaRPr lang="en-US" sz="1150" dirty="0"/>
          </a:p>
        </p:txBody>
      </p:sp>
      <p:sp>
        <p:nvSpPr>
          <p:cNvPr id="42" name="Shape 40"/>
          <p:cNvSpPr/>
          <p:nvPr/>
        </p:nvSpPr>
        <p:spPr>
          <a:xfrm>
            <a:off x="6583680" y="2578608"/>
            <a:ext cx="292608" cy="292608"/>
          </a:xfrm>
          <a:prstGeom prst="ellipse">
            <a:avLst/>
          </a:prstGeom>
          <a:solidFill>
            <a:srgbClr val="B83A3A"/>
          </a:solidFill>
          <a:ln w="12700">
            <a:solidFill>
              <a:srgbClr val="B83A3A"/>
            </a:solidFill>
            <a:prstDash val="solid"/>
          </a:ln>
        </p:spPr>
        <p:txBody>
          <a:bodyPr/>
          <a:lstStyle/>
          <a:p>
            <a:endParaRPr lang="es-CL"/>
          </a:p>
        </p:txBody>
      </p:sp>
      <p:sp>
        <p:nvSpPr>
          <p:cNvPr id="43" name="Text 41"/>
          <p:cNvSpPr txBox="1"/>
          <p:nvPr/>
        </p:nvSpPr>
        <p:spPr>
          <a:xfrm>
            <a:off x="6583680" y="257860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44" name="Text 42"/>
          <p:cNvSpPr txBox="1"/>
          <p:nvPr/>
        </p:nvSpPr>
        <p:spPr>
          <a:xfrm>
            <a:off x="7040880" y="2487168"/>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Fallas o demoras en la integración con Webpay  </a:t>
            </a:r>
            <a:r>
              <a:rPr lang="en-US" sz="1150" b="1" dirty="0">
                <a:solidFill>
                  <a:srgbClr val="B83A3A"/>
                </a:solidFill>
                <a:latin typeface="Calibri" pitchFamily="34" charset="0"/>
                <a:ea typeface="Calibri" pitchFamily="34" charset="-122"/>
                <a:cs typeface="Calibri" pitchFamily="34" charset="-120"/>
              </a:rPr>
              <a:t>Alto</a:t>
            </a:r>
            <a:endParaRPr lang="en-US" sz="1150" dirty="0"/>
          </a:p>
        </p:txBody>
      </p:sp>
      <p:sp>
        <p:nvSpPr>
          <p:cNvPr id="45" name="Shape 43"/>
          <p:cNvSpPr/>
          <p:nvPr/>
        </p:nvSpPr>
        <p:spPr>
          <a:xfrm>
            <a:off x="6583680" y="3099816"/>
            <a:ext cx="292608" cy="292608"/>
          </a:xfrm>
          <a:prstGeom prst="ellipse">
            <a:avLst/>
          </a:prstGeom>
          <a:solidFill>
            <a:srgbClr val="B83A3A"/>
          </a:solidFill>
          <a:ln w="12700">
            <a:solidFill>
              <a:srgbClr val="B83A3A"/>
            </a:solidFill>
            <a:prstDash val="solid"/>
          </a:ln>
        </p:spPr>
        <p:txBody>
          <a:bodyPr/>
          <a:lstStyle/>
          <a:p>
            <a:endParaRPr lang="es-CL"/>
          </a:p>
        </p:txBody>
      </p:sp>
      <p:sp>
        <p:nvSpPr>
          <p:cNvPr id="46" name="Text 44"/>
          <p:cNvSpPr txBox="1"/>
          <p:nvPr/>
        </p:nvSpPr>
        <p:spPr>
          <a:xfrm>
            <a:off x="6583680" y="30998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47" name="Text 45"/>
          <p:cNvSpPr txBox="1"/>
          <p:nvPr/>
        </p:nvSpPr>
        <p:spPr>
          <a:xfrm>
            <a:off x="7040880" y="3008376"/>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Exposición de credenciales o brecha de seguridad  </a:t>
            </a:r>
            <a:r>
              <a:rPr lang="en-US" sz="1150" b="1" dirty="0">
                <a:solidFill>
                  <a:srgbClr val="B83A3A"/>
                </a:solidFill>
                <a:latin typeface="Calibri" pitchFamily="34" charset="0"/>
                <a:ea typeface="Calibri" pitchFamily="34" charset="-122"/>
                <a:cs typeface="Calibri" pitchFamily="34" charset="-120"/>
              </a:rPr>
              <a:t>Alto</a:t>
            </a:r>
            <a:endParaRPr lang="en-US" sz="1150" dirty="0"/>
          </a:p>
        </p:txBody>
      </p:sp>
      <p:sp>
        <p:nvSpPr>
          <p:cNvPr id="48" name="Shape 46"/>
          <p:cNvSpPr/>
          <p:nvPr/>
        </p:nvSpPr>
        <p:spPr>
          <a:xfrm>
            <a:off x="6583680" y="3621024"/>
            <a:ext cx="292608" cy="292608"/>
          </a:xfrm>
          <a:prstGeom prst="ellipse">
            <a:avLst/>
          </a:prstGeom>
          <a:solidFill>
            <a:srgbClr val="B5762A"/>
          </a:solidFill>
          <a:ln w="12700">
            <a:solidFill>
              <a:srgbClr val="B5762A"/>
            </a:solidFill>
            <a:prstDash val="solid"/>
          </a:ln>
        </p:spPr>
        <p:txBody>
          <a:bodyPr/>
          <a:lstStyle/>
          <a:p>
            <a:endParaRPr lang="es-CL"/>
          </a:p>
        </p:txBody>
      </p:sp>
      <p:sp>
        <p:nvSpPr>
          <p:cNvPr id="49" name="Text 47"/>
          <p:cNvSpPr txBox="1"/>
          <p:nvPr/>
        </p:nvSpPr>
        <p:spPr>
          <a:xfrm>
            <a:off x="6583680" y="362102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50" name="Text 48"/>
          <p:cNvSpPr txBox="1"/>
          <p:nvPr/>
        </p:nvSpPr>
        <p:spPr>
          <a:xfrm>
            <a:off x="7040880" y="3529584"/>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Ventana corta para desplegar y pasar al ambiente UAT (S13–S14)  </a:t>
            </a:r>
            <a:r>
              <a:rPr lang="en-US" sz="1150" b="1" dirty="0">
                <a:solidFill>
                  <a:srgbClr val="B5762A"/>
                </a:solidFill>
                <a:latin typeface="Calibri" pitchFamily="34" charset="0"/>
                <a:ea typeface="Calibri" pitchFamily="34" charset="-122"/>
                <a:cs typeface="Calibri" pitchFamily="34" charset="-120"/>
              </a:rPr>
              <a:t>Medio</a:t>
            </a:r>
            <a:endParaRPr lang="en-US" sz="1150" dirty="0"/>
          </a:p>
        </p:txBody>
      </p:sp>
      <p:sp>
        <p:nvSpPr>
          <p:cNvPr id="51" name="Shape 49"/>
          <p:cNvSpPr/>
          <p:nvPr/>
        </p:nvSpPr>
        <p:spPr>
          <a:xfrm>
            <a:off x="6583680" y="4142232"/>
            <a:ext cx="292608" cy="292608"/>
          </a:xfrm>
          <a:prstGeom prst="ellipse">
            <a:avLst/>
          </a:prstGeom>
          <a:solidFill>
            <a:srgbClr val="B5762A"/>
          </a:solidFill>
          <a:ln w="12700">
            <a:solidFill>
              <a:srgbClr val="B5762A"/>
            </a:solidFill>
            <a:prstDash val="solid"/>
          </a:ln>
        </p:spPr>
        <p:txBody>
          <a:bodyPr/>
          <a:lstStyle/>
          <a:p>
            <a:endParaRPr lang="es-CL"/>
          </a:p>
        </p:txBody>
      </p:sp>
      <p:sp>
        <p:nvSpPr>
          <p:cNvPr id="52" name="Text 50"/>
          <p:cNvSpPr txBox="1"/>
          <p:nvPr/>
        </p:nvSpPr>
        <p:spPr>
          <a:xfrm>
            <a:off x="6583680" y="414223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3" name="Text 51"/>
          <p:cNvSpPr txBox="1"/>
          <p:nvPr/>
        </p:nvSpPr>
        <p:spPr>
          <a:xfrm>
            <a:off x="7040880" y="4050792"/>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La app Android aún no se prueba en un teléfono real  </a:t>
            </a:r>
            <a:r>
              <a:rPr lang="en-US" sz="1150" b="1" dirty="0">
                <a:solidFill>
                  <a:srgbClr val="B5762A"/>
                </a:solidFill>
                <a:latin typeface="Calibri" pitchFamily="34" charset="0"/>
                <a:ea typeface="Calibri" pitchFamily="34" charset="-122"/>
                <a:cs typeface="Calibri" pitchFamily="34" charset="-120"/>
              </a:rPr>
              <a:t>Medio</a:t>
            </a:r>
            <a:endParaRPr lang="en-US" sz="1150" dirty="0"/>
          </a:p>
        </p:txBody>
      </p:sp>
      <p:sp>
        <p:nvSpPr>
          <p:cNvPr id="54" name="Shape 52"/>
          <p:cNvSpPr/>
          <p:nvPr/>
        </p:nvSpPr>
        <p:spPr>
          <a:xfrm>
            <a:off x="6583680" y="4663440"/>
            <a:ext cx="292608" cy="292608"/>
          </a:xfrm>
          <a:prstGeom prst="ellipse">
            <a:avLst/>
          </a:prstGeom>
          <a:solidFill>
            <a:srgbClr val="B5762A"/>
          </a:solidFill>
          <a:ln w="12700">
            <a:solidFill>
              <a:srgbClr val="B5762A"/>
            </a:solidFill>
            <a:prstDash val="solid"/>
          </a:ln>
        </p:spPr>
        <p:txBody>
          <a:bodyPr/>
          <a:lstStyle/>
          <a:p>
            <a:endParaRPr lang="es-CL"/>
          </a:p>
        </p:txBody>
      </p:sp>
      <p:sp>
        <p:nvSpPr>
          <p:cNvPr id="55" name="Text 53"/>
          <p:cNvSpPr txBox="1"/>
          <p:nvPr/>
        </p:nvSpPr>
        <p:spPr>
          <a:xfrm>
            <a:off x="6583680" y="466344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56" name="Text 54"/>
          <p:cNvSpPr txBox="1"/>
          <p:nvPr/>
        </p:nvSpPr>
        <p:spPr>
          <a:xfrm>
            <a:off x="7040880" y="4572000"/>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Notificaciones por correo no operativas  </a:t>
            </a:r>
            <a:r>
              <a:rPr lang="en-US" sz="1150" b="1" dirty="0">
                <a:solidFill>
                  <a:srgbClr val="B5762A"/>
                </a:solidFill>
                <a:latin typeface="Calibri" pitchFamily="34" charset="0"/>
                <a:ea typeface="Calibri" pitchFamily="34" charset="-122"/>
                <a:cs typeface="Calibri" pitchFamily="34" charset="-120"/>
              </a:rPr>
              <a:t>Medio</a:t>
            </a:r>
            <a:endParaRPr lang="en-US" sz="1150" dirty="0"/>
          </a:p>
        </p:txBody>
      </p:sp>
      <p:sp>
        <p:nvSpPr>
          <p:cNvPr id="57" name="Shape 55"/>
          <p:cNvSpPr/>
          <p:nvPr/>
        </p:nvSpPr>
        <p:spPr>
          <a:xfrm>
            <a:off x="6583680" y="5184648"/>
            <a:ext cx="292608" cy="292608"/>
          </a:xfrm>
          <a:prstGeom prst="ellipse">
            <a:avLst/>
          </a:prstGeom>
          <a:solidFill>
            <a:srgbClr val="B5762A"/>
          </a:solidFill>
          <a:ln w="12700">
            <a:solidFill>
              <a:srgbClr val="B5762A"/>
            </a:solidFill>
            <a:prstDash val="solid"/>
          </a:ln>
        </p:spPr>
        <p:txBody>
          <a:bodyPr/>
          <a:lstStyle/>
          <a:p>
            <a:endParaRPr lang="es-CL"/>
          </a:p>
        </p:txBody>
      </p:sp>
      <p:sp>
        <p:nvSpPr>
          <p:cNvPr id="58" name="Text 56"/>
          <p:cNvSpPr txBox="1"/>
          <p:nvPr/>
        </p:nvSpPr>
        <p:spPr>
          <a:xfrm>
            <a:off x="6583680" y="518464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59" name="Text 57"/>
          <p:cNvSpPr txBox="1"/>
          <p:nvPr/>
        </p:nvSpPr>
        <p:spPr>
          <a:xfrm>
            <a:off x="7040880" y="5093208"/>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Pérdida de datos o pausa de la base de datos (plan gratuito de Supabase)  </a:t>
            </a:r>
            <a:r>
              <a:rPr lang="en-US" sz="1150" b="1" dirty="0">
                <a:solidFill>
                  <a:srgbClr val="B5762A"/>
                </a:solidFill>
                <a:latin typeface="Calibri" pitchFamily="34" charset="0"/>
                <a:ea typeface="Calibri" pitchFamily="34" charset="-122"/>
                <a:cs typeface="Calibri" pitchFamily="34" charset="-120"/>
              </a:rPr>
              <a:t>Medio</a:t>
            </a:r>
            <a:endParaRPr lang="en-US" sz="1150" dirty="0"/>
          </a:p>
        </p:txBody>
      </p:sp>
      <p:sp>
        <p:nvSpPr>
          <p:cNvPr id="60" name="Shape 58"/>
          <p:cNvSpPr/>
          <p:nvPr/>
        </p:nvSpPr>
        <p:spPr>
          <a:xfrm>
            <a:off x="6583680" y="5705856"/>
            <a:ext cx="292608" cy="292608"/>
          </a:xfrm>
          <a:prstGeom prst="ellipse">
            <a:avLst/>
          </a:prstGeom>
          <a:solidFill>
            <a:srgbClr val="B5762A"/>
          </a:solidFill>
          <a:ln w="12700">
            <a:solidFill>
              <a:srgbClr val="B5762A"/>
            </a:solidFill>
            <a:prstDash val="solid"/>
          </a:ln>
        </p:spPr>
        <p:txBody>
          <a:bodyPr/>
          <a:lstStyle/>
          <a:p>
            <a:endParaRPr lang="es-CL"/>
          </a:p>
        </p:txBody>
      </p:sp>
      <p:sp>
        <p:nvSpPr>
          <p:cNvPr id="61" name="Text 59"/>
          <p:cNvSpPr txBox="1"/>
          <p:nvPr/>
        </p:nvSpPr>
        <p:spPr>
          <a:xfrm>
            <a:off x="6583680" y="570585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62" name="Text 60"/>
          <p:cNvSpPr txBox="1"/>
          <p:nvPr/>
        </p:nvSpPr>
        <p:spPr>
          <a:xfrm>
            <a:off x="7040880" y="5614416"/>
            <a:ext cx="4480560" cy="475488"/>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Disponibilidad limitada del equipo (2 integrantes)  </a:t>
            </a:r>
            <a:r>
              <a:rPr lang="en-US" sz="1150" b="1" dirty="0">
                <a:solidFill>
                  <a:srgbClr val="B5762A"/>
                </a:solidFill>
                <a:latin typeface="Calibri" pitchFamily="34" charset="0"/>
                <a:ea typeface="Calibri" pitchFamily="34" charset="-122"/>
                <a:cs typeface="Calibri" pitchFamily="34" charset="-120"/>
              </a:rPr>
              <a:t>Medio</a:t>
            </a:r>
            <a:endParaRPr lang="en-US" sz="1150" dirty="0"/>
          </a:p>
        </p:txBody>
      </p:sp>
      <p:sp>
        <p:nvSpPr>
          <p:cNvPr id="88"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CONCLUSIÓN</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Por qué adoptar la plataforma</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Tres razones, con las cifras del escenario conservador.</a:t>
            </a:r>
            <a:endParaRPr lang="en-US" sz="1250" dirty="0"/>
          </a:p>
        </p:txBody>
      </p:sp>
      <p:sp>
        <p:nvSpPr>
          <p:cNvPr id="5" name="Shape 3"/>
          <p:cNvSpPr/>
          <p:nvPr/>
        </p:nvSpPr>
        <p:spPr>
          <a:xfrm>
            <a:off x="548640" y="1783080"/>
            <a:ext cx="3538728" cy="3291840"/>
          </a:xfrm>
          <a:prstGeom prst="rect">
            <a:avLst/>
          </a:prstGeom>
          <a:solidFill>
            <a:srgbClr val="FFFFFF"/>
          </a:solidFill>
          <a:ln w="9525">
            <a:solidFill>
              <a:srgbClr val="D7DCE3"/>
            </a:solidFill>
            <a:prstDash val="solid"/>
          </a:ln>
        </p:spPr>
        <p:txBody>
          <a:bodyPr/>
          <a:lstStyle/>
          <a:p>
            <a:endParaRPr lang="es-CL"/>
          </a:p>
        </p:txBody>
      </p:sp>
      <p:sp>
        <p:nvSpPr>
          <p:cNvPr id="6" name="Shape 4"/>
          <p:cNvSpPr/>
          <p:nvPr/>
        </p:nvSpPr>
        <p:spPr>
          <a:xfrm>
            <a:off x="777240" y="2011680"/>
            <a:ext cx="777240" cy="777240"/>
          </a:xfrm>
          <a:prstGeom prst="ellipse">
            <a:avLst/>
          </a:prstGeom>
          <a:solidFill>
            <a:srgbClr val="13294B"/>
          </a:solidFill>
          <a:ln w="12700">
            <a:solidFill>
              <a:srgbClr val="13294B"/>
            </a:solidFill>
            <a:prstDash val="solid"/>
          </a:ln>
        </p:spPr>
        <p:txBody>
          <a:bodyPr/>
          <a:lstStyle/>
          <a:p>
            <a:endParaRPr lang="es-CL"/>
          </a:p>
        </p:txBody>
      </p:sp>
      <p:sp>
        <p:nvSpPr>
          <p:cNvPr id="7" name="Text 5"/>
          <p:cNvSpPr txBox="1"/>
          <p:nvPr/>
        </p:nvSpPr>
        <p:spPr>
          <a:xfrm>
            <a:off x="777240" y="2011680"/>
            <a:ext cx="777240" cy="7772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8" name="Text 6"/>
          <p:cNvSpPr txBox="1"/>
          <p:nvPr/>
        </p:nvSpPr>
        <p:spPr>
          <a:xfrm>
            <a:off x="777240" y="2926080"/>
            <a:ext cx="3081528" cy="685800"/>
          </a:xfrm>
          <a:prstGeom prst="rect">
            <a:avLst/>
          </a:prstGeom>
          <a:noFill/>
          <a:ln/>
        </p:spPr>
        <p:txBody>
          <a:bodyPr wrap="square" lIns="0" tIns="0" rIns="0" bIns="0" rtlCol="0" anchor="t"/>
          <a:lstStyle/>
          <a:p>
            <a:pPr marL="0" indent="0">
              <a:buNone/>
            </a:pPr>
            <a:r>
              <a:rPr lang="en-US" sz="1600" b="1" dirty="0">
                <a:solidFill>
                  <a:srgbClr val="1E2430"/>
                </a:solidFill>
                <a:latin typeface="Cambria" pitchFamily="34" charset="0"/>
                <a:ea typeface="Cambria" pitchFamily="34" charset="-122"/>
                <a:cs typeface="Cambria" pitchFamily="34" charset="-120"/>
              </a:rPr>
              <a:t>Recupera clientes que hoy se pierden</a:t>
            </a:r>
            <a:endParaRPr lang="en-US" sz="1600" dirty="0"/>
          </a:p>
        </p:txBody>
      </p:sp>
      <p:sp>
        <p:nvSpPr>
          <p:cNvPr id="9" name="Text 7"/>
          <p:cNvSpPr txBox="1"/>
          <p:nvPr/>
        </p:nvSpPr>
        <p:spPr>
          <a:xfrm>
            <a:off x="777240" y="3657600"/>
            <a:ext cx="3081528" cy="1325880"/>
          </a:xfrm>
          <a:prstGeom prst="rect">
            <a:avLst/>
          </a:prstGeom>
          <a:noFill/>
          <a:ln/>
        </p:spPr>
        <p:txBody>
          <a:bodyPr wrap="square" lIns="0" tIns="0" rIns="0" bIns="0" rtlCol="0" anchor="t"/>
          <a:lstStyle/>
          <a:p>
            <a:pPr marL="0" indent="0">
              <a:buNone/>
            </a:pPr>
            <a:r>
              <a:rPr lang="en-US" sz="1200" dirty="0">
                <a:solidFill>
                  <a:srgbClr val="1E2430"/>
                </a:solidFill>
                <a:latin typeface="Calibri" pitchFamily="34" charset="0"/>
                <a:ea typeface="Calibri" pitchFamily="34" charset="-122"/>
                <a:cs typeface="Calibri" pitchFamily="34" charset="-120"/>
              </a:rPr>
              <a:t>Hoy se van 4.326 clientes al año ($51,5 M). Recuperando solo el 30%, el ROI es de 298% y la inversión se recupera en 3 meses.</a:t>
            </a:r>
            <a:endParaRPr lang="en-US" sz="1200" dirty="0"/>
          </a:p>
        </p:txBody>
      </p:sp>
      <p:sp>
        <p:nvSpPr>
          <p:cNvPr id="10" name="Shape 8"/>
          <p:cNvSpPr/>
          <p:nvPr/>
        </p:nvSpPr>
        <p:spPr>
          <a:xfrm>
            <a:off x="4270248" y="1783080"/>
            <a:ext cx="3538728" cy="3291840"/>
          </a:xfrm>
          <a:prstGeom prst="rect">
            <a:avLst/>
          </a:prstGeom>
          <a:solidFill>
            <a:srgbClr val="FFFFFF"/>
          </a:solidFill>
          <a:ln w="9525">
            <a:solidFill>
              <a:srgbClr val="D7DCE3"/>
            </a:solidFill>
            <a:prstDash val="solid"/>
          </a:ln>
        </p:spPr>
        <p:txBody>
          <a:bodyPr/>
          <a:lstStyle/>
          <a:p>
            <a:endParaRPr lang="es-CL"/>
          </a:p>
        </p:txBody>
      </p:sp>
      <p:sp>
        <p:nvSpPr>
          <p:cNvPr id="11" name="Shape 9"/>
          <p:cNvSpPr/>
          <p:nvPr/>
        </p:nvSpPr>
        <p:spPr>
          <a:xfrm>
            <a:off x="4498848" y="2011680"/>
            <a:ext cx="777240" cy="777240"/>
          </a:xfrm>
          <a:prstGeom prst="ellipse">
            <a:avLst/>
          </a:prstGeom>
          <a:solidFill>
            <a:srgbClr val="13294B"/>
          </a:solidFill>
          <a:ln w="12700">
            <a:solidFill>
              <a:srgbClr val="13294B"/>
            </a:solidFill>
            <a:prstDash val="solid"/>
          </a:ln>
        </p:spPr>
        <p:txBody>
          <a:bodyPr/>
          <a:lstStyle/>
          <a:p>
            <a:endParaRPr lang="es-CL"/>
          </a:p>
        </p:txBody>
      </p:sp>
      <p:sp>
        <p:nvSpPr>
          <p:cNvPr id="12" name="Text 10"/>
          <p:cNvSpPr txBox="1"/>
          <p:nvPr/>
        </p:nvSpPr>
        <p:spPr>
          <a:xfrm>
            <a:off x="4498848" y="2011680"/>
            <a:ext cx="777240" cy="7772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3" name="Text 11"/>
          <p:cNvSpPr txBox="1"/>
          <p:nvPr/>
        </p:nvSpPr>
        <p:spPr>
          <a:xfrm>
            <a:off x="4498848" y="2926080"/>
            <a:ext cx="3081528" cy="685800"/>
          </a:xfrm>
          <a:prstGeom prst="rect">
            <a:avLst/>
          </a:prstGeom>
          <a:noFill/>
          <a:ln/>
        </p:spPr>
        <p:txBody>
          <a:bodyPr wrap="square" lIns="0" tIns="0" rIns="0" bIns="0" rtlCol="0" anchor="t"/>
          <a:lstStyle/>
          <a:p>
            <a:pPr marL="0" indent="0">
              <a:buNone/>
            </a:pPr>
            <a:r>
              <a:rPr lang="en-US" sz="1600" b="1" dirty="0">
                <a:solidFill>
                  <a:srgbClr val="1E2430"/>
                </a:solidFill>
                <a:latin typeface="Cambria" pitchFamily="34" charset="0"/>
                <a:ea typeface="Cambria" pitchFamily="34" charset="-122"/>
                <a:cs typeface="Cambria" pitchFamily="34" charset="-120"/>
              </a:rPr>
              <a:t>Ordena la operación</a:t>
            </a:r>
            <a:endParaRPr lang="en-US" sz="1600" dirty="0"/>
          </a:p>
        </p:txBody>
      </p:sp>
      <p:sp>
        <p:nvSpPr>
          <p:cNvPr id="14" name="Text 12"/>
          <p:cNvSpPr txBox="1"/>
          <p:nvPr/>
        </p:nvSpPr>
        <p:spPr>
          <a:xfrm>
            <a:off x="4498848" y="3657600"/>
            <a:ext cx="3081528" cy="1325880"/>
          </a:xfrm>
          <a:prstGeom prst="rect">
            <a:avLst/>
          </a:prstGeom>
          <a:noFill/>
          <a:ln/>
        </p:spPr>
        <p:txBody>
          <a:bodyPr wrap="square" lIns="0" tIns="0" rIns="0" bIns="0" rtlCol="0" anchor="t"/>
          <a:lstStyle/>
          <a:p>
            <a:pPr marL="0" indent="0">
              <a:buNone/>
            </a:pPr>
            <a:r>
              <a:rPr lang="en-US" sz="1200" dirty="0">
                <a:solidFill>
                  <a:srgbClr val="1E2430"/>
                </a:solidFill>
                <a:latin typeface="Calibri" pitchFamily="34" charset="0"/>
                <a:ea typeface="Calibri" pitchFamily="34" charset="-122"/>
                <a:cs typeface="Calibri" pitchFamily="34" charset="-120"/>
              </a:rPr>
              <a:t>Reservas sin duplicados, abono que reduce las inasistencias y cada atención registrada por sucursal en lugar de una planilla Excel.</a:t>
            </a:r>
            <a:endParaRPr lang="en-US" sz="1200" dirty="0"/>
          </a:p>
        </p:txBody>
      </p:sp>
      <p:sp>
        <p:nvSpPr>
          <p:cNvPr id="15" name="Shape 13"/>
          <p:cNvSpPr/>
          <p:nvPr/>
        </p:nvSpPr>
        <p:spPr>
          <a:xfrm>
            <a:off x="7991856" y="1783080"/>
            <a:ext cx="3538728" cy="3291840"/>
          </a:xfrm>
          <a:prstGeom prst="rect">
            <a:avLst/>
          </a:prstGeom>
          <a:solidFill>
            <a:srgbClr val="FFFFFF"/>
          </a:solidFill>
          <a:ln w="9525">
            <a:solidFill>
              <a:srgbClr val="D7DCE3"/>
            </a:solidFill>
            <a:prstDash val="solid"/>
          </a:ln>
        </p:spPr>
        <p:txBody>
          <a:bodyPr/>
          <a:lstStyle/>
          <a:p>
            <a:endParaRPr lang="es-CL"/>
          </a:p>
        </p:txBody>
      </p:sp>
      <p:sp>
        <p:nvSpPr>
          <p:cNvPr id="16" name="Shape 14"/>
          <p:cNvSpPr/>
          <p:nvPr/>
        </p:nvSpPr>
        <p:spPr>
          <a:xfrm>
            <a:off x="8220456" y="2011680"/>
            <a:ext cx="777240" cy="777240"/>
          </a:xfrm>
          <a:prstGeom prst="ellipse">
            <a:avLst/>
          </a:prstGeom>
          <a:solidFill>
            <a:srgbClr val="13294B"/>
          </a:solidFill>
          <a:ln w="12700">
            <a:solidFill>
              <a:srgbClr val="13294B"/>
            </a:solidFill>
            <a:prstDash val="solid"/>
          </a:ln>
        </p:spPr>
        <p:txBody>
          <a:bodyPr/>
          <a:lstStyle/>
          <a:p>
            <a:endParaRPr lang="es-CL"/>
          </a:p>
        </p:txBody>
      </p:sp>
      <p:sp>
        <p:nvSpPr>
          <p:cNvPr id="17" name="Text 15"/>
          <p:cNvSpPr txBox="1"/>
          <p:nvPr/>
        </p:nvSpPr>
        <p:spPr>
          <a:xfrm>
            <a:off x="8220456" y="2011680"/>
            <a:ext cx="777240" cy="7772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8" name="Text 16"/>
          <p:cNvSpPr txBox="1"/>
          <p:nvPr/>
        </p:nvSpPr>
        <p:spPr>
          <a:xfrm>
            <a:off x="8220456" y="2926080"/>
            <a:ext cx="3081528" cy="685800"/>
          </a:xfrm>
          <a:prstGeom prst="rect">
            <a:avLst/>
          </a:prstGeom>
          <a:noFill/>
          <a:ln/>
        </p:spPr>
        <p:txBody>
          <a:bodyPr wrap="square" lIns="0" tIns="0" rIns="0" bIns="0" rtlCol="0" anchor="t"/>
          <a:lstStyle/>
          <a:p>
            <a:pPr marL="0" indent="0">
              <a:buNone/>
            </a:pPr>
            <a:r>
              <a:rPr lang="en-US" sz="1600" b="1" dirty="0">
                <a:solidFill>
                  <a:srgbClr val="1E2430"/>
                </a:solidFill>
                <a:latin typeface="Cambria" pitchFamily="34" charset="0"/>
                <a:ea typeface="Cambria" pitchFamily="34" charset="-122"/>
                <a:cs typeface="Cambria" pitchFamily="34" charset="-120"/>
              </a:rPr>
              <a:t>Bajo riesgo y cumplimiento legal</a:t>
            </a:r>
            <a:endParaRPr lang="en-US" sz="1600" dirty="0"/>
          </a:p>
        </p:txBody>
      </p:sp>
      <p:sp>
        <p:nvSpPr>
          <p:cNvPr id="19" name="Text 17"/>
          <p:cNvSpPr txBox="1"/>
          <p:nvPr/>
        </p:nvSpPr>
        <p:spPr>
          <a:xfrm>
            <a:off x="8220456" y="3657600"/>
            <a:ext cx="3081528" cy="1325880"/>
          </a:xfrm>
          <a:prstGeom prst="rect">
            <a:avLst/>
          </a:prstGeom>
          <a:noFill/>
          <a:ln/>
        </p:spPr>
        <p:txBody>
          <a:bodyPr wrap="square" lIns="0" tIns="0" rIns="0" bIns="0" rtlCol="0" anchor="t"/>
          <a:lstStyle/>
          <a:p>
            <a:pPr marL="0" indent="0">
              <a:buNone/>
            </a:pPr>
            <a:r>
              <a:rPr lang="en-US" sz="1200" dirty="0">
                <a:solidFill>
                  <a:srgbClr val="1E2430"/>
                </a:solidFill>
                <a:latin typeface="Calibri" pitchFamily="34" charset="0"/>
                <a:ea typeface="Calibri" pitchFamily="34" charset="-122"/>
                <a:cs typeface="Calibri" pitchFamily="34" charset="-120"/>
              </a:rPr>
              <a:t>Inversión de $1,92 M, operación de unos $20.700 al mes y cumplimiento de la Ley N° 21.719 desde el diseño.</a:t>
            </a:r>
            <a:endParaRPr lang="en-US" sz="1200" dirty="0"/>
          </a:p>
        </p:txBody>
      </p:sp>
      <p:sp>
        <p:nvSpPr>
          <p:cNvPr id="20" name="Shape 18"/>
          <p:cNvSpPr/>
          <p:nvPr/>
        </p:nvSpPr>
        <p:spPr>
          <a:xfrm>
            <a:off x="548640" y="5303520"/>
            <a:ext cx="11064240" cy="914400"/>
          </a:xfrm>
          <a:prstGeom prst="rect">
            <a:avLst/>
          </a:prstGeom>
          <a:solidFill>
            <a:srgbClr val="13294B"/>
          </a:solidFill>
          <a:ln w="9525">
            <a:solidFill>
              <a:srgbClr val="D7DCE3"/>
            </a:solidFill>
            <a:prstDash val="solid"/>
          </a:ln>
        </p:spPr>
        <p:txBody>
          <a:bodyPr/>
          <a:lstStyle/>
          <a:p>
            <a:endParaRPr lang="es-CL"/>
          </a:p>
        </p:txBody>
      </p:sp>
      <p:sp>
        <p:nvSpPr>
          <p:cNvPr id="21" name="Text 19"/>
          <p:cNvSpPr txBox="1"/>
          <p:nvPr/>
        </p:nvSpPr>
        <p:spPr>
          <a:xfrm>
            <a:off x="777240" y="5303520"/>
            <a:ext cx="10607040" cy="9144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Siguiente paso: </a:t>
            </a:r>
            <a:r>
              <a:rPr lang="en-US" sz="1400" dirty="0">
                <a:solidFill>
                  <a:srgbClr val="C3D3E8"/>
                </a:solidFill>
                <a:latin typeface="Calibri" pitchFamily="34" charset="0"/>
                <a:ea typeface="Calibri" pitchFamily="34" charset="-122"/>
                <a:cs typeface="Calibri" pitchFamily="34" charset="-120"/>
              </a:rPr>
              <a:t>sistema integrado el 30-10, paso al ambiente UAT el 10-11 y marcha blanca midiendo los indicadores reales para confirmar el retorno.</a:t>
            </a:r>
            <a:endParaRPr lang="en-US" sz="1400" dirty="0"/>
          </a:p>
        </p:txBody>
      </p:sp>
      <p:sp>
        <p:nvSpPr>
          <p:cNvPr id="33"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9692640" y="-822960"/>
            <a:ext cx="3108960" cy="3108960"/>
          </a:xfrm>
          <a:prstGeom prst="ellipse">
            <a:avLst/>
          </a:prstGeom>
          <a:solidFill>
            <a:srgbClr val="234670"/>
          </a:solidFill>
          <a:ln w="12700">
            <a:solidFill>
              <a:srgbClr val="5B84B8"/>
            </a:solidFill>
            <a:prstDash val="solid"/>
          </a:ln>
        </p:spPr>
        <p:txBody>
          <a:bodyPr/>
          <a:lstStyle/>
          <a:p>
            <a:endParaRPr lang="es-CL"/>
          </a:p>
        </p:txBody>
      </p:sp>
      <p:sp>
        <p:nvSpPr>
          <p:cNvPr id="3" name="Shape 1"/>
          <p:cNvSpPr/>
          <p:nvPr/>
        </p:nvSpPr>
        <p:spPr>
          <a:xfrm>
            <a:off x="-548640" y="5394960"/>
            <a:ext cx="2011680" cy="2011680"/>
          </a:xfrm>
          <a:prstGeom prst="ellipse">
            <a:avLst/>
          </a:prstGeom>
          <a:solidFill>
            <a:srgbClr val="234670"/>
          </a:solidFill>
          <a:ln w="12700">
            <a:solidFill>
              <a:srgbClr val="5B84B8"/>
            </a:solidFill>
            <a:prstDash val="solid"/>
          </a:ln>
        </p:spPr>
        <p:txBody>
          <a:bodyPr/>
          <a:lstStyle/>
          <a:p>
            <a:endParaRPr lang="es-CL"/>
          </a:p>
        </p:txBody>
      </p:sp>
      <p:sp>
        <p:nvSpPr>
          <p:cNvPr id="4" name="Text 2"/>
          <p:cNvSpPr txBox="1"/>
          <p:nvPr/>
        </p:nvSpPr>
        <p:spPr>
          <a:xfrm>
            <a:off x="640080" y="822960"/>
            <a:ext cx="7315200" cy="365760"/>
          </a:xfrm>
          <a:prstGeom prst="rect">
            <a:avLst/>
          </a:prstGeom>
          <a:noFill/>
          <a:ln/>
        </p:spPr>
        <p:txBody>
          <a:bodyPr wrap="square" lIns="0" tIns="0" rIns="0" bIns="0" rtlCol="0" anchor="ctr"/>
          <a:lstStyle/>
          <a:p>
            <a:pPr marL="0" indent="0">
              <a:buNone/>
            </a:pPr>
            <a:r>
              <a:rPr lang="en-US" sz="1300" kern="0" spc="400" dirty="0">
                <a:solidFill>
                  <a:srgbClr val="8FB2DE"/>
                </a:solidFill>
                <a:latin typeface="Calibri" pitchFamily="34" charset="0"/>
                <a:ea typeface="Calibri" pitchFamily="34" charset="-122"/>
                <a:cs typeface="Calibri" pitchFamily="34" charset="-120"/>
              </a:rPr>
              <a:t>TEMAS ABIERTOS</a:t>
            </a:r>
            <a:endParaRPr lang="en-US" sz="1300" dirty="0"/>
          </a:p>
        </p:txBody>
      </p:sp>
      <p:sp>
        <p:nvSpPr>
          <p:cNvPr id="5" name="Text 3"/>
          <p:cNvSpPr txBox="1"/>
          <p:nvPr/>
        </p:nvSpPr>
        <p:spPr>
          <a:xfrm>
            <a:off x="640080" y="1280160"/>
            <a:ext cx="8686800" cy="14630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C3D3E8"/>
                </a:solidFill>
                <a:latin typeface="Calibri" pitchFamily="34" charset="0"/>
                <a:ea typeface="Calibri" pitchFamily="34" charset="-122"/>
                <a:cs typeface="Calibri" pitchFamily="34" charset="-120"/>
              </a:rPr>
              <a:t>Validar los supuestos de demanda y de duración de los servicios con datos reales de operación.</a:t>
            </a:r>
            <a:endParaRPr lang="en-US" sz="1400" dirty="0"/>
          </a:p>
          <a:p>
            <a:pPr marL="342900" indent="-342900">
              <a:spcAft>
                <a:spcPts val="800"/>
              </a:spcAft>
              <a:buSzPct val="100000"/>
              <a:buChar char="•"/>
            </a:pPr>
            <a:r>
              <a:rPr lang="en-US" sz="1400" dirty="0">
                <a:solidFill>
                  <a:srgbClr val="C3D3E8"/>
                </a:solidFill>
                <a:latin typeface="Calibri" pitchFamily="34" charset="0"/>
                <a:ea typeface="Calibri" pitchFamily="34" charset="-122"/>
                <a:cs typeface="Calibri" pitchFamily="34" charset="-120"/>
              </a:rPr>
              <a:t>Cargar la nómina real de barberos (hoy hay 4 barberos de prueba).</a:t>
            </a:r>
            <a:endParaRPr lang="en-US" sz="1400" dirty="0"/>
          </a:p>
          <a:p>
            <a:pPr marL="342900" indent="-342900">
              <a:spcAft>
                <a:spcPts val="800"/>
              </a:spcAft>
              <a:buSzPct val="100000"/>
              <a:buChar char="•"/>
            </a:pPr>
            <a:r>
              <a:rPr lang="en-US" sz="1400" dirty="0">
                <a:solidFill>
                  <a:srgbClr val="C3D3E8"/>
                </a:solidFill>
                <a:latin typeface="Calibri" pitchFamily="34" charset="0"/>
                <a:ea typeface="Calibri" pitchFamily="34" charset="-122"/>
                <a:cs typeface="Calibri" pitchFamily="34" charset="-120"/>
              </a:rPr>
              <a:t>Aprobar la fase de despliegue (SC-19) y definir el alojamiento del ambiente UAT.</a:t>
            </a:r>
            <a:endParaRPr lang="en-US" sz="1400" dirty="0"/>
          </a:p>
        </p:txBody>
      </p:sp>
      <p:sp>
        <p:nvSpPr>
          <p:cNvPr id="6" name="Shape 4"/>
          <p:cNvSpPr/>
          <p:nvPr/>
        </p:nvSpPr>
        <p:spPr>
          <a:xfrm>
            <a:off x="658368" y="3246120"/>
            <a:ext cx="2926080" cy="0"/>
          </a:xfrm>
          <a:prstGeom prst="line">
            <a:avLst/>
          </a:prstGeom>
          <a:noFill/>
          <a:ln w="12700">
            <a:solidFill>
              <a:srgbClr val="5B84B8"/>
            </a:solidFill>
            <a:prstDash val="solid"/>
          </a:ln>
        </p:spPr>
        <p:txBody>
          <a:bodyPr/>
          <a:lstStyle/>
          <a:p>
            <a:endParaRPr lang="es-CL"/>
          </a:p>
        </p:txBody>
      </p:sp>
      <p:sp>
        <p:nvSpPr>
          <p:cNvPr id="7" name="Text 5"/>
          <p:cNvSpPr txBox="1"/>
          <p:nvPr/>
        </p:nvSpPr>
        <p:spPr>
          <a:xfrm>
            <a:off x="640080" y="3429000"/>
            <a:ext cx="73152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Gracias</a:t>
            </a:r>
            <a:endParaRPr lang="en-US" sz="4400" dirty="0"/>
          </a:p>
        </p:txBody>
      </p:sp>
      <p:sp>
        <p:nvSpPr>
          <p:cNvPr id="8" name="Text 6"/>
          <p:cNvSpPr txBox="1"/>
          <p:nvPr/>
        </p:nvSpPr>
        <p:spPr>
          <a:xfrm>
            <a:off x="640080" y="4389120"/>
            <a:ext cx="7315200" cy="411480"/>
          </a:xfrm>
          <a:prstGeom prst="rect">
            <a:avLst/>
          </a:prstGeom>
          <a:noFill/>
          <a:ln/>
        </p:spPr>
        <p:txBody>
          <a:bodyPr wrap="square" lIns="0" tIns="0" rIns="0" bIns="0" rtlCol="0" anchor="ctr"/>
          <a:lstStyle/>
          <a:p>
            <a:pPr marL="0" indent="0">
              <a:buNone/>
            </a:pPr>
            <a:r>
              <a:rPr lang="en-US" sz="1500" i="1" dirty="0">
                <a:solidFill>
                  <a:srgbClr val="C3D3E8"/>
                </a:solidFill>
                <a:latin typeface="Calibri" pitchFamily="34" charset="0"/>
                <a:ea typeface="Calibri" pitchFamily="34" charset="-122"/>
                <a:cs typeface="Calibri" pitchFamily="34" charset="-120"/>
              </a:rPr>
              <a:t>Preguntas y comentarios son bienvenidos.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3907</Words>
  <Application>Microsoft Office PowerPoint</Application>
  <PresentationFormat>Panorámica</PresentationFormat>
  <Paragraphs>374</Paragraphs>
  <Slides>15</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Duoc 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 del proyecto · Proyecto Barbería Big-Boys · 23-10-2026</dc:title>
  <dc:subject>PptxGenJS Presentation</dc:subject>
  <dc:creator>Yerko Rosales · Jonathan Ojeda</dc:creator>
  <cp:lastModifiedBy>YERKO ALEXIS ROSALES BOBADILLA</cp:lastModifiedBy>
  <cp:revision>4</cp:revision>
  <dcterms:created xsi:type="dcterms:W3CDTF">2026-10-23T14:02:44Z</dcterms:created>
  <dcterms:modified xsi:type="dcterms:W3CDTF">2026-10-23T23:54:49Z</dcterms:modified>
</cp:coreProperties>
</file>