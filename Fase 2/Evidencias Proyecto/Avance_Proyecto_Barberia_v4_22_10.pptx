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4" d="100"/>
          <a:sy n="64" d="100"/>
        </p:scale>
        <p:origin x="7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200" b="0" i="0" u="none" strike="noStrike">
                <a:solidFill>
                  <a:srgbClr val="1E2430"/>
                </a:solidFill>
                <a:latin typeface="Calibri"/>
              </a:defRPr>
            </a:pPr>
            <a:r>
              <a:rPr lang="es-CL" sz="1200" b="0" i="0" u="none" strike="noStrike">
                <a:solidFill>
                  <a:srgbClr val="1E2430"/>
                </a:solidFill>
                <a:latin typeface="Calibri"/>
              </a:rPr>
              <a:t>Ingreso perdido al año por sucursal (MM$)</a:t>
            </a:r>
          </a:p>
        </c:rich>
      </c:tx>
      <c:overlay val="0"/>
    </c:title>
    <c:autoTitleDeleted val="0"/>
    <c:plotArea>
      <c:layout/>
      <c:barChart>
        <c:barDir val="bar"/>
        <c:grouping val="clustered"/>
        <c:varyColors val="0"/>
        <c:ser>
          <c:idx val="0"/>
          <c:order val="0"/>
          <c:tx>
            <c:strRef>
              <c:f>Sheet1!$B$1</c:f>
              <c:strCache>
                <c:ptCount val="1"/>
                <c:pt idx="0">
                  <c:v>Ingreso perdido al año (MM$)</c:v>
                </c:pt>
              </c:strCache>
            </c:strRef>
          </c:tx>
          <c:spPr>
            <a:solidFill>
              <a:srgbClr val="13294B"/>
            </a:solidFill>
            <a:effectLst/>
          </c:spPr>
          <c:invertIfNegative val="0"/>
          <c:dLbls>
            <c:numFmt formatCode="0.0" sourceLinked="0"/>
            <c:spPr>
              <a:noFill/>
              <a:ln>
                <a:noFill/>
              </a:ln>
              <a:effectLst/>
            </c:spPr>
            <c:txPr>
              <a:bodyPr/>
              <a:lstStyle/>
              <a:p>
                <a:pPr>
                  <a:defRPr sz="1100" b="0" i="0" u="none" strike="noStrike">
                    <a:solidFill>
                      <a:srgbClr val="1E2430"/>
                    </a:solidFill>
                    <a:latin typeface="Calibri"/>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21 de Mayo</c:v>
                </c:pt>
                <c:pt idx="1">
                  <c:v>Alcalde L. Araya</c:v>
                </c:pt>
                <c:pt idx="2">
                  <c:v>Talagante</c:v>
                </c:pt>
              </c:strCache>
            </c:strRef>
          </c:cat>
          <c:val>
            <c:numRef>
              <c:f>Sheet1!$B$2:$B$4</c:f>
              <c:numCache>
                <c:formatCode>General</c:formatCode>
                <c:ptCount val="3"/>
                <c:pt idx="0">
                  <c:v>23.76</c:v>
                </c:pt>
                <c:pt idx="1">
                  <c:v>13.86</c:v>
                </c:pt>
                <c:pt idx="2">
                  <c:v>13.86</c:v>
                </c:pt>
              </c:numCache>
            </c:numRef>
          </c:val>
          <c:extLst>
            <c:ext xmlns:c16="http://schemas.microsoft.com/office/drawing/2014/chart" uri="{C3380CC4-5D6E-409C-BE32-E72D297353CC}">
              <c16:uniqueId val="{00000000-9513-4164-84B2-A99A3BDAB003}"/>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304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Presentamos el avance del Proyecto Barbería Big-Boys al 23 de octubre, semana 11 de 14. Esta entrega corresponde a la fase de diseño y al inicio del desarrollo, con metodología tradicional (cascada). Mostraremos la arquitectura 4+1 con énfasis en los casos de uso, el modelo entidad-relación y el prototipo, y la evidencia del desarrollo en GitHub.</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Estamos en la semana 11 de 14 y ha transcurrido el 77% del plazo. La fase de diseño se cerró el 18 de octubre. Esta semana conectamos la web y la app a la base de datos real: 27 tablas en Supabase. Lo atrasado es el pago real con Webpay, la fila por orden de llegada y «Mis datos», que pasan a la semana 12.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Trabajamos con metodología tradicional en cascada. Inicio y diseño están completos, con los hitos H1 a H4 cumplidos. Hoy, en S11, estamos en desarrollo e integración. Las pruebas de base de datos y de la API ya se ejecutaron; quedan la integración, el despliegue y la UAT en S12 a S14.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Hasta la semana 10 cumplimos el plan. En la semana 11 avanzamos en lo principal: la API y la conexión de la web y la app a la base de datos real. Quedan pendientes el pago real con Webpay, la fila por orden de llegada y «Mis datos», que integramos en la semana 12, antes del hito H6 del 30 de octubre.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arquitectura sigue el modelo 4+1. La vista lógica muestra el dominio; la de procesos, las secuencias de reserva con abono y de atención; la de desarrollo, los componentes; y la física, el despliegue, que actualizamos esta semana: la API REST y la base de datos están en Supabase. La quinta vista, la de escenarios, son los casos de uso, que vemos a continuación.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Este es el foco de la evaluación. Tenemos 41 casos de uso en 7 módulos, cada uno especificado con flujos y reglas. Los actores son cliente, invitado, barbero, cajero de sucursal y dueño, más la pasarela de pago y el sistema de notificaciones. Hoy 10 casos ya funcionan sobre la base de datos real, principalmente el flujo central de reserva: registro, acceso, invitado, catálogo, agendamiento, reprogramación y cancelación.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modelo tiene 27 tablas y 239 campos en tercera forma normal. La base impide reservas traslapadas para un mismo barbero, deja el abono de $3.000 como parámetro y cumple la Ley 21.719 desde el diseño: no guarda RUT ni datos de tarjeta, y registra consentimientos y auditoría. El script se valida con 24 pruebas automáticas, todas aprobadas.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El prototipo es funcional. La web, en React, ya trabaja con la base de datos real: muestra el inicio del cliente, la reserva en 5 pasos y las sucursales reales con su mapa. La app Android, en Kotlin con Jetpack Compose, usa la misma API. Si hay tiempo, mostramos una reserva en vivo con la cuenta de prueba.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evidencia del desarrollo está en el repositorio público de GitHub. Tiene el código de la web y de la app, el script de la base de datos con sus migraciones y pruebas, y toda la documentación. Las claves no se suben: quedan en archivos .env fuera del repositorio.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Así funciona hoy. La web y la app llaman a una API REST de 13 funciones publicada en Supabase; nunca leen las tablas directamente. Las reglas del negocio las valida la base de datos: el abono, el reagendamiento con 24 horas y máximo dos veces, y que no se repitan horarios. Todas las pruebas pasaron: 24 de la base de datos, 17 de la API, la web de punta a punta, y la app compila.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Los indicadores clave. Hoy, en un día peak, se atienden 130 clientes y se van 26, el 16,7%: son 4.326 clientes y $51,5 millones al año. La casa matriz concentra casi la mitad de la pérdida. Con la reserva online y el abono, en un escenario medio recuperamos 2.163 clientes al año, $25,7 millones de ingreso bruto, con un ROI de 567% el primer año. Estos supuestos los validaremos con el dueño.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La semana 12 es la más exigente: pago con Webpay, fila por orden de llegada, «Mis datos» y cuentas del personal, para llegar al sistema integrado el 30 de octubre. Luego vienen las pruebas, el despliegue y la UAT con el dueño. El riesgo principal es el atraso de la integración; lo controlamos priorizando el flujo de reserva con abono.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Quedan abiertos tres temas que dependen del negocio: validar los supuestos, recibir la nómina real de barberos y aprobar la fase de despliegue. Gracias;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7F5F0"/>
        </a:solidFill>
        <a:effectLst/>
      </p:bgPr>
    </p:bg>
    <p:spTree>
      <p:nvGrpSpPr>
        <p:cNvPr id="1" name=""/>
        <p:cNvGrpSpPr/>
        <p:nvPr/>
      </p:nvGrpSpPr>
      <p:grpSpPr>
        <a:xfrm>
          <a:off x="0" y="0"/>
          <a:ext cx="0" cy="0"/>
          <a:chOff x="0" y="0"/>
          <a:chExt cx="0" cy="0"/>
        </a:xfrm>
      </p:grpSpPr>
      <p:sp>
        <p:nvSpPr>
          <p:cNvPr id="2" name="Text 0"/>
          <p:cNvSpPr/>
          <p:nvPr/>
        </p:nvSpPr>
        <p:spPr>
          <a:xfrm>
            <a:off x="457200" y="6492240"/>
            <a:ext cx="6400800" cy="274320"/>
          </a:xfrm>
          <a:prstGeom prst="rect">
            <a:avLst/>
          </a:prstGeom>
          <a:noFill/>
          <a:ln/>
        </p:spPr>
        <p:txBody>
          <a:bodyPr wrap="square" rtlCol="0" anchor="ctr"/>
          <a:lstStyle/>
          <a:p>
            <a:pPr marL="0" indent="0">
              <a:buNone/>
            </a:pPr>
            <a:r>
              <a:rPr lang="en-US" sz="900" kern="0" spc="100" dirty="0">
                <a:solidFill>
                  <a:srgbClr val="5B6472"/>
                </a:solidFill>
                <a:latin typeface="Calibri" pitchFamily="34" charset="0"/>
                <a:ea typeface="Calibri" pitchFamily="34" charset="-122"/>
                <a:cs typeface="Calibri" pitchFamily="34" charset="-120"/>
              </a:rPr>
              <a:t>AVANCE DE PROYECTO · PROYECTO BARBERÍA BIG-BOYS</a:t>
            </a:r>
            <a:endParaRPr lang="en-US" sz="9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solidFill>
          <a:srgbClr val="13294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869680" y="0"/>
            <a:ext cx="3322015" cy="6858000"/>
          </a:xfrm>
          <a:prstGeom prst="rect">
            <a:avLst/>
          </a:prstGeom>
          <a:solidFill>
            <a:srgbClr val="1D3A63"/>
          </a:solidFill>
          <a:ln w="12700">
            <a:solidFill>
              <a:srgbClr val="1D3A63"/>
            </a:solidFill>
            <a:prstDash val="solid"/>
          </a:ln>
        </p:spPr>
        <p:txBody>
          <a:bodyPr/>
          <a:lstStyle/>
          <a:p>
            <a:endParaRPr lang="es-CL"/>
          </a:p>
        </p:txBody>
      </p:sp>
      <p:sp>
        <p:nvSpPr>
          <p:cNvPr id="3" name="Shape 1"/>
          <p:cNvSpPr/>
          <p:nvPr/>
        </p:nvSpPr>
        <p:spPr>
          <a:xfrm>
            <a:off x="9418320" y="1005840"/>
            <a:ext cx="2194560" cy="2194560"/>
          </a:xfrm>
          <a:prstGeom prst="ellipse">
            <a:avLst/>
          </a:prstGeom>
          <a:solidFill>
            <a:srgbClr val="234670"/>
          </a:solidFill>
          <a:ln w="12700">
            <a:solidFill>
              <a:srgbClr val="5B84B8"/>
            </a:solidFill>
            <a:prstDash val="solid"/>
          </a:ln>
        </p:spPr>
        <p:txBody>
          <a:bodyPr/>
          <a:lstStyle/>
          <a:p>
            <a:endParaRPr lang="es-CL"/>
          </a:p>
        </p:txBody>
      </p:sp>
      <p:sp>
        <p:nvSpPr>
          <p:cNvPr id="4" name="Shape 2"/>
          <p:cNvSpPr/>
          <p:nvPr/>
        </p:nvSpPr>
        <p:spPr>
          <a:xfrm>
            <a:off x="9966960" y="3657600"/>
            <a:ext cx="1371600" cy="1371600"/>
          </a:xfrm>
          <a:prstGeom prst="ellipse">
            <a:avLst/>
          </a:prstGeom>
          <a:solidFill>
            <a:srgbClr val="234670"/>
          </a:solidFill>
          <a:ln w="12700">
            <a:solidFill>
              <a:srgbClr val="5B84B8"/>
            </a:solidFill>
            <a:prstDash val="solid"/>
          </a:ln>
        </p:spPr>
        <p:txBody>
          <a:bodyPr/>
          <a:lstStyle/>
          <a:p>
            <a:endParaRPr lang="es-CL"/>
          </a:p>
        </p:txBody>
      </p:sp>
      <p:sp>
        <p:nvSpPr>
          <p:cNvPr id="5" name="Shape 3"/>
          <p:cNvSpPr/>
          <p:nvPr/>
        </p:nvSpPr>
        <p:spPr>
          <a:xfrm>
            <a:off x="9052560" y="5120640"/>
            <a:ext cx="731520" cy="731520"/>
          </a:xfrm>
          <a:prstGeom prst="ellipse">
            <a:avLst/>
          </a:prstGeom>
          <a:solidFill>
            <a:srgbClr val="234670"/>
          </a:solidFill>
          <a:ln w="12700">
            <a:solidFill>
              <a:srgbClr val="5B84B8"/>
            </a:solidFill>
            <a:prstDash val="solid"/>
          </a:ln>
        </p:spPr>
        <p:txBody>
          <a:bodyPr/>
          <a:lstStyle/>
          <a:p>
            <a:endParaRPr lang="es-CL"/>
          </a:p>
        </p:txBody>
      </p:sp>
      <p:sp>
        <p:nvSpPr>
          <p:cNvPr id="6" name="Text 4"/>
          <p:cNvSpPr txBox="1"/>
          <p:nvPr/>
        </p:nvSpPr>
        <p:spPr>
          <a:xfrm>
            <a:off x="640080" y="1600200"/>
            <a:ext cx="7772400" cy="365760"/>
          </a:xfrm>
          <a:prstGeom prst="rect">
            <a:avLst/>
          </a:prstGeom>
          <a:noFill/>
          <a:ln/>
        </p:spPr>
        <p:txBody>
          <a:bodyPr wrap="square" lIns="0" tIns="0" rIns="0" bIns="0" rtlCol="0" anchor="ctr"/>
          <a:lstStyle/>
          <a:p>
            <a:pPr marL="0" indent="0">
              <a:buNone/>
            </a:pPr>
            <a:r>
              <a:rPr lang="en-US" sz="1400" kern="0" spc="400" dirty="0">
                <a:solidFill>
                  <a:srgbClr val="8FB2DE"/>
                </a:solidFill>
                <a:latin typeface="Calibri" pitchFamily="34" charset="0"/>
                <a:ea typeface="Calibri" pitchFamily="34" charset="-122"/>
                <a:cs typeface="Calibri" pitchFamily="34" charset="-120"/>
              </a:rPr>
              <a:t>AVANCE DE PROYECTO · CAPSTONE</a:t>
            </a:r>
            <a:endParaRPr lang="en-US" sz="1400" dirty="0"/>
          </a:p>
        </p:txBody>
      </p:sp>
      <p:sp>
        <p:nvSpPr>
          <p:cNvPr id="7" name="Text 5"/>
          <p:cNvSpPr txBox="1"/>
          <p:nvPr/>
        </p:nvSpPr>
        <p:spPr>
          <a:xfrm>
            <a:off x="640080" y="1965960"/>
            <a:ext cx="7955280" cy="146304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Plataforma Web y App Móvil · Proyecto Barbería Big-Boys</a:t>
            </a:r>
            <a:endParaRPr lang="en-US" sz="3600" dirty="0"/>
          </a:p>
        </p:txBody>
      </p:sp>
      <p:sp>
        <p:nvSpPr>
          <p:cNvPr id="8" name="Text 6"/>
          <p:cNvSpPr txBox="1"/>
          <p:nvPr/>
        </p:nvSpPr>
        <p:spPr>
          <a:xfrm>
            <a:off x="640080" y="3520440"/>
            <a:ext cx="7863840" cy="457200"/>
          </a:xfrm>
          <a:prstGeom prst="rect">
            <a:avLst/>
          </a:prstGeom>
          <a:noFill/>
          <a:ln/>
        </p:spPr>
        <p:txBody>
          <a:bodyPr wrap="square" lIns="0" tIns="0" rIns="0" bIns="0" rtlCol="0" anchor="ctr"/>
          <a:lstStyle/>
          <a:p>
            <a:pPr marL="0" indent="0">
              <a:buNone/>
            </a:pPr>
            <a:r>
              <a:rPr lang="en-US" sz="1500" i="1" dirty="0">
                <a:solidFill>
                  <a:srgbClr val="C3D3E8"/>
                </a:solidFill>
                <a:latin typeface="Calibri" pitchFamily="34" charset="0"/>
                <a:ea typeface="Calibri" pitchFamily="34" charset="-122"/>
                <a:cs typeface="Calibri" pitchFamily="34" charset="-120"/>
              </a:rPr>
              <a:t>Fase de diseño e inicio del desarrollo · 23 de octubre de 2026 · semana S11 de S14</a:t>
            </a:r>
            <a:endParaRPr lang="en-US" sz="1500" dirty="0"/>
          </a:p>
        </p:txBody>
      </p:sp>
      <p:sp>
        <p:nvSpPr>
          <p:cNvPr id="9" name="Shape 7"/>
          <p:cNvSpPr/>
          <p:nvPr/>
        </p:nvSpPr>
        <p:spPr>
          <a:xfrm>
            <a:off x="658368" y="4343400"/>
            <a:ext cx="2926080" cy="0"/>
          </a:xfrm>
          <a:prstGeom prst="line">
            <a:avLst/>
          </a:prstGeom>
          <a:noFill/>
          <a:ln w="12700">
            <a:solidFill>
              <a:srgbClr val="5B84B8"/>
            </a:solidFill>
            <a:prstDash val="solid"/>
          </a:ln>
        </p:spPr>
        <p:txBody>
          <a:bodyPr/>
          <a:lstStyle/>
          <a:p>
            <a:endParaRPr lang="es-CL"/>
          </a:p>
        </p:txBody>
      </p:sp>
      <p:sp>
        <p:nvSpPr>
          <p:cNvPr id="10" name="Text 8"/>
          <p:cNvSpPr txBox="1"/>
          <p:nvPr/>
        </p:nvSpPr>
        <p:spPr>
          <a:xfrm>
            <a:off x="640080" y="4526280"/>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Equipo:  </a:t>
            </a:r>
            <a:r>
              <a:rPr lang="en-US" sz="1300" dirty="0">
                <a:solidFill>
                  <a:srgbClr val="C3D3E8"/>
                </a:solidFill>
                <a:latin typeface="Calibri" pitchFamily="34" charset="0"/>
                <a:ea typeface="Calibri" pitchFamily="34" charset="-122"/>
                <a:cs typeface="Calibri" pitchFamily="34" charset="-120"/>
              </a:rPr>
              <a:t>Yerko Rosales (Jefe de Proyecto) · Jonathan Ojeda (Backend y Base de Datos)</a:t>
            </a:r>
            <a:endParaRPr lang="en-US" sz="1300" dirty="0"/>
          </a:p>
        </p:txBody>
      </p:sp>
      <p:sp>
        <p:nvSpPr>
          <p:cNvPr id="11" name="Text 9"/>
          <p:cNvSpPr txBox="1"/>
          <p:nvPr/>
        </p:nvSpPr>
        <p:spPr>
          <a:xfrm>
            <a:off x="640080" y="4855464"/>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Curso / Sección / Profesor:  </a:t>
            </a:r>
            <a:r>
              <a:rPr lang="en-US" sz="1300" dirty="0">
                <a:solidFill>
                  <a:srgbClr val="C3D3E8"/>
                </a:solidFill>
                <a:latin typeface="Calibri" pitchFamily="34" charset="0"/>
                <a:ea typeface="Calibri" pitchFamily="34" charset="-122"/>
                <a:cs typeface="Calibri" pitchFamily="34" charset="-120"/>
              </a:rPr>
              <a:t>PTY4614 Capstone · CAPSTONE_011V · Fernando Herrera</a:t>
            </a:r>
            <a:endParaRPr lang="en-US" sz="1300" dirty="0"/>
          </a:p>
        </p:txBody>
      </p:sp>
      <p:sp>
        <p:nvSpPr>
          <p:cNvPr id="12" name="Text 10"/>
          <p:cNvSpPr txBox="1"/>
          <p:nvPr/>
        </p:nvSpPr>
        <p:spPr>
          <a:xfrm>
            <a:off x="640080" y="5184648"/>
            <a:ext cx="8046720" cy="310896"/>
          </a:xfrm>
          <a:prstGeom prst="rect">
            <a:avLst/>
          </a:prstGeom>
          <a:noFill/>
          <a:ln/>
        </p:spPr>
        <p:txBody>
          <a:bodyPr wrap="square" lIns="0" tIns="0" rIns="0" bIns="0" rtlCol="0" anchor="ctr"/>
          <a:lstStyle/>
          <a:p>
            <a:pPr marL="0" indent="0">
              <a:buNone/>
            </a:pPr>
            <a:r>
              <a:rPr lang="en-US" sz="1300" b="1" dirty="0">
                <a:solidFill>
                  <a:srgbClr val="8FB2DE"/>
                </a:solidFill>
                <a:latin typeface="Calibri" pitchFamily="34" charset="0"/>
                <a:ea typeface="Calibri" pitchFamily="34" charset="-122"/>
                <a:cs typeface="Calibri" pitchFamily="34" charset="-120"/>
              </a:rPr>
              <a:t>Metodología:  </a:t>
            </a:r>
            <a:r>
              <a:rPr lang="en-US" sz="1300" dirty="0">
                <a:solidFill>
                  <a:srgbClr val="C3D3E8"/>
                </a:solidFill>
                <a:latin typeface="Calibri" pitchFamily="34" charset="0"/>
                <a:ea typeface="Calibri" pitchFamily="34" charset="-122"/>
                <a:cs typeface="Calibri" pitchFamily="34" charset="-120"/>
              </a:rPr>
              <a:t>Tradicional (</a:t>
            </a:r>
            <a:r>
              <a:rPr lang="en-US" sz="1300" dirty="0" err="1">
                <a:solidFill>
                  <a:srgbClr val="C3D3E8"/>
                </a:solidFill>
                <a:latin typeface="Calibri" pitchFamily="34" charset="0"/>
                <a:ea typeface="Calibri" pitchFamily="34" charset="-122"/>
                <a:cs typeface="Calibri" pitchFamily="34" charset="-120"/>
              </a:rPr>
              <a:t>cascada</a:t>
            </a:r>
            <a:r>
              <a:rPr lang="en-US" sz="1300" dirty="0">
                <a:solidFill>
                  <a:srgbClr val="C3D3E8"/>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RESUMEN EJECUTIVO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Dónde estamos hoy</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Semana actual S11 (19/10 al 25/10/2026) · metodología tradicional (cascada) con hitos de control</a:t>
            </a:r>
            <a:endParaRPr lang="en-US" sz="1250" dirty="0"/>
          </a:p>
        </p:txBody>
      </p:sp>
      <p:sp>
        <p:nvSpPr>
          <p:cNvPr id="5" name="Shape 3"/>
          <p:cNvSpPr/>
          <p:nvPr/>
        </p:nvSpPr>
        <p:spPr>
          <a:xfrm>
            <a:off x="548640"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S11 de S14</a:t>
            </a:r>
            <a:endParaRPr lang="en-US" sz="2600" dirty="0"/>
          </a:p>
        </p:txBody>
      </p:sp>
      <p:sp>
        <p:nvSpPr>
          <p:cNvPr id="7" name="Text 5"/>
          <p:cNvSpPr txBox="1"/>
          <p:nvPr/>
        </p:nvSpPr>
        <p:spPr>
          <a:xfrm>
            <a:off x="685800"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semana actual del proyecto</a:t>
            </a:r>
            <a:endParaRPr lang="en-US" sz="1150" dirty="0"/>
          </a:p>
        </p:txBody>
      </p:sp>
      <p:sp>
        <p:nvSpPr>
          <p:cNvPr id="8" name="Shape 6"/>
          <p:cNvSpPr/>
          <p:nvPr/>
        </p:nvSpPr>
        <p:spPr>
          <a:xfrm>
            <a:off x="3355848"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9" name="Text 7"/>
          <p:cNvSpPr txBox="1"/>
          <p:nvPr/>
        </p:nvSpPr>
        <p:spPr>
          <a:xfrm>
            <a:off x="3447288"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77%</a:t>
            </a:r>
            <a:endParaRPr lang="en-US" sz="2600" dirty="0"/>
          </a:p>
        </p:txBody>
      </p:sp>
      <p:sp>
        <p:nvSpPr>
          <p:cNvPr id="10" name="Text 8"/>
          <p:cNvSpPr txBox="1"/>
          <p:nvPr/>
        </p:nvSpPr>
        <p:spPr>
          <a:xfrm>
            <a:off x="3493008"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del plazo transcurrido (14-08 al 13-11)</a:t>
            </a:r>
            <a:endParaRPr lang="en-US" sz="1150" dirty="0"/>
          </a:p>
        </p:txBody>
      </p:sp>
      <p:sp>
        <p:nvSpPr>
          <p:cNvPr id="11" name="Shape 9"/>
          <p:cNvSpPr/>
          <p:nvPr/>
        </p:nvSpPr>
        <p:spPr>
          <a:xfrm>
            <a:off x="6163056"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12" name="Text 10"/>
          <p:cNvSpPr txBox="1"/>
          <p:nvPr/>
        </p:nvSpPr>
        <p:spPr>
          <a:xfrm>
            <a:off x="6254496"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21 días</a:t>
            </a:r>
            <a:endParaRPr lang="en-US" sz="2600" dirty="0"/>
          </a:p>
        </p:txBody>
      </p:sp>
      <p:sp>
        <p:nvSpPr>
          <p:cNvPr id="13" name="Text 11"/>
          <p:cNvSpPr txBox="1"/>
          <p:nvPr/>
        </p:nvSpPr>
        <p:spPr>
          <a:xfrm>
            <a:off x="6300216"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restantes hasta la entrega final</a:t>
            </a:r>
            <a:endParaRPr lang="en-US" sz="1150" dirty="0"/>
          </a:p>
        </p:txBody>
      </p:sp>
      <p:sp>
        <p:nvSpPr>
          <p:cNvPr id="14" name="Shape 12"/>
          <p:cNvSpPr/>
          <p:nvPr/>
        </p:nvSpPr>
        <p:spPr>
          <a:xfrm>
            <a:off x="8970264" y="1783080"/>
            <a:ext cx="2624328" cy="1280160"/>
          </a:xfrm>
          <a:prstGeom prst="rect">
            <a:avLst/>
          </a:prstGeom>
          <a:solidFill>
            <a:srgbClr val="FFFFFF"/>
          </a:solidFill>
          <a:ln w="9525">
            <a:solidFill>
              <a:srgbClr val="D7DCE3"/>
            </a:solidFill>
            <a:prstDash val="solid"/>
          </a:ln>
        </p:spPr>
        <p:txBody>
          <a:bodyPr/>
          <a:lstStyle/>
          <a:p>
            <a:endParaRPr lang="es-CL"/>
          </a:p>
        </p:txBody>
      </p:sp>
      <p:sp>
        <p:nvSpPr>
          <p:cNvPr id="15" name="Text 13"/>
          <p:cNvSpPr txBox="1"/>
          <p:nvPr/>
        </p:nvSpPr>
        <p:spPr>
          <a:xfrm>
            <a:off x="9061704" y="1892808"/>
            <a:ext cx="2441448" cy="614477"/>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27 tablas</a:t>
            </a:r>
            <a:endParaRPr lang="en-US" sz="2600" dirty="0"/>
          </a:p>
        </p:txBody>
      </p:sp>
      <p:sp>
        <p:nvSpPr>
          <p:cNvPr id="16" name="Text 14"/>
          <p:cNvSpPr txBox="1"/>
          <p:nvPr/>
        </p:nvSpPr>
        <p:spPr>
          <a:xfrm>
            <a:off x="9107424" y="2499970"/>
            <a:ext cx="2350008" cy="486461"/>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modelo relacional implementado en Supabase</a:t>
            </a:r>
            <a:endParaRPr lang="en-US" sz="1150" dirty="0"/>
          </a:p>
        </p:txBody>
      </p:sp>
      <p:sp>
        <p:nvSpPr>
          <p:cNvPr id="17" name="Shape 15"/>
          <p:cNvSpPr/>
          <p:nvPr/>
        </p:nvSpPr>
        <p:spPr>
          <a:xfrm>
            <a:off x="548640" y="3291840"/>
            <a:ext cx="11064240" cy="685800"/>
          </a:xfrm>
          <a:prstGeom prst="rect">
            <a:avLst/>
          </a:prstGeom>
          <a:solidFill>
            <a:srgbClr val="FFFFFF"/>
          </a:solidFill>
          <a:ln w="9525">
            <a:solidFill>
              <a:srgbClr val="D7DCE3"/>
            </a:solidFill>
            <a:prstDash val="solid"/>
          </a:ln>
        </p:spPr>
        <p:txBody>
          <a:bodyPr/>
          <a:lstStyle/>
          <a:p>
            <a:endParaRPr lang="es-CL"/>
          </a:p>
        </p:txBody>
      </p:sp>
      <p:sp>
        <p:nvSpPr>
          <p:cNvPr id="18" name="Shape 16"/>
          <p:cNvSpPr/>
          <p:nvPr/>
        </p:nvSpPr>
        <p:spPr>
          <a:xfrm>
            <a:off x="777240" y="3538728"/>
            <a:ext cx="182880" cy="182880"/>
          </a:xfrm>
          <a:prstGeom prst="ellipse">
            <a:avLst/>
          </a:prstGeom>
          <a:solidFill>
            <a:srgbClr val="2F855A"/>
          </a:solidFill>
          <a:ln w="12700">
            <a:solidFill>
              <a:srgbClr val="2F855A"/>
            </a:solidFill>
            <a:prstDash val="solid"/>
          </a:ln>
        </p:spPr>
        <p:txBody>
          <a:bodyPr/>
          <a:lstStyle/>
          <a:p>
            <a:endParaRPr lang="es-CL"/>
          </a:p>
        </p:txBody>
      </p:sp>
      <p:sp>
        <p:nvSpPr>
          <p:cNvPr id="19" name="Text 17"/>
          <p:cNvSpPr txBox="1"/>
          <p:nvPr/>
        </p:nvSpPr>
        <p:spPr>
          <a:xfrm>
            <a:off x="1097280" y="329184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Realizado</a:t>
            </a:r>
            <a:endParaRPr lang="en-US" sz="1350" dirty="0"/>
          </a:p>
        </p:txBody>
      </p:sp>
      <p:sp>
        <p:nvSpPr>
          <p:cNvPr id="20" name="Text 18"/>
          <p:cNvSpPr txBox="1"/>
          <p:nvPr/>
        </p:nvSpPr>
        <p:spPr>
          <a:xfrm>
            <a:off x="2834640" y="329184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Fase de diseño cerrada (H4, 18-10): arquitectura 4+1 (35 diagramas), 41 casos de uso, modelo E-R y Ley N° 21.719. Base de datos en Supabase (20-10) y web + app conectadas al modelo relacional (22-10).</a:t>
            </a:r>
            <a:endParaRPr lang="en-US" sz="1200" dirty="0"/>
          </a:p>
        </p:txBody>
      </p:sp>
      <p:sp>
        <p:nvSpPr>
          <p:cNvPr id="21" name="Shape 19"/>
          <p:cNvSpPr/>
          <p:nvPr/>
        </p:nvSpPr>
        <p:spPr>
          <a:xfrm>
            <a:off x="548640" y="4069080"/>
            <a:ext cx="11064240" cy="685800"/>
          </a:xfrm>
          <a:prstGeom prst="rect">
            <a:avLst/>
          </a:prstGeom>
          <a:solidFill>
            <a:srgbClr val="FFFFFF"/>
          </a:solidFill>
          <a:ln w="9525">
            <a:solidFill>
              <a:srgbClr val="D7DCE3"/>
            </a:solidFill>
            <a:prstDash val="solid"/>
          </a:ln>
        </p:spPr>
        <p:txBody>
          <a:bodyPr/>
          <a:lstStyle/>
          <a:p>
            <a:endParaRPr lang="es-CL"/>
          </a:p>
        </p:txBody>
      </p:sp>
      <p:sp>
        <p:nvSpPr>
          <p:cNvPr id="22" name="Shape 20"/>
          <p:cNvSpPr/>
          <p:nvPr/>
        </p:nvSpPr>
        <p:spPr>
          <a:xfrm>
            <a:off x="777240" y="4315968"/>
            <a:ext cx="182880" cy="182880"/>
          </a:xfrm>
          <a:prstGeom prst="ellipse">
            <a:avLst/>
          </a:prstGeom>
          <a:solidFill>
            <a:srgbClr val="B5762A"/>
          </a:solidFill>
          <a:ln w="12700">
            <a:solidFill>
              <a:srgbClr val="B5762A"/>
            </a:solidFill>
            <a:prstDash val="solid"/>
          </a:ln>
        </p:spPr>
        <p:txBody>
          <a:bodyPr/>
          <a:lstStyle/>
          <a:p>
            <a:endParaRPr lang="es-CL"/>
          </a:p>
        </p:txBody>
      </p:sp>
      <p:sp>
        <p:nvSpPr>
          <p:cNvPr id="23" name="Text 21"/>
          <p:cNvSpPr txBox="1"/>
          <p:nvPr/>
        </p:nvSpPr>
        <p:spPr>
          <a:xfrm>
            <a:off x="1097280" y="406908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En progreso</a:t>
            </a:r>
            <a:endParaRPr lang="en-US" sz="1350" dirty="0"/>
          </a:p>
        </p:txBody>
      </p:sp>
      <p:sp>
        <p:nvSpPr>
          <p:cNvPr id="24" name="Text 22"/>
          <p:cNvSpPr txBox="1"/>
          <p:nvPr/>
        </p:nvSpPr>
        <p:spPr>
          <a:xfrm>
            <a:off x="2834640" y="406908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Desarrollo e integración (actividad crítica 1.4.3): API de 13 funciones, reservas, reagendamiento y anulación ya operan sobre la base de datos real.</a:t>
            </a:r>
            <a:endParaRPr lang="en-US" sz="1200" dirty="0"/>
          </a:p>
        </p:txBody>
      </p:sp>
      <p:sp>
        <p:nvSpPr>
          <p:cNvPr id="25" name="Shape 23"/>
          <p:cNvSpPr/>
          <p:nvPr/>
        </p:nvSpPr>
        <p:spPr>
          <a:xfrm>
            <a:off x="548640" y="4846320"/>
            <a:ext cx="11064240" cy="685800"/>
          </a:xfrm>
          <a:prstGeom prst="rect">
            <a:avLst/>
          </a:prstGeom>
          <a:solidFill>
            <a:srgbClr val="FFFFFF"/>
          </a:solidFill>
          <a:ln w="9525">
            <a:solidFill>
              <a:srgbClr val="D7DCE3"/>
            </a:solidFill>
            <a:prstDash val="solid"/>
          </a:ln>
        </p:spPr>
        <p:txBody>
          <a:bodyPr/>
          <a:lstStyle/>
          <a:p>
            <a:endParaRPr lang="es-CL"/>
          </a:p>
        </p:txBody>
      </p:sp>
      <p:sp>
        <p:nvSpPr>
          <p:cNvPr id="26" name="Shape 24"/>
          <p:cNvSpPr/>
          <p:nvPr/>
        </p:nvSpPr>
        <p:spPr>
          <a:xfrm>
            <a:off x="777240" y="5093208"/>
            <a:ext cx="182880" cy="182880"/>
          </a:xfrm>
          <a:prstGeom prst="ellipse">
            <a:avLst/>
          </a:prstGeom>
          <a:solidFill>
            <a:srgbClr val="B83A3A"/>
          </a:solidFill>
          <a:ln w="12700">
            <a:solidFill>
              <a:srgbClr val="B83A3A"/>
            </a:solidFill>
            <a:prstDash val="solid"/>
          </a:ln>
        </p:spPr>
        <p:txBody>
          <a:bodyPr/>
          <a:lstStyle/>
          <a:p>
            <a:endParaRPr lang="es-CL"/>
          </a:p>
        </p:txBody>
      </p:sp>
      <p:sp>
        <p:nvSpPr>
          <p:cNvPr id="27" name="Text 25"/>
          <p:cNvSpPr txBox="1"/>
          <p:nvPr/>
        </p:nvSpPr>
        <p:spPr>
          <a:xfrm>
            <a:off x="1097280" y="484632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Atrasado</a:t>
            </a:r>
            <a:endParaRPr lang="en-US" sz="1350" dirty="0"/>
          </a:p>
        </p:txBody>
      </p:sp>
      <p:sp>
        <p:nvSpPr>
          <p:cNvPr id="28" name="Text 26"/>
          <p:cNvSpPr txBox="1"/>
          <p:nvPr/>
        </p:nvSpPr>
        <p:spPr>
          <a:xfrm>
            <a:off x="2834640" y="484632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Pago real con Webpay, fila por orden de llegada y «Mis datos» estaban planificados para S11 y pasan a S12.</a:t>
            </a:r>
            <a:endParaRPr lang="en-US" sz="1200" dirty="0"/>
          </a:p>
        </p:txBody>
      </p:sp>
      <p:sp>
        <p:nvSpPr>
          <p:cNvPr id="29" name="Shape 27"/>
          <p:cNvSpPr/>
          <p:nvPr/>
        </p:nvSpPr>
        <p:spPr>
          <a:xfrm>
            <a:off x="548640" y="5623560"/>
            <a:ext cx="11064240" cy="685800"/>
          </a:xfrm>
          <a:prstGeom prst="rect">
            <a:avLst/>
          </a:prstGeom>
          <a:solidFill>
            <a:srgbClr val="FFFFFF"/>
          </a:solidFill>
          <a:ln w="9525">
            <a:solidFill>
              <a:srgbClr val="D7DCE3"/>
            </a:solidFill>
            <a:prstDash val="solid"/>
          </a:ln>
        </p:spPr>
        <p:txBody>
          <a:bodyPr/>
          <a:lstStyle/>
          <a:p>
            <a:endParaRPr lang="es-CL"/>
          </a:p>
        </p:txBody>
      </p:sp>
      <p:sp>
        <p:nvSpPr>
          <p:cNvPr id="30" name="Shape 28"/>
          <p:cNvSpPr/>
          <p:nvPr/>
        </p:nvSpPr>
        <p:spPr>
          <a:xfrm>
            <a:off x="777240" y="5870448"/>
            <a:ext cx="182880" cy="182880"/>
          </a:xfrm>
          <a:prstGeom prst="ellipse">
            <a:avLst/>
          </a:prstGeom>
          <a:solidFill>
            <a:srgbClr val="9AA3AF"/>
          </a:solidFill>
          <a:ln w="12700">
            <a:solidFill>
              <a:srgbClr val="9AA3AF"/>
            </a:solidFill>
            <a:prstDash val="solid"/>
          </a:ln>
        </p:spPr>
        <p:txBody>
          <a:bodyPr/>
          <a:lstStyle/>
          <a:p>
            <a:endParaRPr lang="es-CL"/>
          </a:p>
        </p:txBody>
      </p:sp>
      <p:sp>
        <p:nvSpPr>
          <p:cNvPr id="31" name="Text 29"/>
          <p:cNvSpPr txBox="1"/>
          <p:nvPr/>
        </p:nvSpPr>
        <p:spPr>
          <a:xfrm>
            <a:off x="1097280" y="5623560"/>
            <a:ext cx="1737360" cy="685800"/>
          </a:xfrm>
          <a:prstGeom prst="rect">
            <a:avLst/>
          </a:prstGeom>
          <a:noFill/>
          <a:ln/>
        </p:spPr>
        <p:txBody>
          <a:bodyPr wrap="square" lIns="0" tIns="0" rIns="0" bIns="0" rtlCol="0" anchor="ctr"/>
          <a:lstStyle/>
          <a:p>
            <a:pPr marL="0" indent="0">
              <a:buNone/>
            </a:pPr>
            <a:r>
              <a:rPr lang="en-US" sz="1350" b="1" dirty="0">
                <a:solidFill>
                  <a:srgbClr val="1E2430"/>
                </a:solidFill>
                <a:latin typeface="Calibri" pitchFamily="34" charset="0"/>
                <a:ea typeface="Calibri" pitchFamily="34" charset="-122"/>
                <a:cs typeface="Calibri" pitchFamily="34" charset="-120"/>
              </a:rPr>
              <a:t>Próximo</a:t>
            </a:r>
            <a:endParaRPr lang="en-US" sz="1350" dirty="0"/>
          </a:p>
        </p:txBody>
      </p:sp>
      <p:sp>
        <p:nvSpPr>
          <p:cNvPr id="32" name="Text 30"/>
          <p:cNvSpPr txBox="1"/>
          <p:nvPr/>
        </p:nvSpPr>
        <p:spPr>
          <a:xfrm>
            <a:off x="2834640" y="5623560"/>
            <a:ext cx="8641080" cy="68580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Sistema integrado (H6, 30-10) · UAT con el dueño (H7, 10-11) · entrega final (H8, 13-11) · defensa (H9, 27-11).</a:t>
            </a:r>
            <a:endParaRPr lang="en-US" sz="1200" dirty="0"/>
          </a:p>
        </p:txBody>
      </p:sp>
      <p:sp>
        <p:nvSpPr>
          <p:cNvPr id="33"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METODOLOGÍA TRADICIONAL</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Fases en cascada y semana actual</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Columnas: semanas del proyecto (S1 = 10 al 16 de agosto). La franja roja es la semana actual. Elaboración propia según el cronograma (documento 07).</a:t>
            </a:r>
            <a:endParaRPr lang="en-US" sz="1250" dirty="0"/>
          </a:p>
        </p:txBody>
      </p:sp>
      <p:sp>
        <p:nvSpPr>
          <p:cNvPr id="5" name="Shape 3"/>
          <p:cNvSpPr/>
          <p:nvPr/>
        </p:nvSpPr>
        <p:spPr>
          <a:xfrm>
            <a:off x="2788920" y="1783080"/>
            <a:ext cx="1636205" cy="228600"/>
          </a:xfrm>
          <a:prstGeom prst="rect">
            <a:avLst/>
          </a:prstGeom>
          <a:solidFill>
            <a:srgbClr val="13294B"/>
          </a:solidFill>
          <a:ln w="12700">
            <a:solidFill>
              <a:srgbClr val="13294B"/>
            </a:solidFill>
            <a:prstDash val="solid"/>
          </a:ln>
        </p:spPr>
        <p:txBody>
          <a:bodyPr/>
          <a:lstStyle/>
          <a:p>
            <a:endParaRPr lang="es-CL"/>
          </a:p>
        </p:txBody>
      </p:sp>
      <p:sp>
        <p:nvSpPr>
          <p:cNvPr id="6" name="Text 4"/>
          <p:cNvSpPr txBox="1"/>
          <p:nvPr/>
        </p:nvSpPr>
        <p:spPr>
          <a:xfrm>
            <a:off x="2788920" y="1783080"/>
            <a:ext cx="1654493"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Agosto</a:t>
            </a:r>
            <a:endParaRPr lang="en-US" sz="1000" dirty="0"/>
          </a:p>
        </p:txBody>
      </p:sp>
      <p:sp>
        <p:nvSpPr>
          <p:cNvPr id="7" name="Shape 5"/>
          <p:cNvSpPr/>
          <p:nvPr/>
        </p:nvSpPr>
        <p:spPr>
          <a:xfrm>
            <a:off x="4443413" y="1783080"/>
            <a:ext cx="2187702" cy="228600"/>
          </a:xfrm>
          <a:prstGeom prst="rect">
            <a:avLst/>
          </a:prstGeom>
          <a:solidFill>
            <a:srgbClr val="13294B"/>
          </a:solidFill>
          <a:ln w="12700">
            <a:solidFill>
              <a:srgbClr val="13294B"/>
            </a:solidFill>
            <a:prstDash val="solid"/>
          </a:ln>
        </p:spPr>
        <p:txBody>
          <a:bodyPr/>
          <a:lstStyle/>
          <a:p>
            <a:endParaRPr lang="es-CL"/>
          </a:p>
        </p:txBody>
      </p:sp>
      <p:sp>
        <p:nvSpPr>
          <p:cNvPr id="8" name="Text 6"/>
          <p:cNvSpPr txBox="1"/>
          <p:nvPr/>
        </p:nvSpPr>
        <p:spPr>
          <a:xfrm>
            <a:off x="4443413" y="1783080"/>
            <a:ext cx="220599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Septiembre</a:t>
            </a:r>
            <a:endParaRPr lang="en-US" sz="1000" dirty="0"/>
          </a:p>
        </p:txBody>
      </p:sp>
      <p:sp>
        <p:nvSpPr>
          <p:cNvPr id="9" name="Shape 7"/>
          <p:cNvSpPr/>
          <p:nvPr/>
        </p:nvSpPr>
        <p:spPr>
          <a:xfrm>
            <a:off x="6649403" y="1783080"/>
            <a:ext cx="2739200" cy="228600"/>
          </a:xfrm>
          <a:prstGeom prst="rect">
            <a:avLst/>
          </a:prstGeom>
          <a:solidFill>
            <a:srgbClr val="13294B"/>
          </a:solidFill>
          <a:ln w="12700">
            <a:solidFill>
              <a:srgbClr val="13294B"/>
            </a:solidFill>
            <a:prstDash val="solid"/>
          </a:ln>
        </p:spPr>
        <p:txBody>
          <a:bodyPr/>
          <a:lstStyle/>
          <a:p>
            <a:endParaRPr lang="es-CL"/>
          </a:p>
        </p:txBody>
      </p:sp>
      <p:sp>
        <p:nvSpPr>
          <p:cNvPr id="10" name="Text 8"/>
          <p:cNvSpPr txBox="1"/>
          <p:nvPr/>
        </p:nvSpPr>
        <p:spPr>
          <a:xfrm>
            <a:off x="6649403" y="1783080"/>
            <a:ext cx="2757488"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Octubre</a:t>
            </a:r>
            <a:endParaRPr lang="en-US" sz="1000" dirty="0"/>
          </a:p>
        </p:txBody>
      </p:sp>
      <p:sp>
        <p:nvSpPr>
          <p:cNvPr id="11" name="Shape 9"/>
          <p:cNvSpPr/>
          <p:nvPr/>
        </p:nvSpPr>
        <p:spPr>
          <a:xfrm>
            <a:off x="9406890" y="1783080"/>
            <a:ext cx="2187702" cy="228600"/>
          </a:xfrm>
          <a:prstGeom prst="rect">
            <a:avLst/>
          </a:prstGeom>
          <a:solidFill>
            <a:srgbClr val="13294B"/>
          </a:solidFill>
          <a:ln w="12700">
            <a:solidFill>
              <a:srgbClr val="13294B"/>
            </a:solidFill>
            <a:prstDash val="solid"/>
          </a:ln>
        </p:spPr>
        <p:txBody>
          <a:bodyPr/>
          <a:lstStyle/>
          <a:p>
            <a:endParaRPr lang="es-CL"/>
          </a:p>
        </p:txBody>
      </p:sp>
      <p:sp>
        <p:nvSpPr>
          <p:cNvPr id="12" name="Text 10"/>
          <p:cNvSpPr txBox="1"/>
          <p:nvPr/>
        </p:nvSpPr>
        <p:spPr>
          <a:xfrm>
            <a:off x="9406890" y="1783080"/>
            <a:ext cx="2205990" cy="22860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Noviembre</a:t>
            </a:r>
            <a:endParaRPr lang="en-US" sz="1000" dirty="0"/>
          </a:p>
        </p:txBody>
      </p:sp>
      <p:sp>
        <p:nvSpPr>
          <p:cNvPr id="13" name="Shape 11"/>
          <p:cNvSpPr/>
          <p:nvPr/>
        </p:nvSpPr>
        <p:spPr>
          <a:xfrm>
            <a:off x="8303895" y="2011680"/>
            <a:ext cx="551498" cy="3886200"/>
          </a:xfrm>
          <a:prstGeom prst="rect">
            <a:avLst/>
          </a:prstGeom>
          <a:solidFill>
            <a:srgbClr val="B83A3A">
              <a:alpha val="18000"/>
            </a:srgbClr>
          </a:solidFill>
          <a:ln w="12700">
            <a:solidFill>
              <a:srgbClr val="B83A3A"/>
            </a:solidFill>
            <a:prstDash val="solid"/>
          </a:ln>
        </p:spPr>
        <p:txBody>
          <a:bodyPr/>
          <a:lstStyle/>
          <a:p>
            <a:endParaRPr lang="es-CL"/>
          </a:p>
        </p:txBody>
      </p:sp>
      <p:sp>
        <p:nvSpPr>
          <p:cNvPr id="14" name="Text 12"/>
          <p:cNvSpPr txBox="1"/>
          <p:nvPr/>
        </p:nvSpPr>
        <p:spPr>
          <a:xfrm>
            <a:off x="278892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a:t>
            </a:r>
            <a:endParaRPr lang="en-US" sz="900" dirty="0"/>
          </a:p>
        </p:txBody>
      </p:sp>
      <p:sp>
        <p:nvSpPr>
          <p:cNvPr id="15" name="Text 13"/>
          <p:cNvSpPr txBox="1"/>
          <p:nvPr/>
        </p:nvSpPr>
        <p:spPr>
          <a:xfrm>
            <a:off x="3340417"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S2</a:t>
            </a:r>
            <a:endParaRPr lang="en-US" sz="900" dirty="0"/>
          </a:p>
        </p:txBody>
      </p:sp>
      <p:sp>
        <p:nvSpPr>
          <p:cNvPr id="16" name="Text 14"/>
          <p:cNvSpPr txBox="1"/>
          <p:nvPr/>
        </p:nvSpPr>
        <p:spPr>
          <a:xfrm>
            <a:off x="389191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S3</a:t>
            </a:r>
            <a:endParaRPr lang="en-US" sz="900" dirty="0"/>
          </a:p>
        </p:txBody>
      </p:sp>
      <p:sp>
        <p:nvSpPr>
          <p:cNvPr id="17" name="Text 15"/>
          <p:cNvSpPr txBox="1"/>
          <p:nvPr/>
        </p:nvSpPr>
        <p:spPr>
          <a:xfrm>
            <a:off x="444341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S4</a:t>
            </a:r>
            <a:endParaRPr lang="en-US" sz="900" dirty="0"/>
          </a:p>
        </p:txBody>
      </p:sp>
      <p:sp>
        <p:nvSpPr>
          <p:cNvPr id="18" name="Text 16"/>
          <p:cNvSpPr txBox="1"/>
          <p:nvPr/>
        </p:nvSpPr>
        <p:spPr>
          <a:xfrm>
            <a:off x="499491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S5</a:t>
            </a:r>
            <a:endParaRPr lang="en-US" sz="900" dirty="0"/>
          </a:p>
        </p:txBody>
      </p:sp>
      <p:sp>
        <p:nvSpPr>
          <p:cNvPr id="19" name="Text 17"/>
          <p:cNvSpPr txBox="1"/>
          <p:nvPr/>
        </p:nvSpPr>
        <p:spPr>
          <a:xfrm>
            <a:off x="554640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S6</a:t>
            </a:r>
            <a:endParaRPr lang="en-US" sz="900" dirty="0"/>
          </a:p>
        </p:txBody>
      </p:sp>
      <p:sp>
        <p:nvSpPr>
          <p:cNvPr id="20" name="Text 18"/>
          <p:cNvSpPr txBox="1"/>
          <p:nvPr/>
        </p:nvSpPr>
        <p:spPr>
          <a:xfrm>
            <a:off x="609790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S7</a:t>
            </a:r>
            <a:endParaRPr lang="en-US" sz="900" dirty="0"/>
          </a:p>
        </p:txBody>
      </p:sp>
      <p:sp>
        <p:nvSpPr>
          <p:cNvPr id="21" name="Text 19"/>
          <p:cNvSpPr txBox="1"/>
          <p:nvPr/>
        </p:nvSpPr>
        <p:spPr>
          <a:xfrm>
            <a:off x="664940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S8</a:t>
            </a:r>
            <a:endParaRPr lang="en-US" sz="900" dirty="0"/>
          </a:p>
        </p:txBody>
      </p:sp>
      <p:sp>
        <p:nvSpPr>
          <p:cNvPr id="22" name="Text 20"/>
          <p:cNvSpPr txBox="1"/>
          <p:nvPr/>
        </p:nvSpPr>
        <p:spPr>
          <a:xfrm>
            <a:off x="720090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S9</a:t>
            </a:r>
            <a:endParaRPr lang="en-US" sz="900" dirty="0"/>
          </a:p>
        </p:txBody>
      </p:sp>
      <p:sp>
        <p:nvSpPr>
          <p:cNvPr id="23" name="Text 21"/>
          <p:cNvSpPr txBox="1"/>
          <p:nvPr/>
        </p:nvSpPr>
        <p:spPr>
          <a:xfrm>
            <a:off x="775239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S10</a:t>
            </a:r>
            <a:endParaRPr lang="en-US" sz="900" dirty="0"/>
          </a:p>
        </p:txBody>
      </p:sp>
      <p:sp>
        <p:nvSpPr>
          <p:cNvPr id="24" name="Text 22"/>
          <p:cNvSpPr txBox="1"/>
          <p:nvPr/>
        </p:nvSpPr>
        <p:spPr>
          <a:xfrm>
            <a:off x="8303895" y="2029968"/>
            <a:ext cx="551498" cy="228600"/>
          </a:xfrm>
          <a:prstGeom prst="rect">
            <a:avLst/>
          </a:prstGeom>
          <a:noFill/>
          <a:ln/>
        </p:spPr>
        <p:txBody>
          <a:bodyPr wrap="square" lIns="0" tIns="0" rIns="0" bIns="0" rtlCol="0" anchor="ctr"/>
          <a:lstStyle/>
          <a:p>
            <a:pPr marL="0" indent="0" algn="ctr">
              <a:buNone/>
            </a:pPr>
            <a:r>
              <a:rPr lang="en-US" sz="900" b="1" dirty="0">
                <a:solidFill>
                  <a:srgbClr val="B83A3A"/>
                </a:solidFill>
                <a:latin typeface="Calibri" pitchFamily="34" charset="0"/>
                <a:ea typeface="Calibri" pitchFamily="34" charset="-122"/>
                <a:cs typeface="Calibri" pitchFamily="34" charset="-120"/>
              </a:rPr>
              <a:t>S11</a:t>
            </a:r>
            <a:endParaRPr lang="en-US" sz="900" dirty="0"/>
          </a:p>
        </p:txBody>
      </p:sp>
      <p:sp>
        <p:nvSpPr>
          <p:cNvPr id="25" name="Text 23"/>
          <p:cNvSpPr txBox="1"/>
          <p:nvPr/>
        </p:nvSpPr>
        <p:spPr>
          <a:xfrm>
            <a:off x="885539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S12</a:t>
            </a:r>
            <a:endParaRPr lang="en-US" sz="900" dirty="0"/>
          </a:p>
        </p:txBody>
      </p:sp>
      <p:sp>
        <p:nvSpPr>
          <p:cNvPr id="26" name="Text 24"/>
          <p:cNvSpPr txBox="1"/>
          <p:nvPr/>
        </p:nvSpPr>
        <p:spPr>
          <a:xfrm>
            <a:off x="9406890"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S13</a:t>
            </a:r>
            <a:endParaRPr lang="en-US" sz="900" dirty="0"/>
          </a:p>
        </p:txBody>
      </p:sp>
      <p:sp>
        <p:nvSpPr>
          <p:cNvPr id="27" name="Text 25"/>
          <p:cNvSpPr txBox="1"/>
          <p:nvPr/>
        </p:nvSpPr>
        <p:spPr>
          <a:xfrm>
            <a:off x="9958388"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S14</a:t>
            </a:r>
            <a:endParaRPr lang="en-US" sz="900" dirty="0"/>
          </a:p>
        </p:txBody>
      </p:sp>
      <p:sp>
        <p:nvSpPr>
          <p:cNvPr id="28" name="Text 26"/>
          <p:cNvSpPr txBox="1"/>
          <p:nvPr/>
        </p:nvSpPr>
        <p:spPr>
          <a:xfrm>
            <a:off x="10509885"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S15</a:t>
            </a:r>
            <a:endParaRPr lang="en-US" sz="900" dirty="0"/>
          </a:p>
        </p:txBody>
      </p:sp>
      <p:sp>
        <p:nvSpPr>
          <p:cNvPr id="29" name="Text 27"/>
          <p:cNvSpPr txBox="1"/>
          <p:nvPr/>
        </p:nvSpPr>
        <p:spPr>
          <a:xfrm>
            <a:off x="11061383" y="2029968"/>
            <a:ext cx="551498" cy="228600"/>
          </a:xfrm>
          <a:prstGeom prst="rect">
            <a:avLst/>
          </a:prstGeom>
          <a:noFill/>
          <a:ln/>
        </p:spPr>
        <p:txBody>
          <a:bodyPr wrap="square" lIns="0" tIns="0" rIns="0" bIns="0" rtlCol="0" anchor="ctr"/>
          <a:lstStyle/>
          <a:p>
            <a:pPr marL="0" indent="0" algn="ctr">
              <a:buNone/>
            </a:pPr>
            <a:r>
              <a:rPr lang="en-US" sz="900" dirty="0">
                <a:solidFill>
                  <a:srgbClr val="5B6472"/>
                </a:solidFill>
                <a:latin typeface="Calibri" pitchFamily="34" charset="0"/>
                <a:ea typeface="Calibri" pitchFamily="34" charset="-122"/>
                <a:cs typeface="Calibri" pitchFamily="34" charset="-120"/>
              </a:rPr>
              <a:t>S16</a:t>
            </a:r>
            <a:endParaRPr lang="en-US" sz="900" dirty="0"/>
          </a:p>
        </p:txBody>
      </p:sp>
      <p:sp>
        <p:nvSpPr>
          <p:cNvPr id="30" name="Text 28"/>
          <p:cNvSpPr txBox="1"/>
          <p:nvPr/>
        </p:nvSpPr>
        <p:spPr>
          <a:xfrm>
            <a:off x="548640" y="2331720"/>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Inicio y planificación</a:t>
            </a:r>
            <a:endParaRPr lang="en-US" sz="1200" dirty="0"/>
          </a:p>
        </p:txBody>
      </p:sp>
      <p:sp>
        <p:nvSpPr>
          <p:cNvPr id="31" name="Shape 29"/>
          <p:cNvSpPr/>
          <p:nvPr/>
        </p:nvSpPr>
        <p:spPr>
          <a:xfrm>
            <a:off x="2788920" y="2807208"/>
            <a:ext cx="8823960" cy="0"/>
          </a:xfrm>
          <a:prstGeom prst="line">
            <a:avLst/>
          </a:prstGeom>
          <a:noFill/>
          <a:ln w="6350">
            <a:solidFill>
              <a:srgbClr val="D7DCE3"/>
            </a:solidFill>
            <a:prstDash val="solid"/>
          </a:ln>
        </p:spPr>
        <p:txBody>
          <a:bodyPr/>
          <a:lstStyle/>
          <a:p>
            <a:endParaRPr lang="es-CL"/>
          </a:p>
        </p:txBody>
      </p:sp>
      <p:sp>
        <p:nvSpPr>
          <p:cNvPr id="32" name="Shape 30"/>
          <p:cNvSpPr/>
          <p:nvPr/>
        </p:nvSpPr>
        <p:spPr>
          <a:xfrm>
            <a:off x="2807208" y="2386584"/>
            <a:ext cx="2169414" cy="329184"/>
          </a:xfrm>
          <a:prstGeom prst="rect">
            <a:avLst/>
          </a:prstGeom>
          <a:solidFill>
            <a:srgbClr val="2F855A"/>
          </a:solidFill>
          <a:ln w="12700">
            <a:solidFill>
              <a:srgbClr val="2F855A"/>
            </a:solidFill>
            <a:prstDash val="solid"/>
          </a:ln>
        </p:spPr>
        <p:txBody>
          <a:bodyPr/>
          <a:lstStyle/>
          <a:p>
            <a:endParaRPr lang="es-CL"/>
          </a:p>
        </p:txBody>
      </p:sp>
      <p:sp>
        <p:nvSpPr>
          <p:cNvPr id="33" name="Text 31"/>
          <p:cNvSpPr txBox="1"/>
          <p:nvPr/>
        </p:nvSpPr>
        <p:spPr>
          <a:xfrm>
            <a:off x="2807208" y="2386584"/>
            <a:ext cx="2169414"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Acta, ERS, EDT, planes</a:t>
            </a:r>
            <a:endParaRPr lang="en-US" sz="850" dirty="0"/>
          </a:p>
        </p:txBody>
      </p:sp>
      <p:sp>
        <p:nvSpPr>
          <p:cNvPr id="34" name="Text 32"/>
          <p:cNvSpPr txBox="1"/>
          <p:nvPr/>
        </p:nvSpPr>
        <p:spPr>
          <a:xfrm>
            <a:off x="548640" y="2843784"/>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Diseño</a:t>
            </a:r>
            <a:endParaRPr lang="en-US" sz="1200" dirty="0"/>
          </a:p>
        </p:txBody>
      </p:sp>
      <p:sp>
        <p:nvSpPr>
          <p:cNvPr id="35" name="Shape 33"/>
          <p:cNvSpPr/>
          <p:nvPr/>
        </p:nvSpPr>
        <p:spPr>
          <a:xfrm>
            <a:off x="2788920" y="3319272"/>
            <a:ext cx="8823960" cy="0"/>
          </a:xfrm>
          <a:prstGeom prst="line">
            <a:avLst/>
          </a:prstGeom>
          <a:noFill/>
          <a:ln w="6350">
            <a:solidFill>
              <a:srgbClr val="D7DCE3"/>
            </a:solidFill>
            <a:prstDash val="solid"/>
          </a:ln>
        </p:spPr>
        <p:txBody>
          <a:bodyPr/>
          <a:lstStyle/>
          <a:p>
            <a:endParaRPr lang="es-CL"/>
          </a:p>
        </p:txBody>
      </p:sp>
      <p:sp>
        <p:nvSpPr>
          <p:cNvPr id="36" name="Shape 34"/>
          <p:cNvSpPr/>
          <p:nvPr/>
        </p:nvSpPr>
        <p:spPr>
          <a:xfrm>
            <a:off x="5013198" y="2898648"/>
            <a:ext cx="3272409" cy="329184"/>
          </a:xfrm>
          <a:prstGeom prst="rect">
            <a:avLst/>
          </a:prstGeom>
          <a:solidFill>
            <a:srgbClr val="2F855A"/>
          </a:solidFill>
          <a:ln w="12700">
            <a:solidFill>
              <a:srgbClr val="2F855A"/>
            </a:solidFill>
            <a:prstDash val="solid"/>
          </a:ln>
        </p:spPr>
        <p:txBody>
          <a:bodyPr/>
          <a:lstStyle/>
          <a:p>
            <a:endParaRPr lang="es-CL"/>
          </a:p>
        </p:txBody>
      </p:sp>
      <p:sp>
        <p:nvSpPr>
          <p:cNvPr id="37" name="Text 35"/>
          <p:cNvSpPr txBox="1"/>
          <p:nvPr/>
        </p:nvSpPr>
        <p:spPr>
          <a:xfrm>
            <a:off x="5013198" y="2898648"/>
            <a:ext cx="327240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UX/UI, 4+1, casos de uso, modelo E-R, Ley 21.719</a:t>
            </a:r>
            <a:endParaRPr lang="en-US" sz="850" dirty="0"/>
          </a:p>
        </p:txBody>
      </p:sp>
      <p:sp>
        <p:nvSpPr>
          <p:cNvPr id="38" name="Text 36"/>
          <p:cNvSpPr txBox="1"/>
          <p:nvPr/>
        </p:nvSpPr>
        <p:spPr>
          <a:xfrm>
            <a:off x="548640" y="3355848"/>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Desarrollo</a:t>
            </a:r>
            <a:endParaRPr lang="en-US" sz="1200" dirty="0"/>
          </a:p>
        </p:txBody>
      </p:sp>
      <p:sp>
        <p:nvSpPr>
          <p:cNvPr id="39" name="Shape 37"/>
          <p:cNvSpPr/>
          <p:nvPr/>
        </p:nvSpPr>
        <p:spPr>
          <a:xfrm>
            <a:off x="2788920" y="3831336"/>
            <a:ext cx="8823960" cy="0"/>
          </a:xfrm>
          <a:prstGeom prst="line">
            <a:avLst/>
          </a:prstGeom>
          <a:noFill/>
          <a:ln w="6350">
            <a:solidFill>
              <a:srgbClr val="D7DCE3"/>
            </a:solidFill>
            <a:prstDash val="solid"/>
          </a:ln>
        </p:spPr>
        <p:txBody>
          <a:bodyPr/>
          <a:lstStyle/>
          <a:p>
            <a:endParaRPr lang="es-CL"/>
          </a:p>
        </p:txBody>
      </p:sp>
      <p:sp>
        <p:nvSpPr>
          <p:cNvPr id="40" name="Shape 38"/>
          <p:cNvSpPr/>
          <p:nvPr/>
        </p:nvSpPr>
        <p:spPr>
          <a:xfrm>
            <a:off x="6116193" y="3410712"/>
            <a:ext cx="1066419" cy="329184"/>
          </a:xfrm>
          <a:prstGeom prst="rect">
            <a:avLst/>
          </a:prstGeom>
          <a:solidFill>
            <a:srgbClr val="2F855A"/>
          </a:solidFill>
          <a:ln w="12700">
            <a:solidFill>
              <a:srgbClr val="2F855A"/>
            </a:solidFill>
            <a:prstDash val="solid"/>
          </a:ln>
        </p:spPr>
        <p:txBody>
          <a:bodyPr/>
          <a:lstStyle/>
          <a:p>
            <a:endParaRPr lang="es-CL"/>
          </a:p>
        </p:txBody>
      </p:sp>
      <p:sp>
        <p:nvSpPr>
          <p:cNvPr id="41" name="Text 39"/>
          <p:cNvSpPr txBox="1"/>
          <p:nvPr/>
        </p:nvSpPr>
        <p:spPr>
          <a:xfrm>
            <a:off x="6116193" y="3410712"/>
            <a:ext cx="1066419"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Prototipos</a:t>
            </a:r>
            <a:endParaRPr lang="en-US" sz="850" dirty="0"/>
          </a:p>
        </p:txBody>
      </p:sp>
      <p:sp>
        <p:nvSpPr>
          <p:cNvPr id="42" name="Shape 40"/>
          <p:cNvSpPr/>
          <p:nvPr/>
        </p:nvSpPr>
        <p:spPr>
          <a:xfrm>
            <a:off x="7219188" y="3410712"/>
            <a:ext cx="514922" cy="329184"/>
          </a:xfrm>
          <a:prstGeom prst="rect">
            <a:avLst/>
          </a:prstGeom>
          <a:solidFill>
            <a:srgbClr val="9AA3AF"/>
          </a:solidFill>
          <a:ln w="12700">
            <a:solidFill>
              <a:srgbClr val="9AA3AF"/>
            </a:solidFill>
            <a:prstDash val="solid"/>
          </a:ln>
        </p:spPr>
        <p:txBody>
          <a:bodyPr/>
          <a:lstStyle/>
          <a:p>
            <a:endParaRPr lang="es-CL"/>
          </a:p>
        </p:txBody>
      </p:sp>
      <p:sp>
        <p:nvSpPr>
          <p:cNvPr id="43" name="Text 41"/>
          <p:cNvSpPr txBox="1"/>
          <p:nvPr/>
        </p:nvSpPr>
        <p:spPr>
          <a:xfrm>
            <a:off x="7219188" y="3410712"/>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Pausa</a:t>
            </a:r>
            <a:endParaRPr lang="en-US" sz="850" dirty="0"/>
          </a:p>
        </p:txBody>
      </p:sp>
      <p:sp>
        <p:nvSpPr>
          <p:cNvPr id="44" name="Shape 42"/>
          <p:cNvSpPr/>
          <p:nvPr/>
        </p:nvSpPr>
        <p:spPr>
          <a:xfrm>
            <a:off x="7770686" y="3410712"/>
            <a:ext cx="2169414" cy="329184"/>
          </a:xfrm>
          <a:prstGeom prst="rect">
            <a:avLst/>
          </a:prstGeom>
          <a:solidFill>
            <a:srgbClr val="B5762A"/>
          </a:solidFill>
          <a:ln w="12700">
            <a:solidFill>
              <a:srgbClr val="B5762A"/>
            </a:solidFill>
            <a:prstDash val="solid"/>
          </a:ln>
        </p:spPr>
        <p:txBody>
          <a:bodyPr/>
          <a:lstStyle/>
          <a:p>
            <a:endParaRPr lang="es-CL"/>
          </a:p>
        </p:txBody>
      </p:sp>
      <p:sp>
        <p:nvSpPr>
          <p:cNvPr id="45" name="Text 43"/>
          <p:cNvSpPr txBox="1"/>
          <p:nvPr/>
        </p:nvSpPr>
        <p:spPr>
          <a:xfrm>
            <a:off x="7770686" y="3410712"/>
            <a:ext cx="2169414"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API, BD real, integración</a:t>
            </a:r>
            <a:endParaRPr lang="en-US" sz="850" dirty="0"/>
          </a:p>
        </p:txBody>
      </p:sp>
      <p:sp>
        <p:nvSpPr>
          <p:cNvPr id="46" name="Text 44"/>
          <p:cNvSpPr txBox="1"/>
          <p:nvPr/>
        </p:nvSpPr>
        <p:spPr>
          <a:xfrm>
            <a:off x="548640" y="3867912"/>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Pruebas / QA</a:t>
            </a:r>
            <a:endParaRPr lang="en-US" sz="1200" dirty="0"/>
          </a:p>
        </p:txBody>
      </p:sp>
      <p:sp>
        <p:nvSpPr>
          <p:cNvPr id="47" name="Shape 45"/>
          <p:cNvSpPr/>
          <p:nvPr/>
        </p:nvSpPr>
        <p:spPr>
          <a:xfrm>
            <a:off x="2788920" y="4343400"/>
            <a:ext cx="8823960" cy="0"/>
          </a:xfrm>
          <a:prstGeom prst="line">
            <a:avLst/>
          </a:prstGeom>
          <a:noFill/>
          <a:ln w="6350">
            <a:solidFill>
              <a:srgbClr val="D7DCE3"/>
            </a:solidFill>
            <a:prstDash val="solid"/>
          </a:ln>
        </p:spPr>
        <p:txBody>
          <a:bodyPr/>
          <a:lstStyle/>
          <a:p>
            <a:endParaRPr lang="es-CL"/>
          </a:p>
        </p:txBody>
      </p:sp>
      <p:sp>
        <p:nvSpPr>
          <p:cNvPr id="48" name="Shape 46"/>
          <p:cNvSpPr/>
          <p:nvPr/>
        </p:nvSpPr>
        <p:spPr>
          <a:xfrm>
            <a:off x="7219188" y="3922776"/>
            <a:ext cx="1617917" cy="329184"/>
          </a:xfrm>
          <a:prstGeom prst="rect">
            <a:avLst/>
          </a:prstGeom>
          <a:solidFill>
            <a:srgbClr val="2F855A"/>
          </a:solidFill>
          <a:ln w="12700">
            <a:solidFill>
              <a:srgbClr val="2F855A"/>
            </a:solidFill>
            <a:prstDash val="solid"/>
          </a:ln>
        </p:spPr>
        <p:txBody>
          <a:bodyPr/>
          <a:lstStyle/>
          <a:p>
            <a:endParaRPr lang="es-CL"/>
          </a:p>
        </p:txBody>
      </p:sp>
      <p:sp>
        <p:nvSpPr>
          <p:cNvPr id="49" name="Text 47"/>
          <p:cNvSpPr txBox="1"/>
          <p:nvPr/>
        </p:nvSpPr>
        <p:spPr>
          <a:xfrm>
            <a:off x="7219188" y="3922776"/>
            <a:ext cx="1617917"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BD 24/24 · API 17/17</a:t>
            </a:r>
            <a:endParaRPr lang="en-US" sz="850" dirty="0"/>
          </a:p>
        </p:txBody>
      </p:sp>
      <p:sp>
        <p:nvSpPr>
          <p:cNvPr id="50" name="Shape 48"/>
          <p:cNvSpPr/>
          <p:nvPr/>
        </p:nvSpPr>
        <p:spPr>
          <a:xfrm>
            <a:off x="8873680" y="3922776"/>
            <a:ext cx="1617917" cy="329184"/>
          </a:xfrm>
          <a:prstGeom prst="rect">
            <a:avLst/>
          </a:prstGeom>
          <a:solidFill>
            <a:srgbClr val="13294B"/>
          </a:solidFill>
          <a:ln w="12700">
            <a:solidFill>
              <a:srgbClr val="13294B"/>
            </a:solidFill>
            <a:prstDash val="solid"/>
          </a:ln>
        </p:spPr>
        <p:txBody>
          <a:bodyPr/>
          <a:lstStyle/>
          <a:p>
            <a:endParaRPr lang="es-CL"/>
          </a:p>
        </p:txBody>
      </p:sp>
      <p:sp>
        <p:nvSpPr>
          <p:cNvPr id="51" name="Text 49"/>
          <p:cNvSpPr txBox="1"/>
          <p:nvPr/>
        </p:nvSpPr>
        <p:spPr>
          <a:xfrm>
            <a:off x="8873680" y="3922776"/>
            <a:ext cx="1617917"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Integración y UAT</a:t>
            </a:r>
            <a:endParaRPr lang="en-US" sz="850" dirty="0"/>
          </a:p>
        </p:txBody>
      </p:sp>
      <p:sp>
        <p:nvSpPr>
          <p:cNvPr id="52" name="Text 50"/>
          <p:cNvSpPr txBox="1"/>
          <p:nvPr/>
        </p:nvSpPr>
        <p:spPr>
          <a:xfrm>
            <a:off x="548640" y="4379976"/>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Despliegue</a:t>
            </a:r>
            <a:endParaRPr lang="en-US" sz="1200" dirty="0"/>
          </a:p>
        </p:txBody>
      </p:sp>
      <p:sp>
        <p:nvSpPr>
          <p:cNvPr id="53" name="Shape 51"/>
          <p:cNvSpPr/>
          <p:nvPr/>
        </p:nvSpPr>
        <p:spPr>
          <a:xfrm>
            <a:off x="2788920" y="4855464"/>
            <a:ext cx="8823960" cy="0"/>
          </a:xfrm>
          <a:prstGeom prst="line">
            <a:avLst/>
          </a:prstGeom>
          <a:noFill/>
          <a:ln w="6350">
            <a:solidFill>
              <a:srgbClr val="D7DCE3"/>
            </a:solidFill>
            <a:prstDash val="solid"/>
          </a:ln>
        </p:spPr>
        <p:txBody>
          <a:bodyPr/>
          <a:lstStyle/>
          <a:p>
            <a:endParaRPr lang="es-CL"/>
          </a:p>
        </p:txBody>
      </p:sp>
      <p:sp>
        <p:nvSpPr>
          <p:cNvPr id="54" name="Shape 52"/>
          <p:cNvSpPr/>
          <p:nvPr/>
        </p:nvSpPr>
        <p:spPr>
          <a:xfrm>
            <a:off x="8873680" y="4434840"/>
            <a:ext cx="1617917" cy="329184"/>
          </a:xfrm>
          <a:prstGeom prst="rect">
            <a:avLst/>
          </a:prstGeom>
          <a:solidFill>
            <a:srgbClr val="13294B"/>
          </a:solidFill>
          <a:ln w="12700">
            <a:solidFill>
              <a:srgbClr val="13294B"/>
            </a:solidFill>
            <a:prstDash val="solid"/>
          </a:ln>
        </p:spPr>
        <p:txBody>
          <a:bodyPr/>
          <a:lstStyle/>
          <a:p>
            <a:endParaRPr lang="es-CL"/>
          </a:p>
        </p:txBody>
      </p:sp>
      <p:sp>
        <p:nvSpPr>
          <p:cNvPr id="55" name="Text 53"/>
          <p:cNvSpPr txBox="1"/>
          <p:nvPr/>
        </p:nvSpPr>
        <p:spPr>
          <a:xfrm>
            <a:off x="8873680" y="4434840"/>
            <a:ext cx="1617917"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Ambiente, producción y marcha blanca</a:t>
            </a:r>
            <a:endParaRPr lang="en-US" sz="850" dirty="0"/>
          </a:p>
        </p:txBody>
      </p:sp>
      <p:sp>
        <p:nvSpPr>
          <p:cNvPr id="56" name="Text 54"/>
          <p:cNvSpPr txBox="1"/>
          <p:nvPr/>
        </p:nvSpPr>
        <p:spPr>
          <a:xfrm>
            <a:off x="548640" y="4892040"/>
            <a:ext cx="2194560" cy="438912"/>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Cierre</a:t>
            </a:r>
            <a:endParaRPr lang="en-US" sz="1200" dirty="0"/>
          </a:p>
        </p:txBody>
      </p:sp>
      <p:sp>
        <p:nvSpPr>
          <p:cNvPr id="57" name="Shape 55"/>
          <p:cNvSpPr/>
          <p:nvPr/>
        </p:nvSpPr>
        <p:spPr>
          <a:xfrm>
            <a:off x="2788920" y="5367528"/>
            <a:ext cx="8823960" cy="0"/>
          </a:xfrm>
          <a:prstGeom prst="line">
            <a:avLst/>
          </a:prstGeom>
          <a:noFill/>
          <a:ln w="6350">
            <a:solidFill>
              <a:srgbClr val="D7DCE3"/>
            </a:solidFill>
            <a:prstDash val="solid"/>
          </a:ln>
        </p:spPr>
        <p:txBody>
          <a:bodyPr/>
          <a:lstStyle/>
          <a:p>
            <a:endParaRPr lang="es-CL"/>
          </a:p>
        </p:txBody>
      </p:sp>
      <p:sp>
        <p:nvSpPr>
          <p:cNvPr id="58" name="Shape 56"/>
          <p:cNvSpPr/>
          <p:nvPr/>
        </p:nvSpPr>
        <p:spPr>
          <a:xfrm>
            <a:off x="9976676" y="4946904"/>
            <a:ext cx="514922" cy="329184"/>
          </a:xfrm>
          <a:prstGeom prst="rect">
            <a:avLst/>
          </a:prstGeom>
          <a:solidFill>
            <a:srgbClr val="13294B"/>
          </a:solidFill>
          <a:ln w="12700">
            <a:solidFill>
              <a:srgbClr val="13294B"/>
            </a:solidFill>
            <a:prstDash val="solid"/>
          </a:ln>
        </p:spPr>
        <p:txBody>
          <a:bodyPr/>
          <a:lstStyle/>
          <a:p>
            <a:endParaRPr lang="es-CL"/>
          </a:p>
        </p:txBody>
      </p:sp>
      <p:sp>
        <p:nvSpPr>
          <p:cNvPr id="59" name="Text 57"/>
          <p:cNvSpPr txBox="1"/>
          <p:nvPr/>
        </p:nvSpPr>
        <p:spPr>
          <a:xfrm>
            <a:off x="9976676" y="4946904"/>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Entrega</a:t>
            </a:r>
            <a:endParaRPr lang="en-US" sz="850" dirty="0"/>
          </a:p>
        </p:txBody>
      </p:sp>
      <p:sp>
        <p:nvSpPr>
          <p:cNvPr id="60" name="Shape 58"/>
          <p:cNvSpPr/>
          <p:nvPr/>
        </p:nvSpPr>
        <p:spPr>
          <a:xfrm>
            <a:off x="11079671" y="4946904"/>
            <a:ext cx="514922" cy="329184"/>
          </a:xfrm>
          <a:prstGeom prst="rect">
            <a:avLst/>
          </a:prstGeom>
          <a:solidFill>
            <a:srgbClr val="13294B"/>
          </a:solidFill>
          <a:ln w="12700">
            <a:solidFill>
              <a:srgbClr val="13294B"/>
            </a:solidFill>
            <a:prstDash val="solid"/>
          </a:ln>
        </p:spPr>
        <p:txBody>
          <a:bodyPr/>
          <a:lstStyle/>
          <a:p>
            <a:endParaRPr lang="es-CL"/>
          </a:p>
        </p:txBody>
      </p:sp>
      <p:sp>
        <p:nvSpPr>
          <p:cNvPr id="61" name="Text 59"/>
          <p:cNvSpPr txBox="1"/>
          <p:nvPr/>
        </p:nvSpPr>
        <p:spPr>
          <a:xfrm>
            <a:off x="11079671" y="4946904"/>
            <a:ext cx="548640" cy="329184"/>
          </a:xfrm>
          <a:prstGeom prst="rect">
            <a:avLst/>
          </a:prstGeom>
          <a:noFill/>
          <a:ln/>
        </p:spPr>
        <p:txBody>
          <a:bodyPr wrap="square" lIns="0" tIns="0" rIns="0" bIns="0" rtlCol="0" anchor="ctr">
            <a:normAutofit/>
          </a:bodyPr>
          <a:lstStyle/>
          <a:p>
            <a:pPr marL="0" indent="0" algn="ctr">
              <a:buNone/>
            </a:pPr>
            <a:r>
              <a:rPr lang="en-US" sz="850" b="1" dirty="0">
                <a:solidFill>
                  <a:srgbClr val="FFFFFF"/>
                </a:solidFill>
                <a:latin typeface="Calibri" pitchFamily="34" charset="0"/>
                <a:ea typeface="Calibri" pitchFamily="34" charset="-122"/>
                <a:cs typeface="Calibri" pitchFamily="34" charset="-120"/>
              </a:rPr>
              <a:t>Defensa</a:t>
            </a:r>
            <a:endParaRPr lang="en-US" sz="850" dirty="0"/>
          </a:p>
        </p:txBody>
      </p:sp>
      <p:sp>
        <p:nvSpPr>
          <p:cNvPr id="62" name="Text 60"/>
          <p:cNvSpPr txBox="1"/>
          <p:nvPr/>
        </p:nvSpPr>
        <p:spPr>
          <a:xfrm>
            <a:off x="548640" y="5404104"/>
            <a:ext cx="2194560" cy="411480"/>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Hitos</a:t>
            </a:r>
            <a:endParaRPr lang="en-US" sz="1200" dirty="0"/>
          </a:p>
        </p:txBody>
      </p:sp>
      <p:sp>
        <p:nvSpPr>
          <p:cNvPr id="63" name="Shape 61"/>
          <p:cNvSpPr/>
          <p:nvPr/>
        </p:nvSpPr>
        <p:spPr>
          <a:xfrm>
            <a:off x="4627721"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64" name="Text 62"/>
          <p:cNvSpPr txBox="1"/>
          <p:nvPr/>
        </p:nvSpPr>
        <p:spPr>
          <a:xfrm>
            <a:off x="4399121"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H1</a:t>
            </a:r>
            <a:endParaRPr lang="en-US" sz="850" dirty="0"/>
          </a:p>
        </p:txBody>
      </p:sp>
      <p:sp>
        <p:nvSpPr>
          <p:cNvPr id="65" name="Shape 63"/>
          <p:cNvSpPr/>
          <p:nvPr/>
        </p:nvSpPr>
        <p:spPr>
          <a:xfrm>
            <a:off x="5179219"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66" name="Text 64"/>
          <p:cNvSpPr txBox="1"/>
          <p:nvPr/>
        </p:nvSpPr>
        <p:spPr>
          <a:xfrm>
            <a:off x="4950619"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H2</a:t>
            </a:r>
            <a:endParaRPr lang="en-US" sz="850" dirty="0"/>
          </a:p>
        </p:txBody>
      </p:sp>
      <p:sp>
        <p:nvSpPr>
          <p:cNvPr id="67" name="Shape 65"/>
          <p:cNvSpPr/>
          <p:nvPr/>
        </p:nvSpPr>
        <p:spPr>
          <a:xfrm>
            <a:off x="7936706" y="5431536"/>
            <a:ext cx="182880" cy="182880"/>
          </a:xfrm>
          <a:prstGeom prst="diamond">
            <a:avLst/>
          </a:prstGeom>
          <a:solidFill>
            <a:srgbClr val="2F855A"/>
          </a:solidFill>
          <a:ln w="12700">
            <a:solidFill>
              <a:srgbClr val="2F855A"/>
            </a:solidFill>
            <a:prstDash val="solid"/>
          </a:ln>
        </p:spPr>
        <p:txBody>
          <a:bodyPr/>
          <a:lstStyle/>
          <a:p>
            <a:endParaRPr lang="es-CL"/>
          </a:p>
        </p:txBody>
      </p:sp>
      <p:sp>
        <p:nvSpPr>
          <p:cNvPr id="68" name="Text 66"/>
          <p:cNvSpPr txBox="1"/>
          <p:nvPr/>
        </p:nvSpPr>
        <p:spPr>
          <a:xfrm>
            <a:off x="7708106" y="5623560"/>
            <a:ext cx="640080" cy="201168"/>
          </a:xfrm>
          <a:prstGeom prst="rect">
            <a:avLst/>
          </a:prstGeom>
          <a:noFill/>
          <a:ln/>
        </p:spPr>
        <p:txBody>
          <a:bodyPr wrap="square" lIns="0" tIns="0" rIns="0" bIns="0" rtlCol="0" anchor="ctr"/>
          <a:lstStyle/>
          <a:p>
            <a:pPr marL="0" indent="0" algn="ctr">
              <a:buNone/>
            </a:pPr>
            <a:r>
              <a:rPr lang="en-US" sz="850" b="1" dirty="0">
                <a:solidFill>
                  <a:srgbClr val="2F855A"/>
                </a:solidFill>
                <a:latin typeface="Calibri" pitchFamily="34" charset="0"/>
                <a:ea typeface="Calibri" pitchFamily="34" charset="-122"/>
                <a:cs typeface="Calibri" pitchFamily="34" charset="-120"/>
              </a:rPr>
              <a:t>H3·H4</a:t>
            </a:r>
            <a:endParaRPr lang="en-US" sz="850" dirty="0"/>
          </a:p>
        </p:txBody>
      </p:sp>
      <p:sp>
        <p:nvSpPr>
          <p:cNvPr id="69" name="Shape 67"/>
          <p:cNvSpPr/>
          <p:nvPr/>
        </p:nvSpPr>
        <p:spPr>
          <a:xfrm>
            <a:off x="8488204" y="5431536"/>
            <a:ext cx="182880" cy="182880"/>
          </a:xfrm>
          <a:prstGeom prst="diamond">
            <a:avLst/>
          </a:prstGeom>
          <a:solidFill>
            <a:srgbClr val="B83A3A"/>
          </a:solidFill>
          <a:ln w="12700">
            <a:solidFill>
              <a:srgbClr val="B83A3A"/>
            </a:solidFill>
            <a:prstDash val="solid"/>
          </a:ln>
        </p:spPr>
        <p:txBody>
          <a:bodyPr/>
          <a:lstStyle/>
          <a:p>
            <a:endParaRPr lang="es-CL"/>
          </a:p>
        </p:txBody>
      </p:sp>
      <p:sp>
        <p:nvSpPr>
          <p:cNvPr id="70" name="Text 68"/>
          <p:cNvSpPr txBox="1"/>
          <p:nvPr/>
        </p:nvSpPr>
        <p:spPr>
          <a:xfrm>
            <a:off x="8259604" y="5623560"/>
            <a:ext cx="640080" cy="201168"/>
          </a:xfrm>
          <a:prstGeom prst="rect">
            <a:avLst/>
          </a:prstGeom>
          <a:noFill/>
          <a:ln/>
        </p:spPr>
        <p:txBody>
          <a:bodyPr wrap="square" lIns="0" tIns="0" rIns="0" bIns="0" rtlCol="0" anchor="ctr"/>
          <a:lstStyle/>
          <a:p>
            <a:pPr marL="0" indent="0" algn="ctr">
              <a:buNone/>
            </a:pPr>
            <a:r>
              <a:rPr lang="en-US" sz="850" b="1" dirty="0">
                <a:solidFill>
                  <a:srgbClr val="B83A3A"/>
                </a:solidFill>
                <a:latin typeface="Calibri" pitchFamily="34" charset="0"/>
                <a:ea typeface="Calibri" pitchFamily="34" charset="-122"/>
                <a:cs typeface="Calibri" pitchFamily="34" charset="-120"/>
              </a:rPr>
              <a:t>H5</a:t>
            </a:r>
            <a:endParaRPr lang="en-US" sz="850" dirty="0"/>
          </a:p>
        </p:txBody>
      </p:sp>
      <p:sp>
        <p:nvSpPr>
          <p:cNvPr id="71" name="Shape 69"/>
          <p:cNvSpPr/>
          <p:nvPr/>
        </p:nvSpPr>
        <p:spPr>
          <a:xfrm>
            <a:off x="9039701"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72" name="Text 70"/>
          <p:cNvSpPr txBox="1"/>
          <p:nvPr/>
        </p:nvSpPr>
        <p:spPr>
          <a:xfrm>
            <a:off x="8811101"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H6</a:t>
            </a:r>
            <a:endParaRPr lang="en-US" sz="850" dirty="0"/>
          </a:p>
        </p:txBody>
      </p:sp>
      <p:sp>
        <p:nvSpPr>
          <p:cNvPr id="73" name="Shape 71"/>
          <p:cNvSpPr/>
          <p:nvPr/>
        </p:nvSpPr>
        <p:spPr>
          <a:xfrm>
            <a:off x="10142696"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74" name="Text 72"/>
          <p:cNvSpPr txBox="1"/>
          <p:nvPr/>
        </p:nvSpPr>
        <p:spPr>
          <a:xfrm>
            <a:off x="9914096"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H7·H8</a:t>
            </a:r>
            <a:endParaRPr lang="en-US" sz="850" dirty="0"/>
          </a:p>
        </p:txBody>
      </p:sp>
      <p:sp>
        <p:nvSpPr>
          <p:cNvPr id="75" name="Shape 73"/>
          <p:cNvSpPr/>
          <p:nvPr/>
        </p:nvSpPr>
        <p:spPr>
          <a:xfrm>
            <a:off x="11245691" y="5431536"/>
            <a:ext cx="182880" cy="182880"/>
          </a:xfrm>
          <a:prstGeom prst="diamond">
            <a:avLst/>
          </a:prstGeom>
          <a:solidFill>
            <a:srgbClr val="13294B"/>
          </a:solidFill>
          <a:ln w="12700">
            <a:solidFill>
              <a:srgbClr val="13294B"/>
            </a:solidFill>
            <a:prstDash val="solid"/>
          </a:ln>
        </p:spPr>
        <p:txBody>
          <a:bodyPr/>
          <a:lstStyle/>
          <a:p>
            <a:endParaRPr lang="es-CL"/>
          </a:p>
        </p:txBody>
      </p:sp>
      <p:sp>
        <p:nvSpPr>
          <p:cNvPr id="76" name="Text 74"/>
          <p:cNvSpPr txBox="1"/>
          <p:nvPr/>
        </p:nvSpPr>
        <p:spPr>
          <a:xfrm>
            <a:off x="11017091" y="5623560"/>
            <a:ext cx="640080" cy="201168"/>
          </a:xfrm>
          <a:prstGeom prst="rect">
            <a:avLst/>
          </a:prstGeom>
          <a:noFill/>
          <a:ln/>
        </p:spPr>
        <p:txBody>
          <a:bodyPr wrap="square" lIns="0" tIns="0" rIns="0" bIns="0" rtlCol="0" anchor="ctr"/>
          <a:lstStyle/>
          <a:p>
            <a:pPr marL="0" indent="0" algn="ctr">
              <a:buNone/>
            </a:pPr>
            <a:r>
              <a:rPr lang="en-US" sz="850" b="1" dirty="0">
                <a:solidFill>
                  <a:srgbClr val="13294B"/>
                </a:solidFill>
                <a:latin typeface="Calibri" pitchFamily="34" charset="0"/>
                <a:ea typeface="Calibri" pitchFamily="34" charset="-122"/>
                <a:cs typeface="Calibri" pitchFamily="34" charset="-120"/>
              </a:rPr>
              <a:t>H9</a:t>
            </a:r>
            <a:endParaRPr lang="en-US" sz="850" dirty="0"/>
          </a:p>
        </p:txBody>
      </p:sp>
      <p:sp>
        <p:nvSpPr>
          <p:cNvPr id="77" name="Shape 75"/>
          <p:cNvSpPr/>
          <p:nvPr/>
        </p:nvSpPr>
        <p:spPr>
          <a:xfrm>
            <a:off x="2788920" y="5897880"/>
            <a:ext cx="201168" cy="164592"/>
          </a:xfrm>
          <a:prstGeom prst="rect">
            <a:avLst/>
          </a:prstGeom>
          <a:solidFill>
            <a:srgbClr val="2F855A"/>
          </a:solidFill>
          <a:ln w="12700">
            <a:solidFill>
              <a:srgbClr val="2F855A"/>
            </a:solidFill>
            <a:prstDash val="solid"/>
          </a:ln>
        </p:spPr>
        <p:txBody>
          <a:bodyPr/>
          <a:lstStyle/>
          <a:p>
            <a:endParaRPr lang="es-CL"/>
          </a:p>
        </p:txBody>
      </p:sp>
      <p:sp>
        <p:nvSpPr>
          <p:cNvPr id="78" name="Text 76"/>
          <p:cNvSpPr txBox="1"/>
          <p:nvPr/>
        </p:nvSpPr>
        <p:spPr>
          <a:xfrm>
            <a:off x="306324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Realizado</a:t>
            </a:r>
            <a:endParaRPr lang="en-US" sz="1050" dirty="0"/>
          </a:p>
        </p:txBody>
      </p:sp>
      <p:sp>
        <p:nvSpPr>
          <p:cNvPr id="79" name="Shape 77"/>
          <p:cNvSpPr/>
          <p:nvPr/>
        </p:nvSpPr>
        <p:spPr>
          <a:xfrm>
            <a:off x="4526280" y="5897880"/>
            <a:ext cx="201168" cy="164592"/>
          </a:xfrm>
          <a:prstGeom prst="rect">
            <a:avLst/>
          </a:prstGeom>
          <a:solidFill>
            <a:srgbClr val="B5762A"/>
          </a:solidFill>
          <a:ln w="12700">
            <a:solidFill>
              <a:srgbClr val="B5762A"/>
            </a:solidFill>
            <a:prstDash val="solid"/>
          </a:ln>
        </p:spPr>
        <p:txBody>
          <a:bodyPr/>
          <a:lstStyle/>
          <a:p>
            <a:endParaRPr lang="es-CL"/>
          </a:p>
        </p:txBody>
      </p:sp>
      <p:sp>
        <p:nvSpPr>
          <p:cNvPr id="80" name="Text 78"/>
          <p:cNvSpPr txBox="1"/>
          <p:nvPr/>
        </p:nvSpPr>
        <p:spPr>
          <a:xfrm>
            <a:off x="480060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En progreso</a:t>
            </a:r>
            <a:endParaRPr lang="en-US" sz="1050" dirty="0"/>
          </a:p>
        </p:txBody>
      </p:sp>
      <p:sp>
        <p:nvSpPr>
          <p:cNvPr id="81" name="Shape 79"/>
          <p:cNvSpPr/>
          <p:nvPr/>
        </p:nvSpPr>
        <p:spPr>
          <a:xfrm>
            <a:off x="6263640" y="5897880"/>
            <a:ext cx="201168" cy="164592"/>
          </a:xfrm>
          <a:prstGeom prst="rect">
            <a:avLst/>
          </a:prstGeom>
          <a:solidFill>
            <a:srgbClr val="9AA3AF"/>
          </a:solidFill>
          <a:ln w="12700">
            <a:solidFill>
              <a:srgbClr val="9AA3AF"/>
            </a:solidFill>
            <a:prstDash val="solid"/>
          </a:ln>
        </p:spPr>
        <p:txBody>
          <a:bodyPr/>
          <a:lstStyle/>
          <a:p>
            <a:endParaRPr lang="es-CL"/>
          </a:p>
        </p:txBody>
      </p:sp>
      <p:sp>
        <p:nvSpPr>
          <p:cNvPr id="82" name="Text 80"/>
          <p:cNvSpPr txBox="1"/>
          <p:nvPr/>
        </p:nvSpPr>
        <p:spPr>
          <a:xfrm>
            <a:off x="653796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En pausa</a:t>
            </a:r>
            <a:endParaRPr lang="en-US" sz="1050" dirty="0"/>
          </a:p>
        </p:txBody>
      </p:sp>
      <p:sp>
        <p:nvSpPr>
          <p:cNvPr id="83" name="Shape 81"/>
          <p:cNvSpPr/>
          <p:nvPr/>
        </p:nvSpPr>
        <p:spPr>
          <a:xfrm>
            <a:off x="8001000" y="5897880"/>
            <a:ext cx="201168" cy="164592"/>
          </a:xfrm>
          <a:prstGeom prst="rect">
            <a:avLst/>
          </a:prstGeom>
          <a:solidFill>
            <a:srgbClr val="13294B"/>
          </a:solidFill>
          <a:ln w="12700">
            <a:solidFill>
              <a:srgbClr val="13294B"/>
            </a:solidFill>
            <a:prstDash val="solid"/>
          </a:ln>
        </p:spPr>
        <p:txBody>
          <a:bodyPr/>
          <a:lstStyle/>
          <a:p>
            <a:endParaRPr lang="es-CL"/>
          </a:p>
        </p:txBody>
      </p:sp>
      <p:sp>
        <p:nvSpPr>
          <p:cNvPr id="84" name="Text 82"/>
          <p:cNvSpPr txBox="1"/>
          <p:nvPr/>
        </p:nvSpPr>
        <p:spPr>
          <a:xfrm>
            <a:off x="8275320" y="5852160"/>
            <a:ext cx="137160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Planificado</a:t>
            </a:r>
            <a:endParaRPr lang="en-US" sz="1050" dirty="0"/>
          </a:p>
        </p:txBody>
      </p:sp>
      <p:sp>
        <p:nvSpPr>
          <p:cNvPr id="85" name="Text 83"/>
          <p:cNvSpPr txBox="1"/>
          <p:nvPr/>
        </p:nvSpPr>
        <p:spPr>
          <a:xfrm>
            <a:off x="548640" y="6144768"/>
            <a:ext cx="11064240" cy="274320"/>
          </a:xfrm>
          <a:prstGeom prst="rect">
            <a:avLst/>
          </a:prstGeom>
          <a:noFill/>
          <a:ln/>
        </p:spPr>
        <p:txBody>
          <a:bodyPr wrap="square" lIns="0" tIns="0" rIns="0" bIns="0" rtlCol="0" anchor="ctr"/>
          <a:lstStyle/>
          <a:p>
            <a:pPr marL="0" indent="0">
              <a:buNone/>
            </a:pPr>
            <a:r>
              <a:rPr lang="en-US" sz="950" dirty="0">
                <a:solidFill>
                  <a:srgbClr val="5B6472"/>
                </a:solidFill>
                <a:latin typeface="Calibri" pitchFamily="34" charset="0"/>
                <a:ea typeface="Calibri" pitchFamily="34" charset="-122"/>
                <a:cs typeface="Calibri" pitchFamily="34" charset="-120"/>
              </a:rPr>
              <a:t>H1 cierre F1 (04-09) · H2 avance (11-09) · H3 diseño aprobado (16-10) · H4 cierre F2 (18-10) · H5 hoy · H6 sistema integrado (30-10) · H7 UAT (10-11) · H8 entrega (13-11) · H9 defensa (27-11)</a:t>
            </a:r>
            <a:endParaRPr lang="en-US" sz="950" dirty="0"/>
          </a:p>
        </p:txBody>
      </p:sp>
      <p:sp>
        <p:nvSpPr>
          <p:cNvPr id="86"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AVANCE A LA FECHA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Lo planificado hasta esta semana y lo logrado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Comparación del plan semanal (presentado el 09-10) con el estado real al 23-10-2026.</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300628524"/>
              </p:ext>
            </p:extLst>
          </p:nvPr>
        </p:nvGraphicFramePr>
        <p:xfrm>
          <a:off x="548640" y="1783080"/>
          <a:ext cx="11064240" cy="4215384"/>
        </p:xfrm>
        <a:graphic>
          <a:graphicData uri="http://schemas.openxmlformats.org/drawingml/2006/table">
            <a:tbl>
              <a:tblPr/>
              <a:tblGrid>
                <a:gridCol w="105156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Semana</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Planificado</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Logrado al 23-10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Estado</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566928">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S1–S4</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Inicio: Acta, ERS, kick-off, EDT y planes (H1, 04-09)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Fase 1 cerrada (04-09)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1"/>
                  </a:ext>
                </a:extLst>
              </a:tr>
              <a:tr h="566928">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S5–S8</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Diseño UX/UI, arquitectura 4+1 y prototipos web y app (H2, 11-09)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Prototipos funcionales (01-10) y 35 diagramas</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2"/>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S9</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Cerrar la documentación de </a:t>
                      </a:r>
                      <a:r>
                        <a:rPr lang="en-US" sz="1150" dirty="0" err="1">
                          <a:solidFill>
                            <a:srgbClr val="1E2430"/>
                          </a:solidFill>
                          <a:latin typeface="Calibri" pitchFamily="34" charset="0"/>
                          <a:ea typeface="Calibri" pitchFamily="34" charset="-122"/>
                          <a:cs typeface="Calibri" pitchFamily="34" charset="-120"/>
                        </a:rPr>
                        <a:t>diseño</a:t>
                      </a:r>
                      <a:r>
                        <a:rPr lang="en-US" sz="1150" dirty="0">
                          <a:solidFill>
                            <a:srgbClr val="1E2430"/>
                          </a:solidFill>
                          <a:latin typeface="Calibri" pitchFamily="34" charset="0"/>
                          <a:ea typeface="Calibri" pitchFamily="34" charset="-122"/>
                          <a:cs typeface="Calibri" pitchFamily="34" charset="-120"/>
                        </a:rPr>
                        <a:t> y matriz de riesgos</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Documentación de diseño, roadmap y riesgos presentados (09-10)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3"/>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Aprobar el diseño (H3, H4) e iniciar la API y la migración a PostgreSQL</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Fase 2 cerrada (18-10); base de datos </a:t>
                      </a:r>
                      <a:r>
                        <a:rPr lang="en-US" sz="1150" dirty="0" err="1">
                          <a:solidFill>
                            <a:srgbClr val="1E2430"/>
                          </a:solidFill>
                          <a:latin typeface="Calibri" pitchFamily="34" charset="0"/>
                          <a:ea typeface="Calibri" pitchFamily="34" charset="-122"/>
                          <a:cs typeface="Calibri" pitchFamily="34" charset="-120"/>
                        </a:rPr>
                        <a:t>en</a:t>
                      </a:r>
                      <a:r>
                        <a:rPr lang="en-US" sz="1150" dirty="0">
                          <a:solidFill>
                            <a:srgbClr val="1E2430"/>
                          </a:solidFill>
                          <a:latin typeface="Calibri" pitchFamily="34" charset="0"/>
                          <a:ea typeface="Calibri" pitchFamily="34" charset="-122"/>
                          <a:cs typeface="Calibri" pitchFamily="34" charset="-120"/>
                        </a:rPr>
                        <a:t> </a:t>
                      </a:r>
                      <a:r>
                        <a:rPr lang="en-US" sz="1150" dirty="0" err="1">
                          <a:solidFill>
                            <a:srgbClr val="1E2430"/>
                          </a:solidFill>
                          <a:latin typeface="Calibri" pitchFamily="34" charset="0"/>
                          <a:ea typeface="Calibri" pitchFamily="34" charset="-122"/>
                          <a:cs typeface="Calibri" pitchFamily="34" charset="-120"/>
                        </a:rPr>
                        <a:t>Supabase</a:t>
                      </a:r>
                      <a:r>
                        <a:rPr lang="en-US" sz="1150" dirty="0">
                          <a:solidFill>
                            <a:srgbClr val="1E2430"/>
                          </a:solidFill>
                          <a:latin typeface="Calibri" pitchFamily="34" charset="0"/>
                          <a:ea typeface="Calibri" pitchFamily="34" charset="-122"/>
                          <a:cs typeface="Calibri" pitchFamily="34" charset="-120"/>
                        </a:rPr>
                        <a:t>. (20-10)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Cumplido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2F855A"/>
                    </a:solidFill>
                  </a:tcPr>
                </a:tc>
                <a:extLst>
                  <a:ext uri="{0D108BD9-81ED-4DB2-BD59-A6C34878D82A}">
                    <a16:rowId xmlns:a16="http://schemas.microsoft.com/office/drawing/2014/main" val="10004"/>
                  </a:ext>
                </a:extLst>
              </a:tr>
              <a:tr h="77724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S11</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API de reservas, abono y turnos; Webpay; «Mis datos»; plan y casos de prueba; presentación (H5)</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API de 13 funciones; web y app sobre el modelo relacional; reservas, reagendamiento, anulación y reseñas; plan de pruebas (77 + 24)</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E2430"/>
                          </a:solidFill>
                          <a:latin typeface="Calibri" pitchFamily="34" charset="0"/>
                          <a:ea typeface="Calibri" pitchFamily="34" charset="-122"/>
                          <a:cs typeface="Calibri" pitchFamily="34" charset="-120"/>
                        </a:rPr>
                        <a:t>Parcial</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5762A"/>
                    </a:solidFill>
                  </a:tcPr>
                </a:tc>
                <a:extLst>
                  <a:ext uri="{0D108BD9-81ED-4DB2-BD59-A6C34878D82A}">
                    <a16:rowId xmlns:a16="http://schemas.microsoft.com/office/drawing/2014/main" val="10005"/>
                  </a:ext>
                </a:extLst>
              </a:tr>
              <a:tr h="640080">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S11 → S12</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Pago real con Webpay, fila por orden de llegada y «Mis datos»</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50" dirty="0">
                          <a:solidFill>
                            <a:srgbClr val="1E2430"/>
                          </a:solidFill>
                          <a:latin typeface="Calibri" pitchFamily="34" charset="0"/>
                          <a:ea typeface="Calibri" pitchFamily="34" charset="-122"/>
                          <a:cs typeface="Calibri" pitchFamily="34" charset="-120"/>
                        </a:rPr>
                        <a:t>Pendientes: se integran antes del sistema integrado (H6, 30-10)</a:t>
                      </a:r>
                      <a:endParaRPr lang="en-US" sz="115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Atrasado</a:t>
                      </a:r>
                      <a:endParaRPr lang="en-US" sz="1100" dirty="0">
                        <a:latin typeface="Calibri" charset="0"/>
                        <a:ea typeface="Calibri" charset="0"/>
                        <a:cs typeface="Calibri" charset="0"/>
                      </a:endParaRPr>
                    </a:p>
                  </a:txBody>
                  <a:tcPr marL="73152" marR="73152" marT="73152" marB="73152"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B83A3A"/>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ARQUITECTURA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Arquitectura: modelo de vistas 4+1</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Modelo 4+1 (Kruchten, 1995) en notación UML (Object Management Group [OMG], 2017). 35 diagramas documentados en el DAS v3.2.</a:t>
            </a:r>
            <a:endParaRPr lang="en-US" sz="1250" dirty="0"/>
          </a:p>
        </p:txBody>
      </p:sp>
      <p:sp>
        <p:nvSpPr>
          <p:cNvPr id="5" name="Shape 3"/>
          <p:cNvSpPr/>
          <p:nvPr/>
        </p:nvSpPr>
        <p:spPr>
          <a:xfrm>
            <a:off x="54864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8580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Lógica</a:t>
            </a:r>
            <a:endParaRPr lang="en-US" sz="1400" dirty="0"/>
          </a:p>
        </p:txBody>
      </p:sp>
      <p:pic>
        <p:nvPicPr>
          <p:cNvPr id="7" name="Image 0" descr="C:/Users/User/Desktop/informatica/8°_Semestre/Diagramas/png/DIAG-02_Vista_logica_modelo_de_clases_del_dominio.png"/>
          <p:cNvPicPr>
            <a:picLocks noChangeAspect="1"/>
          </p:cNvPicPr>
          <p:nvPr/>
        </p:nvPicPr>
        <p:blipFill>
          <a:blip r:embed="rId3"/>
          <a:srcRect/>
          <a:stretch/>
        </p:blipFill>
        <p:spPr>
          <a:xfrm>
            <a:off x="658368" y="2331720"/>
            <a:ext cx="1883664" cy="2377440"/>
          </a:xfrm>
          <a:prstGeom prst="rect">
            <a:avLst/>
          </a:prstGeom>
        </p:spPr>
      </p:pic>
      <p:sp>
        <p:nvSpPr>
          <p:cNvPr id="8" name="Text 5"/>
          <p:cNvSpPr txBox="1"/>
          <p:nvPr/>
        </p:nvSpPr>
        <p:spPr>
          <a:xfrm>
            <a:off x="68580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Modelo de clases del dominio y capas (DIAG-01, DIAG-02)</a:t>
            </a:r>
            <a:endParaRPr lang="en-US" sz="1100" dirty="0"/>
          </a:p>
        </p:txBody>
      </p:sp>
      <p:sp>
        <p:nvSpPr>
          <p:cNvPr id="9" name="Shape 6"/>
          <p:cNvSpPr/>
          <p:nvPr/>
        </p:nvSpPr>
        <p:spPr>
          <a:xfrm>
            <a:off x="278892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0" name="Text 7"/>
          <p:cNvSpPr txBox="1"/>
          <p:nvPr/>
        </p:nvSpPr>
        <p:spPr>
          <a:xfrm>
            <a:off x="292608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Procesos</a:t>
            </a:r>
            <a:endParaRPr lang="en-US" sz="1400" dirty="0"/>
          </a:p>
        </p:txBody>
      </p:sp>
      <p:pic>
        <p:nvPicPr>
          <p:cNvPr id="11" name="Image 1" descr="C:/Users/User/Desktop/informatica/8°_Semestre/Diagramas/png/DIAG-03_Vista_de_procesos_secuencia_de_reserva_con_abono.png"/>
          <p:cNvPicPr>
            <a:picLocks noChangeAspect="1"/>
          </p:cNvPicPr>
          <p:nvPr/>
        </p:nvPicPr>
        <p:blipFill>
          <a:blip r:embed="rId4"/>
          <a:srcRect/>
          <a:stretch/>
        </p:blipFill>
        <p:spPr>
          <a:xfrm>
            <a:off x="2898648" y="2331720"/>
            <a:ext cx="1883664" cy="2377440"/>
          </a:xfrm>
          <a:prstGeom prst="rect">
            <a:avLst/>
          </a:prstGeom>
        </p:spPr>
      </p:pic>
      <p:sp>
        <p:nvSpPr>
          <p:cNvPr id="12" name="Text 8"/>
          <p:cNvSpPr txBox="1"/>
          <p:nvPr/>
        </p:nvSpPr>
        <p:spPr>
          <a:xfrm>
            <a:off x="292608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Secuencias de reserva con abono, atención y cancelación (DIAG-03 a 11, 35)</a:t>
            </a:r>
            <a:endParaRPr lang="en-US" sz="1100" dirty="0"/>
          </a:p>
        </p:txBody>
      </p:sp>
      <p:sp>
        <p:nvSpPr>
          <p:cNvPr id="13" name="Shape 9"/>
          <p:cNvSpPr/>
          <p:nvPr/>
        </p:nvSpPr>
        <p:spPr>
          <a:xfrm>
            <a:off x="502920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4" name="Text 10"/>
          <p:cNvSpPr txBox="1"/>
          <p:nvPr/>
        </p:nvSpPr>
        <p:spPr>
          <a:xfrm>
            <a:off x="516636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Desarrollo</a:t>
            </a:r>
            <a:endParaRPr lang="en-US" sz="1400" dirty="0"/>
          </a:p>
        </p:txBody>
      </p:sp>
      <p:pic>
        <p:nvPicPr>
          <p:cNvPr id="15" name="Image 2" descr="C:/Users/User/Desktop/informatica/8°_Semestre/Diagramas/png/DIAG-12_Vista_de_desarrollo_componentes_y_modulos.png"/>
          <p:cNvPicPr>
            <a:picLocks noChangeAspect="1"/>
          </p:cNvPicPr>
          <p:nvPr/>
        </p:nvPicPr>
        <p:blipFill>
          <a:blip r:embed="rId5"/>
          <a:srcRect/>
          <a:stretch/>
        </p:blipFill>
        <p:spPr>
          <a:xfrm>
            <a:off x="5138928" y="2331720"/>
            <a:ext cx="1883664" cy="2377440"/>
          </a:xfrm>
          <a:prstGeom prst="rect">
            <a:avLst/>
          </a:prstGeom>
        </p:spPr>
      </p:pic>
      <p:sp>
        <p:nvSpPr>
          <p:cNvPr id="16" name="Text 11"/>
          <p:cNvSpPr txBox="1"/>
          <p:nvPr/>
        </p:nvSpPr>
        <p:spPr>
          <a:xfrm>
            <a:off x="516636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Componentes: web React, app Android (MVVM), API REST y PostgreSQL (DIAG-12)</a:t>
            </a:r>
            <a:endParaRPr lang="en-US" sz="1100" dirty="0"/>
          </a:p>
        </p:txBody>
      </p:sp>
      <p:sp>
        <p:nvSpPr>
          <p:cNvPr id="17" name="Shape 12"/>
          <p:cNvSpPr/>
          <p:nvPr/>
        </p:nvSpPr>
        <p:spPr>
          <a:xfrm>
            <a:off x="7269480" y="1783080"/>
            <a:ext cx="2103120" cy="4434840"/>
          </a:xfrm>
          <a:prstGeom prst="rect">
            <a:avLst/>
          </a:prstGeom>
          <a:solidFill>
            <a:srgbClr val="FFFFFF"/>
          </a:solidFill>
          <a:ln w="9525">
            <a:solidFill>
              <a:srgbClr val="D7DCE3"/>
            </a:solidFill>
            <a:prstDash val="solid"/>
          </a:ln>
        </p:spPr>
        <p:txBody>
          <a:bodyPr/>
          <a:lstStyle/>
          <a:p>
            <a:endParaRPr lang="es-CL"/>
          </a:p>
        </p:txBody>
      </p:sp>
      <p:sp>
        <p:nvSpPr>
          <p:cNvPr id="18" name="Text 13"/>
          <p:cNvSpPr txBox="1"/>
          <p:nvPr/>
        </p:nvSpPr>
        <p:spPr>
          <a:xfrm>
            <a:off x="740664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Física</a:t>
            </a:r>
            <a:endParaRPr lang="en-US" sz="1400" dirty="0"/>
          </a:p>
        </p:txBody>
      </p:sp>
      <p:pic>
        <p:nvPicPr>
          <p:cNvPr id="19" name="Image 3" descr="C:/Users/User/Desktop/informatica/8°_Semestre/Diagramas/png/DIAG-13_Vista_fisica_despliegue_actual_3_sucursales.png"/>
          <p:cNvPicPr>
            <a:picLocks noChangeAspect="1"/>
          </p:cNvPicPr>
          <p:nvPr/>
        </p:nvPicPr>
        <p:blipFill>
          <a:blip r:embed="rId6"/>
          <a:srcRect/>
          <a:stretch/>
        </p:blipFill>
        <p:spPr>
          <a:xfrm>
            <a:off x="7379208" y="2331720"/>
            <a:ext cx="1883664" cy="2377440"/>
          </a:xfrm>
          <a:prstGeom prst="rect">
            <a:avLst/>
          </a:prstGeom>
        </p:spPr>
      </p:pic>
      <p:sp>
        <p:nvSpPr>
          <p:cNvPr id="20" name="Text 14"/>
          <p:cNvSpPr txBox="1"/>
          <p:nvPr/>
        </p:nvSpPr>
        <p:spPr>
          <a:xfrm>
            <a:off x="740664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Despliegue actual: API y base de datos en Supabase; 3 sucursales (DIAG-13, 14)</a:t>
            </a:r>
            <a:endParaRPr lang="en-US" sz="1100" dirty="0"/>
          </a:p>
        </p:txBody>
      </p:sp>
      <p:sp>
        <p:nvSpPr>
          <p:cNvPr id="21" name="Shape 15"/>
          <p:cNvSpPr/>
          <p:nvPr/>
        </p:nvSpPr>
        <p:spPr>
          <a:xfrm>
            <a:off x="9509760" y="1783080"/>
            <a:ext cx="2103120" cy="4434840"/>
          </a:xfrm>
          <a:prstGeom prst="rect">
            <a:avLst/>
          </a:prstGeom>
          <a:solidFill>
            <a:srgbClr val="EEF1F5"/>
          </a:solidFill>
          <a:ln w="9525">
            <a:solidFill>
              <a:srgbClr val="D7DCE3"/>
            </a:solidFill>
            <a:prstDash val="solid"/>
          </a:ln>
        </p:spPr>
        <p:txBody>
          <a:bodyPr/>
          <a:lstStyle/>
          <a:p>
            <a:endParaRPr lang="es-CL"/>
          </a:p>
        </p:txBody>
      </p:sp>
      <p:sp>
        <p:nvSpPr>
          <p:cNvPr id="22" name="Text 16"/>
          <p:cNvSpPr txBox="1"/>
          <p:nvPr/>
        </p:nvSpPr>
        <p:spPr>
          <a:xfrm>
            <a:off x="9646920" y="1874520"/>
            <a:ext cx="182880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Escenarios (+1)</a:t>
            </a:r>
            <a:endParaRPr lang="en-US" sz="1400" dirty="0"/>
          </a:p>
        </p:txBody>
      </p:sp>
      <p:pic>
        <p:nvPicPr>
          <p:cNvPr id="23" name="Image 4" descr="C:/Users/User/Desktop/informatica/8°_Semestre/Diagramas/png/DIAG-15_Vista_de_escenarios_diagrama_general_de_casos_de_uso.png"/>
          <p:cNvPicPr>
            <a:picLocks noChangeAspect="1"/>
          </p:cNvPicPr>
          <p:nvPr/>
        </p:nvPicPr>
        <p:blipFill>
          <a:blip r:embed="rId7"/>
          <a:srcRect/>
          <a:stretch/>
        </p:blipFill>
        <p:spPr>
          <a:xfrm>
            <a:off x="9619488" y="2331720"/>
            <a:ext cx="1883664" cy="2377440"/>
          </a:xfrm>
          <a:prstGeom prst="rect">
            <a:avLst/>
          </a:prstGeom>
        </p:spPr>
      </p:pic>
      <p:sp>
        <p:nvSpPr>
          <p:cNvPr id="24" name="Text 17"/>
          <p:cNvSpPr txBox="1"/>
          <p:nvPr/>
        </p:nvSpPr>
        <p:spPr>
          <a:xfrm>
            <a:off x="9646920" y="4846320"/>
            <a:ext cx="1828800" cy="1280160"/>
          </a:xfrm>
          <a:prstGeom prst="rect">
            <a:avLst/>
          </a:prstGeom>
          <a:noFill/>
          <a:ln/>
        </p:spPr>
        <p:txBody>
          <a:bodyPr wrap="square" lIns="0" tIns="0" rIns="0" bIns="0" rtlCol="0" anchor="t"/>
          <a:lstStyle/>
          <a:p>
            <a:pPr marL="0" indent="0">
              <a:buNone/>
            </a:pPr>
            <a:r>
              <a:rPr lang="en-US" sz="1100" dirty="0">
                <a:solidFill>
                  <a:srgbClr val="1E2430"/>
                </a:solidFill>
                <a:latin typeface="Calibri" pitchFamily="34" charset="0"/>
                <a:ea typeface="Calibri" pitchFamily="34" charset="-122"/>
                <a:cs typeface="Calibri" pitchFamily="34" charset="-120"/>
              </a:rPr>
              <a:t>41 casos de uso con 5 actores y 2 sistemas externos (DIAG-15 a 22)</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VISTA DE ESCENARIOS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Casos de uso: 41 casos en 7 módulos</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Especificados en el documento 17 con flujo principal, alternativos, reglas de negocio y trazabilidad a los RF.</a:t>
            </a:r>
            <a:endParaRPr lang="en-US" sz="1250" dirty="0"/>
          </a:p>
        </p:txBody>
      </p:sp>
      <p:sp>
        <p:nvSpPr>
          <p:cNvPr id="5" name="Shape 3"/>
          <p:cNvSpPr/>
          <p:nvPr/>
        </p:nvSpPr>
        <p:spPr>
          <a:xfrm>
            <a:off x="548640" y="1737360"/>
            <a:ext cx="4251960" cy="374904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Desktop/informatica/8°_Semestre/Diagramas/png/DIAG-15_Vista_de_escenarios_diagrama_general_de_casos_de_uso.png"/>
          <p:cNvPicPr>
            <a:picLocks noChangeAspect="1"/>
          </p:cNvPicPr>
          <p:nvPr/>
        </p:nvPicPr>
        <p:blipFill>
          <a:blip r:embed="rId3"/>
          <a:srcRect/>
          <a:stretch/>
        </p:blipFill>
        <p:spPr>
          <a:xfrm>
            <a:off x="594360" y="1783080"/>
            <a:ext cx="4160520" cy="3657600"/>
          </a:xfrm>
          <a:prstGeom prst="rect">
            <a:avLst/>
          </a:prstGeom>
        </p:spPr>
      </p:pic>
      <p:sp>
        <p:nvSpPr>
          <p:cNvPr id="7" name="Text 4"/>
          <p:cNvSpPr txBox="1"/>
          <p:nvPr/>
        </p:nvSpPr>
        <p:spPr>
          <a:xfrm>
            <a:off x="548640" y="5532120"/>
            <a:ext cx="4251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DIAG-15 · Diagrama general de casos de uso</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74920" y="1783080"/>
          <a:ext cx="6537960" cy="3560064"/>
        </p:xfrm>
        <a:graphic>
          <a:graphicData uri="http://schemas.openxmlformats.org/drawingml/2006/table">
            <a:tbl>
              <a:tblPr/>
              <a:tblGrid>
                <a:gridCol w="21488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43891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Módulo</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CU</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Estado al 23-10</a:t>
                      </a:r>
                      <a:endParaRPr lang="en-US" sz="115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13294B"/>
                    </a:solidFill>
                  </a:tcPr>
                </a:tc>
                <a:extLst>
                  <a:ext uri="{0D108BD9-81ED-4DB2-BD59-A6C34878D82A}">
                    <a16:rowId xmlns:a16="http://schemas.microsoft.com/office/drawing/2014/main" val="10000"/>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Cuenta y acceso</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Registro, inicio de sesión e invitado conectados a la BD</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Catálogo, agendamiento y pagos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Sucursal, barbero, disponibilidad, agendar, reprogramar y cancelar en la BD; pago simulado</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Atención en sucursal</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Marcar completada o no-show; fila por orden de llegada pendiente</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Privacidad «Mis datos»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Supresión de cuenta en la API; resto pendiente</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Administración</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Panel de prototipo; perfiles de colaboradores pendientes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Cumplimiento y auditoría</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Auditoría de inicio de sesión y registro activa</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912">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KPIs y reportes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tc>
                  <a:txBody>
                    <a:bodyPr/>
                    <a:lstStyle/>
                    <a:p>
                      <a:pPr marL="0" indent="0">
                        <a:buNone/>
                      </a:pPr>
                      <a:r>
                        <a:rPr lang="en-US" sz="1100" dirty="0">
                          <a:solidFill>
                            <a:srgbClr val="1E2430"/>
                          </a:solidFill>
                          <a:latin typeface="Calibri" pitchFamily="34" charset="0"/>
                          <a:ea typeface="Calibri" pitchFamily="34" charset="-122"/>
                          <a:cs typeface="Calibri" pitchFamily="34" charset="-120"/>
                        </a:rPr>
                        <a:t>Panel de prototipo con datos locales</a:t>
                      </a:r>
                      <a:endParaRPr lang="en-US" sz="1100" dirty="0">
                        <a:latin typeface="Calibri" charset="0"/>
                        <a:ea typeface="Calibri" charset="0"/>
                        <a:cs typeface="Calibri" charset="0"/>
                      </a:endParaRPr>
                    </a:p>
                  </a:txBody>
                  <a:tcPr marL="64008" marR="64008" marT="64008" marB="64008" anchor="ctr">
                    <a:lnL w="9525" cap="flat" cmpd="sng" algn="ctr">
                      <a:solidFill>
                        <a:srgbClr val="D7DCE3"/>
                      </a:solidFill>
                      <a:prstDash val="solid"/>
                      <a:round/>
                      <a:headEnd type="none" w="med" len="med"/>
                      <a:tailEnd type="none" w="med" len="med"/>
                    </a:lnL>
                    <a:lnR w="9525" cap="flat" cmpd="sng" algn="ctr">
                      <a:solidFill>
                        <a:srgbClr val="D7DCE3"/>
                      </a:solidFill>
                      <a:prstDash val="solid"/>
                      <a:round/>
                      <a:headEnd type="none" w="med" len="med"/>
                      <a:tailEnd type="none" w="med" len="med"/>
                    </a:lnR>
                    <a:lnT w="9525" cap="flat" cmpd="sng" algn="ctr">
                      <a:solidFill>
                        <a:srgbClr val="D7DCE3"/>
                      </a:solidFill>
                      <a:prstDash val="solid"/>
                      <a:round/>
                      <a:headEnd type="none" w="med" len="med"/>
                      <a:tailEnd type="none" w="med" len="med"/>
                    </a:lnT>
                    <a:lnB w="9525" cap="flat" cmpd="sng" algn="ctr">
                      <a:solidFill>
                        <a:srgbClr val="D7DCE3"/>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9" name="Shape 5"/>
          <p:cNvSpPr/>
          <p:nvPr/>
        </p:nvSpPr>
        <p:spPr>
          <a:xfrm>
            <a:off x="5074920" y="5486400"/>
            <a:ext cx="6537960" cy="731520"/>
          </a:xfrm>
          <a:prstGeom prst="rect">
            <a:avLst/>
          </a:prstGeom>
          <a:solidFill>
            <a:srgbClr val="EEF1F5"/>
          </a:solidFill>
          <a:ln w="9525">
            <a:solidFill>
              <a:srgbClr val="D7DCE3"/>
            </a:solidFill>
            <a:prstDash val="solid"/>
          </a:ln>
        </p:spPr>
        <p:txBody>
          <a:bodyPr/>
          <a:lstStyle/>
          <a:p>
            <a:endParaRPr lang="es-CL"/>
          </a:p>
        </p:txBody>
      </p:sp>
      <p:sp>
        <p:nvSpPr>
          <p:cNvPr id="10" name="Text 6"/>
          <p:cNvSpPr txBox="1"/>
          <p:nvPr/>
        </p:nvSpPr>
        <p:spPr>
          <a:xfrm>
            <a:off x="5212080" y="5504688"/>
            <a:ext cx="6309360" cy="694944"/>
          </a:xfrm>
          <a:prstGeom prst="rect">
            <a:avLst/>
          </a:prstGeom>
          <a:noFill/>
          <a:ln/>
        </p:spPr>
        <p:txBody>
          <a:bodyPr wrap="square" lIns="0" tIns="0" rIns="0" bIns="0" rtlCol="0" anchor="ctr"/>
          <a:lstStyle/>
          <a:p>
            <a:pPr marL="0" indent="0">
              <a:buNone/>
            </a:pPr>
            <a:r>
              <a:rPr lang="en-US" sz="1150" b="1" dirty="0">
                <a:solidFill>
                  <a:srgbClr val="13294B"/>
                </a:solidFill>
                <a:latin typeface="Calibri" pitchFamily="34" charset="0"/>
                <a:ea typeface="Calibri" pitchFamily="34" charset="-122"/>
                <a:cs typeface="Calibri" pitchFamily="34" charset="-120"/>
              </a:rPr>
              <a:t>10 de 41 casos de uso ya funcionan sobre la base de datos real: </a:t>
            </a:r>
            <a:r>
              <a:rPr lang="en-US" sz="1150" dirty="0">
                <a:solidFill>
                  <a:srgbClr val="1E2430"/>
                </a:solidFill>
                <a:latin typeface="Calibri" pitchFamily="34" charset="0"/>
                <a:ea typeface="Calibri" pitchFamily="34" charset="-122"/>
                <a:cs typeface="Calibri" pitchFamily="34" charset="-120"/>
              </a:rPr>
              <a:t>CU-01, 02, 05, 16, 17, 18, 19, 20, 22 y 23 (registro, acceso, invitado, catálogo, agendamiento, reprogramación y cancelación).</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MODELO DE DATOS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Modelo entidad-relación (PostgreSQL)</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Modelo conceptual (Chen, 1976) en tercera forma normal, implementado en Supabase (PostgreSQL 17). Detalle en el documento 16.</a:t>
            </a:r>
            <a:endParaRPr lang="en-US" sz="1250" dirty="0"/>
          </a:p>
        </p:txBody>
      </p:sp>
      <p:sp>
        <p:nvSpPr>
          <p:cNvPr id="5" name="Shape 3"/>
          <p:cNvSpPr/>
          <p:nvPr/>
        </p:nvSpPr>
        <p:spPr>
          <a:xfrm>
            <a:off x="548640" y="1737360"/>
            <a:ext cx="7955280" cy="310896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Desktop/informatica/8°_Semestre/Diagramas/png/DIAG-27_Modelo_Entidad_Relacion_conceptual.png"/>
          <p:cNvPicPr>
            <a:picLocks noChangeAspect="1"/>
          </p:cNvPicPr>
          <p:nvPr/>
        </p:nvPicPr>
        <p:blipFill>
          <a:blip r:embed="rId3"/>
          <a:srcRect/>
          <a:stretch/>
        </p:blipFill>
        <p:spPr>
          <a:xfrm>
            <a:off x="594360" y="1783080"/>
            <a:ext cx="7863840" cy="3017520"/>
          </a:xfrm>
          <a:prstGeom prst="rect">
            <a:avLst/>
          </a:prstGeom>
        </p:spPr>
      </p:pic>
      <p:sp>
        <p:nvSpPr>
          <p:cNvPr id="7" name="Text 4"/>
          <p:cNvSpPr txBox="1"/>
          <p:nvPr/>
        </p:nvSpPr>
        <p:spPr>
          <a:xfrm>
            <a:off x="548640" y="4892040"/>
            <a:ext cx="795528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DIAG-27 · Modelo entidad-relación conceptual (27 entidades)</a:t>
            </a:r>
            <a:endParaRPr lang="en-US" sz="1050" dirty="0"/>
          </a:p>
        </p:txBody>
      </p:sp>
      <p:sp>
        <p:nvSpPr>
          <p:cNvPr id="8" name="Shape 5"/>
          <p:cNvSpPr/>
          <p:nvPr/>
        </p:nvSpPr>
        <p:spPr>
          <a:xfrm>
            <a:off x="8778240" y="1783080"/>
            <a:ext cx="2834640" cy="1005840"/>
          </a:xfrm>
          <a:prstGeom prst="rect">
            <a:avLst/>
          </a:prstGeom>
          <a:solidFill>
            <a:srgbClr val="FFFFFF"/>
          </a:solidFill>
          <a:ln w="9525">
            <a:solidFill>
              <a:srgbClr val="D7DCE3"/>
            </a:solidFill>
            <a:prstDash val="solid"/>
          </a:ln>
        </p:spPr>
        <p:txBody>
          <a:bodyPr/>
          <a:lstStyle/>
          <a:p>
            <a:endParaRPr lang="es-CL"/>
          </a:p>
        </p:txBody>
      </p:sp>
      <p:sp>
        <p:nvSpPr>
          <p:cNvPr id="9" name="Text 6"/>
          <p:cNvSpPr txBox="1"/>
          <p:nvPr/>
        </p:nvSpPr>
        <p:spPr>
          <a:xfrm>
            <a:off x="8869680" y="1892808"/>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27</a:t>
            </a:r>
            <a:endParaRPr lang="en-US" sz="2600" dirty="0"/>
          </a:p>
        </p:txBody>
      </p:sp>
      <p:sp>
        <p:nvSpPr>
          <p:cNvPr id="10" name="Text 7"/>
          <p:cNvSpPr txBox="1"/>
          <p:nvPr/>
        </p:nvSpPr>
        <p:spPr>
          <a:xfrm>
            <a:off x="8915400" y="2346350"/>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tablas · 239 campos · 3FN</a:t>
            </a:r>
            <a:endParaRPr lang="en-US" sz="1150" dirty="0"/>
          </a:p>
        </p:txBody>
      </p:sp>
      <p:sp>
        <p:nvSpPr>
          <p:cNvPr id="11" name="Shape 8"/>
          <p:cNvSpPr/>
          <p:nvPr/>
        </p:nvSpPr>
        <p:spPr>
          <a:xfrm>
            <a:off x="8778240" y="2898648"/>
            <a:ext cx="2834640" cy="1005840"/>
          </a:xfrm>
          <a:prstGeom prst="rect">
            <a:avLst/>
          </a:prstGeom>
          <a:solidFill>
            <a:srgbClr val="FFFFFF"/>
          </a:solidFill>
          <a:ln w="9525">
            <a:solidFill>
              <a:srgbClr val="D7DCE3"/>
            </a:solidFill>
            <a:prstDash val="solid"/>
          </a:ln>
        </p:spPr>
        <p:txBody>
          <a:bodyPr/>
          <a:lstStyle/>
          <a:p>
            <a:endParaRPr lang="es-CL"/>
          </a:p>
        </p:txBody>
      </p:sp>
      <p:sp>
        <p:nvSpPr>
          <p:cNvPr id="12" name="Text 9"/>
          <p:cNvSpPr txBox="1"/>
          <p:nvPr/>
        </p:nvSpPr>
        <p:spPr>
          <a:xfrm>
            <a:off x="8869680" y="3008376"/>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0</a:t>
            </a:r>
            <a:endParaRPr lang="en-US" sz="2600" dirty="0"/>
          </a:p>
        </p:txBody>
      </p:sp>
      <p:sp>
        <p:nvSpPr>
          <p:cNvPr id="13" name="Text 10"/>
          <p:cNvSpPr txBox="1"/>
          <p:nvPr/>
        </p:nvSpPr>
        <p:spPr>
          <a:xfrm>
            <a:off x="8915400" y="3461918"/>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reservas traslapadas: restricción de exclusión por barbero y horario</a:t>
            </a:r>
            <a:endParaRPr lang="en-US" sz="1150" dirty="0"/>
          </a:p>
        </p:txBody>
      </p:sp>
      <p:sp>
        <p:nvSpPr>
          <p:cNvPr id="14" name="Shape 11"/>
          <p:cNvSpPr/>
          <p:nvPr/>
        </p:nvSpPr>
        <p:spPr>
          <a:xfrm>
            <a:off x="8778240" y="4014216"/>
            <a:ext cx="2834640" cy="1005840"/>
          </a:xfrm>
          <a:prstGeom prst="rect">
            <a:avLst/>
          </a:prstGeom>
          <a:solidFill>
            <a:srgbClr val="FFFFFF"/>
          </a:solidFill>
          <a:ln w="9525">
            <a:solidFill>
              <a:srgbClr val="D7DCE3"/>
            </a:solidFill>
            <a:prstDash val="solid"/>
          </a:ln>
        </p:spPr>
        <p:txBody>
          <a:bodyPr/>
          <a:lstStyle/>
          <a:p>
            <a:endParaRPr lang="es-CL"/>
          </a:p>
        </p:txBody>
      </p:sp>
      <p:sp>
        <p:nvSpPr>
          <p:cNvPr id="15" name="Text 12"/>
          <p:cNvSpPr txBox="1"/>
          <p:nvPr/>
        </p:nvSpPr>
        <p:spPr>
          <a:xfrm>
            <a:off x="8869680" y="4123944"/>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$3.000</a:t>
            </a:r>
            <a:endParaRPr lang="en-US" sz="2600" dirty="0"/>
          </a:p>
        </p:txBody>
      </p:sp>
      <p:sp>
        <p:nvSpPr>
          <p:cNvPr id="16" name="Text 13"/>
          <p:cNvSpPr txBox="1"/>
          <p:nvPr/>
        </p:nvSpPr>
        <p:spPr>
          <a:xfrm>
            <a:off x="8915400" y="4577486"/>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abono parametrizable por sucursal o servicio, sin cambiar el modelo</a:t>
            </a:r>
            <a:endParaRPr lang="en-US" sz="1150" dirty="0"/>
          </a:p>
        </p:txBody>
      </p:sp>
      <p:sp>
        <p:nvSpPr>
          <p:cNvPr id="17" name="Shape 14"/>
          <p:cNvSpPr/>
          <p:nvPr/>
        </p:nvSpPr>
        <p:spPr>
          <a:xfrm>
            <a:off x="8778240" y="5129784"/>
            <a:ext cx="2834640" cy="1005840"/>
          </a:xfrm>
          <a:prstGeom prst="rect">
            <a:avLst/>
          </a:prstGeom>
          <a:solidFill>
            <a:srgbClr val="FFFFFF"/>
          </a:solidFill>
          <a:ln w="9525">
            <a:solidFill>
              <a:srgbClr val="D7DCE3"/>
            </a:solidFill>
            <a:prstDash val="solid"/>
          </a:ln>
        </p:spPr>
        <p:txBody>
          <a:bodyPr/>
          <a:lstStyle/>
          <a:p>
            <a:endParaRPr lang="es-CL"/>
          </a:p>
        </p:txBody>
      </p:sp>
      <p:sp>
        <p:nvSpPr>
          <p:cNvPr id="18" name="Text 15"/>
          <p:cNvSpPr txBox="1"/>
          <p:nvPr/>
        </p:nvSpPr>
        <p:spPr>
          <a:xfrm>
            <a:off x="8869680" y="5239512"/>
            <a:ext cx="2651760" cy="482803"/>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24 / 24</a:t>
            </a:r>
            <a:endParaRPr lang="en-US" sz="2600" dirty="0"/>
          </a:p>
        </p:txBody>
      </p:sp>
      <p:sp>
        <p:nvSpPr>
          <p:cNvPr id="19" name="Text 16"/>
          <p:cNvSpPr txBox="1"/>
          <p:nvPr/>
        </p:nvSpPr>
        <p:spPr>
          <a:xfrm>
            <a:off x="8915400" y="5693054"/>
            <a:ext cx="2560320" cy="382219"/>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pruebas automáticas del script DDL aprobadas</a:t>
            </a:r>
            <a:endParaRPr lang="en-US" sz="1150" dirty="0"/>
          </a:p>
        </p:txBody>
      </p:sp>
      <p:sp>
        <p:nvSpPr>
          <p:cNvPr id="20" name="Shape 17"/>
          <p:cNvSpPr/>
          <p:nvPr/>
        </p:nvSpPr>
        <p:spPr>
          <a:xfrm>
            <a:off x="548640" y="5257800"/>
            <a:ext cx="7955280" cy="960120"/>
          </a:xfrm>
          <a:prstGeom prst="rect">
            <a:avLst/>
          </a:prstGeom>
          <a:solidFill>
            <a:srgbClr val="EEF1F5"/>
          </a:solidFill>
          <a:ln w="9525">
            <a:solidFill>
              <a:srgbClr val="D7DCE3"/>
            </a:solidFill>
            <a:prstDash val="solid"/>
          </a:ln>
        </p:spPr>
        <p:txBody>
          <a:bodyPr/>
          <a:lstStyle/>
          <a:p>
            <a:endParaRPr lang="es-CL"/>
          </a:p>
        </p:txBody>
      </p:sp>
      <p:sp>
        <p:nvSpPr>
          <p:cNvPr id="21" name="Text 18"/>
          <p:cNvSpPr txBox="1"/>
          <p:nvPr/>
        </p:nvSpPr>
        <p:spPr>
          <a:xfrm>
            <a:off x="685800" y="5285232"/>
            <a:ext cx="7726680" cy="914400"/>
          </a:xfrm>
          <a:prstGeom prst="rect">
            <a:avLst/>
          </a:prstGeom>
          <a:noFill/>
          <a:ln/>
        </p:spPr>
        <p:txBody>
          <a:bodyPr wrap="square" lIns="0" tIns="0" rIns="0" bIns="0" rtlCol="0" anchor="ctr"/>
          <a:lstStyle/>
          <a:p>
            <a:pPr marL="0" indent="0">
              <a:buNone/>
            </a:pPr>
            <a:r>
              <a:rPr lang="en-US" sz="1150" b="1" dirty="0">
                <a:solidFill>
                  <a:srgbClr val="13294B"/>
                </a:solidFill>
                <a:latin typeface="Calibri" pitchFamily="34" charset="0"/>
                <a:ea typeface="Calibri" pitchFamily="34" charset="-122"/>
                <a:cs typeface="Calibri" pitchFamily="34" charset="-120"/>
              </a:rPr>
              <a:t>Privacidad desde el diseño: </a:t>
            </a:r>
            <a:r>
              <a:rPr lang="en-US" sz="1150" dirty="0">
                <a:solidFill>
                  <a:srgbClr val="1E2430"/>
                </a:solidFill>
                <a:latin typeface="Calibri" pitchFamily="34" charset="0"/>
                <a:ea typeface="Calibri" pitchFamily="34" charset="-122"/>
                <a:cs typeface="Calibri" pitchFamily="34" charset="-120"/>
              </a:rPr>
              <a:t>sin RUT ni datos de tarjeta; consentimiento, solicitudes de derechos, auditoría inmutable y registro de actividades de tratamiento (Ley N° 21.719, 2024). El 22-10 se agregó la tabla resena para la calificación de barberos (RF-09).</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DISEÑO · PROTOTIPO</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Prototipo funcional: web y app</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Capturas de la web conectada a la base de datos real (22-10-2026) y del prototipo de la app Android.</a:t>
            </a:r>
            <a:endParaRPr lang="en-US" sz="1250" dirty="0"/>
          </a:p>
        </p:txBody>
      </p:sp>
      <p:sp>
        <p:nvSpPr>
          <p:cNvPr id="5" name="Shape 3"/>
          <p:cNvSpPr/>
          <p:nvPr/>
        </p:nvSpPr>
        <p:spPr>
          <a:xfrm>
            <a:off x="548640" y="1737360"/>
            <a:ext cx="5212080" cy="3291840"/>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AppData/Local/Temp/claude/C--Users-User-Desktop-informatica-8--Semestre/a3947737-32ff-4826-af91-ab831361c14e/scratchpad/ppt/shots/web_02.png"/>
          <p:cNvPicPr>
            <a:picLocks noChangeAspect="1"/>
          </p:cNvPicPr>
          <p:nvPr/>
        </p:nvPicPr>
        <p:blipFill>
          <a:blip r:embed="rId3"/>
          <a:srcRect/>
          <a:stretch/>
        </p:blipFill>
        <p:spPr>
          <a:xfrm>
            <a:off x="594360" y="1783080"/>
            <a:ext cx="5120640" cy="3200400"/>
          </a:xfrm>
          <a:prstGeom prst="rect">
            <a:avLst/>
          </a:prstGeom>
        </p:spPr>
      </p:pic>
      <p:sp>
        <p:nvSpPr>
          <p:cNvPr id="7" name="Text 4"/>
          <p:cNvSpPr txBox="1"/>
          <p:nvPr/>
        </p:nvSpPr>
        <p:spPr>
          <a:xfrm>
            <a:off x="548640" y="5074920"/>
            <a:ext cx="521208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inicio del cliente con su cupón de bienvenida</a:t>
            </a:r>
            <a:endParaRPr lang="en-US" sz="1050" dirty="0"/>
          </a:p>
        </p:txBody>
      </p:sp>
      <p:sp>
        <p:nvSpPr>
          <p:cNvPr id="8" name="Shape 5"/>
          <p:cNvSpPr/>
          <p:nvPr/>
        </p:nvSpPr>
        <p:spPr>
          <a:xfrm>
            <a:off x="5989320" y="1737360"/>
            <a:ext cx="3108960" cy="2468880"/>
          </a:xfrm>
          <a:prstGeom prst="rect">
            <a:avLst/>
          </a:prstGeom>
          <a:solidFill>
            <a:srgbClr val="FFFFFF"/>
          </a:solidFill>
          <a:ln w="9525">
            <a:solidFill>
              <a:srgbClr val="D7DCE3"/>
            </a:solidFill>
            <a:prstDash val="solid"/>
          </a:ln>
        </p:spPr>
        <p:txBody>
          <a:bodyPr/>
          <a:lstStyle/>
          <a:p>
            <a:endParaRPr lang="es-CL"/>
          </a:p>
        </p:txBody>
      </p:sp>
      <p:pic>
        <p:nvPicPr>
          <p:cNvPr id="9" name="Image 1" descr="C:/Users/User/AppData/Local/Temp/claude/C--Users-User-Desktop-informatica-8--Semestre/a3947737-32ff-4826-af91-ab831361c14e/scratchpad/ppt/shots/web_06c.png"/>
          <p:cNvPicPr>
            <a:picLocks noChangeAspect="1"/>
          </p:cNvPicPr>
          <p:nvPr/>
        </p:nvPicPr>
        <p:blipFill>
          <a:blip r:embed="rId4"/>
          <a:srcRect/>
          <a:stretch/>
        </p:blipFill>
        <p:spPr>
          <a:xfrm>
            <a:off x="6035040" y="1783080"/>
            <a:ext cx="3017520" cy="2377440"/>
          </a:xfrm>
          <a:prstGeom prst="rect">
            <a:avLst/>
          </a:prstGeom>
        </p:spPr>
      </p:pic>
      <p:sp>
        <p:nvSpPr>
          <p:cNvPr id="10" name="Text 6"/>
          <p:cNvSpPr txBox="1"/>
          <p:nvPr/>
        </p:nvSpPr>
        <p:spPr>
          <a:xfrm>
            <a:off x="5989320" y="4224528"/>
            <a:ext cx="3108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reserva en 5 pasos (paso 1: sucursal)</a:t>
            </a:r>
            <a:endParaRPr lang="en-US" sz="1050" dirty="0"/>
          </a:p>
        </p:txBody>
      </p:sp>
      <p:sp>
        <p:nvSpPr>
          <p:cNvPr id="11" name="Shape 7"/>
          <p:cNvSpPr/>
          <p:nvPr/>
        </p:nvSpPr>
        <p:spPr>
          <a:xfrm>
            <a:off x="5989320" y="4526280"/>
            <a:ext cx="3108960" cy="1508760"/>
          </a:xfrm>
          <a:prstGeom prst="rect">
            <a:avLst/>
          </a:prstGeom>
          <a:solidFill>
            <a:srgbClr val="FFFFFF"/>
          </a:solidFill>
          <a:ln w="9525">
            <a:solidFill>
              <a:srgbClr val="D7DCE3"/>
            </a:solidFill>
            <a:prstDash val="solid"/>
          </a:ln>
        </p:spPr>
        <p:txBody>
          <a:bodyPr/>
          <a:lstStyle/>
          <a:p>
            <a:endParaRPr lang="es-CL"/>
          </a:p>
        </p:txBody>
      </p:sp>
      <p:pic>
        <p:nvPicPr>
          <p:cNvPr id="12" name="Image 2" descr="C:/Users/User/AppData/Local/Temp/claude/C--Users-User-Desktop-informatica-8--Semestre/a3947737-32ff-4826-af91-ab831361c14e/scratchpad/ppt/shots/web_04c.png"/>
          <p:cNvPicPr>
            <a:picLocks noChangeAspect="1"/>
          </p:cNvPicPr>
          <p:nvPr/>
        </p:nvPicPr>
        <p:blipFill>
          <a:blip r:embed="rId5"/>
          <a:srcRect/>
          <a:stretch/>
        </p:blipFill>
        <p:spPr>
          <a:xfrm>
            <a:off x="6035040" y="4572000"/>
            <a:ext cx="3017520" cy="1417320"/>
          </a:xfrm>
          <a:prstGeom prst="rect">
            <a:avLst/>
          </a:prstGeom>
        </p:spPr>
      </p:pic>
      <p:sp>
        <p:nvSpPr>
          <p:cNvPr id="13" name="Text 8"/>
          <p:cNvSpPr txBox="1"/>
          <p:nvPr/>
        </p:nvSpPr>
        <p:spPr>
          <a:xfrm>
            <a:off x="5989320" y="6035040"/>
            <a:ext cx="31089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Web · sucursales reales con mapa</a:t>
            </a:r>
            <a:endParaRPr lang="en-US" sz="1050" dirty="0"/>
          </a:p>
        </p:txBody>
      </p:sp>
      <p:sp>
        <p:nvSpPr>
          <p:cNvPr id="14" name="Shape 9"/>
          <p:cNvSpPr/>
          <p:nvPr/>
        </p:nvSpPr>
        <p:spPr>
          <a:xfrm>
            <a:off x="9418320" y="1737360"/>
            <a:ext cx="2194560" cy="4343400"/>
          </a:xfrm>
          <a:prstGeom prst="rect">
            <a:avLst/>
          </a:prstGeom>
          <a:solidFill>
            <a:srgbClr val="FFFFFF"/>
          </a:solidFill>
          <a:ln w="9525">
            <a:solidFill>
              <a:srgbClr val="D7DCE3"/>
            </a:solidFill>
            <a:prstDash val="solid"/>
          </a:ln>
        </p:spPr>
        <p:txBody>
          <a:bodyPr/>
          <a:lstStyle/>
          <a:p>
            <a:endParaRPr lang="es-CL"/>
          </a:p>
        </p:txBody>
      </p:sp>
      <p:pic>
        <p:nvPicPr>
          <p:cNvPr id="15" name="Image 3" descr="C:/Users/User/AppData/Local/Temp/claude/C--Users-User-Desktop-informatica-8--Semestre/a3947737-32ff-4826-af91-ab831361c14e/scratchpad/ppt/v3x/ppt/media/image-5-1.png"/>
          <p:cNvPicPr>
            <a:picLocks noChangeAspect="1"/>
          </p:cNvPicPr>
          <p:nvPr/>
        </p:nvPicPr>
        <p:blipFill>
          <a:blip r:embed="rId6"/>
          <a:srcRect/>
          <a:stretch/>
        </p:blipFill>
        <p:spPr>
          <a:xfrm>
            <a:off x="9464040" y="1783080"/>
            <a:ext cx="2103120" cy="4251960"/>
          </a:xfrm>
          <a:prstGeom prst="rect">
            <a:avLst/>
          </a:prstGeom>
        </p:spPr>
      </p:pic>
      <p:sp>
        <p:nvSpPr>
          <p:cNvPr id="16" name="Text 10"/>
          <p:cNvSpPr txBox="1"/>
          <p:nvPr/>
        </p:nvSpPr>
        <p:spPr>
          <a:xfrm>
            <a:off x="9326880" y="6080760"/>
            <a:ext cx="237744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App Android · inicio de sesión (01-10)</a:t>
            </a:r>
            <a:endParaRPr lang="en-US" sz="1050" dirty="0"/>
          </a:p>
        </p:txBody>
      </p:sp>
      <p:sp>
        <p:nvSpPr>
          <p:cNvPr id="17" name="Shape 11"/>
          <p:cNvSpPr/>
          <p:nvPr/>
        </p:nvSpPr>
        <p:spPr>
          <a:xfrm>
            <a:off x="548640" y="5440680"/>
            <a:ext cx="5212080" cy="777240"/>
          </a:xfrm>
          <a:prstGeom prst="rect">
            <a:avLst/>
          </a:prstGeom>
          <a:solidFill>
            <a:srgbClr val="EEF1F5"/>
          </a:solidFill>
          <a:ln w="9525">
            <a:solidFill>
              <a:srgbClr val="D7DCE3"/>
            </a:solidFill>
            <a:prstDash val="solid"/>
          </a:ln>
        </p:spPr>
        <p:txBody>
          <a:bodyPr/>
          <a:lstStyle/>
          <a:p>
            <a:endParaRPr lang="es-CL"/>
          </a:p>
        </p:txBody>
      </p:sp>
      <p:sp>
        <p:nvSpPr>
          <p:cNvPr id="18" name="Text 12"/>
          <p:cNvSpPr txBox="1"/>
          <p:nvPr/>
        </p:nvSpPr>
        <p:spPr>
          <a:xfrm>
            <a:off x="685800" y="5458968"/>
            <a:ext cx="4983480" cy="7315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Web en React y app en Kotlin con Jetpack Compose (MVVM). Ambas usan la misma API y muestran las 3 sucursales, los barberos y los servicios con precios reales.</a:t>
            </a:r>
            <a:endParaRPr lang="en-US" sz="115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DESARROLLO · EVIDENCIA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Repositorio en GitHub</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github.com/Yerko-Rosales/Proyecto_Barberia (público) · historial de commits al 22-10-2026.</a:t>
            </a:r>
            <a:endParaRPr lang="en-US" sz="1250" dirty="0"/>
          </a:p>
        </p:txBody>
      </p:sp>
      <p:sp>
        <p:nvSpPr>
          <p:cNvPr id="5" name="Shape 3"/>
          <p:cNvSpPr/>
          <p:nvPr/>
        </p:nvSpPr>
        <p:spPr>
          <a:xfrm>
            <a:off x="548640" y="1737360"/>
            <a:ext cx="6766560" cy="4261104"/>
          </a:xfrm>
          <a:prstGeom prst="rect">
            <a:avLst/>
          </a:prstGeom>
          <a:solidFill>
            <a:srgbClr val="FFFFFF"/>
          </a:solidFill>
          <a:ln w="9525">
            <a:solidFill>
              <a:srgbClr val="D7DCE3"/>
            </a:solidFill>
            <a:prstDash val="solid"/>
          </a:ln>
        </p:spPr>
        <p:txBody>
          <a:bodyPr/>
          <a:lstStyle/>
          <a:p>
            <a:endParaRPr lang="es-CL"/>
          </a:p>
        </p:txBody>
      </p:sp>
      <p:pic>
        <p:nvPicPr>
          <p:cNvPr id="6" name="Image 0" descr="C:/Users/User/AppData/Local/Temp/claude/C--Users-User-Desktop-informatica-8--Semestre/a3947737-32ff-4826-af91-ab831361c14e/scratchpad/ppt/shots/gh_commits.png"/>
          <p:cNvPicPr>
            <a:picLocks noChangeAspect="1"/>
          </p:cNvPicPr>
          <p:nvPr/>
        </p:nvPicPr>
        <p:blipFill>
          <a:blip r:embed="rId3"/>
          <a:srcRect/>
          <a:stretch/>
        </p:blipFill>
        <p:spPr>
          <a:xfrm>
            <a:off x="594360" y="1783080"/>
            <a:ext cx="6675120" cy="4169664"/>
          </a:xfrm>
          <a:prstGeom prst="rect">
            <a:avLst/>
          </a:prstGeom>
        </p:spPr>
      </p:pic>
      <p:sp>
        <p:nvSpPr>
          <p:cNvPr id="7" name="Text 4"/>
          <p:cNvSpPr txBox="1"/>
          <p:nvPr/>
        </p:nvSpPr>
        <p:spPr>
          <a:xfrm>
            <a:off x="548640" y="6035040"/>
            <a:ext cx="6766560" cy="274320"/>
          </a:xfrm>
          <a:prstGeom prst="rect">
            <a:avLst/>
          </a:prstGeom>
          <a:noFill/>
          <a:ln/>
        </p:spPr>
        <p:txBody>
          <a:bodyPr wrap="square" lIns="0" tIns="0" rIns="0" bIns="0" rtlCol="0" anchor="ctr"/>
          <a:lstStyle/>
          <a:p>
            <a:pPr marL="0" indent="0" algn="ctr">
              <a:buNone/>
            </a:pPr>
            <a:r>
              <a:rPr lang="en-US" sz="1050" i="1" dirty="0">
                <a:solidFill>
                  <a:srgbClr val="5B6472"/>
                </a:solidFill>
                <a:latin typeface="Calibri" pitchFamily="34" charset="0"/>
                <a:ea typeface="Calibri" pitchFamily="34" charset="-122"/>
                <a:cs typeface="Calibri" pitchFamily="34" charset="-120"/>
              </a:rPr>
              <a:t>Historial de commits de la rama main</a:t>
            </a:r>
            <a:endParaRPr lang="en-US" sz="1050" dirty="0"/>
          </a:p>
        </p:txBody>
      </p:sp>
      <p:sp>
        <p:nvSpPr>
          <p:cNvPr id="8" name="Shape 5"/>
          <p:cNvSpPr/>
          <p:nvPr/>
        </p:nvSpPr>
        <p:spPr>
          <a:xfrm>
            <a:off x="7589520" y="1783080"/>
            <a:ext cx="1920240" cy="1143000"/>
          </a:xfrm>
          <a:prstGeom prst="rect">
            <a:avLst/>
          </a:prstGeom>
          <a:solidFill>
            <a:srgbClr val="FFFFFF"/>
          </a:solidFill>
          <a:ln w="9525">
            <a:solidFill>
              <a:srgbClr val="D7DCE3"/>
            </a:solidFill>
            <a:prstDash val="solid"/>
          </a:ln>
        </p:spPr>
        <p:txBody>
          <a:bodyPr/>
          <a:lstStyle/>
          <a:p>
            <a:endParaRPr lang="es-CL"/>
          </a:p>
        </p:txBody>
      </p:sp>
      <p:sp>
        <p:nvSpPr>
          <p:cNvPr id="9" name="Text 6"/>
          <p:cNvSpPr txBox="1"/>
          <p:nvPr/>
        </p:nvSpPr>
        <p:spPr>
          <a:xfrm>
            <a:off x="7680960" y="1892808"/>
            <a:ext cx="1737360" cy="548640"/>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16</a:t>
            </a:r>
            <a:endParaRPr lang="en-US" sz="2600" dirty="0"/>
          </a:p>
        </p:txBody>
      </p:sp>
      <p:sp>
        <p:nvSpPr>
          <p:cNvPr id="10" name="Text 7"/>
          <p:cNvSpPr txBox="1"/>
          <p:nvPr/>
        </p:nvSpPr>
        <p:spPr>
          <a:xfrm>
            <a:off x="7726680" y="2423160"/>
            <a:ext cx="1645920"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commits en main al 22-10</a:t>
            </a:r>
            <a:endParaRPr lang="en-US" sz="1150" dirty="0"/>
          </a:p>
        </p:txBody>
      </p:sp>
      <p:sp>
        <p:nvSpPr>
          <p:cNvPr id="11" name="Shape 8"/>
          <p:cNvSpPr/>
          <p:nvPr/>
        </p:nvSpPr>
        <p:spPr>
          <a:xfrm>
            <a:off x="9646920" y="1783080"/>
            <a:ext cx="1920240" cy="1143000"/>
          </a:xfrm>
          <a:prstGeom prst="rect">
            <a:avLst/>
          </a:prstGeom>
          <a:solidFill>
            <a:srgbClr val="FFFFFF"/>
          </a:solidFill>
          <a:ln w="9525">
            <a:solidFill>
              <a:srgbClr val="D7DCE3"/>
            </a:solidFill>
            <a:prstDash val="solid"/>
          </a:ln>
        </p:spPr>
        <p:txBody>
          <a:bodyPr/>
          <a:lstStyle/>
          <a:p>
            <a:endParaRPr lang="es-CL"/>
          </a:p>
        </p:txBody>
      </p:sp>
      <p:sp>
        <p:nvSpPr>
          <p:cNvPr id="12" name="Text 9"/>
          <p:cNvSpPr txBox="1"/>
          <p:nvPr/>
        </p:nvSpPr>
        <p:spPr>
          <a:xfrm>
            <a:off x="9738360" y="1892808"/>
            <a:ext cx="1737360" cy="548640"/>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216</a:t>
            </a:r>
            <a:endParaRPr lang="en-US" sz="2600" dirty="0"/>
          </a:p>
        </p:txBody>
      </p:sp>
      <p:sp>
        <p:nvSpPr>
          <p:cNvPr id="13" name="Text 10"/>
          <p:cNvSpPr txBox="1"/>
          <p:nvPr/>
        </p:nvSpPr>
        <p:spPr>
          <a:xfrm>
            <a:off x="9784080" y="2423160"/>
            <a:ext cx="1645920"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archivos versionados</a:t>
            </a:r>
            <a:endParaRPr lang="en-US" sz="1150" dirty="0"/>
          </a:p>
        </p:txBody>
      </p:sp>
      <p:sp>
        <p:nvSpPr>
          <p:cNvPr id="14" name="Shape 11"/>
          <p:cNvSpPr/>
          <p:nvPr/>
        </p:nvSpPr>
        <p:spPr>
          <a:xfrm>
            <a:off x="7589520" y="3108960"/>
            <a:ext cx="4023360" cy="3108960"/>
          </a:xfrm>
          <a:prstGeom prst="rect">
            <a:avLst/>
          </a:prstGeom>
          <a:solidFill>
            <a:srgbClr val="FFFFFF"/>
          </a:solidFill>
          <a:ln w="9525">
            <a:solidFill>
              <a:srgbClr val="D7DCE3"/>
            </a:solidFill>
            <a:prstDash val="solid"/>
          </a:ln>
        </p:spPr>
        <p:txBody>
          <a:bodyPr/>
          <a:lstStyle/>
          <a:p>
            <a:endParaRPr lang="es-CL"/>
          </a:p>
        </p:txBody>
      </p:sp>
      <p:sp>
        <p:nvSpPr>
          <p:cNvPr id="15" name="Text 12"/>
          <p:cNvSpPr txBox="1"/>
          <p:nvPr/>
        </p:nvSpPr>
        <p:spPr>
          <a:xfrm>
            <a:off x="7772400" y="3200400"/>
            <a:ext cx="3657600" cy="32004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Qué contiene</a:t>
            </a:r>
            <a:endParaRPr lang="en-US" sz="1400" dirty="0"/>
          </a:p>
        </p:txBody>
      </p:sp>
      <p:sp>
        <p:nvSpPr>
          <p:cNvPr id="16" name="Text 13"/>
          <p:cNvSpPr txBox="1"/>
          <p:nvPr/>
        </p:nvSpPr>
        <p:spPr>
          <a:xfrm>
            <a:off x="7772400" y="3566160"/>
            <a:ext cx="3703320" cy="25603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Código de la web y de la app Android</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Script DDL, migraciones de Supabase y resultados de las pruebas</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Documentación de diseño y 35 diagramas (PlantUML y StarUML)</a:t>
            </a:r>
            <a:endParaRPr lang="en-US" sz="1200" dirty="0"/>
          </a:p>
          <a:p>
            <a:pPr marL="342900" indent="-342900">
              <a:spcAft>
                <a:spcPts val="600"/>
              </a:spcAft>
              <a:buSzPct val="100000"/>
              <a:buChar char="•"/>
            </a:pPr>
            <a:r>
              <a:rPr lang="en-US" sz="1200" dirty="0">
                <a:solidFill>
                  <a:srgbClr val="1E2430"/>
                </a:solidFill>
                <a:latin typeface="Calibri" pitchFamily="34" charset="0"/>
                <a:ea typeface="Calibri" pitchFamily="34" charset="-122"/>
                <a:cs typeface="Calibri" pitchFamily="34" charset="-120"/>
              </a:rPr>
              <a:t>Sin secretos: claves en archivos .env excluidos de git</a:t>
            </a:r>
            <a:endParaRPr lang="en-US" sz="12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DESARROLLO · EVIDENCIA</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Qué funciona hoy</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Implementado el 22-10-2026: la web y la app usan solo la API; las tablas siguen cerradas a la clave pública.</a:t>
            </a:r>
            <a:endParaRPr lang="en-US" sz="1250" dirty="0"/>
          </a:p>
        </p:txBody>
      </p:sp>
      <p:sp>
        <p:nvSpPr>
          <p:cNvPr id="5" name="Shape 3"/>
          <p:cNvSpPr/>
          <p:nvPr/>
        </p:nvSpPr>
        <p:spPr>
          <a:xfrm>
            <a:off x="548640" y="1828800"/>
            <a:ext cx="2377440" cy="86868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28800"/>
            <a:ext cx="2194560" cy="868680"/>
          </a:xfrm>
          <a:prstGeom prst="rect">
            <a:avLst/>
          </a:prstGeom>
          <a:noFill/>
          <a:ln/>
        </p:spPr>
        <p:txBody>
          <a:bodyPr wrap="square" lIns="0" tIns="0" rIns="0" bIns="0" rtlCol="0" anchor="ctr"/>
          <a:lstStyle/>
          <a:p>
            <a:pPr marL="0" indent="0" algn="ctr">
              <a:buNone/>
            </a:pPr>
            <a:r>
              <a:rPr lang="en-US" sz="1350" b="1" dirty="0">
                <a:solidFill>
                  <a:srgbClr val="1E2430"/>
                </a:solidFill>
                <a:latin typeface="Calibri" pitchFamily="34" charset="0"/>
                <a:ea typeface="Calibri" pitchFamily="34" charset="-122"/>
                <a:cs typeface="Calibri" pitchFamily="34" charset="-120"/>
              </a:rPr>
              <a:t>Web (React)</a:t>
            </a:r>
            <a:endParaRPr lang="en-US" sz="1350" dirty="0"/>
          </a:p>
          <a:p>
            <a:pPr marL="0" indent="0" algn="ctr">
              <a:buNone/>
            </a:pPr>
            <a:r>
              <a:rPr lang="en-US" sz="1100" dirty="0">
                <a:solidFill>
                  <a:srgbClr val="1E2430"/>
                </a:solidFill>
                <a:latin typeface="Calibri" pitchFamily="34" charset="0"/>
                <a:ea typeface="Calibri" pitchFamily="34" charset="-122"/>
                <a:cs typeface="Calibri" pitchFamily="34" charset="-120"/>
              </a:rPr>
              <a:t>clientes, invitados y administración</a:t>
            </a:r>
            <a:endParaRPr lang="en-US" sz="1350" dirty="0"/>
          </a:p>
        </p:txBody>
      </p:sp>
      <p:sp>
        <p:nvSpPr>
          <p:cNvPr id="7" name="Shape 5"/>
          <p:cNvSpPr/>
          <p:nvPr/>
        </p:nvSpPr>
        <p:spPr>
          <a:xfrm>
            <a:off x="548640" y="2880360"/>
            <a:ext cx="2377440" cy="868680"/>
          </a:xfrm>
          <a:prstGeom prst="rect">
            <a:avLst/>
          </a:prstGeom>
          <a:solidFill>
            <a:srgbClr val="FFFFFF"/>
          </a:solidFill>
          <a:ln w="9525">
            <a:solidFill>
              <a:srgbClr val="D7DCE3"/>
            </a:solidFill>
            <a:prstDash val="solid"/>
          </a:ln>
        </p:spPr>
        <p:txBody>
          <a:bodyPr/>
          <a:lstStyle/>
          <a:p>
            <a:endParaRPr lang="es-CL"/>
          </a:p>
        </p:txBody>
      </p:sp>
      <p:sp>
        <p:nvSpPr>
          <p:cNvPr id="8" name="Text 6"/>
          <p:cNvSpPr txBox="1"/>
          <p:nvPr/>
        </p:nvSpPr>
        <p:spPr>
          <a:xfrm>
            <a:off x="640080" y="2880360"/>
            <a:ext cx="2194560" cy="868680"/>
          </a:xfrm>
          <a:prstGeom prst="rect">
            <a:avLst/>
          </a:prstGeom>
          <a:noFill/>
          <a:ln/>
        </p:spPr>
        <p:txBody>
          <a:bodyPr wrap="square" lIns="0" tIns="0" rIns="0" bIns="0" rtlCol="0" anchor="ctr"/>
          <a:lstStyle/>
          <a:p>
            <a:pPr marL="0" indent="0" algn="ctr">
              <a:buNone/>
            </a:pPr>
            <a:r>
              <a:rPr lang="en-US" sz="1350" b="1" dirty="0">
                <a:solidFill>
                  <a:srgbClr val="1E2430"/>
                </a:solidFill>
                <a:latin typeface="Calibri" pitchFamily="34" charset="0"/>
                <a:ea typeface="Calibri" pitchFamily="34" charset="-122"/>
                <a:cs typeface="Calibri" pitchFamily="34" charset="-120"/>
              </a:rPr>
              <a:t>App Android</a:t>
            </a:r>
            <a:endParaRPr lang="en-US" sz="1350" dirty="0"/>
          </a:p>
          <a:p>
            <a:pPr marL="0" indent="0" algn="ctr">
              <a:buNone/>
            </a:pPr>
            <a:r>
              <a:rPr lang="en-US" sz="1100" dirty="0">
                <a:solidFill>
                  <a:srgbClr val="1E2430"/>
                </a:solidFill>
                <a:latin typeface="Calibri" pitchFamily="34" charset="0"/>
                <a:ea typeface="Calibri" pitchFamily="34" charset="-122"/>
                <a:cs typeface="Calibri" pitchFamily="34" charset="-120"/>
              </a:rPr>
              <a:t>Kotlin · Jetpack Compose · MVVM</a:t>
            </a:r>
            <a:endParaRPr lang="en-US" sz="1350" dirty="0"/>
          </a:p>
        </p:txBody>
      </p:sp>
      <p:sp>
        <p:nvSpPr>
          <p:cNvPr id="9" name="Shape 7"/>
          <p:cNvSpPr/>
          <p:nvPr/>
        </p:nvSpPr>
        <p:spPr>
          <a:xfrm>
            <a:off x="3749040" y="1828800"/>
            <a:ext cx="3291840" cy="1920240"/>
          </a:xfrm>
          <a:prstGeom prst="rect">
            <a:avLst/>
          </a:prstGeom>
          <a:solidFill>
            <a:srgbClr val="13294B"/>
          </a:solidFill>
          <a:ln w="9525">
            <a:solidFill>
              <a:srgbClr val="13294B"/>
            </a:solidFill>
            <a:prstDash val="solid"/>
          </a:ln>
        </p:spPr>
        <p:txBody>
          <a:bodyPr/>
          <a:lstStyle/>
          <a:p>
            <a:endParaRPr lang="es-CL"/>
          </a:p>
        </p:txBody>
      </p:sp>
      <p:sp>
        <p:nvSpPr>
          <p:cNvPr id="10" name="Text 8"/>
          <p:cNvSpPr txBox="1"/>
          <p:nvPr/>
        </p:nvSpPr>
        <p:spPr>
          <a:xfrm>
            <a:off x="3840480" y="1828800"/>
            <a:ext cx="3108960" cy="1920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API REST en Supabase</a:t>
            </a:r>
            <a:endParaRPr lang="en-US" sz="1350" dirty="0"/>
          </a:p>
          <a:p>
            <a:pPr marL="0" indent="0" algn="ctr">
              <a:buNone/>
            </a:pPr>
            <a:r>
              <a:rPr lang="en-US" sz="1100" dirty="0">
                <a:solidFill>
                  <a:srgbClr val="FFFFFF"/>
                </a:solidFill>
                <a:latin typeface="Calibri" pitchFamily="34" charset="0"/>
                <a:ea typeface="Calibri" pitchFamily="34" charset="-122"/>
                <a:cs typeface="Calibri" pitchFamily="34" charset="-120"/>
              </a:rPr>
              <a:t>13 funciones api_*: login, registro, reservas, reagendamiento, reseñas, sucursales y barberos</a:t>
            </a:r>
            <a:endParaRPr lang="en-US" sz="1350" dirty="0"/>
          </a:p>
        </p:txBody>
      </p:sp>
      <p:sp>
        <p:nvSpPr>
          <p:cNvPr id="11" name="Shape 9"/>
          <p:cNvSpPr/>
          <p:nvPr/>
        </p:nvSpPr>
        <p:spPr>
          <a:xfrm>
            <a:off x="7863840" y="1828800"/>
            <a:ext cx="3749040" cy="1920240"/>
          </a:xfrm>
          <a:prstGeom prst="rect">
            <a:avLst/>
          </a:prstGeom>
          <a:solidFill>
            <a:srgbClr val="1D3A63"/>
          </a:solidFill>
          <a:ln w="9525">
            <a:solidFill>
              <a:srgbClr val="1D3A63"/>
            </a:solidFill>
            <a:prstDash val="solid"/>
          </a:ln>
        </p:spPr>
        <p:txBody>
          <a:bodyPr/>
          <a:lstStyle/>
          <a:p>
            <a:endParaRPr lang="es-CL"/>
          </a:p>
        </p:txBody>
      </p:sp>
      <p:sp>
        <p:nvSpPr>
          <p:cNvPr id="12" name="Text 10"/>
          <p:cNvSpPr txBox="1"/>
          <p:nvPr/>
        </p:nvSpPr>
        <p:spPr>
          <a:xfrm>
            <a:off x="7955280" y="1828800"/>
            <a:ext cx="3566160" cy="1920240"/>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PostgreSQL 17</a:t>
            </a:r>
            <a:endParaRPr lang="en-US" sz="1350" dirty="0"/>
          </a:p>
          <a:p>
            <a:pPr marL="0" indent="0" algn="ctr">
              <a:buNone/>
            </a:pPr>
            <a:r>
              <a:rPr lang="en-US" sz="1100" dirty="0">
                <a:solidFill>
                  <a:srgbClr val="FFFFFF"/>
                </a:solidFill>
                <a:latin typeface="Calibri" pitchFamily="34" charset="0"/>
                <a:ea typeface="Calibri" pitchFamily="34" charset="-122"/>
                <a:cs typeface="Calibri" pitchFamily="34" charset="-120"/>
              </a:rPr>
              <a:t>27 tablas · RLS cerrado · contraseñas con bcrypt · datos de contacto enmascarados</a:t>
            </a:r>
            <a:endParaRPr lang="en-US" sz="1350" dirty="0"/>
          </a:p>
        </p:txBody>
      </p:sp>
      <p:sp>
        <p:nvSpPr>
          <p:cNvPr id="13" name="Shape 11"/>
          <p:cNvSpPr/>
          <p:nvPr/>
        </p:nvSpPr>
        <p:spPr>
          <a:xfrm>
            <a:off x="2926080" y="2258568"/>
            <a:ext cx="822960" cy="0"/>
          </a:xfrm>
          <a:prstGeom prst="line">
            <a:avLst/>
          </a:prstGeom>
          <a:noFill/>
          <a:ln w="19050">
            <a:solidFill>
              <a:srgbClr val="13294B"/>
            </a:solidFill>
            <a:prstDash val="solid"/>
            <a:tailEnd type="triangle"/>
          </a:ln>
        </p:spPr>
        <p:txBody>
          <a:bodyPr/>
          <a:lstStyle/>
          <a:p>
            <a:endParaRPr lang="es-CL"/>
          </a:p>
        </p:txBody>
      </p:sp>
      <p:sp>
        <p:nvSpPr>
          <p:cNvPr id="14" name="Shape 12"/>
          <p:cNvSpPr/>
          <p:nvPr/>
        </p:nvSpPr>
        <p:spPr>
          <a:xfrm>
            <a:off x="2926080" y="3310128"/>
            <a:ext cx="822960" cy="0"/>
          </a:xfrm>
          <a:prstGeom prst="line">
            <a:avLst/>
          </a:prstGeom>
          <a:noFill/>
          <a:ln w="19050">
            <a:solidFill>
              <a:srgbClr val="13294B"/>
            </a:solidFill>
            <a:prstDash val="solid"/>
            <a:tailEnd type="triangle"/>
          </a:ln>
        </p:spPr>
        <p:txBody>
          <a:bodyPr/>
          <a:lstStyle/>
          <a:p>
            <a:endParaRPr lang="es-CL"/>
          </a:p>
        </p:txBody>
      </p:sp>
      <p:sp>
        <p:nvSpPr>
          <p:cNvPr id="15" name="Shape 13"/>
          <p:cNvSpPr/>
          <p:nvPr/>
        </p:nvSpPr>
        <p:spPr>
          <a:xfrm>
            <a:off x="7040880" y="2788920"/>
            <a:ext cx="822960" cy="0"/>
          </a:xfrm>
          <a:prstGeom prst="line">
            <a:avLst/>
          </a:prstGeom>
          <a:noFill/>
          <a:ln w="19050">
            <a:solidFill>
              <a:srgbClr val="13294B"/>
            </a:solidFill>
            <a:prstDash val="solid"/>
            <a:tailEnd type="triangle"/>
          </a:ln>
        </p:spPr>
        <p:txBody>
          <a:bodyPr/>
          <a:lstStyle/>
          <a:p>
            <a:endParaRPr lang="es-CL"/>
          </a:p>
        </p:txBody>
      </p:sp>
      <p:sp>
        <p:nvSpPr>
          <p:cNvPr id="16" name="Shape 14"/>
          <p:cNvSpPr/>
          <p:nvPr/>
        </p:nvSpPr>
        <p:spPr>
          <a:xfrm>
            <a:off x="548640" y="4069080"/>
            <a:ext cx="2624328" cy="1143000"/>
          </a:xfrm>
          <a:prstGeom prst="rect">
            <a:avLst/>
          </a:prstGeom>
          <a:solidFill>
            <a:srgbClr val="FFFFFF"/>
          </a:solidFill>
          <a:ln w="9525">
            <a:solidFill>
              <a:srgbClr val="D7DCE3"/>
            </a:solidFill>
            <a:prstDash val="solid"/>
          </a:ln>
        </p:spPr>
        <p:txBody>
          <a:bodyPr/>
          <a:lstStyle/>
          <a:p>
            <a:endParaRPr lang="es-CL"/>
          </a:p>
        </p:txBody>
      </p:sp>
      <p:sp>
        <p:nvSpPr>
          <p:cNvPr id="17" name="Text 15"/>
          <p:cNvSpPr txBox="1"/>
          <p:nvPr/>
        </p:nvSpPr>
        <p:spPr>
          <a:xfrm>
            <a:off x="640080" y="4178808"/>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24 / 24</a:t>
            </a:r>
            <a:endParaRPr lang="en-US" sz="2600" dirty="0"/>
          </a:p>
        </p:txBody>
      </p:sp>
      <p:sp>
        <p:nvSpPr>
          <p:cNvPr id="18" name="Text 16"/>
          <p:cNvSpPr txBox="1"/>
          <p:nvPr/>
        </p:nvSpPr>
        <p:spPr>
          <a:xfrm>
            <a:off x="685800" y="4709160"/>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pruebas del script de base de datos</a:t>
            </a:r>
            <a:endParaRPr lang="en-US" sz="1150" dirty="0"/>
          </a:p>
        </p:txBody>
      </p:sp>
      <p:sp>
        <p:nvSpPr>
          <p:cNvPr id="19" name="Shape 17"/>
          <p:cNvSpPr/>
          <p:nvPr/>
        </p:nvSpPr>
        <p:spPr>
          <a:xfrm>
            <a:off x="3355848" y="4069080"/>
            <a:ext cx="2624328" cy="1143000"/>
          </a:xfrm>
          <a:prstGeom prst="rect">
            <a:avLst/>
          </a:prstGeom>
          <a:solidFill>
            <a:srgbClr val="FFFFFF"/>
          </a:solidFill>
          <a:ln w="9525">
            <a:solidFill>
              <a:srgbClr val="D7DCE3"/>
            </a:solidFill>
            <a:prstDash val="solid"/>
          </a:ln>
        </p:spPr>
        <p:txBody>
          <a:bodyPr/>
          <a:lstStyle/>
          <a:p>
            <a:endParaRPr lang="es-CL"/>
          </a:p>
        </p:txBody>
      </p:sp>
      <p:sp>
        <p:nvSpPr>
          <p:cNvPr id="20" name="Text 18"/>
          <p:cNvSpPr txBox="1"/>
          <p:nvPr/>
        </p:nvSpPr>
        <p:spPr>
          <a:xfrm>
            <a:off x="3447288" y="4178808"/>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17 / 17</a:t>
            </a:r>
            <a:endParaRPr lang="en-US" sz="2600" dirty="0"/>
          </a:p>
        </p:txBody>
      </p:sp>
      <p:sp>
        <p:nvSpPr>
          <p:cNvPr id="21" name="Text 19"/>
          <p:cNvSpPr txBox="1"/>
          <p:nvPr/>
        </p:nvSpPr>
        <p:spPr>
          <a:xfrm>
            <a:off x="3493008" y="4709160"/>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pruebas de la API con la clave pública</a:t>
            </a:r>
            <a:endParaRPr lang="en-US" sz="1150" dirty="0"/>
          </a:p>
        </p:txBody>
      </p:sp>
      <p:sp>
        <p:nvSpPr>
          <p:cNvPr id="22" name="Shape 20"/>
          <p:cNvSpPr/>
          <p:nvPr/>
        </p:nvSpPr>
        <p:spPr>
          <a:xfrm>
            <a:off x="6163056" y="4069080"/>
            <a:ext cx="2624328" cy="1143000"/>
          </a:xfrm>
          <a:prstGeom prst="rect">
            <a:avLst/>
          </a:prstGeom>
          <a:solidFill>
            <a:srgbClr val="FFFFFF"/>
          </a:solidFill>
          <a:ln w="9525">
            <a:solidFill>
              <a:srgbClr val="D7DCE3"/>
            </a:solidFill>
            <a:prstDash val="solid"/>
          </a:ln>
        </p:spPr>
        <p:txBody>
          <a:bodyPr/>
          <a:lstStyle/>
          <a:p>
            <a:endParaRPr lang="es-CL"/>
          </a:p>
        </p:txBody>
      </p:sp>
      <p:sp>
        <p:nvSpPr>
          <p:cNvPr id="23" name="Text 21"/>
          <p:cNvSpPr txBox="1"/>
          <p:nvPr/>
        </p:nvSpPr>
        <p:spPr>
          <a:xfrm>
            <a:off x="6254496" y="4178808"/>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Web</a:t>
            </a:r>
            <a:endParaRPr lang="en-US" sz="2600" dirty="0"/>
          </a:p>
        </p:txBody>
      </p:sp>
      <p:sp>
        <p:nvSpPr>
          <p:cNvPr id="24" name="Text 22"/>
          <p:cNvSpPr txBox="1"/>
          <p:nvPr/>
        </p:nvSpPr>
        <p:spPr>
          <a:xfrm>
            <a:off x="6300216" y="4709160"/>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prueba de punta a punta: login, reserva, reagendar y anular</a:t>
            </a:r>
            <a:endParaRPr lang="en-US" sz="1150" dirty="0"/>
          </a:p>
        </p:txBody>
      </p:sp>
      <p:sp>
        <p:nvSpPr>
          <p:cNvPr id="25" name="Shape 23"/>
          <p:cNvSpPr/>
          <p:nvPr/>
        </p:nvSpPr>
        <p:spPr>
          <a:xfrm>
            <a:off x="8970264" y="4069080"/>
            <a:ext cx="2624328" cy="1143000"/>
          </a:xfrm>
          <a:prstGeom prst="rect">
            <a:avLst/>
          </a:prstGeom>
          <a:solidFill>
            <a:srgbClr val="FFFFFF"/>
          </a:solidFill>
          <a:ln w="9525">
            <a:solidFill>
              <a:srgbClr val="D7DCE3"/>
            </a:solidFill>
            <a:prstDash val="solid"/>
          </a:ln>
        </p:spPr>
        <p:txBody>
          <a:bodyPr/>
          <a:lstStyle/>
          <a:p>
            <a:endParaRPr lang="es-CL"/>
          </a:p>
        </p:txBody>
      </p:sp>
      <p:sp>
        <p:nvSpPr>
          <p:cNvPr id="26" name="Text 24"/>
          <p:cNvSpPr txBox="1"/>
          <p:nvPr/>
        </p:nvSpPr>
        <p:spPr>
          <a:xfrm>
            <a:off x="9061704" y="4178808"/>
            <a:ext cx="2441448" cy="548640"/>
          </a:xfrm>
          <a:prstGeom prst="rect">
            <a:avLst/>
          </a:prstGeom>
          <a:noFill/>
          <a:ln/>
        </p:spPr>
        <p:txBody>
          <a:bodyPr wrap="square" lIns="0" tIns="0" rIns="0" bIns="0" rtlCol="0" anchor="ctr"/>
          <a:lstStyle/>
          <a:p>
            <a:pPr marL="0" indent="0" algn="ctr">
              <a:buNone/>
            </a:pPr>
            <a:r>
              <a:rPr lang="en-US" sz="2600" b="1" dirty="0">
                <a:solidFill>
                  <a:srgbClr val="2F855A"/>
                </a:solidFill>
                <a:latin typeface="Cambria" pitchFamily="34" charset="0"/>
                <a:ea typeface="Cambria" pitchFamily="34" charset="-122"/>
                <a:cs typeface="Cambria" pitchFamily="34" charset="-120"/>
              </a:rPr>
              <a:t>App</a:t>
            </a:r>
            <a:endParaRPr lang="en-US" sz="2600" dirty="0"/>
          </a:p>
        </p:txBody>
      </p:sp>
      <p:sp>
        <p:nvSpPr>
          <p:cNvPr id="27" name="Text 25"/>
          <p:cNvSpPr txBox="1"/>
          <p:nvPr/>
        </p:nvSpPr>
        <p:spPr>
          <a:xfrm>
            <a:off x="9107424" y="4709160"/>
            <a:ext cx="2350008" cy="434340"/>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compila sin errores (Gradle)</a:t>
            </a:r>
            <a:endParaRPr lang="en-US" sz="1150" dirty="0"/>
          </a:p>
        </p:txBody>
      </p:sp>
      <p:sp>
        <p:nvSpPr>
          <p:cNvPr id="28" name="Shape 26"/>
          <p:cNvSpPr/>
          <p:nvPr/>
        </p:nvSpPr>
        <p:spPr>
          <a:xfrm>
            <a:off x="548640" y="5394960"/>
            <a:ext cx="11064240" cy="822960"/>
          </a:xfrm>
          <a:prstGeom prst="rect">
            <a:avLst/>
          </a:prstGeom>
          <a:solidFill>
            <a:srgbClr val="EEF1F5"/>
          </a:solidFill>
          <a:ln w="9525">
            <a:solidFill>
              <a:srgbClr val="D7DCE3"/>
            </a:solidFill>
            <a:prstDash val="solid"/>
          </a:ln>
        </p:spPr>
        <p:txBody>
          <a:bodyPr/>
          <a:lstStyle/>
          <a:p>
            <a:endParaRPr lang="es-CL"/>
          </a:p>
        </p:txBody>
      </p:sp>
      <p:sp>
        <p:nvSpPr>
          <p:cNvPr id="29" name="Text 27"/>
          <p:cNvSpPr txBox="1"/>
          <p:nvPr/>
        </p:nvSpPr>
        <p:spPr>
          <a:xfrm>
            <a:off x="685800" y="5413248"/>
            <a:ext cx="10789920" cy="786384"/>
          </a:xfrm>
          <a:prstGeom prst="rect">
            <a:avLst/>
          </a:prstGeom>
          <a:noFill/>
          <a:ln/>
        </p:spPr>
        <p:txBody>
          <a:bodyPr wrap="square" lIns="0" tIns="0" rIns="0" bIns="0" rtlCol="0" anchor="ctr"/>
          <a:lstStyle/>
          <a:p>
            <a:pPr marL="0" indent="0">
              <a:buNone/>
            </a:pPr>
            <a:r>
              <a:rPr lang="en-US" sz="1200" b="1" dirty="0">
                <a:solidFill>
                  <a:srgbClr val="13294B"/>
                </a:solidFill>
                <a:latin typeface="Calibri" pitchFamily="34" charset="0"/>
                <a:ea typeface="Calibri" pitchFamily="34" charset="-122"/>
                <a:cs typeface="Calibri" pitchFamily="34" charset="-120"/>
              </a:rPr>
              <a:t>Reglas que valida la base de datos: </a:t>
            </a:r>
            <a:r>
              <a:rPr lang="en-US" sz="1200" dirty="0">
                <a:solidFill>
                  <a:srgbClr val="1E2430"/>
                </a:solidFill>
                <a:latin typeface="Calibri" pitchFamily="34" charset="0"/>
                <a:ea typeface="Calibri" pitchFamily="34" charset="-122"/>
                <a:cs typeface="Calibri" pitchFamily="34" charset="-120"/>
              </a:rPr>
              <a:t>abono desde la configuración · reagendar con 24 h y máximo 2 veces · sin horarios duplicados · pérdida del abono según quién cancela · auditoría de accesos.</a:t>
            </a:r>
            <a:endParaRPr lang="en-US" sz="1200" dirty="0"/>
          </a:p>
        </p:txBody>
      </p:sp>
      <p:sp>
        <p:nvSpPr>
          <p:cNvPr id="30"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INDICADORES</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KPI más relevantes: el problema y el impacto esperado</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Línea base del día peak entregada por el negocio; proyección con </a:t>
            </a:r>
            <a:r>
              <a:rPr lang="en-US" sz="1250" i="1" dirty="0" err="1">
                <a:solidFill>
                  <a:srgbClr val="5B6472"/>
                </a:solidFill>
                <a:latin typeface="Calibri" pitchFamily="34" charset="0"/>
                <a:ea typeface="Calibri" pitchFamily="34" charset="-122"/>
                <a:cs typeface="Calibri" pitchFamily="34" charset="-120"/>
              </a:rPr>
              <a:t>supuestos</a:t>
            </a:r>
            <a:r>
              <a:rPr lang="en-US" sz="1250" i="1" dirty="0">
                <a:solidFill>
                  <a:srgbClr val="5B6472"/>
                </a:solidFill>
                <a:latin typeface="Calibri" pitchFamily="34" charset="0"/>
                <a:ea typeface="Calibri" pitchFamily="34" charset="-122"/>
                <a:cs typeface="Calibri" pitchFamily="34" charset="-120"/>
              </a:rPr>
              <a:t> (libro KPIs y Costos).</a:t>
            </a:r>
            <a:endParaRPr lang="en-US" sz="1250" dirty="0"/>
          </a:p>
        </p:txBody>
      </p:sp>
      <p:sp>
        <p:nvSpPr>
          <p:cNvPr id="5" name="Shape 3"/>
          <p:cNvSpPr/>
          <p:nvPr/>
        </p:nvSpPr>
        <p:spPr>
          <a:xfrm>
            <a:off x="548640"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640080" y="1892808"/>
            <a:ext cx="2441448" cy="570586"/>
          </a:xfrm>
          <a:prstGeom prst="rect">
            <a:avLst/>
          </a:prstGeom>
          <a:noFill/>
          <a:ln/>
        </p:spPr>
        <p:txBody>
          <a:bodyPr wrap="square" lIns="0" tIns="0" rIns="0" bIns="0" rtlCol="0" anchor="ctr"/>
          <a:lstStyle/>
          <a:p>
            <a:pPr marL="0" indent="0" algn="ctr">
              <a:buNone/>
            </a:pPr>
            <a:r>
              <a:rPr lang="en-US" sz="2600" b="1" dirty="0">
                <a:solidFill>
                  <a:srgbClr val="13294B"/>
                </a:solidFill>
                <a:latin typeface="Cambria" pitchFamily="34" charset="0"/>
                <a:ea typeface="Cambria" pitchFamily="34" charset="-122"/>
                <a:cs typeface="Cambria" pitchFamily="34" charset="-120"/>
              </a:rPr>
              <a:t>130</a:t>
            </a:r>
            <a:endParaRPr lang="en-US" sz="2600" dirty="0"/>
          </a:p>
        </p:txBody>
      </p:sp>
      <p:sp>
        <p:nvSpPr>
          <p:cNvPr id="7" name="Text 5"/>
          <p:cNvSpPr txBox="1"/>
          <p:nvPr/>
        </p:nvSpPr>
        <p:spPr>
          <a:xfrm>
            <a:off x="685800"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clientes atendidos en un día peak (3 sucursales)</a:t>
            </a:r>
            <a:endParaRPr lang="en-US" sz="1150" dirty="0"/>
          </a:p>
        </p:txBody>
      </p:sp>
      <p:sp>
        <p:nvSpPr>
          <p:cNvPr id="8" name="Shape 6"/>
          <p:cNvSpPr/>
          <p:nvPr/>
        </p:nvSpPr>
        <p:spPr>
          <a:xfrm>
            <a:off x="3355848"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9" name="Text 7"/>
          <p:cNvSpPr txBox="1"/>
          <p:nvPr/>
        </p:nvSpPr>
        <p:spPr>
          <a:xfrm>
            <a:off x="3447288"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16,7%</a:t>
            </a:r>
            <a:endParaRPr lang="en-US" sz="2600" dirty="0"/>
          </a:p>
        </p:txBody>
      </p:sp>
      <p:sp>
        <p:nvSpPr>
          <p:cNvPr id="10" name="Text 8"/>
          <p:cNvSpPr txBox="1"/>
          <p:nvPr/>
        </p:nvSpPr>
        <p:spPr>
          <a:xfrm>
            <a:off x="3493008"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se van sin atención: 26 clientes por día peak</a:t>
            </a:r>
            <a:endParaRPr lang="en-US" sz="1150" dirty="0"/>
          </a:p>
        </p:txBody>
      </p:sp>
      <p:sp>
        <p:nvSpPr>
          <p:cNvPr id="11" name="Shape 9"/>
          <p:cNvSpPr/>
          <p:nvPr/>
        </p:nvSpPr>
        <p:spPr>
          <a:xfrm>
            <a:off x="6163056"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12" name="Text 10"/>
          <p:cNvSpPr txBox="1"/>
          <p:nvPr/>
        </p:nvSpPr>
        <p:spPr>
          <a:xfrm>
            <a:off x="6254496"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4.326</a:t>
            </a:r>
            <a:endParaRPr lang="en-US" sz="2600" dirty="0"/>
          </a:p>
        </p:txBody>
      </p:sp>
      <p:sp>
        <p:nvSpPr>
          <p:cNvPr id="13" name="Text 11"/>
          <p:cNvSpPr txBox="1"/>
          <p:nvPr/>
        </p:nvSpPr>
        <p:spPr>
          <a:xfrm>
            <a:off x="6300216"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clientes perdidos al año</a:t>
            </a:r>
            <a:endParaRPr lang="en-US" sz="1150" dirty="0"/>
          </a:p>
        </p:txBody>
      </p:sp>
      <p:sp>
        <p:nvSpPr>
          <p:cNvPr id="14" name="Shape 12"/>
          <p:cNvSpPr/>
          <p:nvPr/>
        </p:nvSpPr>
        <p:spPr>
          <a:xfrm>
            <a:off x="8970264" y="1783080"/>
            <a:ext cx="2624328" cy="1188720"/>
          </a:xfrm>
          <a:prstGeom prst="rect">
            <a:avLst/>
          </a:prstGeom>
          <a:solidFill>
            <a:srgbClr val="FFFFFF"/>
          </a:solidFill>
          <a:ln w="9525">
            <a:solidFill>
              <a:srgbClr val="D7DCE3"/>
            </a:solidFill>
            <a:prstDash val="solid"/>
          </a:ln>
        </p:spPr>
        <p:txBody>
          <a:bodyPr/>
          <a:lstStyle/>
          <a:p>
            <a:endParaRPr lang="es-CL"/>
          </a:p>
        </p:txBody>
      </p:sp>
      <p:sp>
        <p:nvSpPr>
          <p:cNvPr id="15" name="Text 13"/>
          <p:cNvSpPr txBox="1"/>
          <p:nvPr/>
        </p:nvSpPr>
        <p:spPr>
          <a:xfrm>
            <a:off x="9061704" y="1892808"/>
            <a:ext cx="2441448" cy="570586"/>
          </a:xfrm>
          <a:prstGeom prst="rect">
            <a:avLst/>
          </a:prstGeom>
          <a:noFill/>
          <a:ln/>
        </p:spPr>
        <p:txBody>
          <a:bodyPr wrap="square" lIns="0" tIns="0" rIns="0" bIns="0" rtlCol="0" anchor="ctr"/>
          <a:lstStyle/>
          <a:p>
            <a:pPr marL="0" indent="0" algn="ctr">
              <a:buNone/>
            </a:pPr>
            <a:r>
              <a:rPr lang="en-US" sz="2600" b="1" dirty="0">
                <a:solidFill>
                  <a:srgbClr val="B83A3A"/>
                </a:solidFill>
                <a:latin typeface="Cambria" pitchFamily="34" charset="0"/>
                <a:ea typeface="Cambria" pitchFamily="34" charset="-122"/>
                <a:cs typeface="Cambria" pitchFamily="34" charset="-120"/>
              </a:rPr>
              <a:t>$51,5 M</a:t>
            </a:r>
            <a:endParaRPr lang="en-US" sz="2600" dirty="0"/>
          </a:p>
        </p:txBody>
      </p:sp>
      <p:sp>
        <p:nvSpPr>
          <p:cNvPr id="16" name="Text 14"/>
          <p:cNvSpPr txBox="1"/>
          <p:nvPr/>
        </p:nvSpPr>
        <p:spPr>
          <a:xfrm>
            <a:off x="9107424" y="2448763"/>
            <a:ext cx="2350008" cy="451714"/>
          </a:xfrm>
          <a:prstGeom prst="rect">
            <a:avLst/>
          </a:prstGeom>
          <a:noFill/>
          <a:ln/>
        </p:spPr>
        <p:txBody>
          <a:bodyPr wrap="square" lIns="0" tIns="0" rIns="0" bIns="0" rtlCol="0" anchor="t"/>
          <a:lstStyle/>
          <a:p>
            <a:pPr marL="0" indent="0" algn="ctr">
              <a:buNone/>
            </a:pPr>
            <a:r>
              <a:rPr lang="en-US" sz="1150" dirty="0">
                <a:solidFill>
                  <a:srgbClr val="1E2430"/>
                </a:solidFill>
                <a:latin typeface="Calibri" pitchFamily="34" charset="0"/>
                <a:ea typeface="Calibri" pitchFamily="34" charset="-122"/>
                <a:cs typeface="Calibri" pitchFamily="34" charset="-120"/>
              </a:rPr>
              <a:t>ingreso perdido al año (precio del corte, $11.900)</a:t>
            </a:r>
            <a:endParaRPr lang="en-US" sz="1150" dirty="0"/>
          </a:p>
        </p:txBody>
      </p:sp>
      <p:sp>
        <p:nvSpPr>
          <p:cNvPr id="17" name="Shape 15"/>
          <p:cNvSpPr/>
          <p:nvPr/>
        </p:nvSpPr>
        <p:spPr>
          <a:xfrm>
            <a:off x="548640" y="3154680"/>
            <a:ext cx="5760720" cy="3063240"/>
          </a:xfrm>
          <a:prstGeom prst="rect">
            <a:avLst/>
          </a:prstGeom>
          <a:solidFill>
            <a:srgbClr val="FFFFFF"/>
          </a:solidFill>
          <a:ln w="9525">
            <a:solidFill>
              <a:srgbClr val="D7DCE3"/>
            </a:solidFill>
            <a:prstDash val="solid"/>
          </a:ln>
        </p:spPr>
        <p:txBody>
          <a:bodyPr/>
          <a:lstStyle/>
          <a:p>
            <a:endParaRPr lang="es-CL"/>
          </a:p>
        </p:txBody>
      </p:sp>
      <p:graphicFrame>
        <p:nvGraphicFramePr>
          <p:cNvPr id="18" name="Chart 0"/>
          <p:cNvGraphicFramePr/>
          <p:nvPr/>
        </p:nvGraphicFramePr>
        <p:xfrm>
          <a:off x="685800" y="3200400"/>
          <a:ext cx="548640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19" name="Shape 16"/>
          <p:cNvSpPr/>
          <p:nvPr/>
        </p:nvSpPr>
        <p:spPr>
          <a:xfrm>
            <a:off x="6537960" y="3154680"/>
            <a:ext cx="5074920" cy="3063240"/>
          </a:xfrm>
          <a:prstGeom prst="rect">
            <a:avLst/>
          </a:prstGeom>
          <a:solidFill>
            <a:srgbClr val="EEF1F5"/>
          </a:solidFill>
          <a:ln w="9525">
            <a:solidFill>
              <a:srgbClr val="D7DCE3"/>
            </a:solidFill>
            <a:prstDash val="solid"/>
          </a:ln>
        </p:spPr>
        <p:txBody>
          <a:bodyPr/>
          <a:lstStyle/>
          <a:p>
            <a:endParaRPr lang="es-CL"/>
          </a:p>
        </p:txBody>
      </p:sp>
      <p:sp>
        <p:nvSpPr>
          <p:cNvPr id="20" name="Text 17"/>
          <p:cNvSpPr txBox="1"/>
          <p:nvPr/>
        </p:nvSpPr>
        <p:spPr>
          <a:xfrm>
            <a:off x="6720840" y="3246120"/>
            <a:ext cx="4754880" cy="365760"/>
          </a:xfrm>
          <a:prstGeom prst="rect">
            <a:avLst/>
          </a:prstGeom>
          <a:noFill/>
          <a:ln/>
        </p:spPr>
        <p:txBody>
          <a:bodyPr wrap="square" lIns="0" tIns="0" rIns="0" bIns="0" rtlCol="0" anchor="ctr"/>
          <a:lstStyle/>
          <a:p>
            <a:pPr marL="0" indent="0">
              <a:buNone/>
            </a:pPr>
            <a:r>
              <a:rPr lang="en-US" sz="1400" b="1" dirty="0">
                <a:solidFill>
                  <a:srgbClr val="13294B"/>
                </a:solidFill>
                <a:latin typeface="Cambria" pitchFamily="34" charset="0"/>
                <a:ea typeface="Cambria" pitchFamily="34" charset="-122"/>
                <a:cs typeface="Cambria" pitchFamily="34" charset="-120"/>
              </a:rPr>
              <a:t>Impacto esperado (escenario medio)</a:t>
            </a:r>
            <a:endParaRPr lang="en-US" sz="1400" dirty="0"/>
          </a:p>
        </p:txBody>
      </p:sp>
      <p:sp>
        <p:nvSpPr>
          <p:cNvPr id="21" name="Text 18"/>
          <p:cNvSpPr txBox="1"/>
          <p:nvPr/>
        </p:nvSpPr>
        <p:spPr>
          <a:xfrm>
            <a:off x="6720840" y="3703320"/>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2.163</a:t>
            </a:r>
            <a:endParaRPr lang="en-US" sz="1700" dirty="0"/>
          </a:p>
        </p:txBody>
      </p:sp>
      <p:sp>
        <p:nvSpPr>
          <p:cNvPr id="22" name="Text 19"/>
          <p:cNvSpPr txBox="1"/>
          <p:nvPr/>
        </p:nvSpPr>
        <p:spPr>
          <a:xfrm>
            <a:off x="8366760" y="3703320"/>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clientes recuperados al año (50% de los que se van)</a:t>
            </a:r>
            <a:endParaRPr lang="en-US" sz="1150" dirty="0"/>
          </a:p>
        </p:txBody>
      </p:sp>
      <p:sp>
        <p:nvSpPr>
          <p:cNvPr id="23" name="Text 20"/>
          <p:cNvSpPr txBox="1"/>
          <p:nvPr/>
        </p:nvSpPr>
        <p:spPr>
          <a:xfrm>
            <a:off x="6720840" y="4306824"/>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+$25,7 M</a:t>
            </a:r>
            <a:endParaRPr lang="en-US" sz="1700" dirty="0"/>
          </a:p>
        </p:txBody>
      </p:sp>
      <p:sp>
        <p:nvSpPr>
          <p:cNvPr id="24" name="Text 21"/>
          <p:cNvSpPr txBox="1"/>
          <p:nvPr/>
        </p:nvSpPr>
        <p:spPr>
          <a:xfrm>
            <a:off x="8366760" y="4306824"/>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ingreso bruto adicional al año</a:t>
            </a:r>
            <a:endParaRPr lang="en-US" sz="1150" dirty="0"/>
          </a:p>
        </p:txBody>
      </p:sp>
      <p:sp>
        <p:nvSpPr>
          <p:cNvPr id="25" name="Text 22"/>
          <p:cNvSpPr txBox="1"/>
          <p:nvPr/>
        </p:nvSpPr>
        <p:spPr>
          <a:xfrm>
            <a:off x="6720840" y="4910328"/>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567%</a:t>
            </a:r>
            <a:endParaRPr lang="en-US" sz="1700" dirty="0"/>
          </a:p>
        </p:txBody>
      </p:sp>
      <p:sp>
        <p:nvSpPr>
          <p:cNvPr id="26" name="Text 23"/>
          <p:cNvSpPr txBox="1"/>
          <p:nvPr/>
        </p:nvSpPr>
        <p:spPr>
          <a:xfrm>
            <a:off x="8366760" y="4910328"/>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ROI del primer año · inversión recuperada en 1,8 meses</a:t>
            </a:r>
            <a:endParaRPr lang="en-US" sz="1150" dirty="0"/>
          </a:p>
        </p:txBody>
      </p:sp>
      <p:sp>
        <p:nvSpPr>
          <p:cNvPr id="27" name="Text 24"/>
          <p:cNvSpPr txBox="1"/>
          <p:nvPr/>
        </p:nvSpPr>
        <p:spPr>
          <a:xfrm>
            <a:off x="6720840" y="5513832"/>
            <a:ext cx="1600200" cy="502920"/>
          </a:xfrm>
          <a:prstGeom prst="rect">
            <a:avLst/>
          </a:prstGeom>
          <a:noFill/>
          <a:ln/>
        </p:spPr>
        <p:txBody>
          <a:bodyPr wrap="square" lIns="0" tIns="0" rIns="0" bIns="0" rtlCol="0" anchor="ctr"/>
          <a:lstStyle/>
          <a:p>
            <a:pPr marL="0" indent="0">
              <a:buNone/>
            </a:pPr>
            <a:r>
              <a:rPr lang="en-US" sz="1700" b="1" dirty="0">
                <a:solidFill>
                  <a:srgbClr val="2F855A"/>
                </a:solidFill>
                <a:latin typeface="Cambria" pitchFamily="34" charset="0"/>
                <a:ea typeface="Cambria" pitchFamily="34" charset="-122"/>
                <a:cs typeface="Cambria" pitchFamily="34" charset="-120"/>
              </a:rPr>
              <a:t>15% → 5%</a:t>
            </a:r>
            <a:endParaRPr lang="en-US" sz="1700" dirty="0"/>
          </a:p>
        </p:txBody>
      </p:sp>
      <p:sp>
        <p:nvSpPr>
          <p:cNvPr id="28" name="Text 25"/>
          <p:cNvSpPr txBox="1"/>
          <p:nvPr/>
        </p:nvSpPr>
        <p:spPr>
          <a:xfrm>
            <a:off x="8366760" y="5513832"/>
            <a:ext cx="3154680" cy="502920"/>
          </a:xfrm>
          <a:prstGeom prst="rect">
            <a:avLst/>
          </a:prstGeom>
          <a:noFill/>
          <a:ln/>
        </p:spPr>
        <p:txBody>
          <a:bodyPr wrap="square" lIns="0" tIns="0" rIns="0" bIns="0" rtlCol="0" anchor="ctr"/>
          <a:lstStyle/>
          <a:p>
            <a:pPr marL="0" indent="0">
              <a:buNone/>
            </a:pPr>
            <a:r>
              <a:rPr lang="en-US" sz="1150" dirty="0">
                <a:solidFill>
                  <a:srgbClr val="1E2430"/>
                </a:solidFill>
                <a:latin typeface="Calibri" pitchFamily="34" charset="0"/>
                <a:ea typeface="Calibri" pitchFamily="34" charset="-122"/>
                <a:cs typeface="Calibri" pitchFamily="34" charset="-120"/>
              </a:rPr>
              <a:t>no-show esperado al exigir el abono de $3.000</a:t>
            </a:r>
            <a:endParaRPr lang="en-US" sz="1150" dirty="0"/>
          </a:p>
        </p:txBody>
      </p:sp>
      <p:sp>
        <p:nvSpPr>
          <p:cNvPr id="29"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65760"/>
            <a:ext cx="9144000" cy="320040"/>
          </a:xfrm>
          <a:prstGeom prst="rect">
            <a:avLst/>
          </a:prstGeom>
          <a:noFill/>
          <a:ln/>
        </p:spPr>
        <p:txBody>
          <a:bodyPr wrap="square" lIns="0" tIns="0" rIns="0" bIns="0" rtlCol="0" anchor="ctr"/>
          <a:lstStyle/>
          <a:p>
            <a:pPr marL="0" indent="0">
              <a:buNone/>
            </a:pPr>
            <a:r>
              <a:rPr lang="en-US" sz="1300" b="1" kern="0" spc="300" dirty="0">
                <a:solidFill>
                  <a:srgbClr val="13294B"/>
                </a:solidFill>
                <a:latin typeface="Calibri" pitchFamily="34" charset="0"/>
                <a:ea typeface="Calibri" pitchFamily="34" charset="-122"/>
                <a:cs typeface="Calibri" pitchFamily="34" charset="-120"/>
              </a:rPr>
              <a:t>CONTROL</a:t>
            </a:r>
            <a:endParaRPr lang="en-US" sz="1300" dirty="0"/>
          </a:p>
        </p:txBody>
      </p:sp>
      <p:sp>
        <p:nvSpPr>
          <p:cNvPr id="3" name="Text 1"/>
          <p:cNvSpPr txBox="1"/>
          <p:nvPr/>
        </p:nvSpPr>
        <p:spPr>
          <a:xfrm>
            <a:off x="548640" y="658368"/>
            <a:ext cx="11064240" cy="685800"/>
          </a:xfrm>
          <a:prstGeom prst="rect">
            <a:avLst/>
          </a:prstGeom>
          <a:noFill/>
          <a:ln/>
        </p:spPr>
        <p:txBody>
          <a:bodyPr wrap="square" lIns="0" tIns="0" rIns="0" bIns="0" rtlCol="0" anchor="ctr"/>
          <a:lstStyle/>
          <a:p>
            <a:pPr marL="0" indent="0">
              <a:buNone/>
            </a:pPr>
            <a:r>
              <a:rPr lang="en-US" sz="2800" b="1" dirty="0">
                <a:solidFill>
                  <a:srgbClr val="1E2430"/>
                </a:solidFill>
                <a:latin typeface="Cambria" pitchFamily="34" charset="0"/>
                <a:ea typeface="Cambria" pitchFamily="34" charset="-122"/>
                <a:cs typeface="Cambria" pitchFamily="34" charset="-120"/>
              </a:rPr>
              <a:t>Próximos pasos y riesgos principales</a:t>
            </a:r>
            <a:endParaRPr lang="en-US" sz="2800" dirty="0"/>
          </a:p>
        </p:txBody>
      </p:sp>
      <p:sp>
        <p:nvSpPr>
          <p:cNvPr id="4" name="Text 2"/>
          <p:cNvSpPr txBox="1"/>
          <p:nvPr/>
        </p:nvSpPr>
        <p:spPr>
          <a:xfrm>
            <a:off x="548640" y="1298448"/>
            <a:ext cx="11064240" cy="347472"/>
          </a:xfrm>
          <a:prstGeom prst="rect">
            <a:avLst/>
          </a:prstGeom>
          <a:noFill/>
          <a:ln/>
        </p:spPr>
        <p:txBody>
          <a:bodyPr wrap="square" lIns="0" tIns="0" rIns="0" bIns="0" rtlCol="0" anchor="ctr"/>
          <a:lstStyle/>
          <a:p>
            <a:pPr marL="0" indent="0">
              <a:buNone/>
            </a:pPr>
            <a:r>
              <a:rPr lang="en-US" sz="1250" i="1" dirty="0">
                <a:solidFill>
                  <a:srgbClr val="5B6472"/>
                </a:solidFill>
                <a:latin typeface="Calibri" pitchFamily="34" charset="0"/>
                <a:ea typeface="Calibri" pitchFamily="34" charset="-122"/>
                <a:cs typeface="Calibri" pitchFamily="34" charset="-120"/>
              </a:rPr>
              <a:t>De la semana 12 a la entrega final (S14).</a:t>
            </a:r>
            <a:endParaRPr lang="en-US" sz="1250" dirty="0"/>
          </a:p>
        </p:txBody>
      </p:sp>
      <p:sp>
        <p:nvSpPr>
          <p:cNvPr id="5" name="Shape 3"/>
          <p:cNvSpPr/>
          <p:nvPr/>
        </p:nvSpPr>
        <p:spPr>
          <a:xfrm>
            <a:off x="548640" y="1783080"/>
            <a:ext cx="6309360" cy="4434840"/>
          </a:xfrm>
          <a:prstGeom prst="rect">
            <a:avLst/>
          </a:prstGeom>
          <a:solidFill>
            <a:srgbClr val="FFFFFF"/>
          </a:solidFill>
          <a:ln w="9525">
            <a:solidFill>
              <a:srgbClr val="D7DCE3"/>
            </a:solidFill>
            <a:prstDash val="solid"/>
          </a:ln>
        </p:spPr>
        <p:txBody>
          <a:bodyPr/>
          <a:lstStyle/>
          <a:p>
            <a:endParaRPr lang="es-CL"/>
          </a:p>
        </p:txBody>
      </p:sp>
      <p:sp>
        <p:nvSpPr>
          <p:cNvPr id="6" name="Text 4"/>
          <p:cNvSpPr txBox="1"/>
          <p:nvPr/>
        </p:nvSpPr>
        <p:spPr>
          <a:xfrm>
            <a:off x="731520" y="1874520"/>
            <a:ext cx="5943600" cy="365760"/>
          </a:xfrm>
          <a:prstGeom prst="rect">
            <a:avLst/>
          </a:prstGeom>
          <a:noFill/>
          <a:ln/>
        </p:spPr>
        <p:txBody>
          <a:bodyPr wrap="square" lIns="0" tIns="0" rIns="0" bIns="0" rtlCol="0" anchor="ctr"/>
          <a:lstStyle/>
          <a:p>
            <a:pPr marL="0" indent="0">
              <a:buNone/>
            </a:pPr>
            <a:r>
              <a:rPr lang="en-US" sz="1500" b="1" dirty="0">
                <a:solidFill>
                  <a:srgbClr val="13294B"/>
                </a:solidFill>
                <a:latin typeface="Cambria" pitchFamily="34" charset="0"/>
                <a:ea typeface="Cambria" pitchFamily="34" charset="-122"/>
                <a:cs typeface="Cambria" pitchFamily="34" charset="-120"/>
              </a:rPr>
              <a:t>Próximos pasos</a:t>
            </a:r>
            <a:endParaRPr lang="en-US" sz="1500" dirty="0"/>
          </a:p>
        </p:txBody>
      </p:sp>
      <p:sp>
        <p:nvSpPr>
          <p:cNvPr id="7" name="Shape 5"/>
          <p:cNvSpPr/>
          <p:nvPr/>
        </p:nvSpPr>
        <p:spPr>
          <a:xfrm>
            <a:off x="777240" y="2487168"/>
            <a:ext cx="566928" cy="566928"/>
          </a:xfrm>
          <a:prstGeom prst="ellipse">
            <a:avLst/>
          </a:prstGeom>
          <a:solidFill>
            <a:srgbClr val="B5762A"/>
          </a:solidFill>
          <a:ln w="12700">
            <a:solidFill>
              <a:srgbClr val="B5762A"/>
            </a:solidFill>
            <a:prstDash val="solid"/>
          </a:ln>
        </p:spPr>
        <p:txBody>
          <a:bodyPr/>
          <a:lstStyle/>
          <a:p>
            <a:endParaRPr lang="es-CL"/>
          </a:p>
        </p:txBody>
      </p:sp>
      <p:sp>
        <p:nvSpPr>
          <p:cNvPr id="8" name="Text 6"/>
          <p:cNvSpPr txBox="1"/>
          <p:nvPr/>
        </p:nvSpPr>
        <p:spPr>
          <a:xfrm>
            <a:off x="777240" y="2487168"/>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S12</a:t>
            </a:r>
            <a:endParaRPr lang="en-US" sz="1100" dirty="0"/>
          </a:p>
        </p:txBody>
      </p:sp>
      <p:sp>
        <p:nvSpPr>
          <p:cNvPr id="9" name="Text 7"/>
          <p:cNvSpPr txBox="1"/>
          <p:nvPr/>
        </p:nvSpPr>
        <p:spPr>
          <a:xfrm>
            <a:off x="1508760" y="2377440"/>
            <a:ext cx="5212080" cy="786384"/>
          </a:xfrm>
          <a:prstGeom prst="rect">
            <a:avLst/>
          </a:prstGeom>
          <a:noFill/>
          <a:ln/>
        </p:spPr>
        <p:txBody>
          <a:bodyPr wrap="square" lIns="0" tIns="0" rIns="0" bIns="0" rtlCol="0" anchor="ctr"/>
          <a:lstStyle/>
          <a:p>
            <a:pPr marL="0" indent="0">
              <a:buNone/>
            </a:pPr>
            <a:r>
              <a:rPr lang="en-US" sz="1200" dirty="0">
                <a:solidFill>
                  <a:srgbClr val="1E2430"/>
                </a:solidFill>
                <a:latin typeface="Calibri" pitchFamily="34" charset="0"/>
                <a:ea typeface="Calibri" pitchFamily="34" charset="-122"/>
                <a:cs typeface="Calibri" pitchFamily="34" charset="-120"/>
              </a:rPr>
              <a:t>Pago con Webpay, fila por orden de llegada, «Mis datos» y cuentas del personal · sistema integrado (H6, 30-10)</a:t>
            </a:r>
            <a:endParaRPr lang="en-US" sz="1200" dirty="0"/>
          </a:p>
        </p:txBody>
      </p:sp>
      <p:sp>
        <p:nvSpPr>
          <p:cNvPr id="10" name="Shape 8"/>
          <p:cNvSpPr/>
          <p:nvPr/>
        </p:nvSpPr>
        <p:spPr>
          <a:xfrm>
            <a:off x="777240" y="3419856"/>
            <a:ext cx="566928" cy="566928"/>
          </a:xfrm>
          <a:prstGeom prst="ellipse">
            <a:avLst/>
          </a:prstGeom>
          <a:solidFill>
            <a:srgbClr val="13294B"/>
          </a:solidFill>
          <a:ln w="12700">
            <a:solidFill>
              <a:srgbClr val="13294B"/>
            </a:solidFill>
            <a:prstDash val="solid"/>
          </a:ln>
        </p:spPr>
        <p:txBody>
          <a:bodyPr/>
          <a:lstStyle/>
          <a:p>
            <a:endParaRPr lang="es-CL"/>
          </a:p>
        </p:txBody>
      </p:sp>
      <p:sp>
        <p:nvSpPr>
          <p:cNvPr id="11" name="Text 9"/>
          <p:cNvSpPr txBox="1"/>
          <p:nvPr/>
        </p:nvSpPr>
        <p:spPr>
          <a:xfrm>
            <a:off x="777240" y="3419856"/>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S13</a:t>
            </a:r>
            <a:endParaRPr lang="en-US" sz="1100" dirty="0"/>
          </a:p>
        </p:txBody>
      </p:sp>
      <p:sp>
        <p:nvSpPr>
          <p:cNvPr id="12" name="Text 10"/>
          <p:cNvSpPr txBox="1"/>
          <p:nvPr/>
        </p:nvSpPr>
        <p:spPr>
          <a:xfrm>
            <a:off x="1508760" y="3310128"/>
            <a:ext cx="5212080" cy="786384"/>
          </a:xfrm>
          <a:prstGeom prst="rect">
            <a:avLst/>
          </a:prstGeom>
          <a:noFill/>
          <a:ln/>
        </p:spPr>
        <p:txBody>
          <a:bodyPr wrap="square" lIns="0" tIns="0" rIns="0" bIns="0" rtlCol="0" anchor="ctr"/>
          <a:lstStyle/>
          <a:p>
            <a:pPr marL="0" indent="0">
              <a:buNone/>
            </a:pPr>
            <a:r>
              <a:rPr lang="en-US" sz="1200" dirty="0">
                <a:solidFill>
                  <a:srgbClr val="1E2430"/>
                </a:solidFill>
                <a:latin typeface="Calibri" pitchFamily="34" charset="0"/>
                <a:ea typeface="Calibri" pitchFamily="34" charset="-122"/>
                <a:cs typeface="Calibri" pitchFamily="34" charset="-120"/>
              </a:rPr>
              <a:t>Pruebas funcionales, de integración, seguridad y privacidad · despliegue y APK firmada</a:t>
            </a:r>
            <a:endParaRPr lang="en-US" sz="1200" dirty="0"/>
          </a:p>
        </p:txBody>
      </p:sp>
      <p:sp>
        <p:nvSpPr>
          <p:cNvPr id="13" name="Shape 11"/>
          <p:cNvSpPr/>
          <p:nvPr/>
        </p:nvSpPr>
        <p:spPr>
          <a:xfrm>
            <a:off x="777240" y="4352544"/>
            <a:ext cx="566928" cy="566928"/>
          </a:xfrm>
          <a:prstGeom prst="ellipse">
            <a:avLst/>
          </a:prstGeom>
          <a:solidFill>
            <a:srgbClr val="13294B"/>
          </a:solidFill>
          <a:ln w="12700">
            <a:solidFill>
              <a:srgbClr val="13294B"/>
            </a:solidFill>
            <a:prstDash val="solid"/>
          </a:ln>
        </p:spPr>
        <p:txBody>
          <a:bodyPr/>
          <a:lstStyle/>
          <a:p>
            <a:endParaRPr lang="es-CL"/>
          </a:p>
        </p:txBody>
      </p:sp>
      <p:sp>
        <p:nvSpPr>
          <p:cNvPr id="14" name="Text 12"/>
          <p:cNvSpPr txBox="1"/>
          <p:nvPr/>
        </p:nvSpPr>
        <p:spPr>
          <a:xfrm>
            <a:off x="777240" y="4352544"/>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S14</a:t>
            </a:r>
            <a:endParaRPr lang="en-US" sz="1100" dirty="0"/>
          </a:p>
        </p:txBody>
      </p:sp>
      <p:sp>
        <p:nvSpPr>
          <p:cNvPr id="15" name="Text 13"/>
          <p:cNvSpPr txBox="1"/>
          <p:nvPr/>
        </p:nvSpPr>
        <p:spPr>
          <a:xfrm>
            <a:off x="1508760" y="4242816"/>
            <a:ext cx="5212080" cy="786384"/>
          </a:xfrm>
          <a:prstGeom prst="rect">
            <a:avLst/>
          </a:prstGeom>
          <a:noFill/>
          <a:ln/>
        </p:spPr>
        <p:txBody>
          <a:bodyPr wrap="square" lIns="0" tIns="0" rIns="0" bIns="0" rtlCol="0" anchor="ctr"/>
          <a:lstStyle/>
          <a:p>
            <a:pPr marL="0" indent="0">
              <a:buNone/>
            </a:pPr>
            <a:r>
              <a:rPr lang="en-US" sz="1200" dirty="0">
                <a:solidFill>
                  <a:srgbClr val="1E2430"/>
                </a:solidFill>
                <a:latin typeface="Calibri" pitchFamily="34" charset="0"/>
                <a:ea typeface="Calibri" pitchFamily="34" charset="-122"/>
                <a:cs typeface="Calibri" pitchFamily="34" charset="-120"/>
              </a:rPr>
              <a:t>UAT con el dueño (H7, 10-11) · marcha blanca en las 3 sucursales · entrega final (H8, 13-11)</a:t>
            </a:r>
            <a:endParaRPr lang="en-US" sz="1200" dirty="0"/>
          </a:p>
        </p:txBody>
      </p:sp>
      <p:sp>
        <p:nvSpPr>
          <p:cNvPr id="16" name="Shape 14"/>
          <p:cNvSpPr/>
          <p:nvPr/>
        </p:nvSpPr>
        <p:spPr>
          <a:xfrm>
            <a:off x="777240" y="5285232"/>
            <a:ext cx="566928" cy="566928"/>
          </a:xfrm>
          <a:prstGeom prst="ellipse">
            <a:avLst/>
          </a:prstGeom>
          <a:solidFill>
            <a:srgbClr val="13294B"/>
          </a:solidFill>
          <a:ln w="12700">
            <a:solidFill>
              <a:srgbClr val="13294B"/>
            </a:solidFill>
            <a:prstDash val="solid"/>
          </a:ln>
        </p:spPr>
        <p:txBody>
          <a:bodyPr/>
          <a:lstStyle/>
          <a:p>
            <a:endParaRPr lang="es-CL"/>
          </a:p>
        </p:txBody>
      </p:sp>
      <p:sp>
        <p:nvSpPr>
          <p:cNvPr id="17" name="Text 15"/>
          <p:cNvSpPr txBox="1"/>
          <p:nvPr/>
        </p:nvSpPr>
        <p:spPr>
          <a:xfrm>
            <a:off x="777240" y="5285232"/>
            <a:ext cx="566928" cy="56692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S16</a:t>
            </a:r>
            <a:endParaRPr lang="en-US" sz="1100" dirty="0"/>
          </a:p>
        </p:txBody>
      </p:sp>
      <p:sp>
        <p:nvSpPr>
          <p:cNvPr id="18" name="Text 16"/>
          <p:cNvSpPr txBox="1"/>
          <p:nvPr/>
        </p:nvSpPr>
        <p:spPr>
          <a:xfrm>
            <a:off x="1508760" y="5175504"/>
            <a:ext cx="5212080" cy="786384"/>
          </a:xfrm>
          <a:prstGeom prst="rect">
            <a:avLst/>
          </a:prstGeom>
          <a:noFill/>
          <a:ln/>
        </p:spPr>
        <p:txBody>
          <a:bodyPr wrap="square" lIns="0" tIns="0" rIns="0" bIns="0" rtlCol="0" anchor="ctr"/>
          <a:lstStyle/>
          <a:p>
            <a:pPr marL="0" indent="0">
              <a:buNone/>
            </a:pPr>
            <a:r>
              <a:rPr lang="en-US" sz="1200" dirty="0">
                <a:solidFill>
                  <a:srgbClr val="1E2430"/>
                </a:solidFill>
                <a:latin typeface="Calibri" pitchFamily="34" charset="0"/>
                <a:ea typeface="Calibri" pitchFamily="34" charset="-122"/>
                <a:cs typeface="Calibri" pitchFamily="34" charset="-120"/>
              </a:rPr>
              <a:t>Defensa del proyecto (H9, 27-11)</a:t>
            </a:r>
            <a:endParaRPr lang="en-US" sz="1200" dirty="0"/>
          </a:p>
        </p:txBody>
      </p:sp>
      <p:sp>
        <p:nvSpPr>
          <p:cNvPr id="19" name="Shape 17"/>
          <p:cNvSpPr/>
          <p:nvPr/>
        </p:nvSpPr>
        <p:spPr>
          <a:xfrm>
            <a:off x="7132320" y="1783080"/>
            <a:ext cx="4480560" cy="4434840"/>
          </a:xfrm>
          <a:prstGeom prst="rect">
            <a:avLst/>
          </a:prstGeom>
          <a:solidFill>
            <a:srgbClr val="FFFFFF"/>
          </a:solidFill>
          <a:ln w="9525">
            <a:solidFill>
              <a:srgbClr val="D7DCE3"/>
            </a:solidFill>
            <a:prstDash val="solid"/>
          </a:ln>
        </p:spPr>
        <p:txBody>
          <a:bodyPr/>
          <a:lstStyle/>
          <a:p>
            <a:endParaRPr lang="es-CL"/>
          </a:p>
        </p:txBody>
      </p:sp>
      <p:sp>
        <p:nvSpPr>
          <p:cNvPr id="20" name="Text 18"/>
          <p:cNvSpPr txBox="1"/>
          <p:nvPr/>
        </p:nvSpPr>
        <p:spPr>
          <a:xfrm>
            <a:off x="7315200" y="1874520"/>
            <a:ext cx="4114800" cy="365760"/>
          </a:xfrm>
          <a:prstGeom prst="rect">
            <a:avLst/>
          </a:prstGeom>
          <a:noFill/>
          <a:ln/>
        </p:spPr>
        <p:txBody>
          <a:bodyPr wrap="square" lIns="0" tIns="0" rIns="0" bIns="0" rtlCol="0" anchor="ctr"/>
          <a:lstStyle/>
          <a:p>
            <a:pPr marL="0" indent="0">
              <a:buNone/>
            </a:pPr>
            <a:r>
              <a:rPr lang="en-US" sz="1500" b="1" dirty="0">
                <a:solidFill>
                  <a:srgbClr val="13294B"/>
                </a:solidFill>
                <a:latin typeface="Cambria" pitchFamily="34" charset="0"/>
                <a:ea typeface="Cambria" pitchFamily="34" charset="-122"/>
                <a:cs typeface="Cambria" pitchFamily="34" charset="-120"/>
              </a:rPr>
              <a:t>Riesgos principales</a:t>
            </a:r>
            <a:endParaRPr lang="en-US" sz="1500" dirty="0"/>
          </a:p>
        </p:txBody>
      </p:sp>
      <p:sp>
        <p:nvSpPr>
          <p:cNvPr id="21" name="Shape 19"/>
          <p:cNvSpPr/>
          <p:nvPr/>
        </p:nvSpPr>
        <p:spPr>
          <a:xfrm>
            <a:off x="7360920" y="2487168"/>
            <a:ext cx="201168" cy="201168"/>
          </a:xfrm>
          <a:prstGeom prst="ellipse">
            <a:avLst/>
          </a:prstGeom>
          <a:solidFill>
            <a:srgbClr val="B83A3A"/>
          </a:solidFill>
          <a:ln w="12700">
            <a:solidFill>
              <a:srgbClr val="B83A3A"/>
            </a:solidFill>
            <a:prstDash val="solid"/>
          </a:ln>
        </p:spPr>
        <p:txBody>
          <a:bodyPr/>
          <a:lstStyle/>
          <a:p>
            <a:endParaRPr lang="es-CL"/>
          </a:p>
        </p:txBody>
      </p:sp>
      <p:sp>
        <p:nvSpPr>
          <p:cNvPr id="22" name="Text 20"/>
          <p:cNvSpPr txBox="1"/>
          <p:nvPr/>
        </p:nvSpPr>
        <p:spPr>
          <a:xfrm>
            <a:off x="7680960" y="2377440"/>
            <a:ext cx="3840480" cy="329184"/>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Atraso de la integración (1.4.3)  </a:t>
            </a:r>
            <a:r>
              <a:rPr lang="en-US" sz="1200" b="1" dirty="0">
                <a:solidFill>
                  <a:srgbClr val="B83A3A"/>
                </a:solidFill>
                <a:latin typeface="Calibri" pitchFamily="34" charset="0"/>
                <a:ea typeface="Calibri" pitchFamily="34" charset="-122"/>
                <a:cs typeface="Calibri" pitchFamily="34" charset="-120"/>
              </a:rPr>
              <a:t>Alto</a:t>
            </a:r>
            <a:endParaRPr lang="en-US" sz="1200" dirty="0"/>
          </a:p>
        </p:txBody>
      </p:sp>
      <p:sp>
        <p:nvSpPr>
          <p:cNvPr id="23" name="Text 21"/>
          <p:cNvSpPr txBox="1"/>
          <p:nvPr/>
        </p:nvSpPr>
        <p:spPr>
          <a:xfrm>
            <a:off x="7680960" y="2706624"/>
            <a:ext cx="3840480" cy="50292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Prioridad al flujo de reserva con abono; punto de control semanal.</a:t>
            </a:r>
            <a:endParaRPr lang="en-US" sz="1100" dirty="0"/>
          </a:p>
        </p:txBody>
      </p:sp>
      <p:sp>
        <p:nvSpPr>
          <p:cNvPr id="24" name="Shape 22"/>
          <p:cNvSpPr/>
          <p:nvPr/>
        </p:nvSpPr>
        <p:spPr>
          <a:xfrm>
            <a:off x="7360920" y="3419856"/>
            <a:ext cx="201168" cy="201168"/>
          </a:xfrm>
          <a:prstGeom prst="ellipse">
            <a:avLst/>
          </a:prstGeom>
          <a:solidFill>
            <a:srgbClr val="B83A3A"/>
          </a:solidFill>
          <a:ln w="12700">
            <a:solidFill>
              <a:srgbClr val="B83A3A"/>
            </a:solidFill>
            <a:prstDash val="solid"/>
          </a:ln>
        </p:spPr>
        <p:txBody>
          <a:bodyPr/>
          <a:lstStyle/>
          <a:p>
            <a:endParaRPr lang="es-CL"/>
          </a:p>
        </p:txBody>
      </p:sp>
      <p:sp>
        <p:nvSpPr>
          <p:cNvPr id="25" name="Text 23"/>
          <p:cNvSpPr txBox="1"/>
          <p:nvPr/>
        </p:nvSpPr>
        <p:spPr>
          <a:xfrm>
            <a:off x="7680960" y="3310128"/>
            <a:ext cx="3840480" cy="329184"/>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Seguridad de credenciales  </a:t>
            </a:r>
            <a:r>
              <a:rPr lang="en-US" sz="1200" b="1" dirty="0">
                <a:solidFill>
                  <a:srgbClr val="B83A3A"/>
                </a:solidFill>
                <a:latin typeface="Calibri" pitchFamily="34" charset="0"/>
                <a:ea typeface="Calibri" pitchFamily="34" charset="-122"/>
                <a:cs typeface="Calibri" pitchFamily="34" charset="-120"/>
              </a:rPr>
              <a:t>Alto</a:t>
            </a:r>
            <a:endParaRPr lang="en-US" sz="1200" dirty="0"/>
          </a:p>
        </p:txBody>
      </p:sp>
      <p:sp>
        <p:nvSpPr>
          <p:cNvPr id="26" name="Text 24"/>
          <p:cNvSpPr txBox="1"/>
          <p:nvPr/>
        </p:nvSpPr>
        <p:spPr>
          <a:xfrm>
            <a:off x="7680960" y="3639312"/>
            <a:ext cx="3840480" cy="50292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Claves fuera del código; envío de correos desde el servidor.</a:t>
            </a:r>
            <a:endParaRPr lang="en-US" sz="1100" dirty="0"/>
          </a:p>
        </p:txBody>
      </p:sp>
      <p:sp>
        <p:nvSpPr>
          <p:cNvPr id="27" name="Shape 25"/>
          <p:cNvSpPr/>
          <p:nvPr/>
        </p:nvSpPr>
        <p:spPr>
          <a:xfrm>
            <a:off x="7360920" y="4352544"/>
            <a:ext cx="201168" cy="201168"/>
          </a:xfrm>
          <a:prstGeom prst="ellipse">
            <a:avLst/>
          </a:prstGeom>
          <a:solidFill>
            <a:srgbClr val="B5762A"/>
          </a:solidFill>
          <a:ln w="12700">
            <a:solidFill>
              <a:srgbClr val="B5762A"/>
            </a:solidFill>
            <a:prstDash val="solid"/>
          </a:ln>
        </p:spPr>
        <p:txBody>
          <a:bodyPr/>
          <a:lstStyle/>
          <a:p>
            <a:endParaRPr lang="es-CL"/>
          </a:p>
        </p:txBody>
      </p:sp>
      <p:sp>
        <p:nvSpPr>
          <p:cNvPr id="28" name="Text 26"/>
          <p:cNvSpPr txBox="1"/>
          <p:nvPr/>
        </p:nvSpPr>
        <p:spPr>
          <a:xfrm>
            <a:off x="7680960" y="4242816"/>
            <a:ext cx="3840480" cy="329184"/>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Integración con Webpay  </a:t>
            </a:r>
            <a:r>
              <a:rPr lang="en-US" sz="1200" b="1" dirty="0">
                <a:solidFill>
                  <a:srgbClr val="B5762A"/>
                </a:solidFill>
                <a:latin typeface="Calibri" pitchFamily="34" charset="0"/>
                <a:ea typeface="Calibri" pitchFamily="34" charset="-122"/>
                <a:cs typeface="Calibri" pitchFamily="34" charset="-120"/>
              </a:rPr>
              <a:t>Medio</a:t>
            </a:r>
            <a:endParaRPr lang="en-US" sz="1200" dirty="0"/>
          </a:p>
        </p:txBody>
      </p:sp>
      <p:sp>
        <p:nvSpPr>
          <p:cNvPr id="29" name="Text 27"/>
          <p:cNvSpPr txBox="1"/>
          <p:nvPr/>
        </p:nvSpPr>
        <p:spPr>
          <a:xfrm>
            <a:off x="7680960" y="4572000"/>
            <a:ext cx="3840480" cy="50292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Ambiente de integración de Transbank desde S12; Mercado Pago como alternativa.</a:t>
            </a:r>
            <a:endParaRPr lang="en-US" sz="1100" dirty="0"/>
          </a:p>
        </p:txBody>
      </p:sp>
      <p:sp>
        <p:nvSpPr>
          <p:cNvPr id="30" name="Shape 28"/>
          <p:cNvSpPr/>
          <p:nvPr/>
        </p:nvSpPr>
        <p:spPr>
          <a:xfrm>
            <a:off x="7360920" y="5285232"/>
            <a:ext cx="201168" cy="201168"/>
          </a:xfrm>
          <a:prstGeom prst="ellipse">
            <a:avLst/>
          </a:prstGeom>
          <a:solidFill>
            <a:srgbClr val="2F855A"/>
          </a:solidFill>
          <a:ln w="12700">
            <a:solidFill>
              <a:srgbClr val="2F855A"/>
            </a:solidFill>
            <a:prstDash val="solid"/>
          </a:ln>
        </p:spPr>
        <p:txBody>
          <a:bodyPr/>
          <a:lstStyle/>
          <a:p>
            <a:endParaRPr lang="es-CL"/>
          </a:p>
        </p:txBody>
      </p:sp>
      <p:sp>
        <p:nvSpPr>
          <p:cNvPr id="31" name="Text 29"/>
          <p:cNvSpPr txBox="1"/>
          <p:nvPr/>
        </p:nvSpPr>
        <p:spPr>
          <a:xfrm>
            <a:off x="7680960" y="5175504"/>
            <a:ext cx="3840480" cy="329184"/>
          </a:xfrm>
          <a:prstGeom prst="rect">
            <a:avLst/>
          </a:prstGeom>
          <a:noFill/>
          <a:ln/>
        </p:spPr>
        <p:txBody>
          <a:bodyPr wrap="square" lIns="0" tIns="0" rIns="0" bIns="0" rtlCol="0" anchor="ctr"/>
          <a:lstStyle/>
          <a:p>
            <a:pPr marL="0" indent="0">
              <a:buNone/>
            </a:pPr>
            <a:r>
              <a:rPr lang="en-US" sz="1200" b="1" dirty="0">
                <a:solidFill>
                  <a:srgbClr val="1E2430"/>
                </a:solidFill>
                <a:latin typeface="Calibri" pitchFamily="34" charset="0"/>
                <a:ea typeface="Calibri" pitchFamily="34" charset="-122"/>
                <a:cs typeface="Calibri" pitchFamily="34" charset="-120"/>
              </a:rPr>
              <a:t>Tablas del prototipo abiertas (R-14)  </a:t>
            </a:r>
            <a:r>
              <a:rPr lang="en-US" sz="1200" b="1" dirty="0">
                <a:solidFill>
                  <a:srgbClr val="2F855A"/>
                </a:solidFill>
                <a:latin typeface="Calibri" pitchFamily="34" charset="0"/>
                <a:ea typeface="Calibri" pitchFamily="34" charset="-122"/>
                <a:cs typeface="Calibri" pitchFamily="34" charset="-120"/>
              </a:rPr>
              <a:t>Cerrado</a:t>
            </a:r>
            <a:endParaRPr lang="en-US" sz="1200" dirty="0"/>
          </a:p>
        </p:txBody>
      </p:sp>
      <p:sp>
        <p:nvSpPr>
          <p:cNvPr id="32" name="Text 30"/>
          <p:cNvSpPr txBox="1"/>
          <p:nvPr/>
        </p:nvSpPr>
        <p:spPr>
          <a:xfrm>
            <a:off x="7680960" y="5504688"/>
            <a:ext cx="3840480" cy="502920"/>
          </a:xfrm>
          <a:prstGeom prst="rect">
            <a:avLst/>
          </a:prstGeom>
          <a:noFill/>
          <a:ln/>
        </p:spPr>
        <p:txBody>
          <a:bodyPr wrap="square" lIns="0" tIns="0" rIns="0" bIns="0" rtlCol="0" anchor="t"/>
          <a:lstStyle/>
          <a:p>
            <a:pPr marL="0" indent="0">
              <a:buNone/>
            </a:pPr>
            <a:r>
              <a:rPr lang="en-US" sz="1100" dirty="0">
                <a:solidFill>
                  <a:srgbClr val="5B6472"/>
                </a:solidFill>
                <a:latin typeface="Calibri" pitchFamily="34" charset="0"/>
                <a:ea typeface="Calibri" pitchFamily="34" charset="-122"/>
                <a:cs typeface="Calibri" pitchFamily="34" charset="-120"/>
              </a:rPr>
              <a:t>Eliminadas el 22-10; la web y la app usan solo la API.</a:t>
            </a:r>
            <a:endParaRPr lang="en-US" sz="1100" dirty="0"/>
          </a:p>
        </p:txBody>
      </p:sp>
      <p:sp>
        <p:nvSpPr>
          <p:cNvPr id="33"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5B6472"/>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9692640" y="-822960"/>
            <a:ext cx="3108960" cy="3108960"/>
          </a:xfrm>
          <a:prstGeom prst="ellipse">
            <a:avLst/>
          </a:prstGeom>
          <a:solidFill>
            <a:srgbClr val="234670"/>
          </a:solidFill>
          <a:ln w="12700">
            <a:solidFill>
              <a:srgbClr val="5B84B8"/>
            </a:solidFill>
            <a:prstDash val="solid"/>
          </a:ln>
        </p:spPr>
        <p:txBody>
          <a:bodyPr/>
          <a:lstStyle/>
          <a:p>
            <a:endParaRPr lang="es-CL"/>
          </a:p>
        </p:txBody>
      </p:sp>
      <p:sp>
        <p:nvSpPr>
          <p:cNvPr id="3" name="Shape 1"/>
          <p:cNvSpPr/>
          <p:nvPr/>
        </p:nvSpPr>
        <p:spPr>
          <a:xfrm>
            <a:off x="-548640" y="5394960"/>
            <a:ext cx="2011680" cy="2011680"/>
          </a:xfrm>
          <a:prstGeom prst="ellipse">
            <a:avLst/>
          </a:prstGeom>
          <a:solidFill>
            <a:srgbClr val="234670"/>
          </a:solidFill>
          <a:ln w="12700">
            <a:solidFill>
              <a:srgbClr val="5B84B8"/>
            </a:solidFill>
            <a:prstDash val="solid"/>
          </a:ln>
        </p:spPr>
        <p:txBody>
          <a:bodyPr/>
          <a:lstStyle/>
          <a:p>
            <a:endParaRPr lang="es-CL"/>
          </a:p>
        </p:txBody>
      </p:sp>
      <p:sp>
        <p:nvSpPr>
          <p:cNvPr id="4" name="Text 2"/>
          <p:cNvSpPr txBox="1"/>
          <p:nvPr/>
        </p:nvSpPr>
        <p:spPr>
          <a:xfrm>
            <a:off x="640080" y="822960"/>
            <a:ext cx="7315200" cy="365760"/>
          </a:xfrm>
          <a:prstGeom prst="rect">
            <a:avLst/>
          </a:prstGeom>
          <a:noFill/>
          <a:ln/>
        </p:spPr>
        <p:txBody>
          <a:bodyPr wrap="square" lIns="0" tIns="0" rIns="0" bIns="0" rtlCol="0" anchor="ctr"/>
          <a:lstStyle/>
          <a:p>
            <a:pPr marL="0" indent="0">
              <a:buNone/>
            </a:pPr>
            <a:r>
              <a:rPr lang="en-US" sz="1300" kern="0" spc="400" dirty="0">
                <a:solidFill>
                  <a:srgbClr val="8FB2DE"/>
                </a:solidFill>
                <a:latin typeface="Calibri" pitchFamily="34" charset="0"/>
                <a:ea typeface="Calibri" pitchFamily="34" charset="-122"/>
                <a:cs typeface="Calibri" pitchFamily="34" charset="-120"/>
              </a:rPr>
              <a:t>TEMAS ABIERTOS</a:t>
            </a:r>
            <a:endParaRPr lang="en-US" sz="1300" dirty="0"/>
          </a:p>
        </p:txBody>
      </p:sp>
      <p:sp>
        <p:nvSpPr>
          <p:cNvPr id="5" name="Text 3"/>
          <p:cNvSpPr txBox="1"/>
          <p:nvPr/>
        </p:nvSpPr>
        <p:spPr>
          <a:xfrm>
            <a:off x="640080" y="1280160"/>
            <a:ext cx="8686800" cy="14630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Validar con el dueño los supuestos de demanda y de duración de los servicios.</a:t>
            </a:r>
            <a:endParaRPr lang="en-US" sz="1400" dirty="0"/>
          </a:p>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Recibir la nómina real de barberos (hoy hay 4 barberos de prueba).</a:t>
            </a:r>
            <a:endParaRPr lang="en-US" sz="1400" dirty="0"/>
          </a:p>
          <a:p>
            <a:pPr marL="342900" indent="-342900">
              <a:spcAft>
                <a:spcPts val="800"/>
              </a:spcAft>
              <a:buSzPct val="100000"/>
              <a:buChar char="•"/>
            </a:pPr>
            <a:r>
              <a:rPr lang="en-US" sz="1400" dirty="0">
                <a:solidFill>
                  <a:srgbClr val="C3D3E8"/>
                </a:solidFill>
                <a:latin typeface="Calibri" pitchFamily="34" charset="0"/>
                <a:ea typeface="Calibri" pitchFamily="34" charset="-122"/>
                <a:cs typeface="Calibri" pitchFamily="34" charset="-120"/>
              </a:rPr>
              <a:t>Aprobar la fase de despliegue (SC-19) y definir el alojamiento del sitio web.</a:t>
            </a:r>
            <a:endParaRPr lang="en-US" sz="1400" dirty="0"/>
          </a:p>
        </p:txBody>
      </p:sp>
      <p:sp>
        <p:nvSpPr>
          <p:cNvPr id="6" name="Shape 4"/>
          <p:cNvSpPr/>
          <p:nvPr/>
        </p:nvSpPr>
        <p:spPr>
          <a:xfrm>
            <a:off x="658368" y="3246120"/>
            <a:ext cx="2926080" cy="0"/>
          </a:xfrm>
          <a:prstGeom prst="line">
            <a:avLst/>
          </a:prstGeom>
          <a:noFill/>
          <a:ln w="12700">
            <a:solidFill>
              <a:srgbClr val="5B84B8"/>
            </a:solidFill>
            <a:prstDash val="solid"/>
          </a:ln>
        </p:spPr>
        <p:txBody>
          <a:bodyPr/>
          <a:lstStyle/>
          <a:p>
            <a:endParaRPr lang="es-CL"/>
          </a:p>
        </p:txBody>
      </p:sp>
      <p:sp>
        <p:nvSpPr>
          <p:cNvPr id="7" name="Text 5"/>
          <p:cNvSpPr txBox="1"/>
          <p:nvPr/>
        </p:nvSpPr>
        <p:spPr>
          <a:xfrm>
            <a:off x="640080" y="3429000"/>
            <a:ext cx="73152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Gracias</a:t>
            </a:r>
            <a:endParaRPr lang="en-US" sz="4400" dirty="0"/>
          </a:p>
        </p:txBody>
      </p:sp>
      <p:sp>
        <p:nvSpPr>
          <p:cNvPr id="8" name="Text 6"/>
          <p:cNvSpPr txBox="1"/>
          <p:nvPr/>
        </p:nvSpPr>
        <p:spPr>
          <a:xfrm>
            <a:off x="640080" y="4389120"/>
            <a:ext cx="7315200" cy="411480"/>
          </a:xfrm>
          <a:prstGeom prst="rect">
            <a:avLst/>
          </a:prstGeom>
          <a:noFill/>
          <a:ln/>
        </p:spPr>
        <p:txBody>
          <a:bodyPr wrap="square" lIns="0" tIns="0" rIns="0" bIns="0" rtlCol="0" anchor="ctr"/>
          <a:lstStyle/>
          <a:p>
            <a:pPr marL="0" indent="0">
              <a:buNone/>
            </a:pPr>
            <a:r>
              <a:rPr lang="en-US" sz="1500" i="1" dirty="0">
                <a:solidFill>
                  <a:srgbClr val="C3D3E8"/>
                </a:solidFill>
                <a:latin typeface="Calibri" pitchFamily="34" charset="0"/>
                <a:ea typeface="Calibri" pitchFamily="34" charset="-122"/>
                <a:cs typeface="Calibri" pitchFamily="34" charset="-120"/>
              </a:rPr>
              <a:t>Preguntas y comentarios son bienvenidos.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78</TotalTime>
  <Words>2819</Words>
  <Application>Microsoft Office PowerPoint</Application>
  <PresentationFormat>Panorámica</PresentationFormat>
  <Paragraphs>289</Paragraphs>
  <Slides>13</Slides>
  <Notes>13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13</vt:i4>
      </vt:variant>
    </vt:vector>
  </HeadingPairs>
  <TitlesOfParts>
    <vt:vector size="17"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Duoc UC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del proyecto · Proyecto Barbería Big-Boys · 23-10-2026</dc:title>
  <dc:subject>PptxGenJS Presentation</dc:subject>
  <dc:creator>Yerko Rosales · Jonathan Ojeda</dc:creator>
  <cp:lastModifiedBy>YERKO ALEXIS ROSALES BOBADILLA</cp:lastModifiedBy>
  <cp:revision>2</cp:revision>
  <dcterms:created xsi:type="dcterms:W3CDTF">2026-10-22T21:06:03Z</dcterms:created>
  <dcterms:modified xsi:type="dcterms:W3CDTF">2026-10-23T14:31:39Z</dcterms:modified>
</cp:coreProperties>
</file>