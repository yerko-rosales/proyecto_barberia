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4" d="100"/>
          <a:sy n="64" d="100"/>
        </p:scale>
        <p:origin x="72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200" b="0" i="0" u="none" strike="noStrike">
                <a:solidFill>
                  <a:srgbClr val="1E2430"/>
                </a:solidFill>
                <a:latin typeface="Calibri"/>
              </a:defRPr>
            </a:pPr>
            <a:r>
              <a:rPr lang="es-CL" sz="1200" b="0" i="0" u="none" strike="noStrike">
                <a:solidFill>
                  <a:srgbClr val="1E2430"/>
                </a:solidFill>
                <a:latin typeface="Calibri"/>
              </a:rPr>
              <a:t>Ingreso perdido al año por sucursal (MM$)</a:t>
            </a:r>
          </a:p>
        </c:rich>
      </c:tx>
      <c:overlay val="0"/>
    </c:title>
    <c:autoTitleDeleted val="0"/>
    <c:plotArea>
      <c:layout/>
      <c:barChart>
        <c:barDir val="bar"/>
        <c:grouping val="clustered"/>
        <c:varyColors val="0"/>
        <c:ser>
          <c:idx val="0"/>
          <c:order val="0"/>
          <c:tx>
            <c:strRef>
              <c:f>Sheet1!$B$1</c:f>
              <c:strCache>
                <c:ptCount val="1"/>
                <c:pt idx="0">
                  <c:v>Ingreso perdido al año (MM$)</c:v>
                </c:pt>
              </c:strCache>
            </c:strRef>
          </c:tx>
          <c:spPr>
            <a:solidFill>
              <a:srgbClr val="13294B"/>
            </a:solidFill>
            <a:effectLst/>
          </c:spPr>
          <c:invertIfNegative val="0"/>
          <c:dLbls>
            <c:numFmt formatCode="0.0" sourceLinked="0"/>
            <c:spPr>
              <a:noFill/>
              <a:ln>
                <a:noFill/>
              </a:ln>
              <a:effectLst/>
            </c:spPr>
            <c:txPr>
              <a:bodyPr/>
              <a:lstStyle/>
              <a:p>
                <a:pPr>
                  <a:defRPr sz="1100" b="0" i="0" u="none" strike="noStrike">
                    <a:solidFill>
                      <a:srgbClr val="1E2430"/>
                    </a:solidFill>
                    <a:latin typeface="Calibri"/>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21 de Mayo</c:v>
                </c:pt>
                <c:pt idx="1">
                  <c:v>Alcalde L. Araya</c:v>
                </c:pt>
                <c:pt idx="2">
                  <c:v>Talagante</c:v>
                </c:pt>
              </c:strCache>
            </c:strRef>
          </c:cat>
          <c:val>
            <c:numRef>
              <c:f>Sheet1!$B$2:$B$4</c:f>
              <c:numCache>
                <c:formatCode>General</c:formatCode>
                <c:ptCount val="3"/>
                <c:pt idx="0">
                  <c:v>23.76</c:v>
                </c:pt>
                <c:pt idx="1">
                  <c:v>13.86</c:v>
                </c:pt>
                <c:pt idx="2">
                  <c:v>13.86</c:v>
                </c:pt>
              </c:numCache>
            </c:numRef>
          </c:val>
          <c:extLst>
            <c:ext xmlns:c16="http://schemas.microsoft.com/office/drawing/2014/chart" uri="{C3380CC4-5D6E-409C-BE32-E72D297353CC}">
              <c16:uniqueId val="{00000000-4BE4-4354-8484-0102098964FF}"/>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472"/>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4515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Presentamos el avance del Proyecto Barbería Big-Boys al 23 de octubre, semana 11 de 14. Esta entrega corresponde a la fase de diseño y al inicio del desarrollo, con metodología tradicional (cascada). Mostraremos la arquitectura 4+1 con énfasis en los casos de uso, el modelo entidad-relación y el prototipo, y la evidencia del desarrollo en GitHub.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Estamos en la semana 11 de 14 y ha transcurrido el 77% del plazo. La fase de diseño se cerró el 18 de octubre. Esta semana conectamos la web y la app a la base de datos real: 27 tablas en Supabase. Lo atrasado es el pago real con Webpay, la fila por orden de llegada y «Mis datos», que pasan a la semana 12.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Este es el roadmap completo, desde la semana 1. No es un documento cerrado: lo actualizamos cada semana, y esta es la versión al 23 de octubre. En verde lo realizado: planificación, diseño, prototipos y la base de datos en PostgreSQL. En amarillo lo de esta semana: la API y esta presentación. En azul lo planificado: Webpay, la fila por orden de llegada, «Mis datos» y las cuentas del personal; luego las pruebas, el paso al ambiente UAT el 10 de noviembre, la entrega y la defensa.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El mismo roadmap, desde la semana en curso. Esta semana: la API, la web y la app sobre la base de datos real, las pruebas y esta presentación. La semana 12 es la más cargada: recuperamos Webpay, la fila por orden de llegada y «Mis datos», sumamos las cuentas del personal y llegamos al sistema integrado el 30 de octubre. En S13 probamos seguridad y privacidad y desplegamos; en S14 hacemos el paso al ambiente UAT, el 10 de noviembre, y la entrega final el 13.</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Hasta la semana 10 cumplimos el plan. En la semana 11 avanzamos en lo principal: la API y la conexión de la web y la app a la base de datos real. Quedan pendientes el pago real con Webpay, la fila por orden de llegada y «Mis datos», que integramos en la semana 12, antes del hito H6 del 30 de octubre.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La arquitectura sigue el modelo 4+1. La vista lógica muestra el dominio; la de procesos, las secuencias de reserva con abono y de atención; la de desarrollo, los componentes; y la física, el despliegue, que actualizamos esta semana: la API REST y la base de datos están en Supabase. La quinta vista, la de escenarios, son los casos de uso, que vemos a continuación.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Este es el foco de la evaluación. Tenemos 41 casos de uso en 7 módulos, cada uno especificado con flujos y reglas. Los actores son cliente, invitado, barbero, cajero de sucursal y administración, más la pasarela de pago y el sistema de notificaciones. Hoy 10 casos ya funcionan sobre la base de datos real, principalmente el flujo central de reserva: registro, acceso, invitado, catálogo, agendamiento, reprogramación y cancelación.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El modelo tiene 27 tablas y 239 campos en tercera forma normal. La base impide reservas traslapadas para un mismo barbero, deja el abono de $3.000 como parámetro y cumple la Ley 21.719 desde el diseño: no guarda RUT ni datos de tarjeta, y registra consentimientos y auditoría. El script se valida con 24 pruebas automáticas, todas aprobadas.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El prototipo es funcional. La web, en React, ya trabaja con la base de datos real: muestra el inicio del cliente, la reserva en 5 pasos y las sucursales reales con su mapa. La app Android, en Kotlin con Jetpack Compose, usa la misma API. Si hay tiempo, mostramos una reserva en vivo con la cuenta de prueba.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La evidencia del desarrollo está en el repositorio público de GitHub. Tiene el código de la web y de la app, el script de la base de datos con sus migraciones y pruebas, y toda la documentación. Las claves no se suben: quedan en archivos .env fuera del repositorio.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Así funciona hoy. La web y la app llaman a una API publicada en Supabase; nunca leen las tablas directamente. Son 13 operaciones porque cubren exactamente lo que el sistema ya hace: 3 de catálogo (sucursales, servicios y barberos), 5 de cuenta (verificar correo, iniciar sesión, registrarse, actualizar perfil y suprimir la cuenta), 3 de reservas (listar, crear y actualizar, que incluye reagendar y anular) y 2 de reseñas (listar y crear). En S12 se suman las de Webpay, la fila, «Mis datos» y las cuentas del personal. Las reglas del negocio las valida la base de datos: el abono, el reagendamiento con 24 horas y máximo dos veces, y que no se repitan horarios. Todas las pruebas pasaron: 24 de la base de datos, 17 de la API, la web de punta a punta, y la app compila.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Los indicadores clave. Hoy, en un día peak, se atienden 130 clientes y se van 26, el 16,7%: son 4.326 clientes y $51,5 millones al año. La casa matriz concentra casi la mitad de la pérdida. Con la reserva online y el abono, en un escenario medio recuperamos 2.163 clientes al año, $25,7 millones de ingreso bruto, con un ROI de 567% el primer año. Estos supuestos se validarán con datos reales de operación.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La matriz de 3 por 3 muestra solo los riesgos actuales y los que pueden presentarse hasta el cierre del proyecto. Hay tres en nivel alto: el atraso de la integración, que es la ruta crítica de la semana 12; la integración con Webpay; y la seguridad de las credenciales. En nivel medio están la ventana corta para el paso al ambiente UAT, la app que aún no se prueba en un teléfono real, las notificaciones por correo, la continuidad de la base de datos y la disponibilidad del equipo. Los riesgos propios de la operación posterior, como la adopción o la comisión de la pasarela, quedan fuera de esta matriz.</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Cada riesgo tiene una estrategia, una acción concreta, un responsable y una semana. Los tres altos se atacan en S12: priorizamos el flujo de reserva con abono, probamos Webpay en su ambiente de integración con Mercado Pago como alternativa y sacamos el envío de correos de la app. En S13 aseguramos el despliegue, la app en un teléfono real y los respaldos.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La semana 12 es la más exigente: pago con Webpay, fila por orden de llegada, «Mis datos» y cuentas del personal, para llegar al sistema integrado el 30 de octubre. En S13 vienen las pruebas de seguridad y privacidad y el despliegue; en S14, el paso al ambiente UAT y la entrega final.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Quedan abiertos tres temas: validar los supuestos con datos reales, cargar la nómina real de barberos y aprobar la fase de despliegue. Gracias; quedamos atentos a sus preguntas.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457200" y="6492240"/>
            <a:ext cx="6400800" cy="274320"/>
          </a:xfrm>
          <a:prstGeom prst="rect">
            <a:avLst/>
          </a:prstGeom>
          <a:noFill/>
          <a:ln/>
        </p:spPr>
        <p:txBody>
          <a:bodyPr wrap="square"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AVANCE DE PROYECTO · PROYECTO BARBERÍA BIG-BOYS</a:t>
            </a:r>
            <a:endParaRPr lang="en-US" sz="9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SCURA">
    <p:bg>
      <p:bgPr>
        <a:solidFill>
          <a:srgbClr val="13294B"/>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869680" y="0"/>
            <a:ext cx="3322015" cy="6858000"/>
          </a:xfrm>
          <a:prstGeom prst="rect">
            <a:avLst/>
          </a:prstGeom>
          <a:solidFill>
            <a:srgbClr val="1D3A63"/>
          </a:solidFill>
          <a:ln w="12700">
            <a:solidFill>
              <a:srgbClr val="1D3A63"/>
            </a:solidFill>
            <a:prstDash val="solid"/>
          </a:ln>
        </p:spPr>
        <p:txBody>
          <a:bodyPr/>
          <a:lstStyle/>
          <a:p>
            <a:endParaRPr lang="es-CL"/>
          </a:p>
        </p:txBody>
      </p:sp>
      <p:sp>
        <p:nvSpPr>
          <p:cNvPr id="3" name="Shape 1"/>
          <p:cNvSpPr/>
          <p:nvPr/>
        </p:nvSpPr>
        <p:spPr>
          <a:xfrm>
            <a:off x="9418320" y="1005840"/>
            <a:ext cx="2194560" cy="2194560"/>
          </a:xfrm>
          <a:prstGeom prst="ellipse">
            <a:avLst/>
          </a:prstGeom>
          <a:solidFill>
            <a:srgbClr val="234670"/>
          </a:solidFill>
          <a:ln w="12700">
            <a:solidFill>
              <a:srgbClr val="5B84B8"/>
            </a:solidFill>
            <a:prstDash val="solid"/>
          </a:ln>
        </p:spPr>
        <p:txBody>
          <a:bodyPr/>
          <a:lstStyle/>
          <a:p>
            <a:endParaRPr lang="es-CL"/>
          </a:p>
        </p:txBody>
      </p:sp>
      <p:sp>
        <p:nvSpPr>
          <p:cNvPr id="4" name="Shape 2"/>
          <p:cNvSpPr/>
          <p:nvPr/>
        </p:nvSpPr>
        <p:spPr>
          <a:xfrm>
            <a:off x="9966960" y="3657600"/>
            <a:ext cx="1371600" cy="1371600"/>
          </a:xfrm>
          <a:prstGeom prst="ellipse">
            <a:avLst/>
          </a:prstGeom>
          <a:solidFill>
            <a:srgbClr val="234670"/>
          </a:solidFill>
          <a:ln w="12700">
            <a:solidFill>
              <a:srgbClr val="5B84B8"/>
            </a:solidFill>
            <a:prstDash val="solid"/>
          </a:ln>
        </p:spPr>
        <p:txBody>
          <a:bodyPr/>
          <a:lstStyle/>
          <a:p>
            <a:endParaRPr lang="es-CL"/>
          </a:p>
        </p:txBody>
      </p:sp>
      <p:sp>
        <p:nvSpPr>
          <p:cNvPr id="5" name="Shape 3"/>
          <p:cNvSpPr/>
          <p:nvPr/>
        </p:nvSpPr>
        <p:spPr>
          <a:xfrm>
            <a:off x="9052560" y="5120640"/>
            <a:ext cx="731520" cy="731520"/>
          </a:xfrm>
          <a:prstGeom prst="ellipse">
            <a:avLst/>
          </a:prstGeom>
          <a:solidFill>
            <a:srgbClr val="234670"/>
          </a:solidFill>
          <a:ln w="12700">
            <a:solidFill>
              <a:srgbClr val="5B84B8"/>
            </a:solidFill>
            <a:prstDash val="solid"/>
          </a:ln>
        </p:spPr>
        <p:txBody>
          <a:bodyPr/>
          <a:lstStyle/>
          <a:p>
            <a:endParaRPr lang="es-CL"/>
          </a:p>
        </p:txBody>
      </p:sp>
      <p:sp>
        <p:nvSpPr>
          <p:cNvPr id="6" name="Text 4"/>
          <p:cNvSpPr txBox="1"/>
          <p:nvPr/>
        </p:nvSpPr>
        <p:spPr>
          <a:xfrm>
            <a:off x="640080" y="1600200"/>
            <a:ext cx="7772400" cy="365760"/>
          </a:xfrm>
          <a:prstGeom prst="rect">
            <a:avLst/>
          </a:prstGeom>
          <a:noFill/>
          <a:ln/>
        </p:spPr>
        <p:txBody>
          <a:bodyPr wrap="square" lIns="0" tIns="0" rIns="0" bIns="0" rtlCol="0" anchor="ctr"/>
          <a:lstStyle/>
          <a:p>
            <a:pPr marL="0" indent="0">
              <a:buNone/>
            </a:pPr>
            <a:r>
              <a:rPr lang="en-US" sz="1400" kern="0" spc="400" dirty="0">
                <a:solidFill>
                  <a:srgbClr val="8FB2DE"/>
                </a:solidFill>
                <a:latin typeface="Calibri" pitchFamily="34" charset="0"/>
                <a:ea typeface="Calibri" pitchFamily="34" charset="-122"/>
                <a:cs typeface="Calibri" pitchFamily="34" charset="-120"/>
              </a:rPr>
              <a:t>AVANCE DE PROYECTO · CAPSTONE</a:t>
            </a:r>
            <a:endParaRPr lang="en-US" sz="1400" dirty="0"/>
          </a:p>
        </p:txBody>
      </p:sp>
      <p:sp>
        <p:nvSpPr>
          <p:cNvPr id="7" name="Text 5"/>
          <p:cNvSpPr txBox="1"/>
          <p:nvPr/>
        </p:nvSpPr>
        <p:spPr>
          <a:xfrm>
            <a:off x="640080" y="1965960"/>
            <a:ext cx="7955280" cy="146304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Plataforma Web y App Móvil · Proyecto Barbería Big-Boys</a:t>
            </a:r>
            <a:endParaRPr lang="en-US" sz="3600" dirty="0"/>
          </a:p>
        </p:txBody>
      </p:sp>
      <p:sp>
        <p:nvSpPr>
          <p:cNvPr id="8" name="Text 6"/>
          <p:cNvSpPr txBox="1"/>
          <p:nvPr/>
        </p:nvSpPr>
        <p:spPr>
          <a:xfrm>
            <a:off x="640080" y="3520440"/>
            <a:ext cx="7863840" cy="457200"/>
          </a:xfrm>
          <a:prstGeom prst="rect">
            <a:avLst/>
          </a:prstGeom>
          <a:noFill/>
          <a:ln/>
        </p:spPr>
        <p:txBody>
          <a:bodyPr wrap="square" lIns="0" tIns="0" rIns="0" bIns="0" rtlCol="0" anchor="ctr"/>
          <a:lstStyle/>
          <a:p>
            <a:pPr marL="0" indent="0">
              <a:buNone/>
            </a:pPr>
            <a:r>
              <a:rPr lang="en-US" sz="1500" i="1" dirty="0">
                <a:solidFill>
                  <a:srgbClr val="C3D3E8"/>
                </a:solidFill>
                <a:latin typeface="Calibri" pitchFamily="34" charset="0"/>
                <a:ea typeface="Calibri" pitchFamily="34" charset="-122"/>
                <a:cs typeface="Calibri" pitchFamily="34" charset="-120"/>
              </a:rPr>
              <a:t>Fase de diseño e inicio del desarrollo · 23 de octubre de 2026 · semana S11 de S14</a:t>
            </a:r>
            <a:endParaRPr lang="en-US" sz="1500" dirty="0"/>
          </a:p>
        </p:txBody>
      </p:sp>
      <p:sp>
        <p:nvSpPr>
          <p:cNvPr id="9" name="Shape 7"/>
          <p:cNvSpPr/>
          <p:nvPr/>
        </p:nvSpPr>
        <p:spPr>
          <a:xfrm>
            <a:off x="658368" y="4343400"/>
            <a:ext cx="2926080" cy="0"/>
          </a:xfrm>
          <a:prstGeom prst="line">
            <a:avLst/>
          </a:prstGeom>
          <a:noFill/>
          <a:ln w="12700">
            <a:solidFill>
              <a:srgbClr val="5B84B8"/>
            </a:solidFill>
            <a:prstDash val="solid"/>
          </a:ln>
        </p:spPr>
        <p:txBody>
          <a:bodyPr/>
          <a:lstStyle/>
          <a:p>
            <a:endParaRPr lang="es-CL"/>
          </a:p>
        </p:txBody>
      </p:sp>
      <p:sp>
        <p:nvSpPr>
          <p:cNvPr id="10" name="Text 8"/>
          <p:cNvSpPr txBox="1"/>
          <p:nvPr/>
        </p:nvSpPr>
        <p:spPr>
          <a:xfrm>
            <a:off x="640080" y="4526280"/>
            <a:ext cx="8046720" cy="310896"/>
          </a:xfrm>
          <a:prstGeom prst="rect">
            <a:avLst/>
          </a:prstGeom>
          <a:noFill/>
          <a:ln/>
        </p:spPr>
        <p:txBody>
          <a:bodyPr wrap="square" lIns="0" tIns="0" rIns="0" bIns="0" rtlCol="0" anchor="ctr"/>
          <a:lstStyle/>
          <a:p>
            <a:pPr marL="0" indent="0">
              <a:buNone/>
            </a:pPr>
            <a:r>
              <a:rPr lang="en-US" sz="1300" b="1" dirty="0">
                <a:solidFill>
                  <a:srgbClr val="8FB2DE"/>
                </a:solidFill>
                <a:latin typeface="Calibri" pitchFamily="34" charset="0"/>
                <a:ea typeface="Calibri" pitchFamily="34" charset="-122"/>
                <a:cs typeface="Calibri" pitchFamily="34" charset="-120"/>
              </a:rPr>
              <a:t>Equipo:  </a:t>
            </a:r>
            <a:r>
              <a:rPr lang="en-US" sz="1300" dirty="0">
                <a:solidFill>
                  <a:srgbClr val="C3D3E8"/>
                </a:solidFill>
                <a:latin typeface="Calibri" pitchFamily="34" charset="0"/>
                <a:ea typeface="Calibri" pitchFamily="34" charset="-122"/>
                <a:cs typeface="Calibri" pitchFamily="34" charset="-120"/>
              </a:rPr>
              <a:t>Yerko Rosales (Jefe de Proyecto) · Jonathan Ojeda (Backend y Base de Datos)</a:t>
            </a:r>
            <a:endParaRPr lang="en-US" sz="1300" dirty="0"/>
          </a:p>
        </p:txBody>
      </p:sp>
      <p:sp>
        <p:nvSpPr>
          <p:cNvPr id="11" name="Text 9"/>
          <p:cNvSpPr txBox="1"/>
          <p:nvPr/>
        </p:nvSpPr>
        <p:spPr>
          <a:xfrm>
            <a:off x="640080" y="4855464"/>
            <a:ext cx="8046720" cy="310896"/>
          </a:xfrm>
          <a:prstGeom prst="rect">
            <a:avLst/>
          </a:prstGeom>
          <a:noFill/>
          <a:ln/>
        </p:spPr>
        <p:txBody>
          <a:bodyPr wrap="square" lIns="0" tIns="0" rIns="0" bIns="0" rtlCol="0" anchor="ctr"/>
          <a:lstStyle/>
          <a:p>
            <a:pPr marL="0" indent="0">
              <a:buNone/>
            </a:pPr>
            <a:r>
              <a:rPr lang="en-US" sz="1300" b="1" dirty="0">
                <a:solidFill>
                  <a:srgbClr val="8FB2DE"/>
                </a:solidFill>
                <a:latin typeface="Calibri" pitchFamily="34" charset="0"/>
                <a:ea typeface="Calibri" pitchFamily="34" charset="-122"/>
                <a:cs typeface="Calibri" pitchFamily="34" charset="-120"/>
              </a:rPr>
              <a:t>Curso / Sección / Profesor:  </a:t>
            </a:r>
            <a:r>
              <a:rPr lang="en-US" sz="1300" dirty="0">
                <a:solidFill>
                  <a:srgbClr val="C3D3E8"/>
                </a:solidFill>
                <a:latin typeface="Calibri" pitchFamily="34" charset="0"/>
                <a:ea typeface="Calibri" pitchFamily="34" charset="-122"/>
                <a:cs typeface="Calibri" pitchFamily="34" charset="-120"/>
              </a:rPr>
              <a:t>PTY4614 Capstone · CAPSTONE_011V · Fernando Herrera</a:t>
            </a:r>
            <a:endParaRPr lang="en-US" sz="1300" dirty="0"/>
          </a:p>
        </p:txBody>
      </p:sp>
      <p:sp>
        <p:nvSpPr>
          <p:cNvPr id="12" name="Text 10"/>
          <p:cNvSpPr txBox="1"/>
          <p:nvPr/>
        </p:nvSpPr>
        <p:spPr>
          <a:xfrm>
            <a:off x="640080" y="5184648"/>
            <a:ext cx="8046720" cy="310896"/>
          </a:xfrm>
          <a:prstGeom prst="rect">
            <a:avLst/>
          </a:prstGeom>
          <a:noFill/>
          <a:ln/>
        </p:spPr>
        <p:txBody>
          <a:bodyPr wrap="square" lIns="0" tIns="0" rIns="0" bIns="0" rtlCol="0" anchor="ctr"/>
          <a:lstStyle/>
          <a:p>
            <a:pPr marL="0" indent="0">
              <a:buNone/>
            </a:pPr>
            <a:r>
              <a:rPr lang="en-US" sz="1300" b="1" dirty="0">
                <a:solidFill>
                  <a:srgbClr val="8FB2DE"/>
                </a:solidFill>
                <a:latin typeface="Calibri" pitchFamily="34" charset="0"/>
                <a:ea typeface="Calibri" pitchFamily="34" charset="-122"/>
                <a:cs typeface="Calibri" pitchFamily="34" charset="-120"/>
              </a:rPr>
              <a:t>Metodología:  </a:t>
            </a:r>
            <a:r>
              <a:rPr lang="en-US" sz="1300" dirty="0">
                <a:solidFill>
                  <a:srgbClr val="C3D3E8"/>
                </a:solidFill>
                <a:latin typeface="Calibri" pitchFamily="34" charset="0"/>
                <a:ea typeface="Calibri" pitchFamily="34" charset="-122"/>
                <a:cs typeface="Calibri" pitchFamily="34" charset="-120"/>
              </a:rPr>
              <a:t>Tradicional (</a:t>
            </a:r>
            <a:r>
              <a:rPr lang="en-US" sz="1300" dirty="0" err="1">
                <a:solidFill>
                  <a:srgbClr val="C3D3E8"/>
                </a:solidFill>
                <a:latin typeface="Calibri" pitchFamily="34" charset="0"/>
                <a:ea typeface="Calibri" pitchFamily="34" charset="-122"/>
                <a:cs typeface="Calibri" pitchFamily="34" charset="-120"/>
              </a:rPr>
              <a:t>cascada</a:t>
            </a:r>
            <a:r>
              <a:rPr lang="en-US" sz="1300" dirty="0">
                <a:solidFill>
                  <a:srgbClr val="C3D3E8"/>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RESUMEN EJECUTIVO</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Dónde estamos hoy</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Semana actual S11 (19/10 al 25/10/2026) · metodología tradicional (cascada) con hitos de control</a:t>
            </a:r>
            <a:endParaRPr lang="en-US" sz="1250" dirty="0"/>
          </a:p>
        </p:txBody>
      </p:sp>
      <p:sp>
        <p:nvSpPr>
          <p:cNvPr id="5" name="Shape 3"/>
          <p:cNvSpPr/>
          <p:nvPr/>
        </p:nvSpPr>
        <p:spPr>
          <a:xfrm>
            <a:off x="548640" y="1783080"/>
            <a:ext cx="2624328" cy="1280160"/>
          </a:xfrm>
          <a:prstGeom prst="rect">
            <a:avLst/>
          </a:prstGeom>
          <a:solidFill>
            <a:srgbClr val="FFFFFF"/>
          </a:solidFill>
          <a:ln w="9525">
            <a:solidFill>
              <a:srgbClr val="D7DCE3"/>
            </a:solidFill>
            <a:prstDash val="solid"/>
          </a:ln>
        </p:spPr>
        <p:txBody>
          <a:bodyPr/>
          <a:lstStyle/>
          <a:p>
            <a:endParaRPr lang="es-CL"/>
          </a:p>
        </p:txBody>
      </p:sp>
      <p:sp>
        <p:nvSpPr>
          <p:cNvPr id="6" name="Text 4"/>
          <p:cNvSpPr txBox="1"/>
          <p:nvPr/>
        </p:nvSpPr>
        <p:spPr>
          <a:xfrm>
            <a:off x="640080" y="1892808"/>
            <a:ext cx="2441448" cy="614477"/>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S11 de S14</a:t>
            </a:r>
            <a:endParaRPr lang="en-US" sz="2600" dirty="0"/>
          </a:p>
        </p:txBody>
      </p:sp>
      <p:sp>
        <p:nvSpPr>
          <p:cNvPr id="7" name="Text 5"/>
          <p:cNvSpPr txBox="1"/>
          <p:nvPr/>
        </p:nvSpPr>
        <p:spPr>
          <a:xfrm>
            <a:off x="685800" y="2499970"/>
            <a:ext cx="2350008" cy="486461"/>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semana actual del proyecto</a:t>
            </a:r>
            <a:endParaRPr lang="en-US" sz="1150" dirty="0"/>
          </a:p>
        </p:txBody>
      </p:sp>
      <p:sp>
        <p:nvSpPr>
          <p:cNvPr id="8" name="Shape 6"/>
          <p:cNvSpPr/>
          <p:nvPr/>
        </p:nvSpPr>
        <p:spPr>
          <a:xfrm>
            <a:off x="3355848" y="1783080"/>
            <a:ext cx="2624328" cy="1280160"/>
          </a:xfrm>
          <a:prstGeom prst="rect">
            <a:avLst/>
          </a:prstGeom>
          <a:solidFill>
            <a:srgbClr val="FFFFFF"/>
          </a:solidFill>
          <a:ln w="9525">
            <a:solidFill>
              <a:srgbClr val="D7DCE3"/>
            </a:solidFill>
            <a:prstDash val="solid"/>
          </a:ln>
        </p:spPr>
        <p:txBody>
          <a:bodyPr/>
          <a:lstStyle/>
          <a:p>
            <a:endParaRPr lang="es-CL"/>
          </a:p>
        </p:txBody>
      </p:sp>
      <p:sp>
        <p:nvSpPr>
          <p:cNvPr id="9" name="Text 7"/>
          <p:cNvSpPr txBox="1"/>
          <p:nvPr/>
        </p:nvSpPr>
        <p:spPr>
          <a:xfrm>
            <a:off x="3447288" y="1892808"/>
            <a:ext cx="2441448" cy="614477"/>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77%</a:t>
            </a:r>
            <a:endParaRPr lang="en-US" sz="2600" dirty="0"/>
          </a:p>
        </p:txBody>
      </p:sp>
      <p:sp>
        <p:nvSpPr>
          <p:cNvPr id="10" name="Text 8"/>
          <p:cNvSpPr txBox="1"/>
          <p:nvPr/>
        </p:nvSpPr>
        <p:spPr>
          <a:xfrm>
            <a:off x="3493008" y="2499970"/>
            <a:ext cx="2350008" cy="486461"/>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del plazo transcurrido (14-08 al 13-11)</a:t>
            </a:r>
            <a:endParaRPr lang="en-US" sz="1150" dirty="0"/>
          </a:p>
        </p:txBody>
      </p:sp>
      <p:sp>
        <p:nvSpPr>
          <p:cNvPr id="11" name="Shape 9"/>
          <p:cNvSpPr/>
          <p:nvPr/>
        </p:nvSpPr>
        <p:spPr>
          <a:xfrm>
            <a:off x="6163056" y="1783080"/>
            <a:ext cx="2624328" cy="1280160"/>
          </a:xfrm>
          <a:prstGeom prst="rect">
            <a:avLst/>
          </a:prstGeom>
          <a:solidFill>
            <a:srgbClr val="FFFFFF"/>
          </a:solidFill>
          <a:ln w="9525">
            <a:solidFill>
              <a:srgbClr val="D7DCE3"/>
            </a:solidFill>
            <a:prstDash val="solid"/>
          </a:ln>
        </p:spPr>
        <p:txBody>
          <a:bodyPr/>
          <a:lstStyle/>
          <a:p>
            <a:endParaRPr lang="es-CL"/>
          </a:p>
        </p:txBody>
      </p:sp>
      <p:sp>
        <p:nvSpPr>
          <p:cNvPr id="12" name="Text 10"/>
          <p:cNvSpPr txBox="1"/>
          <p:nvPr/>
        </p:nvSpPr>
        <p:spPr>
          <a:xfrm>
            <a:off x="6254496" y="1892808"/>
            <a:ext cx="2441448" cy="614477"/>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21 días</a:t>
            </a:r>
            <a:endParaRPr lang="en-US" sz="2600" dirty="0"/>
          </a:p>
        </p:txBody>
      </p:sp>
      <p:sp>
        <p:nvSpPr>
          <p:cNvPr id="13" name="Text 11"/>
          <p:cNvSpPr txBox="1"/>
          <p:nvPr/>
        </p:nvSpPr>
        <p:spPr>
          <a:xfrm>
            <a:off x="6300216" y="2499970"/>
            <a:ext cx="2350008" cy="486461"/>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restantes hasta la entrega final</a:t>
            </a:r>
            <a:endParaRPr lang="en-US" sz="1150" dirty="0"/>
          </a:p>
        </p:txBody>
      </p:sp>
      <p:sp>
        <p:nvSpPr>
          <p:cNvPr id="14" name="Shape 12"/>
          <p:cNvSpPr/>
          <p:nvPr/>
        </p:nvSpPr>
        <p:spPr>
          <a:xfrm>
            <a:off x="8970264" y="1783080"/>
            <a:ext cx="2624328" cy="1280160"/>
          </a:xfrm>
          <a:prstGeom prst="rect">
            <a:avLst/>
          </a:prstGeom>
          <a:solidFill>
            <a:srgbClr val="FFFFFF"/>
          </a:solidFill>
          <a:ln w="9525">
            <a:solidFill>
              <a:srgbClr val="D7DCE3"/>
            </a:solidFill>
            <a:prstDash val="solid"/>
          </a:ln>
        </p:spPr>
        <p:txBody>
          <a:bodyPr/>
          <a:lstStyle/>
          <a:p>
            <a:endParaRPr lang="es-CL"/>
          </a:p>
        </p:txBody>
      </p:sp>
      <p:sp>
        <p:nvSpPr>
          <p:cNvPr id="15" name="Text 13"/>
          <p:cNvSpPr txBox="1"/>
          <p:nvPr/>
        </p:nvSpPr>
        <p:spPr>
          <a:xfrm>
            <a:off x="9061704" y="1892808"/>
            <a:ext cx="2441448" cy="614477"/>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27 tablas</a:t>
            </a:r>
            <a:endParaRPr lang="en-US" sz="2600" dirty="0"/>
          </a:p>
        </p:txBody>
      </p:sp>
      <p:sp>
        <p:nvSpPr>
          <p:cNvPr id="16" name="Text 14"/>
          <p:cNvSpPr txBox="1"/>
          <p:nvPr/>
        </p:nvSpPr>
        <p:spPr>
          <a:xfrm>
            <a:off x="9107424" y="2499970"/>
            <a:ext cx="2350008" cy="486461"/>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modelo relacional implementado en Supabase</a:t>
            </a:r>
            <a:endParaRPr lang="en-US" sz="1150" dirty="0"/>
          </a:p>
        </p:txBody>
      </p:sp>
      <p:sp>
        <p:nvSpPr>
          <p:cNvPr id="17" name="Shape 15"/>
          <p:cNvSpPr/>
          <p:nvPr/>
        </p:nvSpPr>
        <p:spPr>
          <a:xfrm>
            <a:off x="548640" y="3291840"/>
            <a:ext cx="11064240" cy="685800"/>
          </a:xfrm>
          <a:prstGeom prst="rect">
            <a:avLst/>
          </a:prstGeom>
          <a:solidFill>
            <a:srgbClr val="FFFFFF"/>
          </a:solidFill>
          <a:ln w="9525">
            <a:solidFill>
              <a:srgbClr val="D7DCE3"/>
            </a:solidFill>
            <a:prstDash val="solid"/>
          </a:ln>
        </p:spPr>
        <p:txBody>
          <a:bodyPr/>
          <a:lstStyle/>
          <a:p>
            <a:endParaRPr lang="es-CL"/>
          </a:p>
        </p:txBody>
      </p:sp>
      <p:sp>
        <p:nvSpPr>
          <p:cNvPr id="18" name="Shape 16"/>
          <p:cNvSpPr/>
          <p:nvPr/>
        </p:nvSpPr>
        <p:spPr>
          <a:xfrm>
            <a:off x="777240" y="3538728"/>
            <a:ext cx="182880" cy="182880"/>
          </a:xfrm>
          <a:prstGeom prst="ellipse">
            <a:avLst/>
          </a:prstGeom>
          <a:solidFill>
            <a:srgbClr val="2F855A"/>
          </a:solidFill>
          <a:ln w="12700">
            <a:solidFill>
              <a:srgbClr val="2F855A"/>
            </a:solidFill>
            <a:prstDash val="solid"/>
          </a:ln>
        </p:spPr>
        <p:txBody>
          <a:bodyPr/>
          <a:lstStyle/>
          <a:p>
            <a:endParaRPr lang="es-CL"/>
          </a:p>
        </p:txBody>
      </p:sp>
      <p:sp>
        <p:nvSpPr>
          <p:cNvPr id="19" name="Text 17"/>
          <p:cNvSpPr txBox="1"/>
          <p:nvPr/>
        </p:nvSpPr>
        <p:spPr>
          <a:xfrm>
            <a:off x="1097280" y="3291840"/>
            <a:ext cx="1737360" cy="685800"/>
          </a:xfrm>
          <a:prstGeom prst="rect">
            <a:avLst/>
          </a:prstGeom>
          <a:noFill/>
          <a:ln/>
        </p:spPr>
        <p:txBody>
          <a:bodyPr wrap="square" lIns="0" tIns="0" rIns="0" bIns="0" rtlCol="0" anchor="ctr"/>
          <a:lstStyle/>
          <a:p>
            <a:pPr marL="0" indent="0">
              <a:buNone/>
            </a:pPr>
            <a:r>
              <a:rPr lang="en-US" sz="1350" b="1" dirty="0">
                <a:solidFill>
                  <a:srgbClr val="1E2430"/>
                </a:solidFill>
                <a:latin typeface="Calibri" pitchFamily="34" charset="0"/>
                <a:ea typeface="Calibri" pitchFamily="34" charset="-122"/>
                <a:cs typeface="Calibri" pitchFamily="34" charset="-120"/>
              </a:rPr>
              <a:t>Realizado</a:t>
            </a:r>
            <a:endParaRPr lang="en-US" sz="1350" dirty="0"/>
          </a:p>
        </p:txBody>
      </p:sp>
      <p:sp>
        <p:nvSpPr>
          <p:cNvPr id="20" name="Text 18"/>
          <p:cNvSpPr txBox="1"/>
          <p:nvPr/>
        </p:nvSpPr>
        <p:spPr>
          <a:xfrm>
            <a:off x="2834640" y="3291840"/>
            <a:ext cx="8641080" cy="68580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Fase de diseño cerrada (H4, 18-10): arquitectura 4+1 (35 diagramas), 41 casos de uso, modelo E-R y Ley N° 21.719. Base de datos en Supabase (20-10) y web + app conectadas al modelo relacional (22-10).</a:t>
            </a:r>
            <a:endParaRPr lang="en-US" sz="1200" dirty="0"/>
          </a:p>
        </p:txBody>
      </p:sp>
      <p:sp>
        <p:nvSpPr>
          <p:cNvPr id="21" name="Shape 19"/>
          <p:cNvSpPr/>
          <p:nvPr/>
        </p:nvSpPr>
        <p:spPr>
          <a:xfrm>
            <a:off x="548640" y="4069080"/>
            <a:ext cx="11064240" cy="685800"/>
          </a:xfrm>
          <a:prstGeom prst="rect">
            <a:avLst/>
          </a:prstGeom>
          <a:solidFill>
            <a:srgbClr val="FFFFFF"/>
          </a:solidFill>
          <a:ln w="9525">
            <a:solidFill>
              <a:srgbClr val="D7DCE3"/>
            </a:solidFill>
            <a:prstDash val="solid"/>
          </a:ln>
        </p:spPr>
        <p:txBody>
          <a:bodyPr/>
          <a:lstStyle/>
          <a:p>
            <a:endParaRPr lang="es-CL"/>
          </a:p>
        </p:txBody>
      </p:sp>
      <p:sp>
        <p:nvSpPr>
          <p:cNvPr id="22" name="Shape 20"/>
          <p:cNvSpPr/>
          <p:nvPr/>
        </p:nvSpPr>
        <p:spPr>
          <a:xfrm>
            <a:off x="777240" y="4315968"/>
            <a:ext cx="182880" cy="182880"/>
          </a:xfrm>
          <a:prstGeom prst="ellipse">
            <a:avLst/>
          </a:prstGeom>
          <a:solidFill>
            <a:srgbClr val="B5762A"/>
          </a:solidFill>
          <a:ln w="12700">
            <a:solidFill>
              <a:srgbClr val="B5762A"/>
            </a:solidFill>
            <a:prstDash val="solid"/>
          </a:ln>
        </p:spPr>
        <p:txBody>
          <a:bodyPr/>
          <a:lstStyle/>
          <a:p>
            <a:endParaRPr lang="es-CL"/>
          </a:p>
        </p:txBody>
      </p:sp>
      <p:sp>
        <p:nvSpPr>
          <p:cNvPr id="23" name="Text 21"/>
          <p:cNvSpPr txBox="1"/>
          <p:nvPr/>
        </p:nvSpPr>
        <p:spPr>
          <a:xfrm>
            <a:off x="1097280" y="4069080"/>
            <a:ext cx="1737360" cy="685800"/>
          </a:xfrm>
          <a:prstGeom prst="rect">
            <a:avLst/>
          </a:prstGeom>
          <a:noFill/>
          <a:ln/>
        </p:spPr>
        <p:txBody>
          <a:bodyPr wrap="square" lIns="0" tIns="0" rIns="0" bIns="0" rtlCol="0" anchor="ctr"/>
          <a:lstStyle/>
          <a:p>
            <a:pPr marL="0" indent="0">
              <a:buNone/>
            </a:pPr>
            <a:r>
              <a:rPr lang="en-US" sz="1350" b="1" dirty="0">
                <a:solidFill>
                  <a:srgbClr val="1E2430"/>
                </a:solidFill>
                <a:latin typeface="Calibri" pitchFamily="34" charset="0"/>
                <a:ea typeface="Calibri" pitchFamily="34" charset="-122"/>
                <a:cs typeface="Calibri" pitchFamily="34" charset="-120"/>
              </a:rPr>
              <a:t>En progreso</a:t>
            </a:r>
            <a:endParaRPr lang="en-US" sz="1350" dirty="0"/>
          </a:p>
        </p:txBody>
      </p:sp>
      <p:sp>
        <p:nvSpPr>
          <p:cNvPr id="24" name="Text 22"/>
          <p:cNvSpPr txBox="1"/>
          <p:nvPr/>
        </p:nvSpPr>
        <p:spPr>
          <a:xfrm>
            <a:off x="2834640" y="4069080"/>
            <a:ext cx="8641080" cy="68580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Desarrollo e integración (actividad crítica 1.4.3): API de 13 operaciones; reservas, reagendamiento y anulación ya operan sobre la base de datos real.</a:t>
            </a:r>
            <a:endParaRPr lang="en-US" sz="1200" dirty="0"/>
          </a:p>
        </p:txBody>
      </p:sp>
      <p:sp>
        <p:nvSpPr>
          <p:cNvPr id="25" name="Shape 23"/>
          <p:cNvSpPr/>
          <p:nvPr/>
        </p:nvSpPr>
        <p:spPr>
          <a:xfrm>
            <a:off x="548640" y="4846320"/>
            <a:ext cx="11064240" cy="685800"/>
          </a:xfrm>
          <a:prstGeom prst="rect">
            <a:avLst/>
          </a:prstGeom>
          <a:solidFill>
            <a:srgbClr val="FFFFFF"/>
          </a:solidFill>
          <a:ln w="9525">
            <a:solidFill>
              <a:srgbClr val="D7DCE3"/>
            </a:solidFill>
            <a:prstDash val="solid"/>
          </a:ln>
        </p:spPr>
        <p:txBody>
          <a:bodyPr/>
          <a:lstStyle/>
          <a:p>
            <a:endParaRPr lang="es-CL"/>
          </a:p>
        </p:txBody>
      </p:sp>
      <p:sp>
        <p:nvSpPr>
          <p:cNvPr id="26" name="Shape 24"/>
          <p:cNvSpPr/>
          <p:nvPr/>
        </p:nvSpPr>
        <p:spPr>
          <a:xfrm>
            <a:off x="777240" y="5093208"/>
            <a:ext cx="182880" cy="182880"/>
          </a:xfrm>
          <a:prstGeom prst="ellipse">
            <a:avLst/>
          </a:prstGeom>
          <a:solidFill>
            <a:srgbClr val="B83A3A"/>
          </a:solidFill>
          <a:ln w="12700">
            <a:solidFill>
              <a:srgbClr val="B83A3A"/>
            </a:solidFill>
            <a:prstDash val="solid"/>
          </a:ln>
        </p:spPr>
        <p:txBody>
          <a:bodyPr/>
          <a:lstStyle/>
          <a:p>
            <a:endParaRPr lang="es-CL"/>
          </a:p>
        </p:txBody>
      </p:sp>
      <p:sp>
        <p:nvSpPr>
          <p:cNvPr id="27" name="Text 25"/>
          <p:cNvSpPr txBox="1"/>
          <p:nvPr/>
        </p:nvSpPr>
        <p:spPr>
          <a:xfrm>
            <a:off x="1097280" y="4846320"/>
            <a:ext cx="1737360" cy="685800"/>
          </a:xfrm>
          <a:prstGeom prst="rect">
            <a:avLst/>
          </a:prstGeom>
          <a:noFill/>
          <a:ln/>
        </p:spPr>
        <p:txBody>
          <a:bodyPr wrap="square" lIns="0" tIns="0" rIns="0" bIns="0" rtlCol="0" anchor="ctr"/>
          <a:lstStyle/>
          <a:p>
            <a:pPr marL="0" indent="0">
              <a:buNone/>
            </a:pPr>
            <a:r>
              <a:rPr lang="en-US" sz="1350" b="1" dirty="0">
                <a:solidFill>
                  <a:srgbClr val="1E2430"/>
                </a:solidFill>
                <a:latin typeface="Calibri" pitchFamily="34" charset="0"/>
                <a:ea typeface="Calibri" pitchFamily="34" charset="-122"/>
                <a:cs typeface="Calibri" pitchFamily="34" charset="-120"/>
              </a:rPr>
              <a:t>Atrasado</a:t>
            </a:r>
            <a:endParaRPr lang="en-US" sz="1350" dirty="0"/>
          </a:p>
        </p:txBody>
      </p:sp>
      <p:sp>
        <p:nvSpPr>
          <p:cNvPr id="28" name="Text 26"/>
          <p:cNvSpPr txBox="1"/>
          <p:nvPr/>
        </p:nvSpPr>
        <p:spPr>
          <a:xfrm>
            <a:off x="2834640" y="4846320"/>
            <a:ext cx="8641080" cy="68580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Pago real con Webpay, fila por orden de llegada y «Mis datos» estaban planificados para S11 y pasan a S12.</a:t>
            </a:r>
            <a:endParaRPr lang="en-US" sz="1200" dirty="0"/>
          </a:p>
        </p:txBody>
      </p:sp>
      <p:sp>
        <p:nvSpPr>
          <p:cNvPr id="29" name="Shape 27"/>
          <p:cNvSpPr/>
          <p:nvPr/>
        </p:nvSpPr>
        <p:spPr>
          <a:xfrm>
            <a:off x="548640" y="5623560"/>
            <a:ext cx="11064240" cy="685800"/>
          </a:xfrm>
          <a:prstGeom prst="rect">
            <a:avLst/>
          </a:prstGeom>
          <a:solidFill>
            <a:srgbClr val="FFFFFF"/>
          </a:solidFill>
          <a:ln w="9525">
            <a:solidFill>
              <a:srgbClr val="D7DCE3"/>
            </a:solidFill>
            <a:prstDash val="solid"/>
          </a:ln>
        </p:spPr>
        <p:txBody>
          <a:bodyPr/>
          <a:lstStyle/>
          <a:p>
            <a:endParaRPr lang="es-CL"/>
          </a:p>
        </p:txBody>
      </p:sp>
      <p:sp>
        <p:nvSpPr>
          <p:cNvPr id="30" name="Shape 28"/>
          <p:cNvSpPr/>
          <p:nvPr/>
        </p:nvSpPr>
        <p:spPr>
          <a:xfrm>
            <a:off x="777240" y="5870448"/>
            <a:ext cx="182880" cy="182880"/>
          </a:xfrm>
          <a:prstGeom prst="ellipse">
            <a:avLst/>
          </a:prstGeom>
          <a:solidFill>
            <a:srgbClr val="9AA3AF"/>
          </a:solidFill>
          <a:ln w="12700">
            <a:solidFill>
              <a:srgbClr val="9AA3AF"/>
            </a:solidFill>
            <a:prstDash val="solid"/>
          </a:ln>
        </p:spPr>
        <p:txBody>
          <a:bodyPr/>
          <a:lstStyle/>
          <a:p>
            <a:endParaRPr lang="es-CL"/>
          </a:p>
        </p:txBody>
      </p:sp>
      <p:sp>
        <p:nvSpPr>
          <p:cNvPr id="31" name="Text 29"/>
          <p:cNvSpPr txBox="1"/>
          <p:nvPr/>
        </p:nvSpPr>
        <p:spPr>
          <a:xfrm>
            <a:off x="1097280" y="5623560"/>
            <a:ext cx="1737360" cy="685800"/>
          </a:xfrm>
          <a:prstGeom prst="rect">
            <a:avLst/>
          </a:prstGeom>
          <a:noFill/>
          <a:ln/>
        </p:spPr>
        <p:txBody>
          <a:bodyPr wrap="square" lIns="0" tIns="0" rIns="0" bIns="0" rtlCol="0" anchor="ctr"/>
          <a:lstStyle/>
          <a:p>
            <a:pPr marL="0" indent="0">
              <a:buNone/>
            </a:pPr>
            <a:r>
              <a:rPr lang="en-US" sz="1350" b="1" dirty="0">
                <a:solidFill>
                  <a:srgbClr val="1E2430"/>
                </a:solidFill>
                <a:latin typeface="Calibri" pitchFamily="34" charset="0"/>
                <a:ea typeface="Calibri" pitchFamily="34" charset="-122"/>
                <a:cs typeface="Calibri" pitchFamily="34" charset="-120"/>
              </a:rPr>
              <a:t>Próximo</a:t>
            </a:r>
            <a:endParaRPr lang="en-US" sz="1350" dirty="0"/>
          </a:p>
        </p:txBody>
      </p:sp>
      <p:sp>
        <p:nvSpPr>
          <p:cNvPr id="32" name="Text 30"/>
          <p:cNvSpPr txBox="1"/>
          <p:nvPr/>
        </p:nvSpPr>
        <p:spPr>
          <a:xfrm>
            <a:off x="2834640" y="5623560"/>
            <a:ext cx="8641080" cy="68580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Sistema integrado (H6, 30-10) · paso al ambiente UAT (H7, 10-11) · entrega final (H8, 13-11) · defensa (H9, 27-11).</a:t>
            </a:r>
            <a:endParaRPr lang="en-US" sz="1200" dirty="0"/>
          </a:p>
        </p:txBody>
      </p:sp>
      <p:sp>
        <p:nvSpPr>
          <p:cNvPr id="33"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ROADMAP · PROYECTO COMPLETO</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Roadmap S1 a S16: desde el inicio del proyecto</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Metodología tradicional (cascada). Columnas: semanas (S1 = 10 al 16 de agosto); la franja roja es la semana actual. Se actualiza cada semana: versión al 23-10-2026.</a:t>
            </a:r>
            <a:endParaRPr lang="en-US" sz="1250" dirty="0"/>
          </a:p>
        </p:txBody>
      </p:sp>
      <p:sp>
        <p:nvSpPr>
          <p:cNvPr id="5" name="Shape 3"/>
          <p:cNvSpPr/>
          <p:nvPr/>
        </p:nvSpPr>
        <p:spPr>
          <a:xfrm>
            <a:off x="2788920" y="1783080"/>
            <a:ext cx="1636205" cy="228600"/>
          </a:xfrm>
          <a:prstGeom prst="rect">
            <a:avLst/>
          </a:prstGeom>
          <a:solidFill>
            <a:srgbClr val="13294B"/>
          </a:solidFill>
          <a:ln w="12700">
            <a:solidFill>
              <a:srgbClr val="13294B"/>
            </a:solidFill>
            <a:prstDash val="solid"/>
          </a:ln>
        </p:spPr>
        <p:txBody>
          <a:bodyPr/>
          <a:lstStyle/>
          <a:p>
            <a:endParaRPr lang="es-CL"/>
          </a:p>
        </p:txBody>
      </p:sp>
      <p:sp>
        <p:nvSpPr>
          <p:cNvPr id="6" name="Text 4"/>
          <p:cNvSpPr txBox="1"/>
          <p:nvPr/>
        </p:nvSpPr>
        <p:spPr>
          <a:xfrm>
            <a:off x="2788920" y="1783080"/>
            <a:ext cx="1654493"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Agosto</a:t>
            </a:r>
            <a:endParaRPr lang="en-US" sz="1000" dirty="0"/>
          </a:p>
        </p:txBody>
      </p:sp>
      <p:sp>
        <p:nvSpPr>
          <p:cNvPr id="7" name="Shape 5"/>
          <p:cNvSpPr/>
          <p:nvPr/>
        </p:nvSpPr>
        <p:spPr>
          <a:xfrm>
            <a:off x="4443413" y="1783080"/>
            <a:ext cx="2187702" cy="228600"/>
          </a:xfrm>
          <a:prstGeom prst="rect">
            <a:avLst/>
          </a:prstGeom>
          <a:solidFill>
            <a:srgbClr val="13294B"/>
          </a:solidFill>
          <a:ln w="12700">
            <a:solidFill>
              <a:srgbClr val="13294B"/>
            </a:solidFill>
            <a:prstDash val="solid"/>
          </a:ln>
        </p:spPr>
        <p:txBody>
          <a:bodyPr/>
          <a:lstStyle/>
          <a:p>
            <a:endParaRPr lang="es-CL"/>
          </a:p>
        </p:txBody>
      </p:sp>
      <p:sp>
        <p:nvSpPr>
          <p:cNvPr id="8" name="Text 6"/>
          <p:cNvSpPr txBox="1"/>
          <p:nvPr/>
        </p:nvSpPr>
        <p:spPr>
          <a:xfrm>
            <a:off x="4443413" y="1783080"/>
            <a:ext cx="220599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Septiembre</a:t>
            </a:r>
            <a:endParaRPr lang="en-US" sz="1000" dirty="0"/>
          </a:p>
        </p:txBody>
      </p:sp>
      <p:sp>
        <p:nvSpPr>
          <p:cNvPr id="9" name="Shape 7"/>
          <p:cNvSpPr/>
          <p:nvPr/>
        </p:nvSpPr>
        <p:spPr>
          <a:xfrm>
            <a:off x="6649403" y="1783080"/>
            <a:ext cx="2739200" cy="228600"/>
          </a:xfrm>
          <a:prstGeom prst="rect">
            <a:avLst/>
          </a:prstGeom>
          <a:solidFill>
            <a:srgbClr val="13294B"/>
          </a:solidFill>
          <a:ln w="12700">
            <a:solidFill>
              <a:srgbClr val="13294B"/>
            </a:solidFill>
            <a:prstDash val="solid"/>
          </a:ln>
        </p:spPr>
        <p:txBody>
          <a:bodyPr/>
          <a:lstStyle/>
          <a:p>
            <a:endParaRPr lang="es-CL"/>
          </a:p>
        </p:txBody>
      </p:sp>
      <p:sp>
        <p:nvSpPr>
          <p:cNvPr id="10" name="Text 8"/>
          <p:cNvSpPr txBox="1"/>
          <p:nvPr/>
        </p:nvSpPr>
        <p:spPr>
          <a:xfrm>
            <a:off x="6649403" y="1783080"/>
            <a:ext cx="2757488"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Octubre</a:t>
            </a:r>
            <a:endParaRPr lang="en-US" sz="1000" dirty="0"/>
          </a:p>
        </p:txBody>
      </p:sp>
      <p:sp>
        <p:nvSpPr>
          <p:cNvPr id="11" name="Shape 9"/>
          <p:cNvSpPr/>
          <p:nvPr/>
        </p:nvSpPr>
        <p:spPr>
          <a:xfrm>
            <a:off x="9406890" y="1783080"/>
            <a:ext cx="2187702" cy="228600"/>
          </a:xfrm>
          <a:prstGeom prst="rect">
            <a:avLst/>
          </a:prstGeom>
          <a:solidFill>
            <a:srgbClr val="13294B"/>
          </a:solidFill>
          <a:ln w="12700">
            <a:solidFill>
              <a:srgbClr val="13294B"/>
            </a:solidFill>
            <a:prstDash val="solid"/>
          </a:ln>
        </p:spPr>
        <p:txBody>
          <a:bodyPr/>
          <a:lstStyle/>
          <a:p>
            <a:endParaRPr lang="es-CL"/>
          </a:p>
        </p:txBody>
      </p:sp>
      <p:sp>
        <p:nvSpPr>
          <p:cNvPr id="12" name="Text 10"/>
          <p:cNvSpPr txBox="1"/>
          <p:nvPr/>
        </p:nvSpPr>
        <p:spPr>
          <a:xfrm>
            <a:off x="9406890" y="1783080"/>
            <a:ext cx="220599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Noviembre</a:t>
            </a:r>
            <a:endParaRPr lang="en-US" sz="1000" dirty="0"/>
          </a:p>
        </p:txBody>
      </p:sp>
      <p:sp>
        <p:nvSpPr>
          <p:cNvPr id="13" name="Shape 11"/>
          <p:cNvSpPr/>
          <p:nvPr/>
        </p:nvSpPr>
        <p:spPr>
          <a:xfrm>
            <a:off x="8303895" y="2011680"/>
            <a:ext cx="551498" cy="3886200"/>
          </a:xfrm>
          <a:prstGeom prst="rect">
            <a:avLst/>
          </a:prstGeom>
          <a:solidFill>
            <a:srgbClr val="B83A3A">
              <a:alpha val="18000"/>
            </a:srgbClr>
          </a:solidFill>
          <a:ln w="12700">
            <a:solidFill>
              <a:srgbClr val="B83A3A"/>
            </a:solidFill>
            <a:prstDash val="solid"/>
          </a:ln>
        </p:spPr>
        <p:txBody>
          <a:bodyPr/>
          <a:lstStyle/>
          <a:p>
            <a:endParaRPr lang="es-CL"/>
          </a:p>
        </p:txBody>
      </p:sp>
      <p:sp>
        <p:nvSpPr>
          <p:cNvPr id="14" name="Text 12"/>
          <p:cNvSpPr txBox="1"/>
          <p:nvPr/>
        </p:nvSpPr>
        <p:spPr>
          <a:xfrm>
            <a:off x="2788920"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a:t>
            </a:r>
            <a:endParaRPr lang="en-US" sz="900" dirty="0"/>
          </a:p>
        </p:txBody>
      </p:sp>
      <p:sp>
        <p:nvSpPr>
          <p:cNvPr id="15" name="Text 13"/>
          <p:cNvSpPr txBox="1"/>
          <p:nvPr/>
        </p:nvSpPr>
        <p:spPr>
          <a:xfrm>
            <a:off x="3340417"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S2</a:t>
            </a:r>
            <a:endParaRPr lang="en-US" sz="900" dirty="0"/>
          </a:p>
        </p:txBody>
      </p:sp>
      <p:sp>
        <p:nvSpPr>
          <p:cNvPr id="16" name="Text 14"/>
          <p:cNvSpPr txBox="1"/>
          <p:nvPr/>
        </p:nvSpPr>
        <p:spPr>
          <a:xfrm>
            <a:off x="3891915"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S3</a:t>
            </a:r>
            <a:endParaRPr lang="en-US" sz="900" dirty="0"/>
          </a:p>
        </p:txBody>
      </p:sp>
      <p:sp>
        <p:nvSpPr>
          <p:cNvPr id="17" name="Text 15"/>
          <p:cNvSpPr txBox="1"/>
          <p:nvPr/>
        </p:nvSpPr>
        <p:spPr>
          <a:xfrm>
            <a:off x="4443413"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S4</a:t>
            </a:r>
            <a:endParaRPr lang="en-US" sz="900" dirty="0"/>
          </a:p>
        </p:txBody>
      </p:sp>
      <p:sp>
        <p:nvSpPr>
          <p:cNvPr id="18" name="Text 16"/>
          <p:cNvSpPr txBox="1"/>
          <p:nvPr/>
        </p:nvSpPr>
        <p:spPr>
          <a:xfrm>
            <a:off x="4994910"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S5</a:t>
            </a:r>
            <a:endParaRPr lang="en-US" sz="900" dirty="0"/>
          </a:p>
        </p:txBody>
      </p:sp>
      <p:sp>
        <p:nvSpPr>
          <p:cNvPr id="19" name="Text 17"/>
          <p:cNvSpPr txBox="1"/>
          <p:nvPr/>
        </p:nvSpPr>
        <p:spPr>
          <a:xfrm>
            <a:off x="5546408"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S6</a:t>
            </a:r>
            <a:endParaRPr lang="en-US" sz="900" dirty="0"/>
          </a:p>
        </p:txBody>
      </p:sp>
      <p:sp>
        <p:nvSpPr>
          <p:cNvPr id="20" name="Text 18"/>
          <p:cNvSpPr txBox="1"/>
          <p:nvPr/>
        </p:nvSpPr>
        <p:spPr>
          <a:xfrm>
            <a:off x="6097905"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S7</a:t>
            </a:r>
            <a:endParaRPr lang="en-US" sz="900" dirty="0"/>
          </a:p>
        </p:txBody>
      </p:sp>
      <p:sp>
        <p:nvSpPr>
          <p:cNvPr id="21" name="Text 19"/>
          <p:cNvSpPr txBox="1"/>
          <p:nvPr/>
        </p:nvSpPr>
        <p:spPr>
          <a:xfrm>
            <a:off x="6649403"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S8</a:t>
            </a:r>
            <a:endParaRPr lang="en-US" sz="900" dirty="0"/>
          </a:p>
        </p:txBody>
      </p:sp>
      <p:sp>
        <p:nvSpPr>
          <p:cNvPr id="22" name="Text 20"/>
          <p:cNvSpPr txBox="1"/>
          <p:nvPr/>
        </p:nvSpPr>
        <p:spPr>
          <a:xfrm>
            <a:off x="7200900"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S9</a:t>
            </a:r>
            <a:endParaRPr lang="en-US" sz="900" dirty="0"/>
          </a:p>
        </p:txBody>
      </p:sp>
      <p:sp>
        <p:nvSpPr>
          <p:cNvPr id="23" name="Text 21"/>
          <p:cNvSpPr txBox="1"/>
          <p:nvPr/>
        </p:nvSpPr>
        <p:spPr>
          <a:xfrm>
            <a:off x="7752398"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S10</a:t>
            </a:r>
            <a:endParaRPr lang="en-US" sz="900" dirty="0"/>
          </a:p>
        </p:txBody>
      </p:sp>
      <p:sp>
        <p:nvSpPr>
          <p:cNvPr id="24" name="Text 22"/>
          <p:cNvSpPr txBox="1"/>
          <p:nvPr/>
        </p:nvSpPr>
        <p:spPr>
          <a:xfrm>
            <a:off x="8303895" y="2029968"/>
            <a:ext cx="551498" cy="228600"/>
          </a:xfrm>
          <a:prstGeom prst="rect">
            <a:avLst/>
          </a:prstGeom>
          <a:noFill/>
          <a:ln/>
        </p:spPr>
        <p:txBody>
          <a:bodyPr wrap="square" lIns="0" tIns="0" rIns="0" bIns="0" rtlCol="0" anchor="ctr"/>
          <a:lstStyle/>
          <a:p>
            <a:pPr marL="0" indent="0" algn="ctr">
              <a:buNone/>
            </a:pPr>
            <a:r>
              <a:rPr lang="en-US" sz="900" b="1" dirty="0">
                <a:solidFill>
                  <a:srgbClr val="B83A3A"/>
                </a:solidFill>
                <a:latin typeface="Calibri" pitchFamily="34" charset="0"/>
                <a:ea typeface="Calibri" pitchFamily="34" charset="-122"/>
                <a:cs typeface="Calibri" pitchFamily="34" charset="-120"/>
              </a:rPr>
              <a:t>S11</a:t>
            </a:r>
            <a:endParaRPr lang="en-US" sz="900" dirty="0"/>
          </a:p>
        </p:txBody>
      </p:sp>
      <p:sp>
        <p:nvSpPr>
          <p:cNvPr id="25" name="Text 23"/>
          <p:cNvSpPr txBox="1"/>
          <p:nvPr/>
        </p:nvSpPr>
        <p:spPr>
          <a:xfrm>
            <a:off x="8855393"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S12</a:t>
            </a:r>
            <a:endParaRPr lang="en-US" sz="900" dirty="0"/>
          </a:p>
        </p:txBody>
      </p:sp>
      <p:sp>
        <p:nvSpPr>
          <p:cNvPr id="26" name="Text 24"/>
          <p:cNvSpPr txBox="1"/>
          <p:nvPr/>
        </p:nvSpPr>
        <p:spPr>
          <a:xfrm>
            <a:off x="9406890"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S13</a:t>
            </a:r>
            <a:endParaRPr lang="en-US" sz="900" dirty="0"/>
          </a:p>
        </p:txBody>
      </p:sp>
      <p:sp>
        <p:nvSpPr>
          <p:cNvPr id="27" name="Text 25"/>
          <p:cNvSpPr txBox="1"/>
          <p:nvPr/>
        </p:nvSpPr>
        <p:spPr>
          <a:xfrm>
            <a:off x="9958388"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S14</a:t>
            </a:r>
            <a:endParaRPr lang="en-US" sz="900" dirty="0"/>
          </a:p>
        </p:txBody>
      </p:sp>
      <p:sp>
        <p:nvSpPr>
          <p:cNvPr id="28" name="Text 26"/>
          <p:cNvSpPr txBox="1"/>
          <p:nvPr/>
        </p:nvSpPr>
        <p:spPr>
          <a:xfrm>
            <a:off x="10509885"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S15</a:t>
            </a:r>
            <a:endParaRPr lang="en-US" sz="900" dirty="0"/>
          </a:p>
        </p:txBody>
      </p:sp>
      <p:sp>
        <p:nvSpPr>
          <p:cNvPr id="29" name="Text 27"/>
          <p:cNvSpPr txBox="1"/>
          <p:nvPr/>
        </p:nvSpPr>
        <p:spPr>
          <a:xfrm>
            <a:off x="11061383"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S16</a:t>
            </a:r>
            <a:endParaRPr lang="en-US" sz="900" dirty="0"/>
          </a:p>
        </p:txBody>
      </p:sp>
      <p:sp>
        <p:nvSpPr>
          <p:cNvPr id="30" name="Text 28"/>
          <p:cNvSpPr txBox="1"/>
          <p:nvPr/>
        </p:nvSpPr>
        <p:spPr>
          <a:xfrm>
            <a:off x="548640" y="2331720"/>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Planificación y control</a:t>
            </a:r>
            <a:endParaRPr lang="en-US" sz="1200" dirty="0"/>
          </a:p>
        </p:txBody>
      </p:sp>
      <p:sp>
        <p:nvSpPr>
          <p:cNvPr id="31" name="Shape 29"/>
          <p:cNvSpPr/>
          <p:nvPr/>
        </p:nvSpPr>
        <p:spPr>
          <a:xfrm>
            <a:off x="2788920" y="2807208"/>
            <a:ext cx="8823960" cy="0"/>
          </a:xfrm>
          <a:prstGeom prst="line">
            <a:avLst/>
          </a:prstGeom>
          <a:noFill/>
          <a:ln w="6350">
            <a:solidFill>
              <a:srgbClr val="D7DCE3"/>
            </a:solidFill>
            <a:prstDash val="solid"/>
          </a:ln>
        </p:spPr>
        <p:txBody>
          <a:bodyPr/>
          <a:lstStyle/>
          <a:p>
            <a:endParaRPr lang="es-CL"/>
          </a:p>
        </p:txBody>
      </p:sp>
      <p:sp>
        <p:nvSpPr>
          <p:cNvPr id="32" name="Shape 30"/>
          <p:cNvSpPr/>
          <p:nvPr/>
        </p:nvSpPr>
        <p:spPr>
          <a:xfrm>
            <a:off x="2807208" y="2386584"/>
            <a:ext cx="2169414" cy="329184"/>
          </a:xfrm>
          <a:prstGeom prst="rect">
            <a:avLst/>
          </a:prstGeom>
          <a:solidFill>
            <a:srgbClr val="2F855A"/>
          </a:solidFill>
          <a:ln w="12700">
            <a:solidFill>
              <a:srgbClr val="2F855A"/>
            </a:solidFill>
            <a:prstDash val="solid"/>
          </a:ln>
        </p:spPr>
        <p:txBody>
          <a:bodyPr/>
          <a:lstStyle/>
          <a:p>
            <a:endParaRPr lang="es-CL"/>
          </a:p>
        </p:txBody>
      </p:sp>
      <p:sp>
        <p:nvSpPr>
          <p:cNvPr id="33" name="Text 31"/>
          <p:cNvSpPr txBox="1"/>
          <p:nvPr/>
        </p:nvSpPr>
        <p:spPr>
          <a:xfrm>
            <a:off x="2807208" y="2386584"/>
            <a:ext cx="2169414"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Acta, ERS, EDT, planes</a:t>
            </a:r>
            <a:endParaRPr lang="en-US" sz="850" dirty="0"/>
          </a:p>
        </p:txBody>
      </p:sp>
      <p:sp>
        <p:nvSpPr>
          <p:cNvPr id="34" name="Shape 32"/>
          <p:cNvSpPr/>
          <p:nvPr/>
        </p:nvSpPr>
        <p:spPr>
          <a:xfrm>
            <a:off x="5013198" y="2386584"/>
            <a:ext cx="3272409" cy="329184"/>
          </a:xfrm>
          <a:prstGeom prst="rect">
            <a:avLst/>
          </a:prstGeom>
          <a:solidFill>
            <a:srgbClr val="2F855A"/>
          </a:solidFill>
          <a:ln w="12700">
            <a:solidFill>
              <a:srgbClr val="2F855A"/>
            </a:solidFill>
            <a:prstDash val="solid"/>
          </a:ln>
        </p:spPr>
        <p:txBody>
          <a:bodyPr/>
          <a:lstStyle/>
          <a:p>
            <a:endParaRPr lang="es-CL"/>
          </a:p>
        </p:txBody>
      </p:sp>
      <p:sp>
        <p:nvSpPr>
          <p:cNvPr id="35" name="Text 33"/>
          <p:cNvSpPr txBox="1"/>
          <p:nvPr/>
        </p:nvSpPr>
        <p:spPr>
          <a:xfrm>
            <a:off x="5013198" y="2386584"/>
            <a:ext cx="327240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Seguimiento semanal y control de cambios</a:t>
            </a:r>
            <a:endParaRPr lang="en-US" sz="850" dirty="0"/>
          </a:p>
        </p:txBody>
      </p:sp>
      <p:sp>
        <p:nvSpPr>
          <p:cNvPr id="36" name="Shape 34"/>
          <p:cNvSpPr/>
          <p:nvPr/>
        </p:nvSpPr>
        <p:spPr>
          <a:xfrm>
            <a:off x="8322183" y="2386584"/>
            <a:ext cx="514922" cy="329184"/>
          </a:xfrm>
          <a:prstGeom prst="rect">
            <a:avLst/>
          </a:prstGeom>
          <a:solidFill>
            <a:srgbClr val="B5762A"/>
          </a:solidFill>
          <a:ln w="12700">
            <a:solidFill>
              <a:srgbClr val="B5762A"/>
            </a:solidFill>
            <a:prstDash val="solid"/>
          </a:ln>
        </p:spPr>
        <p:txBody>
          <a:bodyPr/>
          <a:lstStyle/>
          <a:p>
            <a:endParaRPr lang="es-CL"/>
          </a:p>
        </p:txBody>
      </p:sp>
      <p:sp>
        <p:nvSpPr>
          <p:cNvPr id="37" name="Text 35"/>
          <p:cNvSpPr txBox="1"/>
          <p:nvPr/>
        </p:nvSpPr>
        <p:spPr>
          <a:xfrm>
            <a:off x="8322183" y="2386584"/>
            <a:ext cx="548640"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Roadmap</a:t>
            </a:r>
            <a:endParaRPr lang="en-US" sz="850" dirty="0"/>
          </a:p>
        </p:txBody>
      </p:sp>
      <p:sp>
        <p:nvSpPr>
          <p:cNvPr id="38" name="Shape 36"/>
          <p:cNvSpPr/>
          <p:nvPr/>
        </p:nvSpPr>
        <p:spPr>
          <a:xfrm>
            <a:off x="8873680" y="2386584"/>
            <a:ext cx="2720912" cy="329184"/>
          </a:xfrm>
          <a:prstGeom prst="rect">
            <a:avLst/>
          </a:prstGeom>
          <a:solidFill>
            <a:srgbClr val="13294B"/>
          </a:solidFill>
          <a:ln w="12700">
            <a:solidFill>
              <a:srgbClr val="13294B"/>
            </a:solidFill>
            <a:prstDash val="solid"/>
          </a:ln>
        </p:spPr>
        <p:txBody>
          <a:bodyPr/>
          <a:lstStyle/>
          <a:p>
            <a:endParaRPr lang="es-CL"/>
          </a:p>
        </p:txBody>
      </p:sp>
      <p:sp>
        <p:nvSpPr>
          <p:cNvPr id="39" name="Text 37"/>
          <p:cNvSpPr txBox="1"/>
          <p:nvPr/>
        </p:nvSpPr>
        <p:spPr>
          <a:xfrm>
            <a:off x="8873680" y="2386584"/>
            <a:ext cx="2720912"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Seguimiento semanal y roadmap actualizado</a:t>
            </a:r>
            <a:endParaRPr lang="en-US" sz="850" dirty="0"/>
          </a:p>
        </p:txBody>
      </p:sp>
      <p:sp>
        <p:nvSpPr>
          <p:cNvPr id="40" name="Text 38"/>
          <p:cNvSpPr txBox="1"/>
          <p:nvPr/>
        </p:nvSpPr>
        <p:spPr>
          <a:xfrm>
            <a:off x="548640" y="2843784"/>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Diseño</a:t>
            </a:r>
            <a:endParaRPr lang="en-US" sz="1200" dirty="0"/>
          </a:p>
        </p:txBody>
      </p:sp>
      <p:sp>
        <p:nvSpPr>
          <p:cNvPr id="41" name="Shape 39"/>
          <p:cNvSpPr/>
          <p:nvPr/>
        </p:nvSpPr>
        <p:spPr>
          <a:xfrm>
            <a:off x="2788920" y="3319272"/>
            <a:ext cx="8823960" cy="0"/>
          </a:xfrm>
          <a:prstGeom prst="line">
            <a:avLst/>
          </a:prstGeom>
          <a:noFill/>
          <a:ln w="6350">
            <a:solidFill>
              <a:srgbClr val="D7DCE3"/>
            </a:solidFill>
            <a:prstDash val="solid"/>
          </a:ln>
        </p:spPr>
        <p:txBody>
          <a:bodyPr/>
          <a:lstStyle/>
          <a:p>
            <a:endParaRPr lang="es-CL"/>
          </a:p>
        </p:txBody>
      </p:sp>
      <p:sp>
        <p:nvSpPr>
          <p:cNvPr id="42" name="Shape 40"/>
          <p:cNvSpPr/>
          <p:nvPr/>
        </p:nvSpPr>
        <p:spPr>
          <a:xfrm>
            <a:off x="5013198" y="2898648"/>
            <a:ext cx="3272409" cy="329184"/>
          </a:xfrm>
          <a:prstGeom prst="rect">
            <a:avLst/>
          </a:prstGeom>
          <a:solidFill>
            <a:srgbClr val="2F855A"/>
          </a:solidFill>
          <a:ln w="12700">
            <a:solidFill>
              <a:srgbClr val="2F855A"/>
            </a:solidFill>
            <a:prstDash val="solid"/>
          </a:ln>
        </p:spPr>
        <p:txBody>
          <a:bodyPr/>
          <a:lstStyle/>
          <a:p>
            <a:endParaRPr lang="es-CL"/>
          </a:p>
        </p:txBody>
      </p:sp>
      <p:sp>
        <p:nvSpPr>
          <p:cNvPr id="43" name="Text 41"/>
          <p:cNvSpPr txBox="1"/>
          <p:nvPr/>
        </p:nvSpPr>
        <p:spPr>
          <a:xfrm>
            <a:off x="5013198" y="2898648"/>
            <a:ext cx="327240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UX/UI, 4+1, casos de uso, modelo E-R, Ley 21.719</a:t>
            </a:r>
            <a:endParaRPr lang="en-US" sz="850" dirty="0"/>
          </a:p>
        </p:txBody>
      </p:sp>
      <p:sp>
        <p:nvSpPr>
          <p:cNvPr id="44" name="Shape 42"/>
          <p:cNvSpPr/>
          <p:nvPr/>
        </p:nvSpPr>
        <p:spPr>
          <a:xfrm>
            <a:off x="8322183" y="2898648"/>
            <a:ext cx="514922" cy="329184"/>
          </a:xfrm>
          <a:prstGeom prst="rect">
            <a:avLst/>
          </a:prstGeom>
          <a:solidFill>
            <a:srgbClr val="2F855A"/>
          </a:solidFill>
          <a:ln w="12700">
            <a:solidFill>
              <a:srgbClr val="2F855A"/>
            </a:solidFill>
            <a:prstDash val="solid"/>
          </a:ln>
        </p:spPr>
        <p:txBody>
          <a:bodyPr/>
          <a:lstStyle/>
          <a:p>
            <a:endParaRPr lang="es-CL"/>
          </a:p>
        </p:txBody>
      </p:sp>
      <p:sp>
        <p:nvSpPr>
          <p:cNvPr id="45" name="Text 43"/>
          <p:cNvSpPr txBox="1"/>
          <p:nvPr/>
        </p:nvSpPr>
        <p:spPr>
          <a:xfrm>
            <a:off x="8322183" y="2898648"/>
            <a:ext cx="548640"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Modelo v1.2</a:t>
            </a:r>
            <a:endParaRPr lang="en-US" sz="850" dirty="0"/>
          </a:p>
        </p:txBody>
      </p:sp>
      <p:sp>
        <p:nvSpPr>
          <p:cNvPr id="46" name="Text 44"/>
          <p:cNvSpPr txBox="1"/>
          <p:nvPr/>
        </p:nvSpPr>
        <p:spPr>
          <a:xfrm>
            <a:off x="548640" y="3355848"/>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Desarrollo</a:t>
            </a:r>
            <a:endParaRPr lang="en-US" sz="1200" dirty="0"/>
          </a:p>
        </p:txBody>
      </p:sp>
      <p:sp>
        <p:nvSpPr>
          <p:cNvPr id="47" name="Shape 45"/>
          <p:cNvSpPr/>
          <p:nvPr/>
        </p:nvSpPr>
        <p:spPr>
          <a:xfrm>
            <a:off x="2788920" y="3831336"/>
            <a:ext cx="8823960" cy="0"/>
          </a:xfrm>
          <a:prstGeom prst="line">
            <a:avLst/>
          </a:prstGeom>
          <a:noFill/>
          <a:ln w="6350">
            <a:solidFill>
              <a:srgbClr val="D7DCE3"/>
            </a:solidFill>
            <a:prstDash val="solid"/>
          </a:ln>
        </p:spPr>
        <p:txBody>
          <a:bodyPr/>
          <a:lstStyle/>
          <a:p>
            <a:endParaRPr lang="es-CL"/>
          </a:p>
        </p:txBody>
      </p:sp>
      <p:sp>
        <p:nvSpPr>
          <p:cNvPr id="48" name="Shape 46"/>
          <p:cNvSpPr/>
          <p:nvPr/>
        </p:nvSpPr>
        <p:spPr>
          <a:xfrm>
            <a:off x="6116193" y="3410712"/>
            <a:ext cx="2169414" cy="329184"/>
          </a:xfrm>
          <a:prstGeom prst="rect">
            <a:avLst/>
          </a:prstGeom>
          <a:solidFill>
            <a:srgbClr val="2F855A"/>
          </a:solidFill>
          <a:ln w="12700">
            <a:solidFill>
              <a:srgbClr val="2F855A"/>
            </a:solidFill>
            <a:prstDash val="solid"/>
          </a:ln>
        </p:spPr>
        <p:txBody>
          <a:bodyPr/>
          <a:lstStyle/>
          <a:p>
            <a:endParaRPr lang="es-CL"/>
          </a:p>
        </p:txBody>
      </p:sp>
      <p:sp>
        <p:nvSpPr>
          <p:cNvPr id="49" name="Text 47"/>
          <p:cNvSpPr txBox="1"/>
          <p:nvPr/>
        </p:nvSpPr>
        <p:spPr>
          <a:xfrm>
            <a:off x="6116193" y="3410712"/>
            <a:ext cx="2169414"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Prototipos web y app · BD en PostgreSQL</a:t>
            </a:r>
            <a:endParaRPr lang="en-US" sz="850" dirty="0"/>
          </a:p>
        </p:txBody>
      </p:sp>
      <p:sp>
        <p:nvSpPr>
          <p:cNvPr id="50" name="Shape 48"/>
          <p:cNvSpPr/>
          <p:nvPr/>
        </p:nvSpPr>
        <p:spPr>
          <a:xfrm>
            <a:off x="8322183" y="3410712"/>
            <a:ext cx="514922" cy="329184"/>
          </a:xfrm>
          <a:prstGeom prst="rect">
            <a:avLst/>
          </a:prstGeom>
          <a:solidFill>
            <a:srgbClr val="B5762A"/>
          </a:solidFill>
          <a:ln w="12700">
            <a:solidFill>
              <a:srgbClr val="B5762A"/>
            </a:solidFill>
            <a:prstDash val="solid"/>
          </a:ln>
        </p:spPr>
        <p:txBody>
          <a:bodyPr/>
          <a:lstStyle/>
          <a:p>
            <a:endParaRPr lang="es-CL"/>
          </a:p>
        </p:txBody>
      </p:sp>
      <p:sp>
        <p:nvSpPr>
          <p:cNvPr id="51" name="Text 49"/>
          <p:cNvSpPr txBox="1"/>
          <p:nvPr/>
        </p:nvSpPr>
        <p:spPr>
          <a:xfrm>
            <a:off x="8322183" y="3410712"/>
            <a:ext cx="548640"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API</a:t>
            </a:r>
            <a:endParaRPr lang="en-US" sz="850" dirty="0"/>
          </a:p>
        </p:txBody>
      </p:sp>
      <p:sp>
        <p:nvSpPr>
          <p:cNvPr id="52" name="Shape 50"/>
          <p:cNvSpPr/>
          <p:nvPr/>
        </p:nvSpPr>
        <p:spPr>
          <a:xfrm>
            <a:off x="8873680" y="3410712"/>
            <a:ext cx="1066419" cy="329184"/>
          </a:xfrm>
          <a:prstGeom prst="rect">
            <a:avLst/>
          </a:prstGeom>
          <a:solidFill>
            <a:srgbClr val="13294B"/>
          </a:solidFill>
          <a:ln w="12700">
            <a:solidFill>
              <a:srgbClr val="13294B"/>
            </a:solidFill>
            <a:prstDash val="solid"/>
          </a:ln>
        </p:spPr>
        <p:txBody>
          <a:bodyPr/>
          <a:lstStyle/>
          <a:p>
            <a:endParaRPr lang="es-CL"/>
          </a:p>
        </p:txBody>
      </p:sp>
      <p:sp>
        <p:nvSpPr>
          <p:cNvPr id="53" name="Text 51"/>
          <p:cNvSpPr txBox="1"/>
          <p:nvPr/>
        </p:nvSpPr>
        <p:spPr>
          <a:xfrm>
            <a:off x="8873680" y="3410712"/>
            <a:ext cx="106641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Webpay, fila, «Mis datos», personal</a:t>
            </a:r>
            <a:endParaRPr lang="en-US" sz="850" dirty="0"/>
          </a:p>
        </p:txBody>
      </p:sp>
      <p:sp>
        <p:nvSpPr>
          <p:cNvPr id="54" name="Text 52"/>
          <p:cNvSpPr txBox="1"/>
          <p:nvPr/>
        </p:nvSpPr>
        <p:spPr>
          <a:xfrm>
            <a:off x="548640" y="3867912"/>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Pruebas / QA</a:t>
            </a:r>
            <a:endParaRPr lang="en-US" sz="1200" dirty="0"/>
          </a:p>
        </p:txBody>
      </p:sp>
      <p:sp>
        <p:nvSpPr>
          <p:cNvPr id="55" name="Shape 53"/>
          <p:cNvSpPr/>
          <p:nvPr/>
        </p:nvSpPr>
        <p:spPr>
          <a:xfrm>
            <a:off x="2788920" y="4343400"/>
            <a:ext cx="8823960" cy="0"/>
          </a:xfrm>
          <a:prstGeom prst="line">
            <a:avLst/>
          </a:prstGeom>
          <a:noFill/>
          <a:ln w="6350">
            <a:solidFill>
              <a:srgbClr val="D7DCE3"/>
            </a:solidFill>
            <a:prstDash val="solid"/>
          </a:ln>
        </p:spPr>
        <p:txBody>
          <a:bodyPr/>
          <a:lstStyle/>
          <a:p>
            <a:endParaRPr lang="es-CL"/>
          </a:p>
        </p:txBody>
      </p:sp>
      <p:sp>
        <p:nvSpPr>
          <p:cNvPr id="56" name="Shape 54"/>
          <p:cNvSpPr/>
          <p:nvPr/>
        </p:nvSpPr>
        <p:spPr>
          <a:xfrm>
            <a:off x="7219188" y="3922776"/>
            <a:ext cx="1617917" cy="329184"/>
          </a:xfrm>
          <a:prstGeom prst="rect">
            <a:avLst/>
          </a:prstGeom>
          <a:solidFill>
            <a:srgbClr val="2F855A"/>
          </a:solidFill>
          <a:ln w="12700">
            <a:solidFill>
              <a:srgbClr val="2F855A"/>
            </a:solidFill>
            <a:prstDash val="solid"/>
          </a:ln>
        </p:spPr>
        <p:txBody>
          <a:bodyPr/>
          <a:lstStyle/>
          <a:p>
            <a:endParaRPr lang="es-CL"/>
          </a:p>
        </p:txBody>
      </p:sp>
      <p:sp>
        <p:nvSpPr>
          <p:cNvPr id="57" name="Text 55"/>
          <p:cNvSpPr txBox="1"/>
          <p:nvPr/>
        </p:nvSpPr>
        <p:spPr>
          <a:xfrm>
            <a:off x="7219188" y="3922776"/>
            <a:ext cx="1617917"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BD 24/24 · API 17/17 · plan</a:t>
            </a:r>
            <a:endParaRPr lang="en-US" sz="850" dirty="0"/>
          </a:p>
        </p:txBody>
      </p:sp>
      <p:sp>
        <p:nvSpPr>
          <p:cNvPr id="58" name="Shape 56"/>
          <p:cNvSpPr/>
          <p:nvPr/>
        </p:nvSpPr>
        <p:spPr>
          <a:xfrm>
            <a:off x="8873680" y="3922776"/>
            <a:ext cx="1617917" cy="329184"/>
          </a:xfrm>
          <a:prstGeom prst="rect">
            <a:avLst/>
          </a:prstGeom>
          <a:solidFill>
            <a:srgbClr val="13294B"/>
          </a:solidFill>
          <a:ln w="12700">
            <a:solidFill>
              <a:srgbClr val="13294B"/>
            </a:solidFill>
            <a:prstDash val="solid"/>
          </a:ln>
        </p:spPr>
        <p:txBody>
          <a:bodyPr/>
          <a:lstStyle/>
          <a:p>
            <a:endParaRPr lang="es-CL"/>
          </a:p>
        </p:txBody>
      </p:sp>
      <p:sp>
        <p:nvSpPr>
          <p:cNvPr id="59" name="Text 57"/>
          <p:cNvSpPr txBox="1"/>
          <p:nvPr/>
        </p:nvSpPr>
        <p:spPr>
          <a:xfrm>
            <a:off x="8873680" y="3922776"/>
            <a:ext cx="1617917"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Funcionales, integración, seguridad, UAT</a:t>
            </a:r>
            <a:endParaRPr lang="en-US" sz="850" dirty="0"/>
          </a:p>
        </p:txBody>
      </p:sp>
      <p:sp>
        <p:nvSpPr>
          <p:cNvPr id="60" name="Text 58"/>
          <p:cNvSpPr txBox="1"/>
          <p:nvPr/>
        </p:nvSpPr>
        <p:spPr>
          <a:xfrm>
            <a:off x="548640" y="4379976"/>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Despliegue</a:t>
            </a:r>
            <a:endParaRPr lang="en-US" sz="1200" dirty="0"/>
          </a:p>
        </p:txBody>
      </p:sp>
      <p:sp>
        <p:nvSpPr>
          <p:cNvPr id="61" name="Shape 59"/>
          <p:cNvSpPr/>
          <p:nvPr/>
        </p:nvSpPr>
        <p:spPr>
          <a:xfrm>
            <a:off x="2788920" y="4855464"/>
            <a:ext cx="8823960" cy="0"/>
          </a:xfrm>
          <a:prstGeom prst="line">
            <a:avLst/>
          </a:prstGeom>
          <a:noFill/>
          <a:ln w="6350">
            <a:solidFill>
              <a:srgbClr val="D7DCE3"/>
            </a:solidFill>
            <a:prstDash val="solid"/>
          </a:ln>
        </p:spPr>
        <p:txBody>
          <a:bodyPr/>
          <a:lstStyle/>
          <a:p>
            <a:endParaRPr lang="es-CL"/>
          </a:p>
        </p:txBody>
      </p:sp>
      <p:sp>
        <p:nvSpPr>
          <p:cNvPr id="62" name="Shape 60"/>
          <p:cNvSpPr/>
          <p:nvPr/>
        </p:nvSpPr>
        <p:spPr>
          <a:xfrm>
            <a:off x="8873680" y="4434840"/>
            <a:ext cx="1066419" cy="329184"/>
          </a:xfrm>
          <a:prstGeom prst="rect">
            <a:avLst/>
          </a:prstGeom>
          <a:solidFill>
            <a:srgbClr val="13294B"/>
          </a:solidFill>
          <a:ln w="12700">
            <a:solidFill>
              <a:srgbClr val="13294B"/>
            </a:solidFill>
            <a:prstDash val="solid"/>
          </a:ln>
        </p:spPr>
        <p:txBody>
          <a:bodyPr/>
          <a:lstStyle/>
          <a:p>
            <a:endParaRPr lang="es-CL"/>
          </a:p>
        </p:txBody>
      </p:sp>
      <p:sp>
        <p:nvSpPr>
          <p:cNvPr id="63" name="Text 61"/>
          <p:cNvSpPr txBox="1"/>
          <p:nvPr/>
        </p:nvSpPr>
        <p:spPr>
          <a:xfrm>
            <a:off x="8873680" y="4434840"/>
            <a:ext cx="106641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Ambiente UAT y APK firmada</a:t>
            </a:r>
            <a:endParaRPr lang="en-US" sz="850" dirty="0"/>
          </a:p>
        </p:txBody>
      </p:sp>
      <p:sp>
        <p:nvSpPr>
          <p:cNvPr id="64" name="Shape 62"/>
          <p:cNvSpPr/>
          <p:nvPr/>
        </p:nvSpPr>
        <p:spPr>
          <a:xfrm>
            <a:off x="9976676" y="4434840"/>
            <a:ext cx="514922" cy="329184"/>
          </a:xfrm>
          <a:prstGeom prst="rect">
            <a:avLst/>
          </a:prstGeom>
          <a:solidFill>
            <a:srgbClr val="13294B"/>
          </a:solidFill>
          <a:ln w="12700">
            <a:solidFill>
              <a:srgbClr val="13294B"/>
            </a:solidFill>
            <a:prstDash val="solid"/>
          </a:ln>
        </p:spPr>
        <p:txBody>
          <a:bodyPr/>
          <a:lstStyle/>
          <a:p>
            <a:endParaRPr lang="es-CL"/>
          </a:p>
        </p:txBody>
      </p:sp>
      <p:sp>
        <p:nvSpPr>
          <p:cNvPr id="65" name="Text 63"/>
          <p:cNvSpPr txBox="1"/>
          <p:nvPr/>
        </p:nvSpPr>
        <p:spPr>
          <a:xfrm>
            <a:off x="9976676" y="4434840"/>
            <a:ext cx="548640"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UAT</a:t>
            </a:r>
            <a:endParaRPr lang="en-US" sz="850" dirty="0"/>
          </a:p>
        </p:txBody>
      </p:sp>
      <p:sp>
        <p:nvSpPr>
          <p:cNvPr id="66" name="Text 64"/>
          <p:cNvSpPr txBox="1"/>
          <p:nvPr/>
        </p:nvSpPr>
        <p:spPr>
          <a:xfrm>
            <a:off x="548640" y="4892040"/>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Presentación final</a:t>
            </a:r>
            <a:endParaRPr lang="en-US" sz="1200" dirty="0"/>
          </a:p>
        </p:txBody>
      </p:sp>
      <p:sp>
        <p:nvSpPr>
          <p:cNvPr id="67" name="Shape 65"/>
          <p:cNvSpPr/>
          <p:nvPr/>
        </p:nvSpPr>
        <p:spPr>
          <a:xfrm>
            <a:off x="2788920" y="5367528"/>
            <a:ext cx="8823960" cy="0"/>
          </a:xfrm>
          <a:prstGeom prst="line">
            <a:avLst/>
          </a:prstGeom>
          <a:noFill/>
          <a:ln w="6350">
            <a:solidFill>
              <a:srgbClr val="D7DCE3"/>
            </a:solidFill>
            <a:prstDash val="solid"/>
          </a:ln>
        </p:spPr>
        <p:txBody>
          <a:bodyPr/>
          <a:lstStyle/>
          <a:p>
            <a:endParaRPr lang="es-CL"/>
          </a:p>
        </p:txBody>
      </p:sp>
      <p:sp>
        <p:nvSpPr>
          <p:cNvPr id="68" name="Shape 66"/>
          <p:cNvSpPr/>
          <p:nvPr/>
        </p:nvSpPr>
        <p:spPr>
          <a:xfrm>
            <a:off x="8322183" y="4946904"/>
            <a:ext cx="514922" cy="329184"/>
          </a:xfrm>
          <a:prstGeom prst="rect">
            <a:avLst/>
          </a:prstGeom>
          <a:solidFill>
            <a:srgbClr val="B5762A"/>
          </a:solidFill>
          <a:ln w="12700">
            <a:solidFill>
              <a:srgbClr val="B5762A"/>
            </a:solidFill>
            <a:prstDash val="solid"/>
          </a:ln>
        </p:spPr>
        <p:txBody>
          <a:bodyPr/>
          <a:lstStyle/>
          <a:p>
            <a:endParaRPr lang="es-CL"/>
          </a:p>
        </p:txBody>
      </p:sp>
      <p:sp>
        <p:nvSpPr>
          <p:cNvPr id="69" name="Text 67"/>
          <p:cNvSpPr txBox="1"/>
          <p:nvPr/>
        </p:nvSpPr>
        <p:spPr>
          <a:xfrm>
            <a:off x="8322183" y="4946904"/>
            <a:ext cx="548640"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H5</a:t>
            </a:r>
            <a:endParaRPr lang="en-US" sz="850" dirty="0"/>
          </a:p>
        </p:txBody>
      </p:sp>
      <p:sp>
        <p:nvSpPr>
          <p:cNvPr id="70" name="Shape 68"/>
          <p:cNvSpPr/>
          <p:nvPr/>
        </p:nvSpPr>
        <p:spPr>
          <a:xfrm>
            <a:off x="9425178" y="4946904"/>
            <a:ext cx="1066419" cy="329184"/>
          </a:xfrm>
          <a:prstGeom prst="rect">
            <a:avLst/>
          </a:prstGeom>
          <a:solidFill>
            <a:srgbClr val="13294B"/>
          </a:solidFill>
          <a:ln w="12700">
            <a:solidFill>
              <a:srgbClr val="13294B"/>
            </a:solidFill>
            <a:prstDash val="solid"/>
          </a:ln>
        </p:spPr>
        <p:txBody>
          <a:bodyPr/>
          <a:lstStyle/>
          <a:p>
            <a:endParaRPr lang="es-CL"/>
          </a:p>
        </p:txBody>
      </p:sp>
      <p:sp>
        <p:nvSpPr>
          <p:cNvPr id="71" name="Text 69"/>
          <p:cNvSpPr txBox="1"/>
          <p:nvPr/>
        </p:nvSpPr>
        <p:spPr>
          <a:xfrm>
            <a:off x="9425178" y="4946904"/>
            <a:ext cx="106641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Informe y entrega</a:t>
            </a:r>
            <a:endParaRPr lang="en-US" sz="850" dirty="0"/>
          </a:p>
        </p:txBody>
      </p:sp>
      <p:sp>
        <p:nvSpPr>
          <p:cNvPr id="72" name="Shape 70"/>
          <p:cNvSpPr/>
          <p:nvPr/>
        </p:nvSpPr>
        <p:spPr>
          <a:xfrm>
            <a:off x="10528173" y="4946904"/>
            <a:ext cx="1066419" cy="329184"/>
          </a:xfrm>
          <a:prstGeom prst="rect">
            <a:avLst/>
          </a:prstGeom>
          <a:solidFill>
            <a:srgbClr val="13294B"/>
          </a:solidFill>
          <a:ln w="12700">
            <a:solidFill>
              <a:srgbClr val="13294B"/>
            </a:solidFill>
            <a:prstDash val="solid"/>
          </a:ln>
        </p:spPr>
        <p:txBody>
          <a:bodyPr/>
          <a:lstStyle/>
          <a:p>
            <a:endParaRPr lang="es-CL"/>
          </a:p>
        </p:txBody>
      </p:sp>
      <p:sp>
        <p:nvSpPr>
          <p:cNvPr id="73" name="Text 71"/>
          <p:cNvSpPr txBox="1"/>
          <p:nvPr/>
        </p:nvSpPr>
        <p:spPr>
          <a:xfrm>
            <a:off x="10528173" y="4946904"/>
            <a:ext cx="106641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Ensayo y defensa</a:t>
            </a:r>
            <a:endParaRPr lang="en-US" sz="850" dirty="0"/>
          </a:p>
        </p:txBody>
      </p:sp>
      <p:sp>
        <p:nvSpPr>
          <p:cNvPr id="74" name="Text 72"/>
          <p:cNvSpPr txBox="1"/>
          <p:nvPr/>
        </p:nvSpPr>
        <p:spPr>
          <a:xfrm>
            <a:off x="548640" y="5404104"/>
            <a:ext cx="2194560" cy="411480"/>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Hitos</a:t>
            </a:r>
            <a:endParaRPr lang="en-US" sz="1200" dirty="0"/>
          </a:p>
        </p:txBody>
      </p:sp>
      <p:sp>
        <p:nvSpPr>
          <p:cNvPr id="75" name="Shape 73"/>
          <p:cNvSpPr/>
          <p:nvPr/>
        </p:nvSpPr>
        <p:spPr>
          <a:xfrm>
            <a:off x="4627721" y="5431536"/>
            <a:ext cx="182880" cy="182880"/>
          </a:xfrm>
          <a:prstGeom prst="diamond">
            <a:avLst/>
          </a:prstGeom>
          <a:solidFill>
            <a:srgbClr val="2F855A"/>
          </a:solidFill>
          <a:ln w="12700">
            <a:solidFill>
              <a:srgbClr val="2F855A"/>
            </a:solidFill>
            <a:prstDash val="solid"/>
          </a:ln>
        </p:spPr>
        <p:txBody>
          <a:bodyPr/>
          <a:lstStyle/>
          <a:p>
            <a:endParaRPr lang="es-CL"/>
          </a:p>
        </p:txBody>
      </p:sp>
      <p:sp>
        <p:nvSpPr>
          <p:cNvPr id="76" name="Text 74"/>
          <p:cNvSpPr txBox="1"/>
          <p:nvPr/>
        </p:nvSpPr>
        <p:spPr>
          <a:xfrm>
            <a:off x="4399121" y="5623560"/>
            <a:ext cx="640080" cy="201168"/>
          </a:xfrm>
          <a:prstGeom prst="rect">
            <a:avLst/>
          </a:prstGeom>
          <a:noFill/>
          <a:ln/>
        </p:spPr>
        <p:txBody>
          <a:bodyPr wrap="square" lIns="0" tIns="0" rIns="0" bIns="0" rtlCol="0" anchor="ctr"/>
          <a:lstStyle/>
          <a:p>
            <a:pPr marL="0" indent="0" algn="ctr">
              <a:buNone/>
            </a:pPr>
            <a:r>
              <a:rPr lang="en-US" sz="850" b="1" dirty="0">
                <a:solidFill>
                  <a:srgbClr val="2F855A"/>
                </a:solidFill>
                <a:latin typeface="Calibri" pitchFamily="34" charset="0"/>
                <a:ea typeface="Calibri" pitchFamily="34" charset="-122"/>
                <a:cs typeface="Calibri" pitchFamily="34" charset="-120"/>
              </a:rPr>
              <a:t>H1</a:t>
            </a:r>
            <a:endParaRPr lang="en-US" sz="850" dirty="0"/>
          </a:p>
        </p:txBody>
      </p:sp>
      <p:sp>
        <p:nvSpPr>
          <p:cNvPr id="77" name="Shape 75"/>
          <p:cNvSpPr/>
          <p:nvPr/>
        </p:nvSpPr>
        <p:spPr>
          <a:xfrm>
            <a:off x="5179219" y="5431536"/>
            <a:ext cx="182880" cy="182880"/>
          </a:xfrm>
          <a:prstGeom prst="diamond">
            <a:avLst/>
          </a:prstGeom>
          <a:solidFill>
            <a:srgbClr val="2F855A"/>
          </a:solidFill>
          <a:ln w="12700">
            <a:solidFill>
              <a:srgbClr val="2F855A"/>
            </a:solidFill>
            <a:prstDash val="solid"/>
          </a:ln>
        </p:spPr>
        <p:txBody>
          <a:bodyPr/>
          <a:lstStyle/>
          <a:p>
            <a:endParaRPr lang="es-CL"/>
          </a:p>
        </p:txBody>
      </p:sp>
      <p:sp>
        <p:nvSpPr>
          <p:cNvPr id="78" name="Text 76"/>
          <p:cNvSpPr txBox="1"/>
          <p:nvPr/>
        </p:nvSpPr>
        <p:spPr>
          <a:xfrm>
            <a:off x="4950619" y="5623560"/>
            <a:ext cx="640080" cy="201168"/>
          </a:xfrm>
          <a:prstGeom prst="rect">
            <a:avLst/>
          </a:prstGeom>
          <a:noFill/>
          <a:ln/>
        </p:spPr>
        <p:txBody>
          <a:bodyPr wrap="square" lIns="0" tIns="0" rIns="0" bIns="0" rtlCol="0" anchor="ctr"/>
          <a:lstStyle/>
          <a:p>
            <a:pPr marL="0" indent="0" algn="ctr">
              <a:buNone/>
            </a:pPr>
            <a:r>
              <a:rPr lang="en-US" sz="850" b="1" dirty="0">
                <a:solidFill>
                  <a:srgbClr val="2F855A"/>
                </a:solidFill>
                <a:latin typeface="Calibri" pitchFamily="34" charset="0"/>
                <a:ea typeface="Calibri" pitchFamily="34" charset="-122"/>
                <a:cs typeface="Calibri" pitchFamily="34" charset="-120"/>
              </a:rPr>
              <a:t>H2</a:t>
            </a:r>
            <a:endParaRPr lang="en-US" sz="850" dirty="0"/>
          </a:p>
        </p:txBody>
      </p:sp>
      <p:sp>
        <p:nvSpPr>
          <p:cNvPr id="79" name="Shape 77"/>
          <p:cNvSpPr/>
          <p:nvPr/>
        </p:nvSpPr>
        <p:spPr>
          <a:xfrm>
            <a:off x="7936706" y="5431536"/>
            <a:ext cx="182880" cy="182880"/>
          </a:xfrm>
          <a:prstGeom prst="diamond">
            <a:avLst/>
          </a:prstGeom>
          <a:solidFill>
            <a:srgbClr val="2F855A"/>
          </a:solidFill>
          <a:ln w="12700">
            <a:solidFill>
              <a:srgbClr val="2F855A"/>
            </a:solidFill>
            <a:prstDash val="solid"/>
          </a:ln>
        </p:spPr>
        <p:txBody>
          <a:bodyPr/>
          <a:lstStyle/>
          <a:p>
            <a:endParaRPr lang="es-CL"/>
          </a:p>
        </p:txBody>
      </p:sp>
      <p:sp>
        <p:nvSpPr>
          <p:cNvPr id="80" name="Text 78"/>
          <p:cNvSpPr txBox="1"/>
          <p:nvPr/>
        </p:nvSpPr>
        <p:spPr>
          <a:xfrm>
            <a:off x="7708106" y="5623560"/>
            <a:ext cx="640080" cy="201168"/>
          </a:xfrm>
          <a:prstGeom prst="rect">
            <a:avLst/>
          </a:prstGeom>
          <a:noFill/>
          <a:ln/>
        </p:spPr>
        <p:txBody>
          <a:bodyPr wrap="square" lIns="0" tIns="0" rIns="0" bIns="0" rtlCol="0" anchor="ctr"/>
          <a:lstStyle/>
          <a:p>
            <a:pPr marL="0" indent="0" algn="ctr">
              <a:buNone/>
            </a:pPr>
            <a:r>
              <a:rPr lang="en-US" sz="850" b="1" dirty="0">
                <a:solidFill>
                  <a:srgbClr val="2F855A"/>
                </a:solidFill>
                <a:latin typeface="Calibri" pitchFamily="34" charset="0"/>
                <a:ea typeface="Calibri" pitchFamily="34" charset="-122"/>
                <a:cs typeface="Calibri" pitchFamily="34" charset="-120"/>
              </a:rPr>
              <a:t>H3·H4</a:t>
            </a:r>
            <a:endParaRPr lang="en-US" sz="850" dirty="0"/>
          </a:p>
        </p:txBody>
      </p:sp>
      <p:sp>
        <p:nvSpPr>
          <p:cNvPr id="81" name="Shape 79"/>
          <p:cNvSpPr/>
          <p:nvPr/>
        </p:nvSpPr>
        <p:spPr>
          <a:xfrm>
            <a:off x="8488204" y="5431536"/>
            <a:ext cx="182880" cy="182880"/>
          </a:xfrm>
          <a:prstGeom prst="diamond">
            <a:avLst/>
          </a:prstGeom>
          <a:solidFill>
            <a:srgbClr val="B83A3A"/>
          </a:solidFill>
          <a:ln w="12700">
            <a:solidFill>
              <a:srgbClr val="B83A3A"/>
            </a:solidFill>
            <a:prstDash val="solid"/>
          </a:ln>
        </p:spPr>
        <p:txBody>
          <a:bodyPr/>
          <a:lstStyle/>
          <a:p>
            <a:endParaRPr lang="es-CL"/>
          </a:p>
        </p:txBody>
      </p:sp>
      <p:sp>
        <p:nvSpPr>
          <p:cNvPr id="82" name="Text 80"/>
          <p:cNvSpPr txBox="1"/>
          <p:nvPr/>
        </p:nvSpPr>
        <p:spPr>
          <a:xfrm>
            <a:off x="8259604" y="5623560"/>
            <a:ext cx="640080" cy="201168"/>
          </a:xfrm>
          <a:prstGeom prst="rect">
            <a:avLst/>
          </a:prstGeom>
          <a:noFill/>
          <a:ln/>
        </p:spPr>
        <p:txBody>
          <a:bodyPr wrap="square" lIns="0" tIns="0" rIns="0" bIns="0" rtlCol="0" anchor="ctr"/>
          <a:lstStyle/>
          <a:p>
            <a:pPr marL="0" indent="0" algn="ctr">
              <a:buNone/>
            </a:pPr>
            <a:r>
              <a:rPr lang="en-US" sz="850" b="1" dirty="0">
                <a:solidFill>
                  <a:srgbClr val="B83A3A"/>
                </a:solidFill>
                <a:latin typeface="Calibri" pitchFamily="34" charset="0"/>
                <a:ea typeface="Calibri" pitchFamily="34" charset="-122"/>
                <a:cs typeface="Calibri" pitchFamily="34" charset="-120"/>
              </a:rPr>
              <a:t>H5</a:t>
            </a:r>
            <a:endParaRPr lang="en-US" sz="850" dirty="0"/>
          </a:p>
        </p:txBody>
      </p:sp>
      <p:sp>
        <p:nvSpPr>
          <p:cNvPr id="83" name="Shape 81"/>
          <p:cNvSpPr/>
          <p:nvPr/>
        </p:nvSpPr>
        <p:spPr>
          <a:xfrm>
            <a:off x="9039701" y="5431536"/>
            <a:ext cx="182880" cy="182880"/>
          </a:xfrm>
          <a:prstGeom prst="diamond">
            <a:avLst/>
          </a:prstGeom>
          <a:solidFill>
            <a:srgbClr val="13294B"/>
          </a:solidFill>
          <a:ln w="12700">
            <a:solidFill>
              <a:srgbClr val="13294B"/>
            </a:solidFill>
            <a:prstDash val="solid"/>
          </a:ln>
        </p:spPr>
        <p:txBody>
          <a:bodyPr/>
          <a:lstStyle/>
          <a:p>
            <a:endParaRPr lang="es-CL"/>
          </a:p>
        </p:txBody>
      </p:sp>
      <p:sp>
        <p:nvSpPr>
          <p:cNvPr id="84" name="Text 82"/>
          <p:cNvSpPr txBox="1"/>
          <p:nvPr/>
        </p:nvSpPr>
        <p:spPr>
          <a:xfrm>
            <a:off x="8811101" y="5623560"/>
            <a:ext cx="640080" cy="201168"/>
          </a:xfrm>
          <a:prstGeom prst="rect">
            <a:avLst/>
          </a:prstGeom>
          <a:noFill/>
          <a:ln/>
        </p:spPr>
        <p:txBody>
          <a:bodyPr wrap="square" lIns="0" tIns="0" rIns="0" bIns="0" rtlCol="0" anchor="ctr"/>
          <a:lstStyle/>
          <a:p>
            <a:pPr marL="0" indent="0" algn="ctr">
              <a:buNone/>
            </a:pPr>
            <a:r>
              <a:rPr lang="en-US" sz="850" b="1" dirty="0">
                <a:solidFill>
                  <a:srgbClr val="13294B"/>
                </a:solidFill>
                <a:latin typeface="Calibri" pitchFamily="34" charset="0"/>
                <a:ea typeface="Calibri" pitchFamily="34" charset="-122"/>
                <a:cs typeface="Calibri" pitchFamily="34" charset="-120"/>
              </a:rPr>
              <a:t>H6</a:t>
            </a:r>
            <a:endParaRPr lang="en-US" sz="850" dirty="0"/>
          </a:p>
        </p:txBody>
      </p:sp>
      <p:sp>
        <p:nvSpPr>
          <p:cNvPr id="85" name="Shape 83"/>
          <p:cNvSpPr/>
          <p:nvPr/>
        </p:nvSpPr>
        <p:spPr>
          <a:xfrm>
            <a:off x="10142696" y="5431536"/>
            <a:ext cx="182880" cy="182880"/>
          </a:xfrm>
          <a:prstGeom prst="diamond">
            <a:avLst/>
          </a:prstGeom>
          <a:solidFill>
            <a:srgbClr val="13294B"/>
          </a:solidFill>
          <a:ln w="12700">
            <a:solidFill>
              <a:srgbClr val="13294B"/>
            </a:solidFill>
            <a:prstDash val="solid"/>
          </a:ln>
        </p:spPr>
        <p:txBody>
          <a:bodyPr/>
          <a:lstStyle/>
          <a:p>
            <a:endParaRPr lang="es-CL"/>
          </a:p>
        </p:txBody>
      </p:sp>
      <p:sp>
        <p:nvSpPr>
          <p:cNvPr id="86" name="Text 84"/>
          <p:cNvSpPr txBox="1"/>
          <p:nvPr/>
        </p:nvSpPr>
        <p:spPr>
          <a:xfrm>
            <a:off x="9914096" y="5623560"/>
            <a:ext cx="640080" cy="201168"/>
          </a:xfrm>
          <a:prstGeom prst="rect">
            <a:avLst/>
          </a:prstGeom>
          <a:noFill/>
          <a:ln/>
        </p:spPr>
        <p:txBody>
          <a:bodyPr wrap="square" lIns="0" tIns="0" rIns="0" bIns="0" rtlCol="0" anchor="ctr"/>
          <a:lstStyle/>
          <a:p>
            <a:pPr marL="0" indent="0" algn="ctr">
              <a:buNone/>
            </a:pPr>
            <a:r>
              <a:rPr lang="en-US" sz="850" b="1" dirty="0">
                <a:solidFill>
                  <a:srgbClr val="13294B"/>
                </a:solidFill>
                <a:latin typeface="Calibri" pitchFamily="34" charset="0"/>
                <a:ea typeface="Calibri" pitchFamily="34" charset="-122"/>
                <a:cs typeface="Calibri" pitchFamily="34" charset="-120"/>
              </a:rPr>
              <a:t>H7·H8</a:t>
            </a:r>
            <a:endParaRPr lang="en-US" sz="850" dirty="0"/>
          </a:p>
        </p:txBody>
      </p:sp>
      <p:sp>
        <p:nvSpPr>
          <p:cNvPr id="87" name="Shape 85"/>
          <p:cNvSpPr/>
          <p:nvPr/>
        </p:nvSpPr>
        <p:spPr>
          <a:xfrm>
            <a:off x="11245691" y="5431536"/>
            <a:ext cx="182880" cy="182880"/>
          </a:xfrm>
          <a:prstGeom prst="diamond">
            <a:avLst/>
          </a:prstGeom>
          <a:solidFill>
            <a:srgbClr val="13294B"/>
          </a:solidFill>
          <a:ln w="12700">
            <a:solidFill>
              <a:srgbClr val="13294B"/>
            </a:solidFill>
            <a:prstDash val="solid"/>
          </a:ln>
        </p:spPr>
        <p:txBody>
          <a:bodyPr/>
          <a:lstStyle/>
          <a:p>
            <a:endParaRPr lang="es-CL"/>
          </a:p>
        </p:txBody>
      </p:sp>
      <p:sp>
        <p:nvSpPr>
          <p:cNvPr id="88" name="Text 86"/>
          <p:cNvSpPr txBox="1"/>
          <p:nvPr/>
        </p:nvSpPr>
        <p:spPr>
          <a:xfrm>
            <a:off x="11017091" y="5623560"/>
            <a:ext cx="640080" cy="201168"/>
          </a:xfrm>
          <a:prstGeom prst="rect">
            <a:avLst/>
          </a:prstGeom>
          <a:noFill/>
          <a:ln/>
        </p:spPr>
        <p:txBody>
          <a:bodyPr wrap="square" lIns="0" tIns="0" rIns="0" bIns="0" rtlCol="0" anchor="ctr"/>
          <a:lstStyle/>
          <a:p>
            <a:pPr marL="0" indent="0" algn="ctr">
              <a:buNone/>
            </a:pPr>
            <a:r>
              <a:rPr lang="en-US" sz="850" b="1" dirty="0">
                <a:solidFill>
                  <a:srgbClr val="13294B"/>
                </a:solidFill>
                <a:latin typeface="Calibri" pitchFamily="34" charset="0"/>
                <a:ea typeface="Calibri" pitchFamily="34" charset="-122"/>
                <a:cs typeface="Calibri" pitchFamily="34" charset="-120"/>
              </a:rPr>
              <a:t>H9</a:t>
            </a:r>
            <a:endParaRPr lang="en-US" sz="850" dirty="0"/>
          </a:p>
        </p:txBody>
      </p:sp>
      <p:sp>
        <p:nvSpPr>
          <p:cNvPr id="89" name="Shape 87"/>
          <p:cNvSpPr/>
          <p:nvPr/>
        </p:nvSpPr>
        <p:spPr>
          <a:xfrm>
            <a:off x="2788920" y="5897880"/>
            <a:ext cx="201168" cy="164592"/>
          </a:xfrm>
          <a:prstGeom prst="rect">
            <a:avLst/>
          </a:prstGeom>
          <a:solidFill>
            <a:srgbClr val="2F855A"/>
          </a:solidFill>
          <a:ln w="12700">
            <a:solidFill>
              <a:srgbClr val="2F855A"/>
            </a:solidFill>
            <a:prstDash val="solid"/>
          </a:ln>
        </p:spPr>
        <p:txBody>
          <a:bodyPr/>
          <a:lstStyle/>
          <a:p>
            <a:endParaRPr lang="es-CL"/>
          </a:p>
        </p:txBody>
      </p:sp>
      <p:sp>
        <p:nvSpPr>
          <p:cNvPr id="90" name="Text 88"/>
          <p:cNvSpPr txBox="1"/>
          <p:nvPr/>
        </p:nvSpPr>
        <p:spPr>
          <a:xfrm>
            <a:off x="3063240" y="5852160"/>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Realizado</a:t>
            </a:r>
            <a:endParaRPr lang="en-US" sz="1050" dirty="0"/>
          </a:p>
        </p:txBody>
      </p:sp>
      <p:sp>
        <p:nvSpPr>
          <p:cNvPr id="91" name="Shape 89"/>
          <p:cNvSpPr/>
          <p:nvPr/>
        </p:nvSpPr>
        <p:spPr>
          <a:xfrm>
            <a:off x="4526280" y="5897880"/>
            <a:ext cx="201168" cy="164592"/>
          </a:xfrm>
          <a:prstGeom prst="rect">
            <a:avLst/>
          </a:prstGeom>
          <a:solidFill>
            <a:srgbClr val="B5762A"/>
          </a:solidFill>
          <a:ln w="12700">
            <a:solidFill>
              <a:srgbClr val="B5762A"/>
            </a:solidFill>
            <a:prstDash val="solid"/>
          </a:ln>
        </p:spPr>
        <p:txBody>
          <a:bodyPr/>
          <a:lstStyle/>
          <a:p>
            <a:endParaRPr lang="es-CL"/>
          </a:p>
        </p:txBody>
      </p:sp>
      <p:sp>
        <p:nvSpPr>
          <p:cNvPr id="92" name="Text 90"/>
          <p:cNvSpPr txBox="1"/>
          <p:nvPr/>
        </p:nvSpPr>
        <p:spPr>
          <a:xfrm>
            <a:off x="4800600" y="5852160"/>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En progreso</a:t>
            </a:r>
            <a:endParaRPr lang="en-US" sz="1050" dirty="0"/>
          </a:p>
        </p:txBody>
      </p:sp>
      <p:sp>
        <p:nvSpPr>
          <p:cNvPr id="93" name="Shape 91"/>
          <p:cNvSpPr/>
          <p:nvPr/>
        </p:nvSpPr>
        <p:spPr>
          <a:xfrm>
            <a:off x="6263640" y="5897880"/>
            <a:ext cx="201168" cy="164592"/>
          </a:xfrm>
          <a:prstGeom prst="rect">
            <a:avLst/>
          </a:prstGeom>
          <a:solidFill>
            <a:srgbClr val="13294B"/>
          </a:solidFill>
          <a:ln w="12700">
            <a:solidFill>
              <a:srgbClr val="13294B"/>
            </a:solidFill>
            <a:prstDash val="solid"/>
          </a:ln>
        </p:spPr>
        <p:txBody>
          <a:bodyPr/>
          <a:lstStyle/>
          <a:p>
            <a:endParaRPr lang="es-CL"/>
          </a:p>
        </p:txBody>
      </p:sp>
      <p:sp>
        <p:nvSpPr>
          <p:cNvPr id="94" name="Text 92"/>
          <p:cNvSpPr txBox="1"/>
          <p:nvPr/>
        </p:nvSpPr>
        <p:spPr>
          <a:xfrm>
            <a:off x="6537960" y="5852160"/>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Planificado</a:t>
            </a:r>
            <a:endParaRPr lang="en-US" sz="1050" dirty="0"/>
          </a:p>
        </p:txBody>
      </p:sp>
      <p:sp>
        <p:nvSpPr>
          <p:cNvPr id="95" name="Text 93"/>
          <p:cNvSpPr txBox="1"/>
          <p:nvPr/>
        </p:nvSpPr>
        <p:spPr>
          <a:xfrm>
            <a:off x="548640" y="6144768"/>
            <a:ext cx="11064240" cy="274320"/>
          </a:xfrm>
          <a:prstGeom prst="rect">
            <a:avLst/>
          </a:prstGeom>
          <a:noFill/>
          <a:ln/>
        </p:spPr>
        <p:txBody>
          <a:bodyPr wrap="square" lIns="0" tIns="0" rIns="0" bIns="0" rtlCol="0" anchor="ctr"/>
          <a:lstStyle/>
          <a:p>
            <a:pPr marL="0" indent="0">
              <a:buNone/>
            </a:pPr>
            <a:r>
              <a:rPr lang="en-US" sz="950" dirty="0">
                <a:solidFill>
                  <a:srgbClr val="5B6472"/>
                </a:solidFill>
                <a:latin typeface="Calibri" pitchFamily="34" charset="0"/>
                <a:ea typeface="Calibri" pitchFamily="34" charset="-122"/>
                <a:cs typeface="Calibri" pitchFamily="34" charset="-120"/>
              </a:rPr>
              <a:t>H1 cierre F1 (04-09) · H2 avance (11-09) · H3 diseño aprobado (16-10) · H4 cierre F2 (18-10) · H5 hoy · H6 sistema integrado (30-10) · H7 paso al ambiente UAT (10-11) · H8 entrega (13-11) · H9 defensa (27-11)</a:t>
            </a:r>
            <a:endParaRPr lang="en-US" sz="950" dirty="0"/>
          </a:p>
        </p:txBody>
      </p:sp>
      <p:sp>
        <p:nvSpPr>
          <p:cNvPr id="96"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ROADMAP · DESDE LA SEMANA EN CURSO</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Roadmap S11 a S16: qué hacemos cada semana</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Cada celda es la actividad de la semana y su color, el estado. Responsables: YR = Yerko Rosales · JO = Jonathan Ojeda.</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3712464"/>
        </p:xfrm>
        <a:graphic>
          <a:graphicData uri="http://schemas.openxmlformats.org/drawingml/2006/table">
            <a:tbl>
              <a:tblPr/>
              <a:tblGrid>
                <a:gridCol w="1737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554480">
                  <a:extLst>
                    <a:ext uri="{9D8B030D-6E8A-4147-A177-3AD203B41FA5}">
                      <a16:colId xmlns:a16="http://schemas.microsoft.com/office/drawing/2014/main" val="20005"/>
                    </a:ext>
                  </a:extLst>
                </a:gridCol>
                <a:gridCol w="1554480">
                  <a:extLst>
                    <a:ext uri="{9D8B030D-6E8A-4147-A177-3AD203B41FA5}">
                      <a16:colId xmlns:a16="http://schemas.microsoft.com/office/drawing/2014/main" val="20006"/>
                    </a:ext>
                  </a:extLst>
                </a:gridCol>
              </a:tblGrid>
              <a:tr h="45720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Fase / semana</a:t>
                      </a:r>
                      <a:endParaRPr lang="en-US" sz="110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S11 HOY</a:t>
                      </a:r>
                      <a:endParaRPr lang="en-US" sz="1050" dirty="0">
                        <a:latin typeface="Calibri" charset="0"/>
                        <a:ea typeface="Calibri" charset="0"/>
                        <a:cs typeface="Calibri" charset="0"/>
                      </a:endParaRPr>
                    </a:p>
                    <a:p>
                      <a:pPr marL="0" indent="0" algn="ctr">
                        <a:buNone/>
                      </a:pPr>
                      <a:r>
                        <a:rPr lang="en-US" sz="1050" b="1" dirty="0">
                          <a:solidFill>
                            <a:srgbClr val="FFFFFF"/>
                          </a:solidFill>
                          <a:latin typeface="Calibri" pitchFamily="34" charset="0"/>
                          <a:ea typeface="Calibri" pitchFamily="34" charset="-122"/>
                          <a:cs typeface="Calibri" pitchFamily="34" charset="-120"/>
                        </a:rPr>
                        <a:t>19/10–25/10</a:t>
                      </a:r>
                      <a:endParaRPr lang="en-US" sz="10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B83A3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S12</a:t>
                      </a:r>
                      <a:endParaRPr lang="en-US" sz="1050" dirty="0">
                        <a:latin typeface="Calibri" charset="0"/>
                        <a:ea typeface="Calibri" charset="0"/>
                        <a:cs typeface="Calibri" charset="0"/>
                      </a:endParaRPr>
                    </a:p>
                    <a:p>
                      <a:pPr marL="0" indent="0" algn="ctr">
                        <a:buNone/>
                      </a:pPr>
                      <a:r>
                        <a:rPr lang="en-US" sz="1050" b="1" dirty="0">
                          <a:solidFill>
                            <a:srgbClr val="FFFFFF"/>
                          </a:solidFill>
                          <a:latin typeface="Calibri" pitchFamily="34" charset="0"/>
                          <a:ea typeface="Calibri" pitchFamily="34" charset="-122"/>
                          <a:cs typeface="Calibri" pitchFamily="34" charset="-120"/>
                        </a:rPr>
                        <a:t>26/10–01/11</a:t>
                      </a:r>
                      <a:endParaRPr lang="en-US" sz="10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D3A63"/>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S13</a:t>
                      </a:r>
                      <a:endParaRPr lang="en-US" sz="1050" dirty="0">
                        <a:latin typeface="Calibri" charset="0"/>
                        <a:ea typeface="Calibri" charset="0"/>
                        <a:cs typeface="Calibri" charset="0"/>
                      </a:endParaRPr>
                    </a:p>
                    <a:p>
                      <a:pPr marL="0" indent="0" algn="ctr">
                        <a:buNone/>
                      </a:pPr>
                      <a:r>
                        <a:rPr lang="en-US" sz="1050" b="1" dirty="0">
                          <a:solidFill>
                            <a:srgbClr val="FFFFFF"/>
                          </a:solidFill>
                          <a:latin typeface="Calibri" pitchFamily="34" charset="0"/>
                          <a:ea typeface="Calibri" pitchFamily="34" charset="-122"/>
                          <a:cs typeface="Calibri" pitchFamily="34" charset="-120"/>
                        </a:rPr>
                        <a:t>02/11–08/11</a:t>
                      </a:r>
                      <a:endParaRPr lang="en-US" sz="10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D3A63"/>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S14</a:t>
                      </a:r>
                      <a:endParaRPr lang="en-US" sz="1050" dirty="0">
                        <a:latin typeface="Calibri" charset="0"/>
                        <a:ea typeface="Calibri" charset="0"/>
                        <a:cs typeface="Calibri" charset="0"/>
                      </a:endParaRPr>
                    </a:p>
                    <a:p>
                      <a:pPr marL="0" indent="0" algn="ctr">
                        <a:buNone/>
                      </a:pPr>
                      <a:r>
                        <a:rPr lang="en-US" sz="1050" b="1" dirty="0">
                          <a:solidFill>
                            <a:srgbClr val="FFFFFF"/>
                          </a:solidFill>
                          <a:latin typeface="Calibri" pitchFamily="34" charset="0"/>
                          <a:ea typeface="Calibri" pitchFamily="34" charset="-122"/>
                          <a:cs typeface="Calibri" pitchFamily="34" charset="-120"/>
                        </a:rPr>
                        <a:t>09/11–15/11</a:t>
                      </a:r>
                      <a:endParaRPr lang="en-US" sz="10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D3A63"/>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S15</a:t>
                      </a:r>
                      <a:endParaRPr lang="en-US" sz="1050" dirty="0">
                        <a:latin typeface="Calibri" charset="0"/>
                        <a:ea typeface="Calibri" charset="0"/>
                        <a:cs typeface="Calibri" charset="0"/>
                      </a:endParaRPr>
                    </a:p>
                    <a:p>
                      <a:pPr marL="0" indent="0" algn="ctr">
                        <a:buNone/>
                      </a:pPr>
                      <a:r>
                        <a:rPr lang="en-US" sz="1050" b="1" dirty="0">
                          <a:solidFill>
                            <a:srgbClr val="FFFFFF"/>
                          </a:solidFill>
                          <a:latin typeface="Calibri" pitchFamily="34" charset="0"/>
                          <a:ea typeface="Calibri" pitchFamily="34" charset="-122"/>
                          <a:cs typeface="Calibri" pitchFamily="34" charset="-120"/>
                        </a:rPr>
                        <a:t>16/11–22/11</a:t>
                      </a:r>
                      <a:endParaRPr lang="en-US" sz="10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D3A63"/>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S16</a:t>
                      </a:r>
                      <a:endParaRPr lang="en-US" sz="1050" dirty="0">
                        <a:latin typeface="Calibri" charset="0"/>
                        <a:ea typeface="Calibri" charset="0"/>
                        <a:cs typeface="Calibri" charset="0"/>
                      </a:endParaRPr>
                    </a:p>
                    <a:p>
                      <a:pPr marL="0" indent="0" algn="ctr">
                        <a:buNone/>
                      </a:pPr>
                      <a:r>
                        <a:rPr lang="en-US" sz="1050" b="1" dirty="0">
                          <a:solidFill>
                            <a:srgbClr val="FFFFFF"/>
                          </a:solidFill>
                          <a:latin typeface="Calibri" pitchFamily="34" charset="0"/>
                          <a:ea typeface="Calibri" pitchFamily="34" charset="-122"/>
                          <a:cs typeface="Calibri" pitchFamily="34" charset="-120"/>
                        </a:rPr>
                        <a:t>23/11–29/11</a:t>
                      </a:r>
                      <a:endParaRPr lang="en-US" sz="10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D3A63"/>
                    </a:solidFill>
                  </a:tcPr>
                </a:tc>
                <a:extLst>
                  <a:ext uri="{0D108BD9-81ED-4DB2-BD59-A6C34878D82A}">
                    <a16:rowId xmlns:a16="http://schemas.microsoft.com/office/drawing/2014/main" val="10000"/>
                  </a:ext>
                </a:extLst>
              </a:tr>
              <a:tr h="475488">
                <a:tc>
                  <a:txBody>
                    <a:bodyPr/>
                    <a:lstStyle/>
                    <a:p>
                      <a:pPr marL="0" indent="0">
                        <a:buNone/>
                      </a:pPr>
                      <a:r>
                        <a:rPr lang="en-US" sz="1100" b="1" dirty="0">
                          <a:solidFill>
                            <a:srgbClr val="1E2430"/>
                          </a:solidFill>
                          <a:latin typeface="Calibri" pitchFamily="34" charset="0"/>
                          <a:ea typeface="Calibri" pitchFamily="34" charset="-122"/>
                          <a:cs typeface="Calibri" pitchFamily="34" charset="-120"/>
                        </a:rPr>
                        <a:t>Planificación y control</a:t>
                      </a:r>
                      <a:endParaRPr lang="en-US" sz="110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EEF1F5"/>
                    </a:solidFill>
                  </a:tcPr>
                </a:tc>
                <a:tc>
                  <a:txBody>
                    <a:bodyPr/>
                    <a:lstStyle/>
                    <a:p>
                      <a:pPr marL="0" indent="0" algn="ctr">
                        <a:buNone/>
                      </a:pPr>
                      <a:r>
                        <a:rPr lang="en-US" sz="950" b="1" dirty="0">
                          <a:solidFill>
                            <a:srgbClr val="1E2430"/>
                          </a:solidFill>
                          <a:latin typeface="Calibri" pitchFamily="34" charset="0"/>
                          <a:ea typeface="Calibri" pitchFamily="34" charset="-122"/>
                          <a:cs typeface="Calibri" pitchFamily="34" charset="-120"/>
                        </a:rPr>
                        <a:t>Roadmap y riesgos actualizados</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B5762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Control semanal y de cambios</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Control semanal y de cambios</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Control semanal y de cambios</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Control semanal</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Cierre administrativo</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extLst>
                  <a:ext uri="{0D108BD9-81ED-4DB2-BD59-A6C34878D82A}">
                    <a16:rowId xmlns:a16="http://schemas.microsoft.com/office/drawing/2014/main" val="10001"/>
                  </a:ext>
                </a:extLst>
              </a:tr>
              <a:tr h="475488">
                <a:tc>
                  <a:txBody>
                    <a:bodyPr/>
                    <a:lstStyle/>
                    <a:p>
                      <a:pPr marL="0" indent="0">
                        <a:buNone/>
                      </a:pPr>
                      <a:r>
                        <a:rPr lang="en-US" sz="1100" b="1" dirty="0">
                          <a:solidFill>
                            <a:srgbClr val="1E2430"/>
                          </a:solidFill>
                          <a:latin typeface="Calibri" pitchFamily="34" charset="0"/>
                          <a:ea typeface="Calibri" pitchFamily="34" charset="-122"/>
                          <a:cs typeface="Calibri" pitchFamily="34" charset="-120"/>
                        </a:rPr>
                        <a:t>Diseño</a:t>
                      </a:r>
                      <a:endParaRPr lang="en-US" sz="110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EEF1F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Modelo v1.2 (tabla resena) · DAS 3.2</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2F855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Diagramas según cambios aprobados</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buNone/>
                      </a:pPr>
                      <a:r>
                        <a:rPr lang="en-US" sz="1100" b="1" dirty="0">
                          <a:solidFill>
                            <a:srgbClr val="1E2430"/>
                          </a:solidFill>
                          <a:latin typeface="Calibri" pitchFamily="34" charset="0"/>
                          <a:ea typeface="Calibri" pitchFamily="34" charset="-122"/>
                          <a:cs typeface="Calibri" pitchFamily="34" charset="-120"/>
                        </a:rPr>
                        <a:t>Desarrollo</a:t>
                      </a:r>
                      <a:endParaRPr lang="en-US" sz="110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EEF1F5"/>
                    </a:solidFill>
                  </a:tcPr>
                </a:tc>
                <a:tc>
                  <a:txBody>
                    <a:bodyPr/>
                    <a:lstStyle/>
                    <a:p>
                      <a:pPr marL="0" indent="0" algn="ctr">
                        <a:buNone/>
                      </a:pPr>
                      <a:r>
                        <a:rPr lang="en-US" sz="950" b="1" dirty="0">
                          <a:solidFill>
                            <a:srgbClr val="1E2430"/>
                          </a:solidFill>
                          <a:latin typeface="Calibri" pitchFamily="34" charset="0"/>
                          <a:ea typeface="Calibri" pitchFamily="34" charset="-122"/>
                          <a:cs typeface="Calibri" pitchFamily="34" charset="-120"/>
                        </a:rPr>
                        <a:t>API de 13 operaciones · web y app sobre la BD real</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B5762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Webpay · fila por orden de llegada · «Mis datos» · cuentas del personal · H6 (30-10)</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Correcciones de las pruebas</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Correcciones del UAT</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Ajustes menores</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100" b="1" dirty="0">
                          <a:solidFill>
                            <a:srgbClr val="1E2430"/>
                          </a:solidFill>
                          <a:latin typeface="Calibri" pitchFamily="34" charset="0"/>
                          <a:ea typeface="Calibri" pitchFamily="34" charset="-122"/>
                          <a:cs typeface="Calibri" pitchFamily="34" charset="-120"/>
                        </a:rPr>
                        <a:t>Pruebas / QA</a:t>
                      </a:r>
                      <a:endParaRPr lang="en-US" sz="110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EEF1F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BD 24/24 · API 17/17 · plan de pruebas</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2F855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Funcionales e integración</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Seguridad y privacidad</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Pruebas en el ambiente UAT</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Regresión</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100" b="1" dirty="0">
                          <a:solidFill>
                            <a:srgbClr val="1E2430"/>
                          </a:solidFill>
                          <a:latin typeface="Calibri" pitchFamily="34" charset="0"/>
                          <a:ea typeface="Calibri" pitchFamily="34" charset="-122"/>
                          <a:cs typeface="Calibri" pitchFamily="34" charset="-120"/>
                        </a:rPr>
                        <a:t>Despliegue</a:t>
                      </a:r>
                      <a:endParaRPr lang="en-US" sz="110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EEF1F5"/>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Ambiente UAT: hosting web, dominio y HTTPS</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Despliegue en UAT · APK firmada</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Paso al ambiente UAT (H7, 10-11)</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100" b="1" dirty="0">
                          <a:solidFill>
                            <a:srgbClr val="1E2430"/>
                          </a:solidFill>
                          <a:latin typeface="Calibri" pitchFamily="34" charset="0"/>
                          <a:ea typeface="Calibri" pitchFamily="34" charset="-122"/>
                          <a:cs typeface="Calibri" pitchFamily="34" charset="-120"/>
                        </a:rPr>
                        <a:t>Presentación final</a:t>
                      </a:r>
                      <a:endParaRPr lang="en-US" sz="110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EEF1F5"/>
                    </a:solidFill>
                  </a:tcPr>
                </a:tc>
                <a:tc>
                  <a:txBody>
                    <a:bodyPr/>
                    <a:lstStyle/>
                    <a:p>
                      <a:pPr marL="0" indent="0" algn="ctr">
                        <a:buNone/>
                      </a:pPr>
                      <a:r>
                        <a:rPr lang="en-US" sz="950" b="1" dirty="0">
                          <a:solidFill>
                            <a:srgbClr val="1E2430"/>
                          </a:solidFill>
                          <a:latin typeface="Calibri" pitchFamily="34" charset="0"/>
                          <a:ea typeface="Calibri" pitchFamily="34" charset="-122"/>
                          <a:cs typeface="Calibri" pitchFamily="34" charset="-120"/>
                        </a:rPr>
                        <a:t>Presentación de avance (H5, 23-10)</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B5762A"/>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Informe final y manual de usuario</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Entrega final (H8, 13-11)</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Ensayo de la defensa</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Defensa (H9, 27-11)</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extLst>
                  <a:ext uri="{0D108BD9-81ED-4DB2-BD59-A6C34878D82A}">
                    <a16:rowId xmlns:a16="http://schemas.microsoft.com/office/drawing/2014/main" val="10006"/>
                  </a:ext>
                </a:extLst>
              </a:tr>
            </a:tbl>
          </a:graphicData>
        </a:graphic>
      </p:graphicFrame>
      <p:sp>
        <p:nvSpPr>
          <p:cNvPr id="6" name="Shape 3"/>
          <p:cNvSpPr/>
          <p:nvPr/>
        </p:nvSpPr>
        <p:spPr>
          <a:xfrm>
            <a:off x="548640" y="6053328"/>
            <a:ext cx="201168" cy="164592"/>
          </a:xfrm>
          <a:prstGeom prst="rect">
            <a:avLst/>
          </a:prstGeom>
          <a:solidFill>
            <a:srgbClr val="2F855A"/>
          </a:solidFill>
          <a:ln w="12700">
            <a:solidFill>
              <a:srgbClr val="2F855A"/>
            </a:solidFill>
            <a:prstDash val="solid"/>
          </a:ln>
        </p:spPr>
        <p:txBody>
          <a:bodyPr/>
          <a:lstStyle/>
          <a:p>
            <a:endParaRPr lang="es-CL"/>
          </a:p>
        </p:txBody>
      </p:sp>
      <p:sp>
        <p:nvSpPr>
          <p:cNvPr id="7" name="Text 4"/>
          <p:cNvSpPr txBox="1"/>
          <p:nvPr/>
        </p:nvSpPr>
        <p:spPr>
          <a:xfrm>
            <a:off x="822960" y="6007608"/>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Realizado</a:t>
            </a:r>
            <a:endParaRPr lang="en-US" sz="1050" dirty="0"/>
          </a:p>
        </p:txBody>
      </p:sp>
      <p:sp>
        <p:nvSpPr>
          <p:cNvPr id="8" name="Shape 5"/>
          <p:cNvSpPr/>
          <p:nvPr/>
        </p:nvSpPr>
        <p:spPr>
          <a:xfrm>
            <a:off x="2286000" y="6053328"/>
            <a:ext cx="201168" cy="164592"/>
          </a:xfrm>
          <a:prstGeom prst="rect">
            <a:avLst/>
          </a:prstGeom>
          <a:solidFill>
            <a:srgbClr val="B5762A"/>
          </a:solidFill>
          <a:ln w="12700">
            <a:solidFill>
              <a:srgbClr val="B5762A"/>
            </a:solidFill>
            <a:prstDash val="solid"/>
          </a:ln>
        </p:spPr>
        <p:txBody>
          <a:bodyPr/>
          <a:lstStyle/>
          <a:p>
            <a:endParaRPr lang="es-CL"/>
          </a:p>
        </p:txBody>
      </p:sp>
      <p:sp>
        <p:nvSpPr>
          <p:cNvPr id="9" name="Text 6"/>
          <p:cNvSpPr txBox="1"/>
          <p:nvPr/>
        </p:nvSpPr>
        <p:spPr>
          <a:xfrm>
            <a:off x="2560320" y="6007608"/>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En progreso</a:t>
            </a:r>
            <a:endParaRPr lang="en-US" sz="1050" dirty="0"/>
          </a:p>
        </p:txBody>
      </p:sp>
      <p:sp>
        <p:nvSpPr>
          <p:cNvPr id="10" name="Shape 7"/>
          <p:cNvSpPr/>
          <p:nvPr/>
        </p:nvSpPr>
        <p:spPr>
          <a:xfrm>
            <a:off x="4023360" y="6053328"/>
            <a:ext cx="201168" cy="164592"/>
          </a:xfrm>
          <a:prstGeom prst="rect">
            <a:avLst/>
          </a:prstGeom>
          <a:solidFill>
            <a:srgbClr val="13294B"/>
          </a:solidFill>
          <a:ln w="12700">
            <a:solidFill>
              <a:srgbClr val="13294B"/>
            </a:solidFill>
            <a:prstDash val="solid"/>
          </a:ln>
        </p:spPr>
        <p:txBody>
          <a:bodyPr/>
          <a:lstStyle/>
          <a:p>
            <a:endParaRPr lang="es-CL"/>
          </a:p>
        </p:txBody>
      </p:sp>
      <p:sp>
        <p:nvSpPr>
          <p:cNvPr id="11" name="Text 8"/>
          <p:cNvSpPr txBox="1"/>
          <p:nvPr/>
        </p:nvSpPr>
        <p:spPr>
          <a:xfrm>
            <a:off x="4297680" y="6007608"/>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Planificado</a:t>
            </a:r>
            <a:endParaRPr lang="en-US" sz="1050" dirty="0"/>
          </a:p>
        </p:txBody>
      </p:sp>
      <p:sp>
        <p:nvSpPr>
          <p:cNvPr id="12" name="Text 9"/>
          <p:cNvSpPr txBox="1"/>
          <p:nvPr/>
        </p:nvSpPr>
        <p:spPr>
          <a:xfrm>
            <a:off x="5852160" y="6007608"/>
            <a:ext cx="5760720" cy="256032"/>
          </a:xfrm>
          <a:prstGeom prst="rect">
            <a:avLst/>
          </a:prstGeom>
          <a:noFill/>
          <a:ln/>
        </p:spPr>
        <p:txBody>
          <a:bodyPr wrap="square" lIns="0" tIns="0" rIns="0" bIns="0" rtlCol="0" anchor="ctr"/>
          <a:lstStyle/>
          <a:p>
            <a:pPr marL="0" indent="0" algn="r">
              <a:buNone/>
            </a:pPr>
            <a:r>
              <a:rPr lang="en-US" sz="1050" i="1" dirty="0">
                <a:solidFill>
                  <a:srgbClr val="B83A3A"/>
                </a:solidFill>
                <a:latin typeface="Calibri" pitchFamily="34" charset="0"/>
                <a:ea typeface="Calibri" pitchFamily="34" charset="-122"/>
                <a:cs typeface="Calibri" pitchFamily="34" charset="-120"/>
              </a:rPr>
              <a:t>Webpay, fila y «Mis datos» venían de S11 (atrasados) y se recuperan en S12.</a:t>
            </a:r>
            <a:endParaRPr lang="en-US" sz="105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AVANCE A LA FECHA</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Lo planificado hasta esta semana y lo logrado</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Comparación del plan semanal (presentado el 09-10) con el estado real al 23-10-2026.</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4215384"/>
        </p:xfrm>
        <a:graphic>
          <a:graphicData uri="http://schemas.openxmlformats.org/drawingml/2006/table">
            <a:tbl>
              <a:tblPr/>
              <a:tblGrid>
                <a:gridCol w="105156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Semana</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Planificado</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Logrado al 23-10</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Estado</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566928">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S1–S4</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Inicio: Acta, ERS, kick-off, EDT y planes (H1, 04-09)</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Fase 1 cerrada (04-09)</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Cumplido</a:t>
                      </a:r>
                      <a:endParaRPr lang="en-US" sz="110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2F855A"/>
                    </a:solidFill>
                  </a:tcPr>
                </a:tc>
                <a:extLst>
                  <a:ext uri="{0D108BD9-81ED-4DB2-BD59-A6C34878D82A}">
                    <a16:rowId xmlns:a16="http://schemas.microsoft.com/office/drawing/2014/main" val="10001"/>
                  </a:ext>
                </a:extLst>
              </a:tr>
              <a:tr h="566928">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S5–S8</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Diseño UX/UI, arquitectura 4+1 y prototipos web y app (H2, 11-09)</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Prototipos funcionales (01-10) y 35 diagramas</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Cumplido</a:t>
                      </a:r>
                      <a:endParaRPr lang="en-US" sz="110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2F855A"/>
                    </a:solidFill>
                  </a:tcPr>
                </a:tc>
                <a:extLst>
                  <a:ext uri="{0D108BD9-81ED-4DB2-BD59-A6C34878D82A}">
                    <a16:rowId xmlns:a16="http://schemas.microsoft.com/office/drawing/2014/main" val="10002"/>
                  </a:ext>
                </a:extLst>
              </a:tr>
              <a:tr h="640080">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S9</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Cerrar la documentación de diseño; roadmap y matriz de riesgos</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Documentación de diseño, roadmap y riesgos presentados (09-10)</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Cumplido</a:t>
                      </a:r>
                      <a:endParaRPr lang="en-US" sz="110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2F855A"/>
                    </a:solidFill>
                  </a:tcPr>
                </a:tc>
                <a:extLst>
                  <a:ext uri="{0D108BD9-81ED-4DB2-BD59-A6C34878D82A}">
                    <a16:rowId xmlns:a16="http://schemas.microsoft.com/office/drawing/2014/main" val="10003"/>
                  </a:ext>
                </a:extLst>
              </a:tr>
              <a:tr h="640080">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S10</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Aprobar el diseño (H3, H4) e iniciar la API y la migración a PostgreSQL</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Fase 2 cerrada (18-10); base de datos en Supabase con 22/22 pruebas (20-10)</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Cumplido</a:t>
                      </a:r>
                      <a:endParaRPr lang="en-US" sz="110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2F855A"/>
                    </a:solidFill>
                  </a:tcPr>
                </a:tc>
                <a:extLst>
                  <a:ext uri="{0D108BD9-81ED-4DB2-BD59-A6C34878D82A}">
                    <a16:rowId xmlns:a16="http://schemas.microsoft.com/office/drawing/2014/main" val="10004"/>
                  </a:ext>
                </a:extLst>
              </a:tr>
              <a:tr h="777240">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S11</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API de reservas, abono y turnos; Webpay; «Mis datos»; plan y casos de prueba; presentación (H5)</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API de 13 operaciones; web y app sobre el modelo relacional; reservas, reagendamiento, anulación y reseñas; plan de pruebas (77 + 24)</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Parcial</a:t>
                      </a:r>
                      <a:endParaRPr lang="en-US" sz="110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extLst>
                  <a:ext uri="{0D108BD9-81ED-4DB2-BD59-A6C34878D82A}">
                    <a16:rowId xmlns:a16="http://schemas.microsoft.com/office/drawing/2014/main" val="10005"/>
                  </a:ext>
                </a:extLst>
              </a:tr>
              <a:tr h="640080">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S11 → S12</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Pago real con Webpay, fila por orden de llegada y «Mis datos»</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Pendientes: se integran antes del sistema integrado (H6, 30-10)</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Atrasado</a:t>
                      </a:r>
                      <a:endParaRPr lang="en-US" sz="110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83A3A"/>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DISEÑO · ARQUITECTURA</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Arquitectura: modelo de vistas 4+1</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Modelo 4+1 (Kruchten, 1995) en notación UML (Object Management Group [OMG], 2017). 35 diagramas documentados en el DAS v3.2.</a:t>
            </a:r>
            <a:endParaRPr lang="en-US" sz="1250" dirty="0"/>
          </a:p>
        </p:txBody>
      </p:sp>
      <p:sp>
        <p:nvSpPr>
          <p:cNvPr id="5" name="Shape 3"/>
          <p:cNvSpPr/>
          <p:nvPr/>
        </p:nvSpPr>
        <p:spPr>
          <a:xfrm>
            <a:off x="548640" y="1783080"/>
            <a:ext cx="2103120" cy="4434840"/>
          </a:xfrm>
          <a:prstGeom prst="rect">
            <a:avLst/>
          </a:prstGeom>
          <a:solidFill>
            <a:srgbClr val="FFFFFF"/>
          </a:solidFill>
          <a:ln w="9525">
            <a:solidFill>
              <a:srgbClr val="D7DCE3"/>
            </a:solidFill>
            <a:prstDash val="solid"/>
          </a:ln>
        </p:spPr>
        <p:txBody>
          <a:bodyPr/>
          <a:lstStyle/>
          <a:p>
            <a:endParaRPr lang="es-CL"/>
          </a:p>
        </p:txBody>
      </p:sp>
      <p:sp>
        <p:nvSpPr>
          <p:cNvPr id="6" name="Text 4"/>
          <p:cNvSpPr txBox="1"/>
          <p:nvPr/>
        </p:nvSpPr>
        <p:spPr>
          <a:xfrm>
            <a:off x="68580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Lógica</a:t>
            </a:r>
            <a:endParaRPr lang="en-US" sz="1400" dirty="0"/>
          </a:p>
        </p:txBody>
      </p:sp>
      <p:pic>
        <p:nvPicPr>
          <p:cNvPr id="7" name="Image 0" descr="C:/Users/User/Desktop/informatica/8°_Semestre/Diagramas/png/DIAG-02_Vista_logica_modelo_de_clases_del_dominio.png"/>
          <p:cNvPicPr>
            <a:picLocks noChangeAspect="1"/>
          </p:cNvPicPr>
          <p:nvPr/>
        </p:nvPicPr>
        <p:blipFill>
          <a:blip r:embed="rId3"/>
          <a:srcRect/>
          <a:stretch/>
        </p:blipFill>
        <p:spPr>
          <a:xfrm>
            <a:off x="658368" y="2331720"/>
            <a:ext cx="1883664" cy="2377440"/>
          </a:xfrm>
          <a:prstGeom prst="rect">
            <a:avLst/>
          </a:prstGeom>
        </p:spPr>
      </p:pic>
      <p:sp>
        <p:nvSpPr>
          <p:cNvPr id="8" name="Text 5"/>
          <p:cNvSpPr txBox="1"/>
          <p:nvPr/>
        </p:nvSpPr>
        <p:spPr>
          <a:xfrm>
            <a:off x="68580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Modelo de clases del dominio y capas (DIAG-01, DIAG-02)</a:t>
            </a:r>
            <a:endParaRPr lang="en-US" sz="1100" dirty="0"/>
          </a:p>
        </p:txBody>
      </p:sp>
      <p:sp>
        <p:nvSpPr>
          <p:cNvPr id="9" name="Shape 6"/>
          <p:cNvSpPr/>
          <p:nvPr/>
        </p:nvSpPr>
        <p:spPr>
          <a:xfrm>
            <a:off x="2788920" y="1783080"/>
            <a:ext cx="2103120" cy="4434840"/>
          </a:xfrm>
          <a:prstGeom prst="rect">
            <a:avLst/>
          </a:prstGeom>
          <a:solidFill>
            <a:srgbClr val="FFFFFF"/>
          </a:solidFill>
          <a:ln w="9525">
            <a:solidFill>
              <a:srgbClr val="D7DCE3"/>
            </a:solidFill>
            <a:prstDash val="solid"/>
          </a:ln>
        </p:spPr>
        <p:txBody>
          <a:bodyPr/>
          <a:lstStyle/>
          <a:p>
            <a:endParaRPr lang="es-CL"/>
          </a:p>
        </p:txBody>
      </p:sp>
      <p:sp>
        <p:nvSpPr>
          <p:cNvPr id="10" name="Text 7"/>
          <p:cNvSpPr txBox="1"/>
          <p:nvPr/>
        </p:nvSpPr>
        <p:spPr>
          <a:xfrm>
            <a:off x="292608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Procesos</a:t>
            </a:r>
            <a:endParaRPr lang="en-US" sz="1400" dirty="0"/>
          </a:p>
        </p:txBody>
      </p:sp>
      <p:pic>
        <p:nvPicPr>
          <p:cNvPr id="11" name="Image 1" descr="C:/Users/User/Desktop/informatica/8°_Semestre/Diagramas/png/DIAG-03_Vista_de_procesos_secuencia_de_reserva_con_abono.png"/>
          <p:cNvPicPr>
            <a:picLocks noChangeAspect="1"/>
          </p:cNvPicPr>
          <p:nvPr/>
        </p:nvPicPr>
        <p:blipFill>
          <a:blip r:embed="rId4"/>
          <a:srcRect/>
          <a:stretch/>
        </p:blipFill>
        <p:spPr>
          <a:xfrm>
            <a:off x="2898648" y="2331720"/>
            <a:ext cx="1883664" cy="2377440"/>
          </a:xfrm>
          <a:prstGeom prst="rect">
            <a:avLst/>
          </a:prstGeom>
        </p:spPr>
      </p:pic>
      <p:sp>
        <p:nvSpPr>
          <p:cNvPr id="12" name="Text 8"/>
          <p:cNvSpPr txBox="1"/>
          <p:nvPr/>
        </p:nvSpPr>
        <p:spPr>
          <a:xfrm>
            <a:off x="292608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Secuencias de reserva con abono, atención y cancelación (DIAG-03 a 11, 35)</a:t>
            </a:r>
            <a:endParaRPr lang="en-US" sz="1100" dirty="0"/>
          </a:p>
        </p:txBody>
      </p:sp>
      <p:sp>
        <p:nvSpPr>
          <p:cNvPr id="13" name="Shape 9"/>
          <p:cNvSpPr/>
          <p:nvPr/>
        </p:nvSpPr>
        <p:spPr>
          <a:xfrm>
            <a:off x="5029200" y="1783080"/>
            <a:ext cx="2103120" cy="4434840"/>
          </a:xfrm>
          <a:prstGeom prst="rect">
            <a:avLst/>
          </a:prstGeom>
          <a:solidFill>
            <a:srgbClr val="FFFFFF"/>
          </a:solidFill>
          <a:ln w="9525">
            <a:solidFill>
              <a:srgbClr val="D7DCE3"/>
            </a:solidFill>
            <a:prstDash val="solid"/>
          </a:ln>
        </p:spPr>
        <p:txBody>
          <a:bodyPr/>
          <a:lstStyle/>
          <a:p>
            <a:endParaRPr lang="es-CL"/>
          </a:p>
        </p:txBody>
      </p:sp>
      <p:sp>
        <p:nvSpPr>
          <p:cNvPr id="14" name="Text 10"/>
          <p:cNvSpPr txBox="1"/>
          <p:nvPr/>
        </p:nvSpPr>
        <p:spPr>
          <a:xfrm>
            <a:off x="516636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Desarrollo</a:t>
            </a:r>
            <a:endParaRPr lang="en-US" sz="1400" dirty="0"/>
          </a:p>
        </p:txBody>
      </p:sp>
      <p:pic>
        <p:nvPicPr>
          <p:cNvPr id="15" name="Image 2" descr="C:/Users/User/Desktop/informatica/8°_Semestre/Diagramas/png/DIAG-12_Vista_de_desarrollo_componentes_y_modulos.png"/>
          <p:cNvPicPr>
            <a:picLocks noChangeAspect="1"/>
          </p:cNvPicPr>
          <p:nvPr/>
        </p:nvPicPr>
        <p:blipFill>
          <a:blip r:embed="rId5"/>
          <a:srcRect/>
          <a:stretch/>
        </p:blipFill>
        <p:spPr>
          <a:xfrm>
            <a:off x="5138928" y="2331720"/>
            <a:ext cx="1883664" cy="2377440"/>
          </a:xfrm>
          <a:prstGeom prst="rect">
            <a:avLst/>
          </a:prstGeom>
        </p:spPr>
      </p:pic>
      <p:sp>
        <p:nvSpPr>
          <p:cNvPr id="16" name="Text 11"/>
          <p:cNvSpPr txBox="1"/>
          <p:nvPr/>
        </p:nvSpPr>
        <p:spPr>
          <a:xfrm>
            <a:off x="516636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Componentes: web React, app Android (MVVM), API REST y PostgreSQL (DIAG-12)</a:t>
            </a:r>
            <a:endParaRPr lang="en-US" sz="1100" dirty="0"/>
          </a:p>
        </p:txBody>
      </p:sp>
      <p:sp>
        <p:nvSpPr>
          <p:cNvPr id="17" name="Shape 12"/>
          <p:cNvSpPr/>
          <p:nvPr/>
        </p:nvSpPr>
        <p:spPr>
          <a:xfrm>
            <a:off x="7269480" y="1783080"/>
            <a:ext cx="2103120" cy="4434840"/>
          </a:xfrm>
          <a:prstGeom prst="rect">
            <a:avLst/>
          </a:prstGeom>
          <a:solidFill>
            <a:srgbClr val="FFFFFF"/>
          </a:solidFill>
          <a:ln w="9525">
            <a:solidFill>
              <a:srgbClr val="D7DCE3"/>
            </a:solidFill>
            <a:prstDash val="solid"/>
          </a:ln>
        </p:spPr>
        <p:txBody>
          <a:bodyPr/>
          <a:lstStyle/>
          <a:p>
            <a:endParaRPr lang="es-CL"/>
          </a:p>
        </p:txBody>
      </p:sp>
      <p:sp>
        <p:nvSpPr>
          <p:cNvPr id="18" name="Text 13"/>
          <p:cNvSpPr txBox="1"/>
          <p:nvPr/>
        </p:nvSpPr>
        <p:spPr>
          <a:xfrm>
            <a:off x="740664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Física</a:t>
            </a:r>
            <a:endParaRPr lang="en-US" sz="1400" dirty="0"/>
          </a:p>
        </p:txBody>
      </p:sp>
      <p:pic>
        <p:nvPicPr>
          <p:cNvPr id="19" name="Image 3" descr="C:/Users/User/Desktop/informatica/8°_Semestre/Diagramas/png/DIAG-13_Vista_fisica_despliegue_actual_3_sucursales.png"/>
          <p:cNvPicPr>
            <a:picLocks noChangeAspect="1"/>
          </p:cNvPicPr>
          <p:nvPr/>
        </p:nvPicPr>
        <p:blipFill>
          <a:blip r:embed="rId6"/>
          <a:srcRect/>
          <a:stretch/>
        </p:blipFill>
        <p:spPr>
          <a:xfrm>
            <a:off x="7379208" y="2331720"/>
            <a:ext cx="1883664" cy="2377440"/>
          </a:xfrm>
          <a:prstGeom prst="rect">
            <a:avLst/>
          </a:prstGeom>
        </p:spPr>
      </p:pic>
      <p:sp>
        <p:nvSpPr>
          <p:cNvPr id="20" name="Text 14"/>
          <p:cNvSpPr txBox="1"/>
          <p:nvPr/>
        </p:nvSpPr>
        <p:spPr>
          <a:xfrm>
            <a:off x="740664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Despliegue actual: API y base de datos en Supabase; 3 sucursales (DIAG-13, 14)</a:t>
            </a:r>
            <a:endParaRPr lang="en-US" sz="1100" dirty="0"/>
          </a:p>
        </p:txBody>
      </p:sp>
      <p:sp>
        <p:nvSpPr>
          <p:cNvPr id="21" name="Shape 15"/>
          <p:cNvSpPr/>
          <p:nvPr/>
        </p:nvSpPr>
        <p:spPr>
          <a:xfrm>
            <a:off x="9509760" y="1783080"/>
            <a:ext cx="2103120" cy="4434840"/>
          </a:xfrm>
          <a:prstGeom prst="rect">
            <a:avLst/>
          </a:prstGeom>
          <a:solidFill>
            <a:srgbClr val="EEF1F5"/>
          </a:solidFill>
          <a:ln w="9525">
            <a:solidFill>
              <a:srgbClr val="D7DCE3"/>
            </a:solidFill>
            <a:prstDash val="solid"/>
          </a:ln>
        </p:spPr>
        <p:txBody>
          <a:bodyPr/>
          <a:lstStyle/>
          <a:p>
            <a:endParaRPr lang="es-CL"/>
          </a:p>
        </p:txBody>
      </p:sp>
      <p:sp>
        <p:nvSpPr>
          <p:cNvPr id="22" name="Text 16"/>
          <p:cNvSpPr txBox="1"/>
          <p:nvPr/>
        </p:nvSpPr>
        <p:spPr>
          <a:xfrm>
            <a:off x="964692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Escenarios (+1)</a:t>
            </a:r>
            <a:endParaRPr lang="en-US" sz="1400" dirty="0"/>
          </a:p>
        </p:txBody>
      </p:sp>
      <p:pic>
        <p:nvPicPr>
          <p:cNvPr id="23" name="Image 4" descr="C:/Users/User/Desktop/informatica/8°_Semestre/Diagramas/png/DIAG-15_Vista_de_escenarios_diagrama_general_de_casos_de_uso.png"/>
          <p:cNvPicPr>
            <a:picLocks noChangeAspect="1"/>
          </p:cNvPicPr>
          <p:nvPr/>
        </p:nvPicPr>
        <p:blipFill>
          <a:blip r:embed="rId7"/>
          <a:srcRect/>
          <a:stretch/>
        </p:blipFill>
        <p:spPr>
          <a:xfrm>
            <a:off x="9619488" y="2331720"/>
            <a:ext cx="1883664" cy="2377440"/>
          </a:xfrm>
          <a:prstGeom prst="rect">
            <a:avLst/>
          </a:prstGeom>
        </p:spPr>
      </p:pic>
      <p:sp>
        <p:nvSpPr>
          <p:cNvPr id="24" name="Text 17"/>
          <p:cNvSpPr txBox="1"/>
          <p:nvPr/>
        </p:nvSpPr>
        <p:spPr>
          <a:xfrm>
            <a:off x="964692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41 casos de uso con 5 actores y 2 sistemas externos (DIAG-15 a 22)</a:t>
            </a:r>
            <a:endParaRPr lang="en-US" sz="11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DISEÑO · VISTA DE ESCENARIOS</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Casos de uso: 41 casos en 7 módulos</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Especificados en el documento 17 con flujo principal, alternativos, reglas de negocio y trazabilidad a los RF.</a:t>
            </a:r>
            <a:endParaRPr lang="en-US" sz="1250" dirty="0"/>
          </a:p>
        </p:txBody>
      </p:sp>
      <p:sp>
        <p:nvSpPr>
          <p:cNvPr id="5" name="Shape 3"/>
          <p:cNvSpPr/>
          <p:nvPr/>
        </p:nvSpPr>
        <p:spPr>
          <a:xfrm>
            <a:off x="548640" y="1737360"/>
            <a:ext cx="4251960" cy="3749040"/>
          </a:xfrm>
          <a:prstGeom prst="rect">
            <a:avLst/>
          </a:prstGeom>
          <a:solidFill>
            <a:srgbClr val="FFFFFF"/>
          </a:solidFill>
          <a:ln w="9525">
            <a:solidFill>
              <a:srgbClr val="D7DCE3"/>
            </a:solidFill>
            <a:prstDash val="solid"/>
          </a:ln>
        </p:spPr>
        <p:txBody>
          <a:bodyPr/>
          <a:lstStyle/>
          <a:p>
            <a:endParaRPr lang="es-CL"/>
          </a:p>
        </p:txBody>
      </p:sp>
      <p:pic>
        <p:nvPicPr>
          <p:cNvPr id="6" name="Image 0" descr="C:/Users/User/Desktop/informatica/8°_Semestre/Diagramas/png/DIAG-15_Vista_de_escenarios_diagrama_general_de_casos_de_uso.png"/>
          <p:cNvPicPr>
            <a:picLocks noChangeAspect="1"/>
          </p:cNvPicPr>
          <p:nvPr/>
        </p:nvPicPr>
        <p:blipFill>
          <a:blip r:embed="rId3"/>
          <a:srcRect/>
          <a:stretch/>
        </p:blipFill>
        <p:spPr>
          <a:xfrm>
            <a:off x="594360" y="1783080"/>
            <a:ext cx="4160520" cy="3657600"/>
          </a:xfrm>
          <a:prstGeom prst="rect">
            <a:avLst/>
          </a:prstGeom>
        </p:spPr>
      </p:pic>
      <p:sp>
        <p:nvSpPr>
          <p:cNvPr id="7" name="Text 4"/>
          <p:cNvSpPr txBox="1"/>
          <p:nvPr/>
        </p:nvSpPr>
        <p:spPr>
          <a:xfrm>
            <a:off x="548640" y="5532120"/>
            <a:ext cx="425196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DIAG-15 · Diagrama general de casos de uso</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74920" y="1783080"/>
          <a:ext cx="6537960" cy="3560064"/>
        </p:xfrm>
        <a:graphic>
          <a:graphicData uri="http://schemas.openxmlformats.org/drawingml/2006/table">
            <a:tbl>
              <a:tblPr/>
              <a:tblGrid>
                <a:gridCol w="214884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43891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Módulo</a:t>
                      </a:r>
                      <a:endParaRPr lang="en-US" sz="115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CU</a:t>
                      </a:r>
                      <a:endParaRPr lang="en-US" sz="115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Estado al 23-10</a:t>
                      </a:r>
                      <a:endParaRPr lang="en-US" sz="115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Cuenta y acceso</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Registro, inicio de sesión e invitado conectados a la BD</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Catálogo, agendamiento y pagos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Sucursal, barbero, disponibilidad, agendar, reprogramar y cancelar en la BD; pago simulado</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Atención en sucursal</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Marcar completada o no-show; fila por orden de llegada pendiente</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Privacidad «Mis datos»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Supresión de cuenta en la API; resto pendiente</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Administración</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Panel de prototipo; perfiles de colaboradores pendientes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Cumplimiento y auditoría</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Auditoría de inicio de sesión y registro activa</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KPIs y reportes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Panel de prototipo con datos locales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9" name="Shape 5"/>
          <p:cNvSpPr/>
          <p:nvPr/>
        </p:nvSpPr>
        <p:spPr>
          <a:xfrm>
            <a:off x="5074920" y="5486400"/>
            <a:ext cx="6537960" cy="731520"/>
          </a:xfrm>
          <a:prstGeom prst="rect">
            <a:avLst/>
          </a:prstGeom>
          <a:solidFill>
            <a:srgbClr val="EEF1F5"/>
          </a:solidFill>
          <a:ln w="9525">
            <a:solidFill>
              <a:srgbClr val="D7DCE3"/>
            </a:solidFill>
            <a:prstDash val="solid"/>
          </a:ln>
        </p:spPr>
        <p:txBody>
          <a:bodyPr/>
          <a:lstStyle/>
          <a:p>
            <a:endParaRPr lang="es-CL"/>
          </a:p>
        </p:txBody>
      </p:sp>
      <p:sp>
        <p:nvSpPr>
          <p:cNvPr id="10" name="Text 6"/>
          <p:cNvSpPr txBox="1"/>
          <p:nvPr/>
        </p:nvSpPr>
        <p:spPr>
          <a:xfrm>
            <a:off x="5212080" y="5504688"/>
            <a:ext cx="6309360" cy="694944"/>
          </a:xfrm>
          <a:prstGeom prst="rect">
            <a:avLst/>
          </a:prstGeom>
          <a:noFill/>
          <a:ln/>
        </p:spPr>
        <p:txBody>
          <a:bodyPr wrap="square" lIns="0" tIns="0" rIns="0" bIns="0" rtlCol="0" anchor="ctr"/>
          <a:lstStyle/>
          <a:p>
            <a:pPr marL="0" indent="0">
              <a:buNone/>
            </a:pPr>
            <a:r>
              <a:rPr lang="en-US" sz="1150" b="1" dirty="0">
                <a:solidFill>
                  <a:srgbClr val="13294B"/>
                </a:solidFill>
                <a:latin typeface="Calibri" pitchFamily="34" charset="0"/>
                <a:ea typeface="Calibri" pitchFamily="34" charset="-122"/>
                <a:cs typeface="Calibri" pitchFamily="34" charset="-120"/>
              </a:rPr>
              <a:t>10 de 41 casos de uso ya funcionan sobre la base de datos real: </a:t>
            </a:r>
            <a:r>
              <a:rPr lang="en-US" sz="1150" dirty="0">
                <a:solidFill>
                  <a:srgbClr val="1E2430"/>
                </a:solidFill>
                <a:latin typeface="Calibri" pitchFamily="34" charset="0"/>
                <a:ea typeface="Calibri" pitchFamily="34" charset="-122"/>
                <a:cs typeface="Calibri" pitchFamily="34" charset="-120"/>
              </a:rPr>
              <a:t>CU-01, 02, 05, 16, 17, 18, 19, 20, 22 y 23 (registro, acceso, invitado, catálogo, agendamiento, reprogramación y cancelación).</a:t>
            </a:r>
            <a:endParaRPr lang="en-US" sz="115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DISEÑO · MODELO DE DATOS</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Modelo entidad-relación (PostgreSQL)</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Modelo conceptual (Chen, 1976) en tercera forma normal, implementado en Supabase (PostgreSQL 17). Detalle en el documento 16.</a:t>
            </a:r>
            <a:endParaRPr lang="en-US" sz="1250" dirty="0"/>
          </a:p>
        </p:txBody>
      </p:sp>
      <p:sp>
        <p:nvSpPr>
          <p:cNvPr id="5" name="Shape 3"/>
          <p:cNvSpPr/>
          <p:nvPr/>
        </p:nvSpPr>
        <p:spPr>
          <a:xfrm>
            <a:off x="548640" y="1737360"/>
            <a:ext cx="7955280" cy="3108960"/>
          </a:xfrm>
          <a:prstGeom prst="rect">
            <a:avLst/>
          </a:prstGeom>
          <a:solidFill>
            <a:srgbClr val="FFFFFF"/>
          </a:solidFill>
          <a:ln w="9525">
            <a:solidFill>
              <a:srgbClr val="D7DCE3"/>
            </a:solidFill>
            <a:prstDash val="solid"/>
          </a:ln>
        </p:spPr>
        <p:txBody>
          <a:bodyPr/>
          <a:lstStyle/>
          <a:p>
            <a:endParaRPr lang="es-CL"/>
          </a:p>
        </p:txBody>
      </p:sp>
      <p:pic>
        <p:nvPicPr>
          <p:cNvPr id="6" name="Image 0" descr="C:/Users/User/Desktop/informatica/8°_Semestre/Diagramas/png/DIAG-27_Modelo_Entidad_Relacion_conceptual.png"/>
          <p:cNvPicPr>
            <a:picLocks noChangeAspect="1"/>
          </p:cNvPicPr>
          <p:nvPr/>
        </p:nvPicPr>
        <p:blipFill>
          <a:blip r:embed="rId3"/>
          <a:srcRect/>
          <a:stretch/>
        </p:blipFill>
        <p:spPr>
          <a:xfrm>
            <a:off x="594360" y="1783080"/>
            <a:ext cx="7863840" cy="3017520"/>
          </a:xfrm>
          <a:prstGeom prst="rect">
            <a:avLst/>
          </a:prstGeom>
        </p:spPr>
      </p:pic>
      <p:sp>
        <p:nvSpPr>
          <p:cNvPr id="7" name="Text 4"/>
          <p:cNvSpPr txBox="1"/>
          <p:nvPr/>
        </p:nvSpPr>
        <p:spPr>
          <a:xfrm>
            <a:off x="548640" y="4892040"/>
            <a:ext cx="795528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DIAG-27 · Modelo entidad-relación conceptual (27 entidades)</a:t>
            </a:r>
            <a:endParaRPr lang="en-US" sz="1050" dirty="0"/>
          </a:p>
        </p:txBody>
      </p:sp>
      <p:sp>
        <p:nvSpPr>
          <p:cNvPr id="8" name="Shape 5"/>
          <p:cNvSpPr/>
          <p:nvPr/>
        </p:nvSpPr>
        <p:spPr>
          <a:xfrm>
            <a:off x="8778240" y="1783080"/>
            <a:ext cx="2834640" cy="1005840"/>
          </a:xfrm>
          <a:prstGeom prst="rect">
            <a:avLst/>
          </a:prstGeom>
          <a:solidFill>
            <a:srgbClr val="FFFFFF"/>
          </a:solidFill>
          <a:ln w="9525">
            <a:solidFill>
              <a:srgbClr val="D7DCE3"/>
            </a:solidFill>
            <a:prstDash val="solid"/>
          </a:ln>
        </p:spPr>
        <p:txBody>
          <a:bodyPr/>
          <a:lstStyle/>
          <a:p>
            <a:endParaRPr lang="es-CL"/>
          </a:p>
        </p:txBody>
      </p:sp>
      <p:sp>
        <p:nvSpPr>
          <p:cNvPr id="9" name="Text 6"/>
          <p:cNvSpPr txBox="1"/>
          <p:nvPr/>
        </p:nvSpPr>
        <p:spPr>
          <a:xfrm>
            <a:off x="8869680" y="1892808"/>
            <a:ext cx="2651760" cy="482803"/>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27</a:t>
            </a:r>
            <a:endParaRPr lang="en-US" sz="2600" dirty="0"/>
          </a:p>
        </p:txBody>
      </p:sp>
      <p:sp>
        <p:nvSpPr>
          <p:cNvPr id="10" name="Text 7"/>
          <p:cNvSpPr txBox="1"/>
          <p:nvPr/>
        </p:nvSpPr>
        <p:spPr>
          <a:xfrm>
            <a:off x="8915400" y="2346350"/>
            <a:ext cx="2560320" cy="382219"/>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tablas · 239 campos · 3FN</a:t>
            </a:r>
            <a:endParaRPr lang="en-US" sz="1150" dirty="0"/>
          </a:p>
        </p:txBody>
      </p:sp>
      <p:sp>
        <p:nvSpPr>
          <p:cNvPr id="11" name="Shape 8"/>
          <p:cNvSpPr/>
          <p:nvPr/>
        </p:nvSpPr>
        <p:spPr>
          <a:xfrm>
            <a:off x="8778240" y="2898648"/>
            <a:ext cx="2834640" cy="1005840"/>
          </a:xfrm>
          <a:prstGeom prst="rect">
            <a:avLst/>
          </a:prstGeom>
          <a:solidFill>
            <a:srgbClr val="FFFFFF"/>
          </a:solidFill>
          <a:ln w="9525">
            <a:solidFill>
              <a:srgbClr val="D7DCE3"/>
            </a:solidFill>
            <a:prstDash val="solid"/>
          </a:ln>
        </p:spPr>
        <p:txBody>
          <a:bodyPr/>
          <a:lstStyle/>
          <a:p>
            <a:endParaRPr lang="es-CL"/>
          </a:p>
        </p:txBody>
      </p:sp>
      <p:sp>
        <p:nvSpPr>
          <p:cNvPr id="12" name="Text 9"/>
          <p:cNvSpPr txBox="1"/>
          <p:nvPr/>
        </p:nvSpPr>
        <p:spPr>
          <a:xfrm>
            <a:off x="8869680" y="3008376"/>
            <a:ext cx="2651760" cy="482803"/>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0</a:t>
            </a:r>
            <a:endParaRPr lang="en-US" sz="2600" dirty="0"/>
          </a:p>
        </p:txBody>
      </p:sp>
      <p:sp>
        <p:nvSpPr>
          <p:cNvPr id="13" name="Text 10"/>
          <p:cNvSpPr txBox="1"/>
          <p:nvPr/>
        </p:nvSpPr>
        <p:spPr>
          <a:xfrm>
            <a:off x="8915400" y="3461918"/>
            <a:ext cx="2560320" cy="382219"/>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reservas traslapadas: restricción de exclusión por barbero y horario</a:t>
            </a:r>
            <a:endParaRPr lang="en-US" sz="1150" dirty="0"/>
          </a:p>
        </p:txBody>
      </p:sp>
      <p:sp>
        <p:nvSpPr>
          <p:cNvPr id="14" name="Shape 11"/>
          <p:cNvSpPr/>
          <p:nvPr/>
        </p:nvSpPr>
        <p:spPr>
          <a:xfrm>
            <a:off x="8778240" y="4014216"/>
            <a:ext cx="2834640" cy="1005840"/>
          </a:xfrm>
          <a:prstGeom prst="rect">
            <a:avLst/>
          </a:prstGeom>
          <a:solidFill>
            <a:srgbClr val="FFFFFF"/>
          </a:solidFill>
          <a:ln w="9525">
            <a:solidFill>
              <a:srgbClr val="D7DCE3"/>
            </a:solidFill>
            <a:prstDash val="solid"/>
          </a:ln>
        </p:spPr>
        <p:txBody>
          <a:bodyPr/>
          <a:lstStyle/>
          <a:p>
            <a:endParaRPr lang="es-CL"/>
          </a:p>
        </p:txBody>
      </p:sp>
      <p:sp>
        <p:nvSpPr>
          <p:cNvPr id="15" name="Text 12"/>
          <p:cNvSpPr txBox="1"/>
          <p:nvPr/>
        </p:nvSpPr>
        <p:spPr>
          <a:xfrm>
            <a:off x="8869680" y="4123944"/>
            <a:ext cx="2651760" cy="482803"/>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$3.000</a:t>
            </a:r>
            <a:endParaRPr lang="en-US" sz="2600" dirty="0"/>
          </a:p>
        </p:txBody>
      </p:sp>
      <p:sp>
        <p:nvSpPr>
          <p:cNvPr id="16" name="Text 13"/>
          <p:cNvSpPr txBox="1"/>
          <p:nvPr/>
        </p:nvSpPr>
        <p:spPr>
          <a:xfrm>
            <a:off x="8915400" y="4577486"/>
            <a:ext cx="2560320" cy="382219"/>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abono parametrizable por sucursal o servicio, sin cambiar el modelo</a:t>
            </a:r>
            <a:endParaRPr lang="en-US" sz="1150" dirty="0"/>
          </a:p>
        </p:txBody>
      </p:sp>
      <p:sp>
        <p:nvSpPr>
          <p:cNvPr id="20" name="Shape 17"/>
          <p:cNvSpPr/>
          <p:nvPr/>
        </p:nvSpPr>
        <p:spPr>
          <a:xfrm>
            <a:off x="548640" y="5257800"/>
            <a:ext cx="7955280" cy="960120"/>
          </a:xfrm>
          <a:prstGeom prst="rect">
            <a:avLst/>
          </a:prstGeom>
          <a:solidFill>
            <a:srgbClr val="EEF1F5"/>
          </a:solidFill>
          <a:ln w="9525">
            <a:solidFill>
              <a:srgbClr val="D7DCE3"/>
            </a:solidFill>
            <a:prstDash val="solid"/>
          </a:ln>
        </p:spPr>
        <p:txBody>
          <a:bodyPr/>
          <a:lstStyle/>
          <a:p>
            <a:endParaRPr lang="es-CL"/>
          </a:p>
        </p:txBody>
      </p:sp>
      <p:sp>
        <p:nvSpPr>
          <p:cNvPr id="21" name="Text 18"/>
          <p:cNvSpPr txBox="1"/>
          <p:nvPr/>
        </p:nvSpPr>
        <p:spPr>
          <a:xfrm>
            <a:off x="685800" y="5285232"/>
            <a:ext cx="7726680" cy="914400"/>
          </a:xfrm>
          <a:prstGeom prst="rect">
            <a:avLst/>
          </a:prstGeom>
          <a:noFill/>
          <a:ln/>
        </p:spPr>
        <p:txBody>
          <a:bodyPr wrap="square" lIns="0" tIns="0" rIns="0" bIns="0" rtlCol="0" anchor="ctr"/>
          <a:lstStyle/>
          <a:p>
            <a:pPr marL="0" indent="0">
              <a:buNone/>
            </a:pPr>
            <a:r>
              <a:rPr lang="en-US" sz="1150" b="1" dirty="0">
                <a:solidFill>
                  <a:srgbClr val="13294B"/>
                </a:solidFill>
                <a:latin typeface="Calibri" pitchFamily="34" charset="0"/>
                <a:ea typeface="Calibri" pitchFamily="34" charset="-122"/>
                <a:cs typeface="Calibri" pitchFamily="34" charset="-120"/>
              </a:rPr>
              <a:t>Privacidad desde el diseño: </a:t>
            </a:r>
            <a:r>
              <a:rPr lang="en-US" sz="1150" dirty="0">
                <a:solidFill>
                  <a:srgbClr val="1E2430"/>
                </a:solidFill>
                <a:latin typeface="Calibri" pitchFamily="34" charset="0"/>
                <a:ea typeface="Calibri" pitchFamily="34" charset="-122"/>
                <a:cs typeface="Calibri" pitchFamily="34" charset="-120"/>
              </a:rPr>
              <a:t>sin RUT ni datos de tarjeta; consentimiento, solicitudes de derechos, auditoría inmutable y registro de actividades de tratamiento (Ley N° 21.719, 2024). El 22-10 se agregó la tabla resena para la calificación de barberos (RF-09).</a:t>
            </a:r>
            <a:endParaRPr lang="en-US" sz="115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DISEÑO · PROTOTIPO</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Prototipo funcional: web y app</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Capturas de la web conectada a la base de datos real (22-10-2026) y del prototipo de la app Android.</a:t>
            </a:r>
            <a:endParaRPr lang="en-US" sz="1250" dirty="0"/>
          </a:p>
        </p:txBody>
      </p:sp>
      <p:sp>
        <p:nvSpPr>
          <p:cNvPr id="5" name="Shape 3"/>
          <p:cNvSpPr/>
          <p:nvPr/>
        </p:nvSpPr>
        <p:spPr>
          <a:xfrm>
            <a:off x="548640" y="1737360"/>
            <a:ext cx="5212080" cy="3291840"/>
          </a:xfrm>
          <a:prstGeom prst="rect">
            <a:avLst/>
          </a:prstGeom>
          <a:solidFill>
            <a:srgbClr val="FFFFFF"/>
          </a:solidFill>
          <a:ln w="9525">
            <a:solidFill>
              <a:srgbClr val="D7DCE3"/>
            </a:solidFill>
            <a:prstDash val="solid"/>
          </a:ln>
        </p:spPr>
        <p:txBody>
          <a:bodyPr/>
          <a:lstStyle/>
          <a:p>
            <a:endParaRPr lang="es-CL"/>
          </a:p>
        </p:txBody>
      </p:sp>
      <p:pic>
        <p:nvPicPr>
          <p:cNvPr id="6" name="Image 0" descr="C:/Users/User/AppData/Local/Temp/claude/C--Users-User-Desktop-informatica-8--Semestre/a3947737-32ff-4826-af91-ab831361c14e/scratchpad/ppt/shots/web_02.png"/>
          <p:cNvPicPr>
            <a:picLocks noChangeAspect="1"/>
          </p:cNvPicPr>
          <p:nvPr/>
        </p:nvPicPr>
        <p:blipFill>
          <a:blip r:embed="rId3"/>
          <a:srcRect/>
          <a:stretch/>
        </p:blipFill>
        <p:spPr>
          <a:xfrm>
            <a:off x="594360" y="1783080"/>
            <a:ext cx="5120640" cy="3200400"/>
          </a:xfrm>
          <a:prstGeom prst="rect">
            <a:avLst/>
          </a:prstGeom>
        </p:spPr>
      </p:pic>
      <p:sp>
        <p:nvSpPr>
          <p:cNvPr id="7" name="Text 4"/>
          <p:cNvSpPr txBox="1"/>
          <p:nvPr/>
        </p:nvSpPr>
        <p:spPr>
          <a:xfrm>
            <a:off x="548640" y="5074920"/>
            <a:ext cx="521208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Web · inicio del cliente con su cupón de bienvenida</a:t>
            </a:r>
            <a:endParaRPr lang="en-US" sz="1050" dirty="0"/>
          </a:p>
        </p:txBody>
      </p:sp>
      <p:sp>
        <p:nvSpPr>
          <p:cNvPr id="8" name="Shape 5"/>
          <p:cNvSpPr/>
          <p:nvPr/>
        </p:nvSpPr>
        <p:spPr>
          <a:xfrm>
            <a:off x="5989320" y="1737360"/>
            <a:ext cx="3108960" cy="2468880"/>
          </a:xfrm>
          <a:prstGeom prst="rect">
            <a:avLst/>
          </a:prstGeom>
          <a:solidFill>
            <a:srgbClr val="FFFFFF"/>
          </a:solidFill>
          <a:ln w="9525">
            <a:solidFill>
              <a:srgbClr val="D7DCE3"/>
            </a:solidFill>
            <a:prstDash val="solid"/>
          </a:ln>
        </p:spPr>
        <p:txBody>
          <a:bodyPr/>
          <a:lstStyle/>
          <a:p>
            <a:endParaRPr lang="es-CL"/>
          </a:p>
        </p:txBody>
      </p:sp>
      <p:pic>
        <p:nvPicPr>
          <p:cNvPr id="9" name="Image 1" descr="C:/Users/User/AppData/Local/Temp/claude/C--Users-User-Desktop-informatica-8--Semestre/a3947737-32ff-4826-af91-ab831361c14e/scratchpad/ppt/shots/web_06c.png"/>
          <p:cNvPicPr>
            <a:picLocks noChangeAspect="1"/>
          </p:cNvPicPr>
          <p:nvPr/>
        </p:nvPicPr>
        <p:blipFill>
          <a:blip r:embed="rId4"/>
          <a:srcRect/>
          <a:stretch/>
        </p:blipFill>
        <p:spPr>
          <a:xfrm>
            <a:off x="6035040" y="1783080"/>
            <a:ext cx="3017520" cy="2377440"/>
          </a:xfrm>
          <a:prstGeom prst="rect">
            <a:avLst/>
          </a:prstGeom>
        </p:spPr>
      </p:pic>
      <p:sp>
        <p:nvSpPr>
          <p:cNvPr id="10" name="Text 6"/>
          <p:cNvSpPr txBox="1"/>
          <p:nvPr/>
        </p:nvSpPr>
        <p:spPr>
          <a:xfrm>
            <a:off x="5989320" y="4224528"/>
            <a:ext cx="310896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Web · reserva en 5 pasos (paso 1: sucursal)</a:t>
            </a:r>
            <a:endParaRPr lang="en-US" sz="1050" dirty="0"/>
          </a:p>
        </p:txBody>
      </p:sp>
      <p:sp>
        <p:nvSpPr>
          <p:cNvPr id="11" name="Shape 7"/>
          <p:cNvSpPr/>
          <p:nvPr/>
        </p:nvSpPr>
        <p:spPr>
          <a:xfrm>
            <a:off x="5989320" y="4526280"/>
            <a:ext cx="3108960" cy="1508760"/>
          </a:xfrm>
          <a:prstGeom prst="rect">
            <a:avLst/>
          </a:prstGeom>
          <a:solidFill>
            <a:srgbClr val="FFFFFF"/>
          </a:solidFill>
          <a:ln w="9525">
            <a:solidFill>
              <a:srgbClr val="D7DCE3"/>
            </a:solidFill>
            <a:prstDash val="solid"/>
          </a:ln>
        </p:spPr>
        <p:txBody>
          <a:bodyPr/>
          <a:lstStyle/>
          <a:p>
            <a:endParaRPr lang="es-CL"/>
          </a:p>
        </p:txBody>
      </p:sp>
      <p:pic>
        <p:nvPicPr>
          <p:cNvPr id="12" name="Image 2" descr="C:/Users/User/AppData/Local/Temp/claude/C--Users-User-Desktop-informatica-8--Semestre/a3947737-32ff-4826-af91-ab831361c14e/scratchpad/ppt/shots/web_04c.png"/>
          <p:cNvPicPr>
            <a:picLocks noChangeAspect="1"/>
          </p:cNvPicPr>
          <p:nvPr/>
        </p:nvPicPr>
        <p:blipFill>
          <a:blip r:embed="rId5"/>
          <a:srcRect/>
          <a:stretch/>
        </p:blipFill>
        <p:spPr>
          <a:xfrm>
            <a:off x="6035040" y="4572000"/>
            <a:ext cx="3017520" cy="1417320"/>
          </a:xfrm>
          <a:prstGeom prst="rect">
            <a:avLst/>
          </a:prstGeom>
        </p:spPr>
      </p:pic>
      <p:sp>
        <p:nvSpPr>
          <p:cNvPr id="13" name="Text 8"/>
          <p:cNvSpPr txBox="1"/>
          <p:nvPr/>
        </p:nvSpPr>
        <p:spPr>
          <a:xfrm>
            <a:off x="5989320" y="6035040"/>
            <a:ext cx="310896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Web · sucursales reales con mapa</a:t>
            </a:r>
            <a:endParaRPr lang="en-US" sz="1050" dirty="0"/>
          </a:p>
        </p:txBody>
      </p:sp>
      <p:sp>
        <p:nvSpPr>
          <p:cNvPr id="14" name="Shape 9"/>
          <p:cNvSpPr/>
          <p:nvPr/>
        </p:nvSpPr>
        <p:spPr>
          <a:xfrm>
            <a:off x="9418320" y="1737360"/>
            <a:ext cx="2194560" cy="4343400"/>
          </a:xfrm>
          <a:prstGeom prst="rect">
            <a:avLst/>
          </a:prstGeom>
          <a:solidFill>
            <a:srgbClr val="FFFFFF"/>
          </a:solidFill>
          <a:ln w="9525">
            <a:solidFill>
              <a:srgbClr val="D7DCE3"/>
            </a:solidFill>
            <a:prstDash val="solid"/>
          </a:ln>
        </p:spPr>
        <p:txBody>
          <a:bodyPr/>
          <a:lstStyle/>
          <a:p>
            <a:endParaRPr lang="es-CL"/>
          </a:p>
        </p:txBody>
      </p:sp>
      <p:pic>
        <p:nvPicPr>
          <p:cNvPr id="15" name="Image 3" descr="C:/Users/User/AppData/Local/Temp/claude/C--Users-User-Desktop-informatica-8--Semestre/a3947737-32ff-4826-af91-ab831361c14e/scratchpad/ppt/v3x/ppt/media/image-5-1.png"/>
          <p:cNvPicPr>
            <a:picLocks noChangeAspect="1"/>
          </p:cNvPicPr>
          <p:nvPr/>
        </p:nvPicPr>
        <p:blipFill>
          <a:blip r:embed="rId6"/>
          <a:srcRect/>
          <a:stretch/>
        </p:blipFill>
        <p:spPr>
          <a:xfrm>
            <a:off x="9464040" y="1783080"/>
            <a:ext cx="2103120" cy="4251960"/>
          </a:xfrm>
          <a:prstGeom prst="rect">
            <a:avLst/>
          </a:prstGeom>
        </p:spPr>
      </p:pic>
      <p:sp>
        <p:nvSpPr>
          <p:cNvPr id="16" name="Text 10"/>
          <p:cNvSpPr txBox="1"/>
          <p:nvPr/>
        </p:nvSpPr>
        <p:spPr>
          <a:xfrm>
            <a:off x="9326880" y="6080760"/>
            <a:ext cx="237744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App Android · inicio de sesión (01-10)</a:t>
            </a:r>
            <a:endParaRPr lang="en-US" sz="1050" dirty="0"/>
          </a:p>
        </p:txBody>
      </p:sp>
      <p:sp>
        <p:nvSpPr>
          <p:cNvPr id="17" name="Shape 11"/>
          <p:cNvSpPr/>
          <p:nvPr/>
        </p:nvSpPr>
        <p:spPr>
          <a:xfrm>
            <a:off x="548640" y="5440680"/>
            <a:ext cx="5212080" cy="777240"/>
          </a:xfrm>
          <a:prstGeom prst="rect">
            <a:avLst/>
          </a:prstGeom>
          <a:solidFill>
            <a:srgbClr val="EEF1F5"/>
          </a:solidFill>
          <a:ln w="9525">
            <a:solidFill>
              <a:srgbClr val="D7DCE3"/>
            </a:solidFill>
            <a:prstDash val="solid"/>
          </a:ln>
        </p:spPr>
        <p:txBody>
          <a:bodyPr/>
          <a:lstStyle/>
          <a:p>
            <a:endParaRPr lang="es-CL"/>
          </a:p>
        </p:txBody>
      </p:sp>
      <p:sp>
        <p:nvSpPr>
          <p:cNvPr id="18" name="Text 12"/>
          <p:cNvSpPr txBox="1"/>
          <p:nvPr/>
        </p:nvSpPr>
        <p:spPr>
          <a:xfrm>
            <a:off x="685800" y="5458968"/>
            <a:ext cx="4983480" cy="731520"/>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Web en React y app en Kotlin con Jetpack Compose (MVVM). Ambas usan la misma API y muestran las 3 sucursales, los barberos y los servicios con precios reales.</a:t>
            </a:r>
            <a:endParaRPr lang="en-US" sz="115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DESARROLLO · EVIDENCIA</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Repositorio en GitHub</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github.com/Yerko-Rosales/Proyecto_Barberia (público) · historial de commits al 22-10-2026.</a:t>
            </a:r>
            <a:endParaRPr lang="en-US" sz="1250" dirty="0"/>
          </a:p>
        </p:txBody>
      </p:sp>
      <p:sp>
        <p:nvSpPr>
          <p:cNvPr id="5" name="Shape 3"/>
          <p:cNvSpPr/>
          <p:nvPr/>
        </p:nvSpPr>
        <p:spPr>
          <a:xfrm>
            <a:off x="548640" y="1737360"/>
            <a:ext cx="6766560" cy="4261104"/>
          </a:xfrm>
          <a:prstGeom prst="rect">
            <a:avLst/>
          </a:prstGeom>
          <a:solidFill>
            <a:srgbClr val="FFFFFF"/>
          </a:solidFill>
          <a:ln w="9525">
            <a:solidFill>
              <a:srgbClr val="D7DCE3"/>
            </a:solidFill>
            <a:prstDash val="solid"/>
          </a:ln>
        </p:spPr>
        <p:txBody>
          <a:bodyPr/>
          <a:lstStyle/>
          <a:p>
            <a:endParaRPr lang="es-CL"/>
          </a:p>
        </p:txBody>
      </p:sp>
      <p:pic>
        <p:nvPicPr>
          <p:cNvPr id="6" name="Image 0" descr="C:/Users/User/AppData/Local/Temp/claude/C--Users-User-Desktop-informatica-8--Semestre/a3947737-32ff-4826-af91-ab831361c14e/scratchpad/ppt/shots/gh_commits.png"/>
          <p:cNvPicPr>
            <a:picLocks noChangeAspect="1"/>
          </p:cNvPicPr>
          <p:nvPr/>
        </p:nvPicPr>
        <p:blipFill>
          <a:blip r:embed="rId3"/>
          <a:srcRect/>
          <a:stretch/>
        </p:blipFill>
        <p:spPr>
          <a:xfrm>
            <a:off x="594360" y="1783080"/>
            <a:ext cx="6675120" cy="4169664"/>
          </a:xfrm>
          <a:prstGeom prst="rect">
            <a:avLst/>
          </a:prstGeom>
        </p:spPr>
      </p:pic>
      <p:sp>
        <p:nvSpPr>
          <p:cNvPr id="7" name="Text 4"/>
          <p:cNvSpPr txBox="1"/>
          <p:nvPr/>
        </p:nvSpPr>
        <p:spPr>
          <a:xfrm>
            <a:off x="548640" y="6035040"/>
            <a:ext cx="676656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Historial de commits de la rama main</a:t>
            </a:r>
            <a:endParaRPr lang="en-US" sz="1050" dirty="0"/>
          </a:p>
        </p:txBody>
      </p:sp>
      <p:sp>
        <p:nvSpPr>
          <p:cNvPr id="8" name="Shape 5"/>
          <p:cNvSpPr/>
          <p:nvPr/>
        </p:nvSpPr>
        <p:spPr>
          <a:xfrm>
            <a:off x="7589520" y="1783080"/>
            <a:ext cx="4023360" cy="1280160"/>
          </a:xfrm>
          <a:prstGeom prst="rect">
            <a:avLst/>
          </a:prstGeom>
          <a:solidFill>
            <a:srgbClr val="FFFFFF"/>
          </a:solidFill>
          <a:ln w="9525">
            <a:solidFill>
              <a:srgbClr val="D7DCE3"/>
            </a:solidFill>
            <a:prstDash val="solid"/>
          </a:ln>
        </p:spPr>
        <p:txBody>
          <a:bodyPr/>
          <a:lstStyle/>
          <a:p>
            <a:endParaRPr lang="es-CL"/>
          </a:p>
        </p:txBody>
      </p:sp>
      <p:sp>
        <p:nvSpPr>
          <p:cNvPr id="9" name="Text 6"/>
          <p:cNvSpPr txBox="1"/>
          <p:nvPr/>
        </p:nvSpPr>
        <p:spPr>
          <a:xfrm>
            <a:off x="7680959" y="1892807"/>
            <a:ext cx="3640183" cy="614477"/>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16</a:t>
            </a:r>
            <a:endParaRPr lang="en-US" sz="2600" dirty="0"/>
          </a:p>
        </p:txBody>
      </p:sp>
      <p:sp>
        <p:nvSpPr>
          <p:cNvPr id="10" name="Text 7"/>
          <p:cNvSpPr txBox="1"/>
          <p:nvPr/>
        </p:nvSpPr>
        <p:spPr>
          <a:xfrm>
            <a:off x="7726680" y="2423159"/>
            <a:ext cx="3448594" cy="486461"/>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commits en main al 22-10</a:t>
            </a:r>
            <a:endParaRPr lang="en-US" sz="1150" dirty="0"/>
          </a:p>
        </p:txBody>
      </p:sp>
      <p:sp>
        <p:nvSpPr>
          <p:cNvPr id="14" name="Shape 11"/>
          <p:cNvSpPr/>
          <p:nvPr/>
        </p:nvSpPr>
        <p:spPr>
          <a:xfrm>
            <a:off x="7589520" y="3108960"/>
            <a:ext cx="4023360" cy="3108960"/>
          </a:xfrm>
          <a:prstGeom prst="rect">
            <a:avLst/>
          </a:prstGeom>
          <a:solidFill>
            <a:srgbClr val="FFFFFF"/>
          </a:solidFill>
          <a:ln w="9525">
            <a:solidFill>
              <a:srgbClr val="D7DCE3"/>
            </a:solidFill>
            <a:prstDash val="solid"/>
          </a:ln>
        </p:spPr>
        <p:txBody>
          <a:bodyPr/>
          <a:lstStyle/>
          <a:p>
            <a:endParaRPr lang="es-CL"/>
          </a:p>
        </p:txBody>
      </p:sp>
      <p:sp>
        <p:nvSpPr>
          <p:cNvPr id="15" name="Text 12"/>
          <p:cNvSpPr txBox="1"/>
          <p:nvPr/>
        </p:nvSpPr>
        <p:spPr>
          <a:xfrm>
            <a:off x="7772400" y="3200400"/>
            <a:ext cx="3657600" cy="32004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Qué contiene</a:t>
            </a:r>
            <a:endParaRPr lang="en-US" sz="1400" dirty="0"/>
          </a:p>
        </p:txBody>
      </p:sp>
      <p:sp>
        <p:nvSpPr>
          <p:cNvPr id="16" name="Text 13"/>
          <p:cNvSpPr txBox="1"/>
          <p:nvPr/>
        </p:nvSpPr>
        <p:spPr>
          <a:xfrm>
            <a:off x="7772400" y="3566160"/>
            <a:ext cx="3703320" cy="25603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430"/>
                </a:solidFill>
                <a:latin typeface="Calibri" pitchFamily="34" charset="0"/>
                <a:ea typeface="Calibri" pitchFamily="34" charset="-122"/>
                <a:cs typeface="Calibri" pitchFamily="34" charset="-120"/>
              </a:rPr>
              <a:t>Código de la web y de la app Android</a:t>
            </a:r>
            <a:endParaRPr lang="en-US" sz="1200" dirty="0"/>
          </a:p>
          <a:p>
            <a:pPr marL="342900" indent="-342900">
              <a:spcAft>
                <a:spcPts val="600"/>
              </a:spcAft>
              <a:buSzPct val="100000"/>
              <a:buChar char="•"/>
            </a:pPr>
            <a:r>
              <a:rPr lang="en-US" sz="1200" dirty="0">
                <a:solidFill>
                  <a:srgbClr val="1E2430"/>
                </a:solidFill>
                <a:latin typeface="Calibri" pitchFamily="34" charset="0"/>
                <a:ea typeface="Calibri" pitchFamily="34" charset="-122"/>
                <a:cs typeface="Calibri" pitchFamily="34" charset="-120"/>
              </a:rPr>
              <a:t>Script DDL, migraciones de Supabase y resultados de las pruebas</a:t>
            </a:r>
            <a:endParaRPr lang="en-US" sz="1200" dirty="0"/>
          </a:p>
          <a:p>
            <a:pPr marL="342900" indent="-342900">
              <a:spcAft>
                <a:spcPts val="600"/>
              </a:spcAft>
              <a:buSzPct val="100000"/>
              <a:buChar char="•"/>
            </a:pPr>
            <a:r>
              <a:rPr lang="en-US" sz="1200" dirty="0">
                <a:solidFill>
                  <a:srgbClr val="1E2430"/>
                </a:solidFill>
                <a:latin typeface="Calibri" pitchFamily="34" charset="0"/>
                <a:ea typeface="Calibri" pitchFamily="34" charset="-122"/>
                <a:cs typeface="Calibri" pitchFamily="34" charset="-120"/>
              </a:rPr>
              <a:t>Documentación de diseño y 35 diagramas (PlantUML y StarUML)</a:t>
            </a:r>
            <a:endParaRPr lang="en-US" sz="1200" dirty="0"/>
          </a:p>
          <a:p>
            <a:pPr marL="342900" indent="-342900">
              <a:spcAft>
                <a:spcPts val="600"/>
              </a:spcAft>
              <a:buSzPct val="100000"/>
              <a:buChar char="•"/>
            </a:pPr>
            <a:r>
              <a:rPr lang="en-US" sz="1200" dirty="0">
                <a:solidFill>
                  <a:srgbClr val="1E2430"/>
                </a:solidFill>
                <a:latin typeface="Calibri" pitchFamily="34" charset="0"/>
                <a:ea typeface="Calibri" pitchFamily="34" charset="-122"/>
                <a:cs typeface="Calibri" pitchFamily="34" charset="-120"/>
              </a:rPr>
              <a:t>Sin secretos: claves en archivos .env excluidos de git</a:t>
            </a:r>
            <a:endParaRPr lang="en-US" sz="12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DESARROLLO · EVIDENCIA</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Qué funciona hoy</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Implementado el 22-10-2026: la web y la app usan solo la API; las tablas siguen cerradas a la clave pública.</a:t>
            </a:r>
            <a:endParaRPr lang="en-US" sz="1250" dirty="0"/>
          </a:p>
        </p:txBody>
      </p:sp>
      <p:sp>
        <p:nvSpPr>
          <p:cNvPr id="5" name="Shape 3"/>
          <p:cNvSpPr/>
          <p:nvPr/>
        </p:nvSpPr>
        <p:spPr>
          <a:xfrm>
            <a:off x="548640" y="1828800"/>
            <a:ext cx="2377440" cy="868680"/>
          </a:xfrm>
          <a:prstGeom prst="rect">
            <a:avLst/>
          </a:prstGeom>
          <a:solidFill>
            <a:srgbClr val="FFFFFF"/>
          </a:solidFill>
          <a:ln w="9525">
            <a:solidFill>
              <a:srgbClr val="D7DCE3"/>
            </a:solidFill>
            <a:prstDash val="solid"/>
          </a:ln>
        </p:spPr>
        <p:txBody>
          <a:bodyPr/>
          <a:lstStyle/>
          <a:p>
            <a:endParaRPr lang="es-CL"/>
          </a:p>
        </p:txBody>
      </p:sp>
      <p:sp>
        <p:nvSpPr>
          <p:cNvPr id="6" name="Text 4"/>
          <p:cNvSpPr txBox="1"/>
          <p:nvPr/>
        </p:nvSpPr>
        <p:spPr>
          <a:xfrm>
            <a:off x="640080" y="1828800"/>
            <a:ext cx="2194560" cy="868680"/>
          </a:xfrm>
          <a:prstGeom prst="rect">
            <a:avLst/>
          </a:prstGeom>
          <a:noFill/>
          <a:ln/>
        </p:spPr>
        <p:txBody>
          <a:bodyPr wrap="square" lIns="0" tIns="0" rIns="0" bIns="0" rtlCol="0" anchor="ctr"/>
          <a:lstStyle/>
          <a:p>
            <a:pPr marL="0" indent="0" algn="ctr">
              <a:buNone/>
            </a:pPr>
            <a:r>
              <a:rPr lang="en-US" sz="1350" b="1" dirty="0">
                <a:solidFill>
                  <a:srgbClr val="1E2430"/>
                </a:solidFill>
                <a:latin typeface="Calibri" pitchFamily="34" charset="0"/>
                <a:ea typeface="Calibri" pitchFamily="34" charset="-122"/>
                <a:cs typeface="Calibri" pitchFamily="34" charset="-120"/>
              </a:rPr>
              <a:t>Web (React)</a:t>
            </a:r>
            <a:endParaRPr lang="en-US" sz="1350" dirty="0"/>
          </a:p>
          <a:p>
            <a:pPr marL="0" indent="0" algn="ctr">
              <a:buNone/>
            </a:pPr>
            <a:r>
              <a:rPr lang="en-US" sz="1100" dirty="0">
                <a:solidFill>
                  <a:srgbClr val="1E2430"/>
                </a:solidFill>
                <a:latin typeface="Calibri" pitchFamily="34" charset="0"/>
                <a:ea typeface="Calibri" pitchFamily="34" charset="-122"/>
                <a:cs typeface="Calibri" pitchFamily="34" charset="-120"/>
              </a:rPr>
              <a:t>clientes, invitados y administración</a:t>
            </a:r>
            <a:endParaRPr lang="en-US" sz="1350" dirty="0"/>
          </a:p>
        </p:txBody>
      </p:sp>
      <p:sp>
        <p:nvSpPr>
          <p:cNvPr id="7" name="Shape 5"/>
          <p:cNvSpPr/>
          <p:nvPr/>
        </p:nvSpPr>
        <p:spPr>
          <a:xfrm>
            <a:off x="548640" y="2880360"/>
            <a:ext cx="2377440" cy="868680"/>
          </a:xfrm>
          <a:prstGeom prst="rect">
            <a:avLst/>
          </a:prstGeom>
          <a:solidFill>
            <a:srgbClr val="FFFFFF"/>
          </a:solidFill>
          <a:ln w="9525">
            <a:solidFill>
              <a:srgbClr val="D7DCE3"/>
            </a:solidFill>
            <a:prstDash val="solid"/>
          </a:ln>
        </p:spPr>
        <p:txBody>
          <a:bodyPr/>
          <a:lstStyle/>
          <a:p>
            <a:endParaRPr lang="es-CL"/>
          </a:p>
        </p:txBody>
      </p:sp>
      <p:sp>
        <p:nvSpPr>
          <p:cNvPr id="8" name="Text 6"/>
          <p:cNvSpPr txBox="1"/>
          <p:nvPr/>
        </p:nvSpPr>
        <p:spPr>
          <a:xfrm>
            <a:off x="640080" y="2880360"/>
            <a:ext cx="2194560" cy="868680"/>
          </a:xfrm>
          <a:prstGeom prst="rect">
            <a:avLst/>
          </a:prstGeom>
          <a:noFill/>
          <a:ln/>
        </p:spPr>
        <p:txBody>
          <a:bodyPr wrap="square" lIns="0" tIns="0" rIns="0" bIns="0" rtlCol="0" anchor="ctr"/>
          <a:lstStyle/>
          <a:p>
            <a:pPr marL="0" indent="0" algn="ctr">
              <a:buNone/>
            </a:pPr>
            <a:r>
              <a:rPr lang="en-US" sz="1350" b="1" dirty="0">
                <a:solidFill>
                  <a:srgbClr val="1E2430"/>
                </a:solidFill>
                <a:latin typeface="Calibri" pitchFamily="34" charset="0"/>
                <a:ea typeface="Calibri" pitchFamily="34" charset="-122"/>
                <a:cs typeface="Calibri" pitchFamily="34" charset="-120"/>
              </a:rPr>
              <a:t>App Android</a:t>
            </a:r>
            <a:endParaRPr lang="en-US" sz="1350" dirty="0"/>
          </a:p>
          <a:p>
            <a:pPr marL="0" indent="0" algn="ctr">
              <a:buNone/>
            </a:pPr>
            <a:r>
              <a:rPr lang="en-US" sz="1100" dirty="0">
                <a:solidFill>
                  <a:srgbClr val="1E2430"/>
                </a:solidFill>
                <a:latin typeface="Calibri" pitchFamily="34" charset="0"/>
                <a:ea typeface="Calibri" pitchFamily="34" charset="-122"/>
                <a:cs typeface="Calibri" pitchFamily="34" charset="-120"/>
              </a:rPr>
              <a:t>Kotlin · Jetpack Compose · MVVM</a:t>
            </a:r>
            <a:endParaRPr lang="en-US" sz="1350" dirty="0"/>
          </a:p>
        </p:txBody>
      </p:sp>
      <p:sp>
        <p:nvSpPr>
          <p:cNvPr id="9" name="Shape 7"/>
          <p:cNvSpPr/>
          <p:nvPr/>
        </p:nvSpPr>
        <p:spPr>
          <a:xfrm>
            <a:off x="3749040" y="1828800"/>
            <a:ext cx="3291840" cy="1920240"/>
          </a:xfrm>
          <a:prstGeom prst="rect">
            <a:avLst/>
          </a:prstGeom>
          <a:solidFill>
            <a:srgbClr val="13294B"/>
          </a:solidFill>
          <a:ln w="9525">
            <a:solidFill>
              <a:srgbClr val="13294B"/>
            </a:solidFill>
            <a:prstDash val="solid"/>
          </a:ln>
        </p:spPr>
        <p:txBody>
          <a:bodyPr/>
          <a:lstStyle/>
          <a:p>
            <a:endParaRPr lang="es-CL"/>
          </a:p>
        </p:txBody>
      </p:sp>
      <p:sp>
        <p:nvSpPr>
          <p:cNvPr id="10" name="Text 8"/>
          <p:cNvSpPr txBox="1"/>
          <p:nvPr/>
        </p:nvSpPr>
        <p:spPr>
          <a:xfrm>
            <a:off x="3840480" y="1828800"/>
            <a:ext cx="3108960" cy="19202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API en Supabase: 13 operaciones</a:t>
            </a:r>
            <a:endParaRPr lang="en-US" sz="1350" dirty="0"/>
          </a:p>
          <a:p>
            <a:pPr marL="0" indent="0" algn="ctr">
              <a:buNone/>
            </a:pPr>
            <a:r>
              <a:rPr lang="en-US" sz="1100" dirty="0">
                <a:solidFill>
                  <a:srgbClr val="FFFFFF"/>
                </a:solidFill>
                <a:latin typeface="Calibri" pitchFamily="34" charset="0"/>
                <a:ea typeface="Calibri" pitchFamily="34" charset="-122"/>
                <a:cs typeface="Calibri" pitchFamily="34" charset="-120"/>
              </a:rPr>
              <a:t>Catálogo 3 · cuenta 5 · reservas 3 · reseñas 2 (crece en S12 con Webpay, fila, «Mis datos» y personal)</a:t>
            </a:r>
            <a:endParaRPr lang="en-US" sz="1350" dirty="0"/>
          </a:p>
        </p:txBody>
      </p:sp>
      <p:sp>
        <p:nvSpPr>
          <p:cNvPr id="11" name="Shape 9"/>
          <p:cNvSpPr/>
          <p:nvPr/>
        </p:nvSpPr>
        <p:spPr>
          <a:xfrm>
            <a:off x="7863840" y="1828800"/>
            <a:ext cx="3749040" cy="1920240"/>
          </a:xfrm>
          <a:prstGeom prst="rect">
            <a:avLst/>
          </a:prstGeom>
          <a:solidFill>
            <a:srgbClr val="1D3A63"/>
          </a:solidFill>
          <a:ln w="9525">
            <a:solidFill>
              <a:srgbClr val="1D3A63"/>
            </a:solidFill>
            <a:prstDash val="solid"/>
          </a:ln>
        </p:spPr>
        <p:txBody>
          <a:bodyPr/>
          <a:lstStyle/>
          <a:p>
            <a:endParaRPr lang="es-CL"/>
          </a:p>
        </p:txBody>
      </p:sp>
      <p:sp>
        <p:nvSpPr>
          <p:cNvPr id="12" name="Text 10"/>
          <p:cNvSpPr txBox="1"/>
          <p:nvPr/>
        </p:nvSpPr>
        <p:spPr>
          <a:xfrm>
            <a:off x="7955280" y="1828800"/>
            <a:ext cx="3566160" cy="19202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PostgreSQL 17</a:t>
            </a:r>
            <a:endParaRPr lang="en-US" sz="1350" dirty="0"/>
          </a:p>
          <a:p>
            <a:pPr marL="0" indent="0" algn="ctr">
              <a:buNone/>
            </a:pPr>
            <a:r>
              <a:rPr lang="en-US" sz="1100" dirty="0">
                <a:solidFill>
                  <a:srgbClr val="FFFFFF"/>
                </a:solidFill>
                <a:latin typeface="Calibri" pitchFamily="34" charset="0"/>
                <a:ea typeface="Calibri" pitchFamily="34" charset="-122"/>
                <a:cs typeface="Calibri" pitchFamily="34" charset="-120"/>
              </a:rPr>
              <a:t>27 tablas · RLS cerrado · contraseñas con bcrypt · datos de contacto enmascarados</a:t>
            </a:r>
            <a:endParaRPr lang="en-US" sz="1350" dirty="0"/>
          </a:p>
        </p:txBody>
      </p:sp>
      <p:sp>
        <p:nvSpPr>
          <p:cNvPr id="13" name="Shape 11"/>
          <p:cNvSpPr/>
          <p:nvPr/>
        </p:nvSpPr>
        <p:spPr>
          <a:xfrm>
            <a:off x="2926080" y="2258568"/>
            <a:ext cx="822960" cy="0"/>
          </a:xfrm>
          <a:prstGeom prst="line">
            <a:avLst/>
          </a:prstGeom>
          <a:noFill/>
          <a:ln w="19050">
            <a:solidFill>
              <a:srgbClr val="13294B"/>
            </a:solidFill>
            <a:prstDash val="solid"/>
            <a:tailEnd type="triangle"/>
          </a:ln>
        </p:spPr>
        <p:txBody>
          <a:bodyPr/>
          <a:lstStyle/>
          <a:p>
            <a:endParaRPr lang="es-CL"/>
          </a:p>
        </p:txBody>
      </p:sp>
      <p:sp>
        <p:nvSpPr>
          <p:cNvPr id="14" name="Shape 12"/>
          <p:cNvSpPr/>
          <p:nvPr/>
        </p:nvSpPr>
        <p:spPr>
          <a:xfrm>
            <a:off x="2926080" y="3310128"/>
            <a:ext cx="822960" cy="0"/>
          </a:xfrm>
          <a:prstGeom prst="line">
            <a:avLst/>
          </a:prstGeom>
          <a:noFill/>
          <a:ln w="19050">
            <a:solidFill>
              <a:srgbClr val="13294B"/>
            </a:solidFill>
            <a:prstDash val="solid"/>
            <a:tailEnd type="triangle"/>
          </a:ln>
        </p:spPr>
        <p:txBody>
          <a:bodyPr/>
          <a:lstStyle/>
          <a:p>
            <a:endParaRPr lang="es-CL"/>
          </a:p>
        </p:txBody>
      </p:sp>
      <p:sp>
        <p:nvSpPr>
          <p:cNvPr id="15" name="Shape 13"/>
          <p:cNvSpPr/>
          <p:nvPr/>
        </p:nvSpPr>
        <p:spPr>
          <a:xfrm>
            <a:off x="7040880" y="2788920"/>
            <a:ext cx="822960" cy="0"/>
          </a:xfrm>
          <a:prstGeom prst="line">
            <a:avLst/>
          </a:prstGeom>
          <a:noFill/>
          <a:ln w="19050">
            <a:solidFill>
              <a:srgbClr val="13294B"/>
            </a:solidFill>
            <a:prstDash val="solid"/>
            <a:tailEnd type="triangle"/>
          </a:ln>
        </p:spPr>
        <p:txBody>
          <a:bodyPr/>
          <a:lstStyle/>
          <a:p>
            <a:endParaRPr lang="es-CL"/>
          </a:p>
        </p:txBody>
      </p:sp>
      <p:sp>
        <p:nvSpPr>
          <p:cNvPr id="22" name="Shape 20"/>
          <p:cNvSpPr/>
          <p:nvPr/>
        </p:nvSpPr>
        <p:spPr>
          <a:xfrm>
            <a:off x="2090000" y="4011929"/>
            <a:ext cx="2624328" cy="1143000"/>
          </a:xfrm>
          <a:prstGeom prst="rect">
            <a:avLst/>
          </a:prstGeom>
          <a:solidFill>
            <a:srgbClr val="FFFFFF"/>
          </a:solidFill>
          <a:ln w="9525">
            <a:solidFill>
              <a:srgbClr val="D7DCE3"/>
            </a:solidFill>
            <a:prstDash val="solid"/>
          </a:ln>
        </p:spPr>
        <p:txBody>
          <a:bodyPr/>
          <a:lstStyle/>
          <a:p>
            <a:endParaRPr lang="es-CL"/>
          </a:p>
        </p:txBody>
      </p:sp>
      <p:sp>
        <p:nvSpPr>
          <p:cNvPr id="23" name="Text 21"/>
          <p:cNvSpPr txBox="1"/>
          <p:nvPr/>
        </p:nvSpPr>
        <p:spPr>
          <a:xfrm>
            <a:off x="2090000" y="4034789"/>
            <a:ext cx="2441448" cy="548640"/>
          </a:xfrm>
          <a:prstGeom prst="rect">
            <a:avLst/>
          </a:prstGeom>
          <a:noFill/>
          <a:ln/>
        </p:spPr>
        <p:txBody>
          <a:bodyPr wrap="square" lIns="0" tIns="0" rIns="0" bIns="0" rtlCol="0" anchor="ctr"/>
          <a:lstStyle/>
          <a:p>
            <a:pPr marL="0" indent="0" algn="ctr">
              <a:buNone/>
            </a:pPr>
            <a:r>
              <a:rPr lang="en-US" sz="2600" b="1" dirty="0">
                <a:solidFill>
                  <a:srgbClr val="2F855A"/>
                </a:solidFill>
                <a:latin typeface="Cambria" pitchFamily="34" charset="0"/>
                <a:ea typeface="Cambria" pitchFamily="34" charset="-122"/>
                <a:cs typeface="Cambria" pitchFamily="34" charset="-120"/>
              </a:rPr>
              <a:t>Web</a:t>
            </a:r>
            <a:endParaRPr lang="en-US" sz="2600" dirty="0"/>
          </a:p>
        </p:txBody>
      </p:sp>
      <p:sp>
        <p:nvSpPr>
          <p:cNvPr id="24" name="Text 22"/>
          <p:cNvSpPr txBox="1"/>
          <p:nvPr/>
        </p:nvSpPr>
        <p:spPr>
          <a:xfrm>
            <a:off x="2135720" y="4565141"/>
            <a:ext cx="2350008" cy="434340"/>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prueba de punta a punta: login, reserva, reagendar y anular</a:t>
            </a:r>
            <a:endParaRPr lang="en-US" sz="1150" dirty="0"/>
          </a:p>
        </p:txBody>
      </p:sp>
      <p:sp>
        <p:nvSpPr>
          <p:cNvPr id="25" name="Shape 23"/>
          <p:cNvSpPr/>
          <p:nvPr/>
        </p:nvSpPr>
        <p:spPr>
          <a:xfrm>
            <a:off x="6078772" y="4034789"/>
            <a:ext cx="2624328" cy="1143000"/>
          </a:xfrm>
          <a:prstGeom prst="rect">
            <a:avLst/>
          </a:prstGeom>
          <a:solidFill>
            <a:srgbClr val="FFFFFF"/>
          </a:solidFill>
          <a:ln w="9525">
            <a:solidFill>
              <a:srgbClr val="D7DCE3"/>
            </a:solidFill>
            <a:prstDash val="solid"/>
          </a:ln>
        </p:spPr>
        <p:txBody>
          <a:bodyPr/>
          <a:lstStyle/>
          <a:p>
            <a:endParaRPr lang="es-CL"/>
          </a:p>
        </p:txBody>
      </p:sp>
      <p:sp>
        <p:nvSpPr>
          <p:cNvPr id="26" name="Text 24"/>
          <p:cNvSpPr txBox="1"/>
          <p:nvPr/>
        </p:nvSpPr>
        <p:spPr>
          <a:xfrm>
            <a:off x="6189295" y="4178808"/>
            <a:ext cx="2441448" cy="548640"/>
          </a:xfrm>
          <a:prstGeom prst="rect">
            <a:avLst/>
          </a:prstGeom>
          <a:noFill/>
          <a:ln/>
        </p:spPr>
        <p:txBody>
          <a:bodyPr wrap="square" lIns="0" tIns="0" rIns="0" bIns="0" rtlCol="0" anchor="ctr"/>
          <a:lstStyle/>
          <a:p>
            <a:pPr marL="0" indent="0" algn="ctr">
              <a:buNone/>
            </a:pPr>
            <a:r>
              <a:rPr lang="en-US" sz="2600" b="1" dirty="0">
                <a:solidFill>
                  <a:srgbClr val="2F855A"/>
                </a:solidFill>
                <a:latin typeface="Cambria" pitchFamily="34" charset="0"/>
                <a:ea typeface="Cambria" pitchFamily="34" charset="-122"/>
                <a:cs typeface="Cambria" pitchFamily="34" charset="-120"/>
              </a:rPr>
              <a:t>App</a:t>
            </a:r>
            <a:endParaRPr lang="en-US" sz="2600" dirty="0"/>
          </a:p>
        </p:txBody>
      </p:sp>
      <p:sp>
        <p:nvSpPr>
          <p:cNvPr id="27" name="Text 25"/>
          <p:cNvSpPr txBox="1"/>
          <p:nvPr/>
        </p:nvSpPr>
        <p:spPr>
          <a:xfrm>
            <a:off x="6228654" y="4703791"/>
            <a:ext cx="2350008" cy="434340"/>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compila sin errores (Gradle)</a:t>
            </a:r>
            <a:endParaRPr lang="en-US" sz="1150" dirty="0"/>
          </a:p>
        </p:txBody>
      </p:sp>
      <p:sp>
        <p:nvSpPr>
          <p:cNvPr id="28" name="Shape 26"/>
          <p:cNvSpPr/>
          <p:nvPr/>
        </p:nvSpPr>
        <p:spPr>
          <a:xfrm>
            <a:off x="548640" y="5394960"/>
            <a:ext cx="11064240" cy="822960"/>
          </a:xfrm>
          <a:prstGeom prst="rect">
            <a:avLst/>
          </a:prstGeom>
          <a:solidFill>
            <a:srgbClr val="EEF1F5"/>
          </a:solidFill>
          <a:ln w="9525">
            <a:solidFill>
              <a:srgbClr val="D7DCE3"/>
            </a:solidFill>
            <a:prstDash val="solid"/>
          </a:ln>
        </p:spPr>
        <p:txBody>
          <a:bodyPr/>
          <a:lstStyle/>
          <a:p>
            <a:endParaRPr lang="es-CL"/>
          </a:p>
        </p:txBody>
      </p:sp>
      <p:sp>
        <p:nvSpPr>
          <p:cNvPr id="29" name="Text 27"/>
          <p:cNvSpPr txBox="1"/>
          <p:nvPr/>
        </p:nvSpPr>
        <p:spPr>
          <a:xfrm>
            <a:off x="685800" y="5413248"/>
            <a:ext cx="10789920" cy="786384"/>
          </a:xfrm>
          <a:prstGeom prst="rect">
            <a:avLst/>
          </a:prstGeom>
          <a:noFill/>
          <a:ln/>
        </p:spPr>
        <p:txBody>
          <a:bodyPr wrap="square" lIns="0" tIns="0" rIns="0" bIns="0" rtlCol="0" anchor="ctr"/>
          <a:lstStyle/>
          <a:p>
            <a:pPr marL="0" indent="0">
              <a:buNone/>
            </a:pPr>
            <a:r>
              <a:rPr lang="en-US" sz="1200" b="1" dirty="0">
                <a:solidFill>
                  <a:srgbClr val="13294B"/>
                </a:solidFill>
                <a:latin typeface="Calibri" pitchFamily="34" charset="0"/>
                <a:ea typeface="Calibri" pitchFamily="34" charset="-122"/>
                <a:cs typeface="Calibri" pitchFamily="34" charset="-120"/>
              </a:rPr>
              <a:t>Reglas que valida la base de datos: </a:t>
            </a:r>
            <a:r>
              <a:rPr lang="en-US" sz="1200" dirty="0">
                <a:solidFill>
                  <a:srgbClr val="1E2430"/>
                </a:solidFill>
                <a:latin typeface="Calibri" pitchFamily="34" charset="0"/>
                <a:ea typeface="Calibri" pitchFamily="34" charset="-122"/>
                <a:cs typeface="Calibri" pitchFamily="34" charset="-120"/>
              </a:rPr>
              <a:t>abono desde la configuración · reagendar con 24 h y máximo 2 veces · sin horarios duplicados · pérdida del abono según quién cancela · auditoría de accesos.</a:t>
            </a:r>
            <a:endParaRPr lang="en-US" sz="1200" dirty="0"/>
          </a:p>
        </p:txBody>
      </p:sp>
      <p:sp>
        <p:nvSpPr>
          <p:cNvPr id="30"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INDICADORES</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KPI más relevantes: el problema y el impacto esperado</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Línea base del día peak entregada por el negocio; proyección con supuestos por validar (libro KPIs y Costos).</a:t>
            </a:r>
            <a:endParaRPr lang="en-US" sz="1250" dirty="0"/>
          </a:p>
        </p:txBody>
      </p:sp>
      <p:sp>
        <p:nvSpPr>
          <p:cNvPr id="5" name="Shape 3"/>
          <p:cNvSpPr/>
          <p:nvPr/>
        </p:nvSpPr>
        <p:spPr>
          <a:xfrm>
            <a:off x="548640" y="1783080"/>
            <a:ext cx="2624328" cy="1188720"/>
          </a:xfrm>
          <a:prstGeom prst="rect">
            <a:avLst/>
          </a:prstGeom>
          <a:solidFill>
            <a:srgbClr val="FFFFFF"/>
          </a:solidFill>
          <a:ln w="9525">
            <a:solidFill>
              <a:srgbClr val="D7DCE3"/>
            </a:solidFill>
            <a:prstDash val="solid"/>
          </a:ln>
        </p:spPr>
        <p:txBody>
          <a:bodyPr/>
          <a:lstStyle/>
          <a:p>
            <a:endParaRPr lang="es-CL"/>
          </a:p>
        </p:txBody>
      </p:sp>
      <p:sp>
        <p:nvSpPr>
          <p:cNvPr id="6" name="Text 4"/>
          <p:cNvSpPr txBox="1"/>
          <p:nvPr/>
        </p:nvSpPr>
        <p:spPr>
          <a:xfrm>
            <a:off x="640080" y="1892808"/>
            <a:ext cx="2441448" cy="570586"/>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130</a:t>
            </a:r>
            <a:endParaRPr lang="en-US" sz="2600" dirty="0"/>
          </a:p>
        </p:txBody>
      </p:sp>
      <p:sp>
        <p:nvSpPr>
          <p:cNvPr id="7" name="Text 5"/>
          <p:cNvSpPr txBox="1"/>
          <p:nvPr/>
        </p:nvSpPr>
        <p:spPr>
          <a:xfrm>
            <a:off x="685800" y="2448763"/>
            <a:ext cx="2350008" cy="451714"/>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clientes atendidos en un día peak (3 sucursales)</a:t>
            </a:r>
            <a:endParaRPr lang="en-US" sz="1150" dirty="0"/>
          </a:p>
        </p:txBody>
      </p:sp>
      <p:sp>
        <p:nvSpPr>
          <p:cNvPr id="8" name="Shape 6"/>
          <p:cNvSpPr/>
          <p:nvPr/>
        </p:nvSpPr>
        <p:spPr>
          <a:xfrm>
            <a:off x="3355848" y="1783080"/>
            <a:ext cx="2624328" cy="1188720"/>
          </a:xfrm>
          <a:prstGeom prst="rect">
            <a:avLst/>
          </a:prstGeom>
          <a:solidFill>
            <a:srgbClr val="FFFFFF"/>
          </a:solidFill>
          <a:ln w="9525">
            <a:solidFill>
              <a:srgbClr val="D7DCE3"/>
            </a:solidFill>
            <a:prstDash val="solid"/>
          </a:ln>
        </p:spPr>
        <p:txBody>
          <a:bodyPr/>
          <a:lstStyle/>
          <a:p>
            <a:endParaRPr lang="es-CL"/>
          </a:p>
        </p:txBody>
      </p:sp>
      <p:sp>
        <p:nvSpPr>
          <p:cNvPr id="9" name="Text 7"/>
          <p:cNvSpPr txBox="1"/>
          <p:nvPr/>
        </p:nvSpPr>
        <p:spPr>
          <a:xfrm>
            <a:off x="3447288" y="1892808"/>
            <a:ext cx="2441448" cy="570586"/>
          </a:xfrm>
          <a:prstGeom prst="rect">
            <a:avLst/>
          </a:prstGeom>
          <a:noFill/>
          <a:ln/>
        </p:spPr>
        <p:txBody>
          <a:bodyPr wrap="square" lIns="0" tIns="0" rIns="0" bIns="0" rtlCol="0" anchor="ctr"/>
          <a:lstStyle/>
          <a:p>
            <a:pPr marL="0" indent="0" algn="ctr">
              <a:buNone/>
            </a:pPr>
            <a:r>
              <a:rPr lang="en-US" sz="2600" b="1" dirty="0">
                <a:solidFill>
                  <a:srgbClr val="B83A3A"/>
                </a:solidFill>
                <a:latin typeface="Cambria" pitchFamily="34" charset="0"/>
                <a:ea typeface="Cambria" pitchFamily="34" charset="-122"/>
                <a:cs typeface="Cambria" pitchFamily="34" charset="-120"/>
              </a:rPr>
              <a:t>16,7%</a:t>
            </a:r>
            <a:endParaRPr lang="en-US" sz="2600" dirty="0"/>
          </a:p>
        </p:txBody>
      </p:sp>
      <p:sp>
        <p:nvSpPr>
          <p:cNvPr id="10" name="Text 8"/>
          <p:cNvSpPr txBox="1"/>
          <p:nvPr/>
        </p:nvSpPr>
        <p:spPr>
          <a:xfrm>
            <a:off x="3493008" y="2448763"/>
            <a:ext cx="2350008" cy="451714"/>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se van sin atención: 26 clientes por día peak</a:t>
            </a:r>
            <a:endParaRPr lang="en-US" sz="1150" dirty="0"/>
          </a:p>
        </p:txBody>
      </p:sp>
      <p:sp>
        <p:nvSpPr>
          <p:cNvPr id="11" name="Shape 9"/>
          <p:cNvSpPr/>
          <p:nvPr/>
        </p:nvSpPr>
        <p:spPr>
          <a:xfrm>
            <a:off x="6163056" y="1783080"/>
            <a:ext cx="2624328" cy="1188720"/>
          </a:xfrm>
          <a:prstGeom prst="rect">
            <a:avLst/>
          </a:prstGeom>
          <a:solidFill>
            <a:srgbClr val="FFFFFF"/>
          </a:solidFill>
          <a:ln w="9525">
            <a:solidFill>
              <a:srgbClr val="D7DCE3"/>
            </a:solidFill>
            <a:prstDash val="solid"/>
          </a:ln>
        </p:spPr>
        <p:txBody>
          <a:bodyPr/>
          <a:lstStyle/>
          <a:p>
            <a:endParaRPr lang="es-CL"/>
          </a:p>
        </p:txBody>
      </p:sp>
      <p:sp>
        <p:nvSpPr>
          <p:cNvPr id="12" name="Text 10"/>
          <p:cNvSpPr txBox="1"/>
          <p:nvPr/>
        </p:nvSpPr>
        <p:spPr>
          <a:xfrm>
            <a:off x="6254496" y="1892808"/>
            <a:ext cx="2441448" cy="570586"/>
          </a:xfrm>
          <a:prstGeom prst="rect">
            <a:avLst/>
          </a:prstGeom>
          <a:noFill/>
          <a:ln/>
        </p:spPr>
        <p:txBody>
          <a:bodyPr wrap="square" lIns="0" tIns="0" rIns="0" bIns="0" rtlCol="0" anchor="ctr"/>
          <a:lstStyle/>
          <a:p>
            <a:pPr marL="0" indent="0" algn="ctr">
              <a:buNone/>
            </a:pPr>
            <a:r>
              <a:rPr lang="en-US" sz="2600" b="1" dirty="0">
                <a:solidFill>
                  <a:srgbClr val="B83A3A"/>
                </a:solidFill>
                <a:latin typeface="Cambria" pitchFamily="34" charset="0"/>
                <a:ea typeface="Cambria" pitchFamily="34" charset="-122"/>
                <a:cs typeface="Cambria" pitchFamily="34" charset="-120"/>
              </a:rPr>
              <a:t>4.326</a:t>
            </a:r>
            <a:endParaRPr lang="en-US" sz="2600" dirty="0"/>
          </a:p>
        </p:txBody>
      </p:sp>
      <p:sp>
        <p:nvSpPr>
          <p:cNvPr id="13" name="Text 11"/>
          <p:cNvSpPr txBox="1"/>
          <p:nvPr/>
        </p:nvSpPr>
        <p:spPr>
          <a:xfrm>
            <a:off x="6300216" y="2448763"/>
            <a:ext cx="2350008" cy="451714"/>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clientes perdidos al año</a:t>
            </a:r>
            <a:endParaRPr lang="en-US" sz="1150" dirty="0"/>
          </a:p>
        </p:txBody>
      </p:sp>
      <p:sp>
        <p:nvSpPr>
          <p:cNvPr id="14" name="Shape 12"/>
          <p:cNvSpPr/>
          <p:nvPr/>
        </p:nvSpPr>
        <p:spPr>
          <a:xfrm>
            <a:off x="8970264" y="1783080"/>
            <a:ext cx="2624328" cy="1188720"/>
          </a:xfrm>
          <a:prstGeom prst="rect">
            <a:avLst/>
          </a:prstGeom>
          <a:solidFill>
            <a:srgbClr val="FFFFFF"/>
          </a:solidFill>
          <a:ln w="9525">
            <a:solidFill>
              <a:srgbClr val="D7DCE3"/>
            </a:solidFill>
            <a:prstDash val="solid"/>
          </a:ln>
        </p:spPr>
        <p:txBody>
          <a:bodyPr/>
          <a:lstStyle/>
          <a:p>
            <a:endParaRPr lang="es-CL"/>
          </a:p>
        </p:txBody>
      </p:sp>
      <p:sp>
        <p:nvSpPr>
          <p:cNvPr id="15" name="Text 13"/>
          <p:cNvSpPr txBox="1"/>
          <p:nvPr/>
        </p:nvSpPr>
        <p:spPr>
          <a:xfrm>
            <a:off x="9061704" y="1892808"/>
            <a:ext cx="2441448" cy="570586"/>
          </a:xfrm>
          <a:prstGeom prst="rect">
            <a:avLst/>
          </a:prstGeom>
          <a:noFill/>
          <a:ln/>
        </p:spPr>
        <p:txBody>
          <a:bodyPr wrap="square" lIns="0" tIns="0" rIns="0" bIns="0" rtlCol="0" anchor="ctr"/>
          <a:lstStyle/>
          <a:p>
            <a:pPr marL="0" indent="0" algn="ctr">
              <a:buNone/>
            </a:pPr>
            <a:r>
              <a:rPr lang="en-US" sz="2600" b="1" dirty="0">
                <a:solidFill>
                  <a:srgbClr val="B83A3A"/>
                </a:solidFill>
                <a:latin typeface="Cambria" pitchFamily="34" charset="0"/>
                <a:ea typeface="Cambria" pitchFamily="34" charset="-122"/>
                <a:cs typeface="Cambria" pitchFamily="34" charset="-120"/>
              </a:rPr>
              <a:t>$51,5 M</a:t>
            </a:r>
            <a:endParaRPr lang="en-US" sz="2600" dirty="0"/>
          </a:p>
        </p:txBody>
      </p:sp>
      <p:sp>
        <p:nvSpPr>
          <p:cNvPr id="16" name="Text 14"/>
          <p:cNvSpPr txBox="1"/>
          <p:nvPr/>
        </p:nvSpPr>
        <p:spPr>
          <a:xfrm>
            <a:off x="9107424" y="2448763"/>
            <a:ext cx="2350008" cy="451714"/>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ingreso perdido al año (precio del corte, $11.900)</a:t>
            </a:r>
            <a:endParaRPr lang="en-US" sz="1150" dirty="0"/>
          </a:p>
        </p:txBody>
      </p:sp>
      <p:sp>
        <p:nvSpPr>
          <p:cNvPr id="17" name="Shape 15"/>
          <p:cNvSpPr/>
          <p:nvPr/>
        </p:nvSpPr>
        <p:spPr>
          <a:xfrm>
            <a:off x="548640" y="3154680"/>
            <a:ext cx="5760720" cy="3063240"/>
          </a:xfrm>
          <a:prstGeom prst="rect">
            <a:avLst/>
          </a:prstGeom>
          <a:solidFill>
            <a:srgbClr val="FFFFFF"/>
          </a:solidFill>
          <a:ln w="9525">
            <a:solidFill>
              <a:srgbClr val="D7DCE3"/>
            </a:solidFill>
            <a:prstDash val="solid"/>
          </a:ln>
        </p:spPr>
        <p:txBody>
          <a:bodyPr/>
          <a:lstStyle/>
          <a:p>
            <a:endParaRPr lang="es-CL"/>
          </a:p>
        </p:txBody>
      </p:sp>
      <p:graphicFrame>
        <p:nvGraphicFramePr>
          <p:cNvPr id="18" name="Chart 0"/>
          <p:cNvGraphicFramePr/>
          <p:nvPr/>
        </p:nvGraphicFramePr>
        <p:xfrm>
          <a:off x="685800" y="3200400"/>
          <a:ext cx="548640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19" name="Shape 16"/>
          <p:cNvSpPr/>
          <p:nvPr/>
        </p:nvSpPr>
        <p:spPr>
          <a:xfrm>
            <a:off x="6537960" y="3154680"/>
            <a:ext cx="5074920" cy="3063240"/>
          </a:xfrm>
          <a:prstGeom prst="rect">
            <a:avLst/>
          </a:prstGeom>
          <a:solidFill>
            <a:srgbClr val="EEF1F5"/>
          </a:solidFill>
          <a:ln w="9525">
            <a:solidFill>
              <a:srgbClr val="D7DCE3"/>
            </a:solidFill>
            <a:prstDash val="solid"/>
          </a:ln>
        </p:spPr>
        <p:txBody>
          <a:bodyPr/>
          <a:lstStyle/>
          <a:p>
            <a:endParaRPr lang="es-CL"/>
          </a:p>
        </p:txBody>
      </p:sp>
      <p:sp>
        <p:nvSpPr>
          <p:cNvPr id="20" name="Text 17"/>
          <p:cNvSpPr txBox="1"/>
          <p:nvPr/>
        </p:nvSpPr>
        <p:spPr>
          <a:xfrm>
            <a:off x="6720840" y="3246120"/>
            <a:ext cx="475488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Impacto esperado (escenario medio)</a:t>
            </a:r>
            <a:endParaRPr lang="en-US" sz="1400" dirty="0"/>
          </a:p>
        </p:txBody>
      </p:sp>
      <p:sp>
        <p:nvSpPr>
          <p:cNvPr id="21" name="Text 18"/>
          <p:cNvSpPr txBox="1"/>
          <p:nvPr/>
        </p:nvSpPr>
        <p:spPr>
          <a:xfrm>
            <a:off x="6720840" y="3703320"/>
            <a:ext cx="1600200" cy="502920"/>
          </a:xfrm>
          <a:prstGeom prst="rect">
            <a:avLst/>
          </a:prstGeom>
          <a:noFill/>
          <a:ln/>
        </p:spPr>
        <p:txBody>
          <a:bodyPr wrap="square" lIns="0" tIns="0" rIns="0" bIns="0" rtlCol="0" anchor="ctr"/>
          <a:lstStyle/>
          <a:p>
            <a:pPr marL="0" indent="0">
              <a:buNone/>
            </a:pPr>
            <a:r>
              <a:rPr lang="en-US" sz="1700" b="1" dirty="0">
                <a:solidFill>
                  <a:srgbClr val="2F855A"/>
                </a:solidFill>
                <a:latin typeface="Cambria" pitchFamily="34" charset="0"/>
                <a:ea typeface="Cambria" pitchFamily="34" charset="-122"/>
                <a:cs typeface="Cambria" pitchFamily="34" charset="-120"/>
              </a:rPr>
              <a:t>2.163</a:t>
            </a:r>
            <a:endParaRPr lang="en-US" sz="1700" dirty="0"/>
          </a:p>
        </p:txBody>
      </p:sp>
      <p:sp>
        <p:nvSpPr>
          <p:cNvPr id="22" name="Text 19"/>
          <p:cNvSpPr txBox="1"/>
          <p:nvPr/>
        </p:nvSpPr>
        <p:spPr>
          <a:xfrm>
            <a:off x="8366760" y="3703320"/>
            <a:ext cx="3154680" cy="502920"/>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clientes recuperados al año (50% de los que se van)</a:t>
            </a:r>
            <a:endParaRPr lang="en-US" sz="1150" dirty="0"/>
          </a:p>
        </p:txBody>
      </p:sp>
      <p:sp>
        <p:nvSpPr>
          <p:cNvPr id="23" name="Text 20"/>
          <p:cNvSpPr txBox="1"/>
          <p:nvPr/>
        </p:nvSpPr>
        <p:spPr>
          <a:xfrm>
            <a:off x="6720840" y="4306824"/>
            <a:ext cx="1600200" cy="502920"/>
          </a:xfrm>
          <a:prstGeom prst="rect">
            <a:avLst/>
          </a:prstGeom>
          <a:noFill/>
          <a:ln/>
        </p:spPr>
        <p:txBody>
          <a:bodyPr wrap="square" lIns="0" tIns="0" rIns="0" bIns="0" rtlCol="0" anchor="ctr"/>
          <a:lstStyle/>
          <a:p>
            <a:pPr marL="0" indent="0">
              <a:buNone/>
            </a:pPr>
            <a:r>
              <a:rPr lang="en-US" sz="1700" b="1" dirty="0">
                <a:solidFill>
                  <a:srgbClr val="2F855A"/>
                </a:solidFill>
                <a:latin typeface="Cambria" pitchFamily="34" charset="0"/>
                <a:ea typeface="Cambria" pitchFamily="34" charset="-122"/>
                <a:cs typeface="Cambria" pitchFamily="34" charset="-120"/>
              </a:rPr>
              <a:t>+$25,7 M</a:t>
            </a:r>
            <a:endParaRPr lang="en-US" sz="1700" dirty="0"/>
          </a:p>
        </p:txBody>
      </p:sp>
      <p:sp>
        <p:nvSpPr>
          <p:cNvPr id="24" name="Text 21"/>
          <p:cNvSpPr txBox="1"/>
          <p:nvPr/>
        </p:nvSpPr>
        <p:spPr>
          <a:xfrm>
            <a:off x="8366760" y="4306824"/>
            <a:ext cx="3154680" cy="502920"/>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ingreso bruto adicional al año</a:t>
            </a:r>
            <a:endParaRPr lang="en-US" sz="1150" dirty="0"/>
          </a:p>
        </p:txBody>
      </p:sp>
      <p:sp>
        <p:nvSpPr>
          <p:cNvPr id="25" name="Text 22"/>
          <p:cNvSpPr txBox="1"/>
          <p:nvPr/>
        </p:nvSpPr>
        <p:spPr>
          <a:xfrm>
            <a:off x="6720840" y="4910328"/>
            <a:ext cx="1600200" cy="502920"/>
          </a:xfrm>
          <a:prstGeom prst="rect">
            <a:avLst/>
          </a:prstGeom>
          <a:noFill/>
          <a:ln/>
        </p:spPr>
        <p:txBody>
          <a:bodyPr wrap="square" lIns="0" tIns="0" rIns="0" bIns="0" rtlCol="0" anchor="ctr"/>
          <a:lstStyle/>
          <a:p>
            <a:pPr marL="0" indent="0">
              <a:buNone/>
            </a:pPr>
            <a:r>
              <a:rPr lang="en-US" sz="1700" b="1" dirty="0">
                <a:solidFill>
                  <a:srgbClr val="2F855A"/>
                </a:solidFill>
                <a:latin typeface="Cambria" pitchFamily="34" charset="0"/>
                <a:ea typeface="Cambria" pitchFamily="34" charset="-122"/>
                <a:cs typeface="Cambria" pitchFamily="34" charset="-120"/>
              </a:rPr>
              <a:t>567%</a:t>
            </a:r>
            <a:endParaRPr lang="en-US" sz="1700" dirty="0"/>
          </a:p>
        </p:txBody>
      </p:sp>
      <p:sp>
        <p:nvSpPr>
          <p:cNvPr id="26" name="Text 23"/>
          <p:cNvSpPr txBox="1"/>
          <p:nvPr/>
        </p:nvSpPr>
        <p:spPr>
          <a:xfrm>
            <a:off x="8366760" y="4910328"/>
            <a:ext cx="3154680" cy="502920"/>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ROI del primer año · inversión recuperada en 1,8 meses</a:t>
            </a:r>
            <a:endParaRPr lang="en-US" sz="1150" dirty="0"/>
          </a:p>
        </p:txBody>
      </p:sp>
      <p:sp>
        <p:nvSpPr>
          <p:cNvPr id="27" name="Text 24"/>
          <p:cNvSpPr txBox="1"/>
          <p:nvPr/>
        </p:nvSpPr>
        <p:spPr>
          <a:xfrm>
            <a:off x="6720840" y="5513832"/>
            <a:ext cx="1600200" cy="502920"/>
          </a:xfrm>
          <a:prstGeom prst="rect">
            <a:avLst/>
          </a:prstGeom>
          <a:noFill/>
          <a:ln/>
        </p:spPr>
        <p:txBody>
          <a:bodyPr wrap="square" lIns="0" tIns="0" rIns="0" bIns="0" rtlCol="0" anchor="ctr"/>
          <a:lstStyle/>
          <a:p>
            <a:pPr marL="0" indent="0">
              <a:buNone/>
            </a:pPr>
            <a:r>
              <a:rPr lang="en-US" sz="1700" b="1" dirty="0">
                <a:solidFill>
                  <a:srgbClr val="2F855A"/>
                </a:solidFill>
                <a:latin typeface="Cambria" pitchFamily="34" charset="0"/>
                <a:ea typeface="Cambria" pitchFamily="34" charset="-122"/>
                <a:cs typeface="Cambria" pitchFamily="34" charset="-120"/>
              </a:rPr>
              <a:t>15% → 5%</a:t>
            </a:r>
            <a:endParaRPr lang="en-US" sz="1700" dirty="0"/>
          </a:p>
        </p:txBody>
      </p:sp>
      <p:sp>
        <p:nvSpPr>
          <p:cNvPr id="28" name="Text 25"/>
          <p:cNvSpPr txBox="1"/>
          <p:nvPr/>
        </p:nvSpPr>
        <p:spPr>
          <a:xfrm>
            <a:off x="8366760" y="5513832"/>
            <a:ext cx="3154680" cy="502920"/>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no-show esperado al exigir el abono de $3.000</a:t>
            </a:r>
            <a:endParaRPr lang="en-US" sz="1150" dirty="0"/>
          </a:p>
        </p:txBody>
      </p:sp>
      <p:sp>
        <p:nvSpPr>
          <p:cNvPr id="29"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CONTROL · RIESGOS</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Matriz de riesgos 3 × 3</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Riesgos actuales y los que pueden presentarse hasta el cierre del proyecto (S16): probabilidad versus impacto (Project Management Institute [PMI], 2021).</a:t>
            </a:r>
            <a:endParaRPr lang="en-US" sz="1250" dirty="0"/>
          </a:p>
        </p:txBody>
      </p:sp>
      <p:sp>
        <p:nvSpPr>
          <p:cNvPr id="5" name="Shape 3"/>
          <p:cNvSpPr/>
          <p:nvPr/>
        </p:nvSpPr>
        <p:spPr>
          <a:xfrm>
            <a:off x="1325880" y="1828800"/>
            <a:ext cx="1563624" cy="1197864"/>
          </a:xfrm>
          <a:prstGeom prst="rect">
            <a:avLst/>
          </a:prstGeom>
          <a:solidFill>
            <a:srgbClr val="F5E6CC"/>
          </a:solidFill>
          <a:ln w="12700">
            <a:solidFill>
              <a:srgbClr val="FFFFFF"/>
            </a:solidFill>
            <a:prstDash val="solid"/>
          </a:ln>
        </p:spPr>
        <p:txBody>
          <a:bodyPr/>
          <a:lstStyle/>
          <a:p>
            <a:endParaRPr lang="es-CL"/>
          </a:p>
        </p:txBody>
      </p:sp>
      <p:sp>
        <p:nvSpPr>
          <p:cNvPr id="6" name="Shape 4"/>
          <p:cNvSpPr/>
          <p:nvPr/>
        </p:nvSpPr>
        <p:spPr>
          <a:xfrm>
            <a:off x="2926080" y="1828800"/>
            <a:ext cx="1563624" cy="1197864"/>
          </a:xfrm>
          <a:prstGeom prst="rect">
            <a:avLst/>
          </a:prstGeom>
          <a:solidFill>
            <a:srgbClr val="F2D4D4"/>
          </a:solidFill>
          <a:ln w="12700">
            <a:solidFill>
              <a:srgbClr val="FFFFFF"/>
            </a:solidFill>
            <a:prstDash val="solid"/>
          </a:ln>
        </p:spPr>
        <p:txBody>
          <a:bodyPr/>
          <a:lstStyle/>
          <a:p>
            <a:endParaRPr lang="es-CL"/>
          </a:p>
        </p:txBody>
      </p:sp>
      <p:sp>
        <p:nvSpPr>
          <p:cNvPr id="7" name="Shape 5"/>
          <p:cNvSpPr/>
          <p:nvPr/>
        </p:nvSpPr>
        <p:spPr>
          <a:xfrm>
            <a:off x="4526280" y="1828800"/>
            <a:ext cx="1563624" cy="1197864"/>
          </a:xfrm>
          <a:prstGeom prst="rect">
            <a:avLst/>
          </a:prstGeom>
          <a:solidFill>
            <a:srgbClr val="F2D4D4"/>
          </a:solidFill>
          <a:ln w="12700">
            <a:solidFill>
              <a:srgbClr val="FFFFFF"/>
            </a:solidFill>
            <a:prstDash val="solid"/>
          </a:ln>
        </p:spPr>
        <p:txBody>
          <a:bodyPr/>
          <a:lstStyle/>
          <a:p>
            <a:endParaRPr lang="es-CL"/>
          </a:p>
        </p:txBody>
      </p:sp>
      <p:sp>
        <p:nvSpPr>
          <p:cNvPr id="8" name="Shape 6"/>
          <p:cNvSpPr/>
          <p:nvPr/>
        </p:nvSpPr>
        <p:spPr>
          <a:xfrm>
            <a:off x="4636008" y="1956816"/>
            <a:ext cx="420624" cy="420624"/>
          </a:xfrm>
          <a:prstGeom prst="ellipse">
            <a:avLst/>
          </a:prstGeom>
          <a:solidFill>
            <a:srgbClr val="B83A3A"/>
          </a:solidFill>
          <a:ln w="12700">
            <a:solidFill>
              <a:srgbClr val="FFFFFF"/>
            </a:solidFill>
            <a:prstDash val="solid"/>
          </a:ln>
        </p:spPr>
        <p:txBody>
          <a:bodyPr/>
          <a:lstStyle/>
          <a:p>
            <a:endParaRPr lang="es-CL"/>
          </a:p>
        </p:txBody>
      </p:sp>
      <p:sp>
        <p:nvSpPr>
          <p:cNvPr id="9" name="Text 7"/>
          <p:cNvSpPr txBox="1"/>
          <p:nvPr/>
        </p:nvSpPr>
        <p:spPr>
          <a:xfrm>
            <a:off x="4636008" y="195681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325880" y="3063240"/>
            <a:ext cx="1563624" cy="1197864"/>
          </a:xfrm>
          <a:prstGeom prst="rect">
            <a:avLst/>
          </a:prstGeom>
          <a:solidFill>
            <a:srgbClr val="D8EBDF"/>
          </a:solidFill>
          <a:ln w="12700">
            <a:solidFill>
              <a:srgbClr val="FFFFFF"/>
            </a:solidFill>
            <a:prstDash val="solid"/>
          </a:ln>
        </p:spPr>
        <p:txBody>
          <a:bodyPr/>
          <a:lstStyle/>
          <a:p>
            <a:endParaRPr lang="es-CL"/>
          </a:p>
        </p:txBody>
      </p:sp>
      <p:sp>
        <p:nvSpPr>
          <p:cNvPr id="11" name="Shape 9"/>
          <p:cNvSpPr/>
          <p:nvPr/>
        </p:nvSpPr>
        <p:spPr>
          <a:xfrm>
            <a:off x="2926080" y="3063240"/>
            <a:ext cx="1563624" cy="1197864"/>
          </a:xfrm>
          <a:prstGeom prst="rect">
            <a:avLst/>
          </a:prstGeom>
          <a:solidFill>
            <a:srgbClr val="F5E6CC"/>
          </a:solidFill>
          <a:ln w="12700">
            <a:solidFill>
              <a:srgbClr val="FFFFFF"/>
            </a:solidFill>
            <a:prstDash val="solid"/>
          </a:ln>
        </p:spPr>
        <p:txBody>
          <a:bodyPr/>
          <a:lstStyle/>
          <a:p>
            <a:endParaRPr lang="es-CL"/>
          </a:p>
        </p:txBody>
      </p:sp>
      <p:sp>
        <p:nvSpPr>
          <p:cNvPr id="12" name="Shape 10"/>
          <p:cNvSpPr/>
          <p:nvPr/>
        </p:nvSpPr>
        <p:spPr>
          <a:xfrm>
            <a:off x="3035808" y="3191256"/>
            <a:ext cx="420624" cy="420624"/>
          </a:xfrm>
          <a:prstGeom prst="ellipse">
            <a:avLst/>
          </a:prstGeom>
          <a:solidFill>
            <a:srgbClr val="B5762A"/>
          </a:solidFill>
          <a:ln w="12700">
            <a:solidFill>
              <a:srgbClr val="FFFFFF"/>
            </a:solidFill>
            <a:prstDash val="solid"/>
          </a:ln>
        </p:spPr>
        <p:txBody>
          <a:bodyPr/>
          <a:lstStyle/>
          <a:p>
            <a:endParaRPr lang="es-CL"/>
          </a:p>
        </p:txBody>
      </p:sp>
      <p:sp>
        <p:nvSpPr>
          <p:cNvPr id="13" name="Text 11"/>
          <p:cNvSpPr txBox="1"/>
          <p:nvPr/>
        </p:nvSpPr>
        <p:spPr>
          <a:xfrm>
            <a:off x="3035808" y="319125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4" name="Shape 12"/>
          <p:cNvSpPr/>
          <p:nvPr/>
        </p:nvSpPr>
        <p:spPr>
          <a:xfrm>
            <a:off x="3529584" y="3191256"/>
            <a:ext cx="420624" cy="420624"/>
          </a:xfrm>
          <a:prstGeom prst="ellipse">
            <a:avLst/>
          </a:prstGeom>
          <a:solidFill>
            <a:srgbClr val="B5762A"/>
          </a:solidFill>
          <a:ln w="12700">
            <a:solidFill>
              <a:srgbClr val="FFFFFF"/>
            </a:solidFill>
            <a:prstDash val="solid"/>
          </a:ln>
        </p:spPr>
        <p:txBody>
          <a:bodyPr/>
          <a:lstStyle/>
          <a:p>
            <a:endParaRPr lang="es-CL"/>
          </a:p>
        </p:txBody>
      </p:sp>
      <p:sp>
        <p:nvSpPr>
          <p:cNvPr id="15" name="Text 13"/>
          <p:cNvSpPr txBox="1"/>
          <p:nvPr/>
        </p:nvSpPr>
        <p:spPr>
          <a:xfrm>
            <a:off x="3529584" y="319125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6" name="Shape 14"/>
          <p:cNvSpPr/>
          <p:nvPr/>
        </p:nvSpPr>
        <p:spPr>
          <a:xfrm>
            <a:off x="4023360" y="3191256"/>
            <a:ext cx="420624" cy="420624"/>
          </a:xfrm>
          <a:prstGeom prst="ellipse">
            <a:avLst/>
          </a:prstGeom>
          <a:solidFill>
            <a:srgbClr val="B5762A"/>
          </a:solidFill>
          <a:ln w="12700">
            <a:solidFill>
              <a:srgbClr val="FFFFFF"/>
            </a:solidFill>
            <a:prstDash val="solid"/>
          </a:ln>
        </p:spPr>
        <p:txBody>
          <a:bodyPr/>
          <a:lstStyle/>
          <a:p>
            <a:endParaRPr lang="es-CL"/>
          </a:p>
        </p:txBody>
      </p:sp>
      <p:sp>
        <p:nvSpPr>
          <p:cNvPr id="17" name="Text 15"/>
          <p:cNvSpPr txBox="1"/>
          <p:nvPr/>
        </p:nvSpPr>
        <p:spPr>
          <a:xfrm>
            <a:off x="4023360" y="319125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18" name="Shape 16"/>
          <p:cNvSpPr/>
          <p:nvPr/>
        </p:nvSpPr>
        <p:spPr>
          <a:xfrm>
            <a:off x="3035808" y="3703320"/>
            <a:ext cx="420624" cy="420624"/>
          </a:xfrm>
          <a:prstGeom prst="ellipse">
            <a:avLst/>
          </a:prstGeom>
          <a:solidFill>
            <a:srgbClr val="B5762A"/>
          </a:solidFill>
          <a:ln w="12700">
            <a:solidFill>
              <a:srgbClr val="FFFFFF"/>
            </a:solidFill>
            <a:prstDash val="solid"/>
          </a:ln>
        </p:spPr>
        <p:txBody>
          <a:bodyPr/>
          <a:lstStyle/>
          <a:p>
            <a:endParaRPr lang="es-CL"/>
          </a:p>
        </p:txBody>
      </p:sp>
      <p:sp>
        <p:nvSpPr>
          <p:cNvPr id="19" name="Text 17"/>
          <p:cNvSpPr txBox="1"/>
          <p:nvPr/>
        </p:nvSpPr>
        <p:spPr>
          <a:xfrm>
            <a:off x="3035808" y="3703320"/>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20" name="Shape 18"/>
          <p:cNvSpPr/>
          <p:nvPr/>
        </p:nvSpPr>
        <p:spPr>
          <a:xfrm>
            <a:off x="4526280" y="3063240"/>
            <a:ext cx="1563624" cy="1197864"/>
          </a:xfrm>
          <a:prstGeom prst="rect">
            <a:avLst/>
          </a:prstGeom>
          <a:solidFill>
            <a:srgbClr val="F2D4D4"/>
          </a:solidFill>
          <a:ln w="12700">
            <a:solidFill>
              <a:srgbClr val="FFFFFF"/>
            </a:solidFill>
            <a:prstDash val="solid"/>
          </a:ln>
        </p:spPr>
        <p:txBody>
          <a:bodyPr/>
          <a:lstStyle/>
          <a:p>
            <a:endParaRPr lang="es-CL"/>
          </a:p>
        </p:txBody>
      </p:sp>
      <p:sp>
        <p:nvSpPr>
          <p:cNvPr id="21" name="Shape 19"/>
          <p:cNvSpPr/>
          <p:nvPr/>
        </p:nvSpPr>
        <p:spPr>
          <a:xfrm>
            <a:off x="4636008" y="3191256"/>
            <a:ext cx="420624" cy="420624"/>
          </a:xfrm>
          <a:prstGeom prst="ellipse">
            <a:avLst/>
          </a:prstGeom>
          <a:solidFill>
            <a:srgbClr val="B83A3A"/>
          </a:solidFill>
          <a:ln w="12700">
            <a:solidFill>
              <a:srgbClr val="FFFFFF"/>
            </a:solidFill>
            <a:prstDash val="solid"/>
          </a:ln>
        </p:spPr>
        <p:txBody>
          <a:bodyPr/>
          <a:lstStyle/>
          <a:p>
            <a:endParaRPr lang="es-CL"/>
          </a:p>
        </p:txBody>
      </p:sp>
      <p:sp>
        <p:nvSpPr>
          <p:cNvPr id="22" name="Text 20"/>
          <p:cNvSpPr txBox="1"/>
          <p:nvPr/>
        </p:nvSpPr>
        <p:spPr>
          <a:xfrm>
            <a:off x="4636008" y="319125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3" name="Shape 21"/>
          <p:cNvSpPr/>
          <p:nvPr/>
        </p:nvSpPr>
        <p:spPr>
          <a:xfrm>
            <a:off x="5129784" y="3191256"/>
            <a:ext cx="420624" cy="420624"/>
          </a:xfrm>
          <a:prstGeom prst="ellipse">
            <a:avLst/>
          </a:prstGeom>
          <a:solidFill>
            <a:srgbClr val="B83A3A"/>
          </a:solidFill>
          <a:ln w="12700">
            <a:solidFill>
              <a:srgbClr val="FFFFFF"/>
            </a:solidFill>
            <a:prstDash val="solid"/>
          </a:ln>
        </p:spPr>
        <p:txBody>
          <a:bodyPr/>
          <a:lstStyle/>
          <a:p>
            <a:endParaRPr lang="es-CL"/>
          </a:p>
        </p:txBody>
      </p:sp>
      <p:sp>
        <p:nvSpPr>
          <p:cNvPr id="24" name="Text 22"/>
          <p:cNvSpPr txBox="1"/>
          <p:nvPr/>
        </p:nvSpPr>
        <p:spPr>
          <a:xfrm>
            <a:off x="5129784" y="319125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5" name="Shape 23"/>
          <p:cNvSpPr/>
          <p:nvPr/>
        </p:nvSpPr>
        <p:spPr>
          <a:xfrm>
            <a:off x="1325880" y="4297680"/>
            <a:ext cx="1563624" cy="1197864"/>
          </a:xfrm>
          <a:prstGeom prst="rect">
            <a:avLst/>
          </a:prstGeom>
          <a:solidFill>
            <a:srgbClr val="D8EBDF"/>
          </a:solidFill>
          <a:ln w="12700">
            <a:solidFill>
              <a:srgbClr val="FFFFFF"/>
            </a:solidFill>
            <a:prstDash val="solid"/>
          </a:ln>
        </p:spPr>
        <p:txBody>
          <a:bodyPr/>
          <a:lstStyle/>
          <a:p>
            <a:endParaRPr lang="es-CL"/>
          </a:p>
        </p:txBody>
      </p:sp>
      <p:sp>
        <p:nvSpPr>
          <p:cNvPr id="26" name="Shape 24"/>
          <p:cNvSpPr/>
          <p:nvPr/>
        </p:nvSpPr>
        <p:spPr>
          <a:xfrm>
            <a:off x="2926080" y="4297680"/>
            <a:ext cx="1563624" cy="1197864"/>
          </a:xfrm>
          <a:prstGeom prst="rect">
            <a:avLst/>
          </a:prstGeom>
          <a:solidFill>
            <a:srgbClr val="D8EBDF"/>
          </a:solidFill>
          <a:ln w="12700">
            <a:solidFill>
              <a:srgbClr val="FFFFFF"/>
            </a:solidFill>
            <a:prstDash val="solid"/>
          </a:ln>
        </p:spPr>
        <p:txBody>
          <a:bodyPr/>
          <a:lstStyle/>
          <a:p>
            <a:endParaRPr lang="es-CL"/>
          </a:p>
        </p:txBody>
      </p:sp>
      <p:sp>
        <p:nvSpPr>
          <p:cNvPr id="27" name="Shape 25"/>
          <p:cNvSpPr/>
          <p:nvPr/>
        </p:nvSpPr>
        <p:spPr>
          <a:xfrm>
            <a:off x="4526280" y="4297680"/>
            <a:ext cx="1563624" cy="1197864"/>
          </a:xfrm>
          <a:prstGeom prst="rect">
            <a:avLst/>
          </a:prstGeom>
          <a:solidFill>
            <a:srgbClr val="F5E6CC"/>
          </a:solidFill>
          <a:ln w="12700">
            <a:solidFill>
              <a:srgbClr val="FFFFFF"/>
            </a:solidFill>
            <a:prstDash val="solid"/>
          </a:ln>
        </p:spPr>
        <p:txBody>
          <a:bodyPr/>
          <a:lstStyle/>
          <a:p>
            <a:endParaRPr lang="es-CL"/>
          </a:p>
        </p:txBody>
      </p:sp>
      <p:sp>
        <p:nvSpPr>
          <p:cNvPr id="28" name="Shape 26"/>
          <p:cNvSpPr/>
          <p:nvPr/>
        </p:nvSpPr>
        <p:spPr>
          <a:xfrm>
            <a:off x="4636008" y="4425696"/>
            <a:ext cx="420624" cy="420624"/>
          </a:xfrm>
          <a:prstGeom prst="ellipse">
            <a:avLst/>
          </a:prstGeom>
          <a:solidFill>
            <a:srgbClr val="B5762A"/>
          </a:solidFill>
          <a:ln w="12700">
            <a:solidFill>
              <a:srgbClr val="FFFFFF"/>
            </a:solidFill>
            <a:prstDash val="solid"/>
          </a:ln>
        </p:spPr>
        <p:txBody>
          <a:bodyPr/>
          <a:lstStyle/>
          <a:p>
            <a:endParaRPr lang="es-CL"/>
          </a:p>
        </p:txBody>
      </p:sp>
      <p:sp>
        <p:nvSpPr>
          <p:cNvPr id="29" name="Text 27"/>
          <p:cNvSpPr txBox="1"/>
          <p:nvPr/>
        </p:nvSpPr>
        <p:spPr>
          <a:xfrm>
            <a:off x="4636008" y="442569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0" name="Text 28"/>
          <p:cNvSpPr txBox="1"/>
          <p:nvPr/>
        </p:nvSpPr>
        <p:spPr>
          <a:xfrm>
            <a:off x="777240" y="1828800"/>
            <a:ext cx="502920" cy="1234440"/>
          </a:xfrm>
          <a:prstGeom prst="rect">
            <a:avLst/>
          </a:prstGeom>
          <a:noFill/>
          <a:ln/>
        </p:spPr>
        <p:txBody>
          <a:bodyPr wrap="square" lIns="0" tIns="0" rIns="0" bIns="0" rtlCol="0" anchor="ctr"/>
          <a:lstStyle/>
          <a:p>
            <a:pPr marL="0" indent="0" algn="r">
              <a:buNone/>
            </a:pPr>
            <a:r>
              <a:rPr lang="en-US" sz="1100" b="1" dirty="0">
                <a:solidFill>
                  <a:srgbClr val="1E2430"/>
                </a:solidFill>
                <a:latin typeface="Calibri" pitchFamily="34" charset="0"/>
                <a:ea typeface="Calibri" pitchFamily="34" charset="-122"/>
                <a:cs typeface="Calibri" pitchFamily="34" charset="-120"/>
              </a:rPr>
              <a:t>Alta</a:t>
            </a:r>
            <a:endParaRPr lang="en-US" sz="1100" dirty="0"/>
          </a:p>
        </p:txBody>
      </p:sp>
      <p:sp>
        <p:nvSpPr>
          <p:cNvPr id="31" name="Text 29"/>
          <p:cNvSpPr txBox="1"/>
          <p:nvPr/>
        </p:nvSpPr>
        <p:spPr>
          <a:xfrm>
            <a:off x="777240" y="3063240"/>
            <a:ext cx="502920" cy="1234440"/>
          </a:xfrm>
          <a:prstGeom prst="rect">
            <a:avLst/>
          </a:prstGeom>
          <a:noFill/>
          <a:ln/>
        </p:spPr>
        <p:txBody>
          <a:bodyPr wrap="square" lIns="0" tIns="0" rIns="0" bIns="0" rtlCol="0" anchor="ctr"/>
          <a:lstStyle/>
          <a:p>
            <a:pPr marL="0" indent="0" algn="r">
              <a:buNone/>
            </a:pPr>
            <a:r>
              <a:rPr lang="en-US" sz="1100" b="1" dirty="0">
                <a:solidFill>
                  <a:srgbClr val="1E2430"/>
                </a:solidFill>
                <a:latin typeface="Calibri" pitchFamily="34" charset="0"/>
                <a:ea typeface="Calibri" pitchFamily="34" charset="-122"/>
                <a:cs typeface="Calibri" pitchFamily="34" charset="-120"/>
              </a:rPr>
              <a:t>Media</a:t>
            </a:r>
            <a:endParaRPr lang="en-US" sz="1100" dirty="0"/>
          </a:p>
        </p:txBody>
      </p:sp>
      <p:sp>
        <p:nvSpPr>
          <p:cNvPr id="32" name="Text 30"/>
          <p:cNvSpPr txBox="1"/>
          <p:nvPr/>
        </p:nvSpPr>
        <p:spPr>
          <a:xfrm>
            <a:off x="777240" y="4297680"/>
            <a:ext cx="502920" cy="1234440"/>
          </a:xfrm>
          <a:prstGeom prst="rect">
            <a:avLst/>
          </a:prstGeom>
          <a:noFill/>
          <a:ln/>
        </p:spPr>
        <p:txBody>
          <a:bodyPr wrap="square" lIns="0" tIns="0" rIns="0" bIns="0" rtlCol="0" anchor="ctr"/>
          <a:lstStyle/>
          <a:p>
            <a:pPr marL="0" indent="0" algn="r">
              <a:buNone/>
            </a:pPr>
            <a:r>
              <a:rPr lang="en-US" sz="1100" b="1" dirty="0">
                <a:solidFill>
                  <a:srgbClr val="1E2430"/>
                </a:solidFill>
                <a:latin typeface="Calibri" pitchFamily="34" charset="0"/>
                <a:ea typeface="Calibri" pitchFamily="34" charset="-122"/>
                <a:cs typeface="Calibri" pitchFamily="34" charset="-120"/>
              </a:rPr>
              <a:t>Baja</a:t>
            </a:r>
            <a:endParaRPr lang="en-US" sz="1100" dirty="0"/>
          </a:p>
        </p:txBody>
      </p:sp>
      <p:sp>
        <p:nvSpPr>
          <p:cNvPr id="33" name="Text 31"/>
          <p:cNvSpPr txBox="1"/>
          <p:nvPr/>
        </p:nvSpPr>
        <p:spPr>
          <a:xfrm>
            <a:off x="1325880" y="5532120"/>
            <a:ext cx="1600200" cy="274320"/>
          </a:xfrm>
          <a:prstGeom prst="rect">
            <a:avLst/>
          </a:prstGeom>
          <a:noFill/>
          <a:ln/>
        </p:spPr>
        <p:txBody>
          <a:bodyPr wrap="square" lIns="0" tIns="0" rIns="0" bIns="0" rtlCol="0" anchor="ctr"/>
          <a:lstStyle/>
          <a:p>
            <a:pPr marL="0" indent="0" algn="ctr">
              <a:buNone/>
            </a:pPr>
            <a:r>
              <a:rPr lang="en-US" sz="1100" b="1" dirty="0">
                <a:solidFill>
                  <a:srgbClr val="1E2430"/>
                </a:solidFill>
                <a:latin typeface="Calibri" pitchFamily="34" charset="0"/>
                <a:ea typeface="Calibri" pitchFamily="34" charset="-122"/>
                <a:cs typeface="Calibri" pitchFamily="34" charset="-120"/>
              </a:rPr>
              <a:t>Bajo</a:t>
            </a:r>
            <a:endParaRPr lang="en-US" sz="1100" dirty="0"/>
          </a:p>
        </p:txBody>
      </p:sp>
      <p:sp>
        <p:nvSpPr>
          <p:cNvPr id="34" name="Text 32"/>
          <p:cNvSpPr txBox="1"/>
          <p:nvPr/>
        </p:nvSpPr>
        <p:spPr>
          <a:xfrm>
            <a:off x="2926080" y="5532120"/>
            <a:ext cx="1600200" cy="274320"/>
          </a:xfrm>
          <a:prstGeom prst="rect">
            <a:avLst/>
          </a:prstGeom>
          <a:noFill/>
          <a:ln/>
        </p:spPr>
        <p:txBody>
          <a:bodyPr wrap="square" lIns="0" tIns="0" rIns="0" bIns="0" rtlCol="0" anchor="ctr"/>
          <a:lstStyle/>
          <a:p>
            <a:pPr marL="0" indent="0" algn="ctr">
              <a:buNone/>
            </a:pPr>
            <a:r>
              <a:rPr lang="en-US" sz="1100" b="1" dirty="0">
                <a:solidFill>
                  <a:srgbClr val="1E2430"/>
                </a:solidFill>
                <a:latin typeface="Calibri" pitchFamily="34" charset="0"/>
                <a:ea typeface="Calibri" pitchFamily="34" charset="-122"/>
                <a:cs typeface="Calibri" pitchFamily="34" charset="-120"/>
              </a:rPr>
              <a:t>Medio</a:t>
            </a:r>
            <a:endParaRPr lang="en-US" sz="1100" dirty="0"/>
          </a:p>
        </p:txBody>
      </p:sp>
      <p:sp>
        <p:nvSpPr>
          <p:cNvPr id="35" name="Text 33"/>
          <p:cNvSpPr txBox="1"/>
          <p:nvPr/>
        </p:nvSpPr>
        <p:spPr>
          <a:xfrm>
            <a:off x="4526280" y="5532120"/>
            <a:ext cx="1600200" cy="274320"/>
          </a:xfrm>
          <a:prstGeom prst="rect">
            <a:avLst/>
          </a:prstGeom>
          <a:noFill/>
          <a:ln/>
        </p:spPr>
        <p:txBody>
          <a:bodyPr wrap="square" lIns="0" tIns="0" rIns="0" bIns="0" rtlCol="0" anchor="ctr"/>
          <a:lstStyle/>
          <a:p>
            <a:pPr marL="0" indent="0" algn="ctr">
              <a:buNone/>
            </a:pPr>
            <a:r>
              <a:rPr lang="en-US" sz="1100" b="1" dirty="0">
                <a:solidFill>
                  <a:srgbClr val="1E2430"/>
                </a:solidFill>
                <a:latin typeface="Calibri" pitchFamily="34" charset="0"/>
                <a:ea typeface="Calibri" pitchFamily="34" charset="-122"/>
                <a:cs typeface="Calibri" pitchFamily="34" charset="-120"/>
              </a:rPr>
              <a:t>Alto</a:t>
            </a:r>
            <a:endParaRPr lang="en-US" sz="1100" dirty="0"/>
          </a:p>
        </p:txBody>
      </p:sp>
      <p:sp>
        <p:nvSpPr>
          <p:cNvPr id="36" name="Text 34"/>
          <p:cNvSpPr txBox="1"/>
          <p:nvPr/>
        </p:nvSpPr>
        <p:spPr>
          <a:xfrm rot="16200000">
            <a:off x="-502920" y="3543300"/>
            <a:ext cx="1645920" cy="274320"/>
          </a:xfrm>
          <a:prstGeom prst="rect">
            <a:avLst/>
          </a:prstGeom>
          <a:noFill/>
          <a:ln/>
        </p:spPr>
        <p:txBody>
          <a:bodyPr wrap="square" lIns="0" tIns="0" rIns="0" bIns="0" rtlCol="0" anchor="ctr"/>
          <a:lstStyle/>
          <a:p>
            <a:pPr marL="0" indent="0" algn="ctr">
              <a:buNone/>
            </a:pPr>
            <a:r>
              <a:rPr lang="en-US" sz="1000" b="1" dirty="0">
                <a:solidFill>
                  <a:srgbClr val="5B6472"/>
                </a:solidFill>
                <a:latin typeface="Calibri" pitchFamily="34" charset="0"/>
                <a:ea typeface="Calibri" pitchFamily="34" charset="-122"/>
                <a:cs typeface="Calibri" pitchFamily="34" charset="-120"/>
              </a:rPr>
              <a:t>PROBABILIDAD</a:t>
            </a:r>
            <a:endParaRPr lang="en-US" sz="1000" dirty="0"/>
          </a:p>
        </p:txBody>
      </p:sp>
      <p:sp>
        <p:nvSpPr>
          <p:cNvPr id="37" name="Text 35"/>
          <p:cNvSpPr txBox="1"/>
          <p:nvPr/>
        </p:nvSpPr>
        <p:spPr>
          <a:xfrm>
            <a:off x="1325880" y="5806440"/>
            <a:ext cx="4800600" cy="274320"/>
          </a:xfrm>
          <a:prstGeom prst="rect">
            <a:avLst/>
          </a:prstGeom>
          <a:noFill/>
          <a:ln/>
        </p:spPr>
        <p:txBody>
          <a:bodyPr wrap="square" lIns="0" tIns="0" rIns="0" bIns="0" rtlCol="0" anchor="ctr"/>
          <a:lstStyle/>
          <a:p>
            <a:pPr marL="0" indent="0" algn="ctr">
              <a:buNone/>
            </a:pPr>
            <a:r>
              <a:rPr lang="en-US" sz="1000" b="1" kern="0" spc="200" dirty="0">
                <a:solidFill>
                  <a:srgbClr val="5B6472"/>
                </a:solidFill>
                <a:latin typeface="Calibri" pitchFamily="34" charset="0"/>
                <a:ea typeface="Calibri" pitchFamily="34" charset="-122"/>
                <a:cs typeface="Calibri" pitchFamily="34" charset="-120"/>
              </a:rPr>
              <a:t>IMPACTO</a:t>
            </a:r>
            <a:endParaRPr lang="en-US" sz="1000" dirty="0"/>
          </a:p>
        </p:txBody>
      </p:sp>
      <p:sp>
        <p:nvSpPr>
          <p:cNvPr id="38" name="Shape 36"/>
          <p:cNvSpPr/>
          <p:nvPr/>
        </p:nvSpPr>
        <p:spPr>
          <a:xfrm>
            <a:off x="6400800" y="1783080"/>
            <a:ext cx="5212080" cy="4434840"/>
          </a:xfrm>
          <a:prstGeom prst="rect">
            <a:avLst/>
          </a:prstGeom>
          <a:solidFill>
            <a:srgbClr val="FFFFFF"/>
          </a:solidFill>
          <a:ln w="9525">
            <a:solidFill>
              <a:srgbClr val="D7DCE3"/>
            </a:solidFill>
            <a:prstDash val="solid"/>
          </a:ln>
        </p:spPr>
        <p:txBody>
          <a:bodyPr/>
          <a:lstStyle/>
          <a:p>
            <a:endParaRPr lang="es-CL"/>
          </a:p>
        </p:txBody>
      </p:sp>
      <p:sp>
        <p:nvSpPr>
          <p:cNvPr id="39" name="Shape 37"/>
          <p:cNvSpPr/>
          <p:nvPr/>
        </p:nvSpPr>
        <p:spPr>
          <a:xfrm>
            <a:off x="6583680" y="2057400"/>
            <a:ext cx="292608" cy="292608"/>
          </a:xfrm>
          <a:prstGeom prst="ellipse">
            <a:avLst/>
          </a:prstGeom>
          <a:solidFill>
            <a:srgbClr val="B83A3A"/>
          </a:solidFill>
          <a:ln w="12700">
            <a:solidFill>
              <a:srgbClr val="B83A3A"/>
            </a:solidFill>
            <a:prstDash val="solid"/>
          </a:ln>
        </p:spPr>
        <p:txBody>
          <a:bodyPr/>
          <a:lstStyle/>
          <a:p>
            <a:endParaRPr lang="es-CL"/>
          </a:p>
        </p:txBody>
      </p:sp>
      <p:sp>
        <p:nvSpPr>
          <p:cNvPr id="40" name="Text 38"/>
          <p:cNvSpPr txBox="1"/>
          <p:nvPr/>
        </p:nvSpPr>
        <p:spPr>
          <a:xfrm>
            <a:off x="6583680" y="205740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41" name="Text 39"/>
          <p:cNvSpPr txBox="1"/>
          <p:nvPr/>
        </p:nvSpPr>
        <p:spPr>
          <a:xfrm>
            <a:off x="7040880" y="1965960"/>
            <a:ext cx="4480560" cy="475488"/>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Atraso de la integración (Webpay, fila, «Mis datos» y personal en S12)  </a:t>
            </a:r>
            <a:r>
              <a:rPr lang="en-US" sz="1150" b="1" dirty="0">
                <a:solidFill>
                  <a:srgbClr val="B83A3A"/>
                </a:solidFill>
                <a:latin typeface="Calibri" pitchFamily="34" charset="0"/>
                <a:ea typeface="Calibri" pitchFamily="34" charset="-122"/>
                <a:cs typeface="Calibri" pitchFamily="34" charset="-120"/>
              </a:rPr>
              <a:t>Alto</a:t>
            </a:r>
            <a:endParaRPr lang="en-US" sz="1150" dirty="0"/>
          </a:p>
        </p:txBody>
      </p:sp>
      <p:sp>
        <p:nvSpPr>
          <p:cNvPr id="42" name="Shape 40"/>
          <p:cNvSpPr/>
          <p:nvPr/>
        </p:nvSpPr>
        <p:spPr>
          <a:xfrm>
            <a:off x="6583680" y="2578608"/>
            <a:ext cx="292608" cy="292608"/>
          </a:xfrm>
          <a:prstGeom prst="ellipse">
            <a:avLst/>
          </a:prstGeom>
          <a:solidFill>
            <a:srgbClr val="B83A3A"/>
          </a:solidFill>
          <a:ln w="12700">
            <a:solidFill>
              <a:srgbClr val="B83A3A"/>
            </a:solidFill>
            <a:prstDash val="solid"/>
          </a:ln>
        </p:spPr>
        <p:txBody>
          <a:bodyPr/>
          <a:lstStyle/>
          <a:p>
            <a:endParaRPr lang="es-CL"/>
          </a:p>
        </p:txBody>
      </p:sp>
      <p:sp>
        <p:nvSpPr>
          <p:cNvPr id="43" name="Text 41"/>
          <p:cNvSpPr txBox="1"/>
          <p:nvPr/>
        </p:nvSpPr>
        <p:spPr>
          <a:xfrm>
            <a:off x="6583680" y="2578608"/>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44" name="Text 42"/>
          <p:cNvSpPr txBox="1"/>
          <p:nvPr/>
        </p:nvSpPr>
        <p:spPr>
          <a:xfrm>
            <a:off x="7040880" y="2487168"/>
            <a:ext cx="4480560" cy="475488"/>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Fallas o demoras en la integración con Webpay  </a:t>
            </a:r>
            <a:r>
              <a:rPr lang="en-US" sz="1150" b="1" dirty="0">
                <a:solidFill>
                  <a:srgbClr val="B83A3A"/>
                </a:solidFill>
                <a:latin typeface="Calibri" pitchFamily="34" charset="0"/>
                <a:ea typeface="Calibri" pitchFamily="34" charset="-122"/>
                <a:cs typeface="Calibri" pitchFamily="34" charset="-120"/>
              </a:rPr>
              <a:t>Alto</a:t>
            </a:r>
            <a:endParaRPr lang="en-US" sz="1150" dirty="0"/>
          </a:p>
        </p:txBody>
      </p:sp>
      <p:sp>
        <p:nvSpPr>
          <p:cNvPr id="45" name="Shape 43"/>
          <p:cNvSpPr/>
          <p:nvPr/>
        </p:nvSpPr>
        <p:spPr>
          <a:xfrm>
            <a:off x="6583680" y="3099816"/>
            <a:ext cx="292608" cy="292608"/>
          </a:xfrm>
          <a:prstGeom prst="ellipse">
            <a:avLst/>
          </a:prstGeom>
          <a:solidFill>
            <a:srgbClr val="B83A3A"/>
          </a:solidFill>
          <a:ln w="12700">
            <a:solidFill>
              <a:srgbClr val="B83A3A"/>
            </a:solidFill>
            <a:prstDash val="solid"/>
          </a:ln>
        </p:spPr>
        <p:txBody>
          <a:bodyPr/>
          <a:lstStyle/>
          <a:p>
            <a:endParaRPr lang="es-CL"/>
          </a:p>
        </p:txBody>
      </p:sp>
      <p:sp>
        <p:nvSpPr>
          <p:cNvPr id="46" name="Text 44"/>
          <p:cNvSpPr txBox="1"/>
          <p:nvPr/>
        </p:nvSpPr>
        <p:spPr>
          <a:xfrm>
            <a:off x="6583680" y="309981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47" name="Text 45"/>
          <p:cNvSpPr txBox="1"/>
          <p:nvPr/>
        </p:nvSpPr>
        <p:spPr>
          <a:xfrm>
            <a:off x="7040880" y="3008376"/>
            <a:ext cx="4480560" cy="475488"/>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Exposición de credenciales o brecha de seguridad  </a:t>
            </a:r>
            <a:r>
              <a:rPr lang="en-US" sz="1150" b="1" dirty="0">
                <a:solidFill>
                  <a:srgbClr val="B83A3A"/>
                </a:solidFill>
                <a:latin typeface="Calibri" pitchFamily="34" charset="0"/>
                <a:ea typeface="Calibri" pitchFamily="34" charset="-122"/>
                <a:cs typeface="Calibri" pitchFamily="34" charset="-120"/>
              </a:rPr>
              <a:t>Alto</a:t>
            </a:r>
            <a:endParaRPr lang="en-US" sz="1150" dirty="0"/>
          </a:p>
        </p:txBody>
      </p:sp>
      <p:sp>
        <p:nvSpPr>
          <p:cNvPr id="48" name="Shape 46"/>
          <p:cNvSpPr/>
          <p:nvPr/>
        </p:nvSpPr>
        <p:spPr>
          <a:xfrm>
            <a:off x="6583680" y="3621024"/>
            <a:ext cx="292608" cy="292608"/>
          </a:xfrm>
          <a:prstGeom prst="ellipse">
            <a:avLst/>
          </a:prstGeom>
          <a:solidFill>
            <a:srgbClr val="B5762A"/>
          </a:solidFill>
          <a:ln w="12700">
            <a:solidFill>
              <a:srgbClr val="B5762A"/>
            </a:solidFill>
            <a:prstDash val="solid"/>
          </a:ln>
        </p:spPr>
        <p:txBody>
          <a:bodyPr/>
          <a:lstStyle/>
          <a:p>
            <a:endParaRPr lang="es-CL"/>
          </a:p>
        </p:txBody>
      </p:sp>
      <p:sp>
        <p:nvSpPr>
          <p:cNvPr id="49" name="Text 47"/>
          <p:cNvSpPr txBox="1"/>
          <p:nvPr/>
        </p:nvSpPr>
        <p:spPr>
          <a:xfrm>
            <a:off x="6583680" y="3621024"/>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50" name="Text 48"/>
          <p:cNvSpPr txBox="1"/>
          <p:nvPr/>
        </p:nvSpPr>
        <p:spPr>
          <a:xfrm>
            <a:off x="7040880" y="3529584"/>
            <a:ext cx="4480560" cy="475488"/>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Ventana corta para desplegar y pasar al ambiente UAT (S13–S14)  </a:t>
            </a:r>
            <a:r>
              <a:rPr lang="en-US" sz="1150" b="1" dirty="0">
                <a:solidFill>
                  <a:srgbClr val="B5762A"/>
                </a:solidFill>
                <a:latin typeface="Calibri" pitchFamily="34" charset="0"/>
                <a:ea typeface="Calibri" pitchFamily="34" charset="-122"/>
                <a:cs typeface="Calibri" pitchFamily="34" charset="-120"/>
              </a:rPr>
              <a:t>Medio</a:t>
            </a:r>
            <a:endParaRPr lang="en-US" sz="1150" dirty="0"/>
          </a:p>
        </p:txBody>
      </p:sp>
      <p:sp>
        <p:nvSpPr>
          <p:cNvPr id="51" name="Shape 49"/>
          <p:cNvSpPr/>
          <p:nvPr/>
        </p:nvSpPr>
        <p:spPr>
          <a:xfrm>
            <a:off x="6583680" y="4142232"/>
            <a:ext cx="292608" cy="292608"/>
          </a:xfrm>
          <a:prstGeom prst="ellipse">
            <a:avLst/>
          </a:prstGeom>
          <a:solidFill>
            <a:srgbClr val="B5762A"/>
          </a:solidFill>
          <a:ln w="12700">
            <a:solidFill>
              <a:srgbClr val="B5762A"/>
            </a:solidFill>
            <a:prstDash val="solid"/>
          </a:ln>
        </p:spPr>
        <p:txBody>
          <a:bodyPr/>
          <a:lstStyle/>
          <a:p>
            <a:endParaRPr lang="es-CL"/>
          </a:p>
        </p:txBody>
      </p:sp>
      <p:sp>
        <p:nvSpPr>
          <p:cNvPr id="52" name="Text 50"/>
          <p:cNvSpPr txBox="1"/>
          <p:nvPr/>
        </p:nvSpPr>
        <p:spPr>
          <a:xfrm>
            <a:off x="6583680" y="414223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53" name="Text 51"/>
          <p:cNvSpPr txBox="1"/>
          <p:nvPr/>
        </p:nvSpPr>
        <p:spPr>
          <a:xfrm>
            <a:off x="7040880" y="4050792"/>
            <a:ext cx="4480560" cy="475488"/>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La app Android aún no se prueba en un teléfono real  </a:t>
            </a:r>
            <a:r>
              <a:rPr lang="en-US" sz="1150" b="1" dirty="0">
                <a:solidFill>
                  <a:srgbClr val="B5762A"/>
                </a:solidFill>
                <a:latin typeface="Calibri" pitchFamily="34" charset="0"/>
                <a:ea typeface="Calibri" pitchFamily="34" charset="-122"/>
                <a:cs typeface="Calibri" pitchFamily="34" charset="-120"/>
              </a:rPr>
              <a:t>Medio</a:t>
            </a:r>
            <a:endParaRPr lang="en-US" sz="1150" dirty="0"/>
          </a:p>
        </p:txBody>
      </p:sp>
      <p:sp>
        <p:nvSpPr>
          <p:cNvPr id="54" name="Shape 52"/>
          <p:cNvSpPr/>
          <p:nvPr/>
        </p:nvSpPr>
        <p:spPr>
          <a:xfrm>
            <a:off x="6583680" y="4663440"/>
            <a:ext cx="292608" cy="292608"/>
          </a:xfrm>
          <a:prstGeom prst="ellipse">
            <a:avLst/>
          </a:prstGeom>
          <a:solidFill>
            <a:srgbClr val="B5762A"/>
          </a:solidFill>
          <a:ln w="12700">
            <a:solidFill>
              <a:srgbClr val="B5762A"/>
            </a:solidFill>
            <a:prstDash val="solid"/>
          </a:ln>
        </p:spPr>
        <p:txBody>
          <a:bodyPr/>
          <a:lstStyle/>
          <a:p>
            <a:endParaRPr lang="es-CL"/>
          </a:p>
        </p:txBody>
      </p:sp>
      <p:sp>
        <p:nvSpPr>
          <p:cNvPr id="55" name="Text 53"/>
          <p:cNvSpPr txBox="1"/>
          <p:nvPr/>
        </p:nvSpPr>
        <p:spPr>
          <a:xfrm>
            <a:off x="6583680" y="466344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56" name="Text 54"/>
          <p:cNvSpPr txBox="1"/>
          <p:nvPr/>
        </p:nvSpPr>
        <p:spPr>
          <a:xfrm>
            <a:off x="7040880" y="4572000"/>
            <a:ext cx="4480560" cy="475488"/>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Notificaciones por correo no operativas  </a:t>
            </a:r>
            <a:r>
              <a:rPr lang="en-US" sz="1150" b="1" dirty="0">
                <a:solidFill>
                  <a:srgbClr val="B5762A"/>
                </a:solidFill>
                <a:latin typeface="Calibri" pitchFamily="34" charset="0"/>
                <a:ea typeface="Calibri" pitchFamily="34" charset="-122"/>
                <a:cs typeface="Calibri" pitchFamily="34" charset="-120"/>
              </a:rPr>
              <a:t>Medio</a:t>
            </a:r>
            <a:endParaRPr lang="en-US" sz="1150" dirty="0"/>
          </a:p>
        </p:txBody>
      </p:sp>
      <p:sp>
        <p:nvSpPr>
          <p:cNvPr id="57" name="Shape 55"/>
          <p:cNvSpPr/>
          <p:nvPr/>
        </p:nvSpPr>
        <p:spPr>
          <a:xfrm>
            <a:off x="6583680" y="5184648"/>
            <a:ext cx="292608" cy="292608"/>
          </a:xfrm>
          <a:prstGeom prst="ellipse">
            <a:avLst/>
          </a:prstGeom>
          <a:solidFill>
            <a:srgbClr val="B5762A"/>
          </a:solidFill>
          <a:ln w="12700">
            <a:solidFill>
              <a:srgbClr val="B5762A"/>
            </a:solidFill>
            <a:prstDash val="solid"/>
          </a:ln>
        </p:spPr>
        <p:txBody>
          <a:bodyPr/>
          <a:lstStyle/>
          <a:p>
            <a:endParaRPr lang="es-CL"/>
          </a:p>
        </p:txBody>
      </p:sp>
      <p:sp>
        <p:nvSpPr>
          <p:cNvPr id="58" name="Text 56"/>
          <p:cNvSpPr txBox="1"/>
          <p:nvPr/>
        </p:nvSpPr>
        <p:spPr>
          <a:xfrm>
            <a:off x="6583680" y="5184648"/>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59" name="Text 57"/>
          <p:cNvSpPr txBox="1"/>
          <p:nvPr/>
        </p:nvSpPr>
        <p:spPr>
          <a:xfrm>
            <a:off x="7040880" y="5093208"/>
            <a:ext cx="4480560" cy="475488"/>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Pérdida de datos o pausa de la base de datos (plan gratuito de Supabase)  </a:t>
            </a:r>
            <a:r>
              <a:rPr lang="en-US" sz="1150" b="1" dirty="0">
                <a:solidFill>
                  <a:srgbClr val="B5762A"/>
                </a:solidFill>
                <a:latin typeface="Calibri" pitchFamily="34" charset="0"/>
                <a:ea typeface="Calibri" pitchFamily="34" charset="-122"/>
                <a:cs typeface="Calibri" pitchFamily="34" charset="-120"/>
              </a:rPr>
              <a:t>Medio</a:t>
            </a:r>
            <a:endParaRPr lang="en-US" sz="1150" dirty="0"/>
          </a:p>
        </p:txBody>
      </p:sp>
      <p:sp>
        <p:nvSpPr>
          <p:cNvPr id="60" name="Shape 58"/>
          <p:cNvSpPr/>
          <p:nvPr/>
        </p:nvSpPr>
        <p:spPr>
          <a:xfrm>
            <a:off x="6583680" y="5705856"/>
            <a:ext cx="292608" cy="292608"/>
          </a:xfrm>
          <a:prstGeom prst="ellipse">
            <a:avLst/>
          </a:prstGeom>
          <a:solidFill>
            <a:srgbClr val="B5762A"/>
          </a:solidFill>
          <a:ln w="12700">
            <a:solidFill>
              <a:srgbClr val="B5762A"/>
            </a:solidFill>
            <a:prstDash val="solid"/>
          </a:ln>
        </p:spPr>
        <p:txBody>
          <a:bodyPr/>
          <a:lstStyle/>
          <a:p>
            <a:endParaRPr lang="es-CL"/>
          </a:p>
        </p:txBody>
      </p:sp>
      <p:sp>
        <p:nvSpPr>
          <p:cNvPr id="61" name="Text 59"/>
          <p:cNvSpPr txBox="1"/>
          <p:nvPr/>
        </p:nvSpPr>
        <p:spPr>
          <a:xfrm>
            <a:off x="6583680" y="570585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62" name="Text 60"/>
          <p:cNvSpPr txBox="1"/>
          <p:nvPr/>
        </p:nvSpPr>
        <p:spPr>
          <a:xfrm>
            <a:off x="7040880" y="5614416"/>
            <a:ext cx="4480560" cy="475488"/>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Disponibilidad limitada del equipo (2 integrantes)  </a:t>
            </a:r>
            <a:r>
              <a:rPr lang="en-US" sz="1150" b="1" dirty="0">
                <a:solidFill>
                  <a:srgbClr val="B5762A"/>
                </a:solidFill>
                <a:latin typeface="Calibri" pitchFamily="34" charset="0"/>
                <a:ea typeface="Calibri" pitchFamily="34" charset="-122"/>
                <a:cs typeface="Calibri" pitchFamily="34" charset="-120"/>
              </a:rPr>
              <a:t>Medio</a:t>
            </a:r>
            <a:endParaRPr lang="en-US" sz="1150" dirty="0"/>
          </a:p>
        </p:txBody>
      </p:sp>
      <p:sp>
        <p:nvSpPr>
          <p:cNvPr id="88"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CONTROL · RIESGOS</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Plan de mitigación</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Estrategia, acción concreta, responsable y semana en que se aplica. Ordenados por nivel de riesgo.</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4279392"/>
        </p:xfrm>
        <a:graphic>
          <a:graphicData uri="http://schemas.openxmlformats.org/drawingml/2006/table">
            <a:tbl>
              <a:tblPr/>
              <a:tblGrid>
                <a:gridCol w="41148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4480560">
                  <a:extLst>
                    <a:ext uri="{9D8B030D-6E8A-4147-A177-3AD203B41FA5}">
                      <a16:colId xmlns:a16="http://schemas.microsoft.com/office/drawing/2014/main" val="20004"/>
                    </a:ext>
                  </a:extLst>
                </a:gridCol>
                <a:gridCol w="640080">
                  <a:extLst>
                    <a:ext uri="{9D8B030D-6E8A-4147-A177-3AD203B41FA5}">
                      <a16:colId xmlns:a16="http://schemas.microsoft.com/office/drawing/2014/main" val="20005"/>
                    </a:ext>
                  </a:extLst>
                </a:gridCol>
                <a:gridCol w="822960">
                  <a:extLst>
                    <a:ext uri="{9D8B030D-6E8A-4147-A177-3AD203B41FA5}">
                      <a16:colId xmlns:a16="http://schemas.microsoft.com/office/drawing/2014/main" val="20006"/>
                    </a:ext>
                  </a:extLst>
                </a:gridCol>
              </a:tblGrid>
              <a:tr h="47548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a:t>
                      </a:r>
                      <a:endParaRPr lang="en-US" sz="115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Riesgo</a:t>
                      </a:r>
                      <a:endParaRPr lang="en-US" sz="115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Nivel</a:t>
                      </a:r>
                      <a:endParaRPr lang="en-US" sz="115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Estrategia</a:t>
                      </a:r>
                      <a:endParaRPr lang="en-US" sz="115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Acción de mitigación</a:t>
                      </a:r>
                      <a:endParaRPr lang="en-US" sz="115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Resp.</a:t>
                      </a:r>
                      <a:endParaRPr lang="en-US" sz="115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Semana</a:t>
                      </a:r>
                      <a:endParaRPr lang="en-US" sz="115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75488">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Atraso de la integración (Webpay, fila, «Mis datos» y personal en S12)</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83A3A"/>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Mitigar</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Priorizar el flujo de reserva con abono; reutilizar pantallas; control semanal y reserva de contingencia</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430"/>
                          </a:solidFill>
                          <a:latin typeface="Calibri" pitchFamily="34" charset="0"/>
                          <a:ea typeface="Calibri" pitchFamily="34" charset="-122"/>
                          <a:cs typeface="Calibri" pitchFamily="34" charset="-120"/>
                        </a:rPr>
                        <a:t>JO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430"/>
                          </a:solidFill>
                          <a:latin typeface="Calibri" pitchFamily="34" charset="0"/>
                          <a:ea typeface="Calibri" pitchFamily="34" charset="-122"/>
                          <a:cs typeface="Calibri" pitchFamily="34" charset="-120"/>
                        </a:rPr>
                        <a:t>S12</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Fallas o demoras en la integración con Webpay</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83A3A"/>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Mitigar</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Ambiente de integración de Transbank; pruebas de pagos rechazados; Mercado Pago como alternativa</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430"/>
                          </a:solidFill>
                          <a:latin typeface="Calibri" pitchFamily="34" charset="0"/>
                          <a:ea typeface="Calibri" pitchFamily="34" charset="-122"/>
                          <a:cs typeface="Calibri" pitchFamily="34" charset="-120"/>
                        </a:rPr>
                        <a:t>JO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430"/>
                          </a:solidFill>
                          <a:latin typeface="Calibri" pitchFamily="34" charset="0"/>
                          <a:ea typeface="Calibri" pitchFamily="34" charset="-122"/>
                          <a:cs typeface="Calibri" pitchFamily="34" charset="-120"/>
                        </a:rPr>
                        <a:t>S12</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Exposición de credenciales o brecha de seguridad</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83A3A"/>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Mitigar</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Claves en .env fuera del repositorio (hecho 22-10); correos enviados desde el servidor; revisión antes de cada commit</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430"/>
                          </a:solidFill>
                          <a:latin typeface="Calibri" pitchFamily="34" charset="0"/>
                          <a:ea typeface="Calibri" pitchFamily="34" charset="-122"/>
                          <a:cs typeface="Calibri" pitchFamily="34" charset="-120"/>
                        </a:rPr>
                        <a:t>JO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430"/>
                          </a:solidFill>
                          <a:latin typeface="Calibri" pitchFamily="34" charset="0"/>
                          <a:ea typeface="Calibri" pitchFamily="34" charset="-122"/>
                          <a:cs typeface="Calibri" pitchFamily="34" charset="-120"/>
                        </a:rPr>
                        <a:t>S12–S13</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Ventana corta para desplegar y pasar al ambiente UAT (S13–S14)</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Mitigar</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Ambiente UAT listo en S12; lista de verificación de despliegue; pruebas de humo antes del paso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430"/>
                          </a:solidFill>
                          <a:latin typeface="Calibri" pitchFamily="34" charset="0"/>
                          <a:ea typeface="Calibri" pitchFamily="34" charset="-122"/>
                          <a:cs typeface="Calibri" pitchFamily="34" charset="-120"/>
                        </a:rPr>
                        <a:t>YR / JO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430"/>
                          </a:solidFill>
                          <a:latin typeface="Calibri" pitchFamily="34" charset="0"/>
                          <a:ea typeface="Calibri" pitchFamily="34" charset="-122"/>
                          <a:cs typeface="Calibri" pitchFamily="34" charset="-120"/>
                        </a:rPr>
                        <a:t>S12–S14</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La app Android aún no se prueba en un teléfono real</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Mitigar</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Pruebas en emulador y en un teléfono Android desde S12; APK firmada en S13</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430"/>
                          </a:solidFill>
                          <a:latin typeface="Calibri" pitchFamily="34" charset="0"/>
                          <a:ea typeface="Calibri" pitchFamily="34" charset="-122"/>
                          <a:cs typeface="Calibri" pitchFamily="34" charset="-120"/>
                        </a:rPr>
                        <a:t>JO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430"/>
                          </a:solidFill>
                          <a:latin typeface="Calibri" pitchFamily="34" charset="0"/>
                          <a:ea typeface="Calibri" pitchFamily="34" charset="-122"/>
                          <a:cs typeface="Calibri" pitchFamily="34" charset="-120"/>
                        </a:rPr>
                        <a:t>S12–S13</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Notificaciones por correo no operativas</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Mitigar</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Envío desde el servidor con la cuenta de correo del proyecto verificada; probar confirmación y recordatorio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430"/>
                          </a:solidFill>
                          <a:latin typeface="Calibri" pitchFamily="34" charset="0"/>
                          <a:ea typeface="Calibri" pitchFamily="34" charset="-122"/>
                          <a:cs typeface="Calibri" pitchFamily="34" charset="-120"/>
                        </a:rPr>
                        <a:t>JO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430"/>
                          </a:solidFill>
                          <a:latin typeface="Calibri" pitchFamily="34" charset="0"/>
                          <a:ea typeface="Calibri" pitchFamily="34" charset="-122"/>
                          <a:cs typeface="Calibri" pitchFamily="34" charset="-120"/>
                        </a:rPr>
                        <a:t>S12</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Pérdida de datos o pausa de la base de datos (plan gratuito de Supabase)</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Mitigar</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Respaldo diario propio (pg_dump cifrado) y prueba de restauración; uso semanal para evitar la pausa</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430"/>
                          </a:solidFill>
                          <a:latin typeface="Calibri" pitchFamily="34" charset="0"/>
                          <a:ea typeface="Calibri" pitchFamily="34" charset="-122"/>
                          <a:cs typeface="Calibri" pitchFamily="34" charset="-120"/>
                        </a:rPr>
                        <a:t>JO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430"/>
                          </a:solidFill>
                          <a:latin typeface="Calibri" pitchFamily="34" charset="0"/>
                          <a:ea typeface="Calibri" pitchFamily="34" charset="-122"/>
                          <a:cs typeface="Calibri" pitchFamily="34" charset="-120"/>
                        </a:rPr>
                        <a:t>S12–S13</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5488">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Disponibilidad limitada del equipo (2 integrantes)</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Mitigar</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Reunión semanal fija, tareas pequeñas y trabajo asíncrono en GitHub</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430"/>
                          </a:solidFill>
                          <a:latin typeface="Calibri" pitchFamily="34" charset="0"/>
                          <a:ea typeface="Calibri" pitchFamily="34" charset="-122"/>
                          <a:cs typeface="Calibri" pitchFamily="34" charset="-120"/>
                        </a:rPr>
                        <a:t>YR</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430"/>
                          </a:solidFill>
                          <a:latin typeface="Calibri" pitchFamily="34" charset="0"/>
                          <a:ea typeface="Calibri" pitchFamily="34" charset="-122"/>
                          <a:cs typeface="Calibri" pitchFamily="34" charset="-120"/>
                        </a:rPr>
                        <a:t>Semanal</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CONTROL</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Próximos pasos</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De la semana 12 a la defensa (S16), según el roadmap desde la semana en curso.</a:t>
            </a:r>
            <a:endParaRPr lang="en-US" sz="1250" dirty="0"/>
          </a:p>
        </p:txBody>
      </p:sp>
      <p:sp>
        <p:nvSpPr>
          <p:cNvPr id="5" name="Shape 3"/>
          <p:cNvSpPr/>
          <p:nvPr/>
        </p:nvSpPr>
        <p:spPr>
          <a:xfrm>
            <a:off x="548640" y="1783080"/>
            <a:ext cx="11064240" cy="749808"/>
          </a:xfrm>
          <a:prstGeom prst="rect">
            <a:avLst/>
          </a:prstGeom>
          <a:solidFill>
            <a:srgbClr val="FFFFFF"/>
          </a:solidFill>
          <a:ln w="9525">
            <a:solidFill>
              <a:srgbClr val="D7DCE3"/>
            </a:solidFill>
            <a:prstDash val="solid"/>
          </a:ln>
        </p:spPr>
        <p:txBody>
          <a:bodyPr/>
          <a:lstStyle/>
          <a:p>
            <a:endParaRPr lang="es-CL"/>
          </a:p>
        </p:txBody>
      </p:sp>
      <p:sp>
        <p:nvSpPr>
          <p:cNvPr id="6" name="Shape 4"/>
          <p:cNvSpPr/>
          <p:nvPr/>
        </p:nvSpPr>
        <p:spPr>
          <a:xfrm>
            <a:off x="731520" y="1874520"/>
            <a:ext cx="566928" cy="566928"/>
          </a:xfrm>
          <a:prstGeom prst="ellipse">
            <a:avLst/>
          </a:prstGeom>
          <a:solidFill>
            <a:srgbClr val="B5762A"/>
          </a:solidFill>
          <a:ln w="12700">
            <a:solidFill>
              <a:srgbClr val="B5762A"/>
            </a:solidFill>
            <a:prstDash val="solid"/>
          </a:ln>
        </p:spPr>
        <p:txBody>
          <a:bodyPr/>
          <a:lstStyle/>
          <a:p>
            <a:endParaRPr lang="es-CL"/>
          </a:p>
        </p:txBody>
      </p:sp>
      <p:sp>
        <p:nvSpPr>
          <p:cNvPr id="7" name="Text 5"/>
          <p:cNvSpPr txBox="1"/>
          <p:nvPr/>
        </p:nvSpPr>
        <p:spPr>
          <a:xfrm>
            <a:off x="731520" y="1874520"/>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S12</a:t>
            </a:r>
            <a:endParaRPr lang="en-US" sz="1100" dirty="0"/>
          </a:p>
        </p:txBody>
      </p:sp>
      <p:sp>
        <p:nvSpPr>
          <p:cNvPr id="8" name="Text 6"/>
          <p:cNvSpPr txBox="1"/>
          <p:nvPr/>
        </p:nvSpPr>
        <p:spPr>
          <a:xfrm>
            <a:off x="1508760" y="1783080"/>
            <a:ext cx="9966960" cy="749808"/>
          </a:xfrm>
          <a:prstGeom prst="rect">
            <a:avLst/>
          </a:prstGeom>
          <a:noFill/>
          <a:ln/>
        </p:spPr>
        <p:txBody>
          <a:bodyPr wrap="square" lIns="0" tIns="0" rIns="0" bIns="0" rtlCol="0" anchor="ctr"/>
          <a:lstStyle/>
          <a:p>
            <a:pPr marL="0" indent="0">
              <a:buNone/>
            </a:pPr>
            <a:r>
              <a:rPr lang="en-US" sz="1300" dirty="0">
                <a:solidFill>
                  <a:srgbClr val="1E2430"/>
                </a:solidFill>
                <a:latin typeface="Calibri" pitchFamily="34" charset="0"/>
                <a:ea typeface="Calibri" pitchFamily="34" charset="-122"/>
                <a:cs typeface="Calibri" pitchFamily="34" charset="-120"/>
              </a:rPr>
              <a:t>Pago con Webpay, fila por orden de llegada, «Mis datos» y cuentas del personal · sistema integrado (H6, 30-10)</a:t>
            </a:r>
            <a:endParaRPr lang="en-US" sz="1300" dirty="0"/>
          </a:p>
        </p:txBody>
      </p:sp>
      <p:sp>
        <p:nvSpPr>
          <p:cNvPr id="9" name="Shape 7"/>
          <p:cNvSpPr/>
          <p:nvPr/>
        </p:nvSpPr>
        <p:spPr>
          <a:xfrm>
            <a:off x="548640" y="2670048"/>
            <a:ext cx="11064240" cy="749808"/>
          </a:xfrm>
          <a:prstGeom prst="rect">
            <a:avLst/>
          </a:prstGeom>
          <a:solidFill>
            <a:srgbClr val="FFFFFF"/>
          </a:solidFill>
          <a:ln w="9525">
            <a:solidFill>
              <a:srgbClr val="D7DCE3"/>
            </a:solidFill>
            <a:prstDash val="solid"/>
          </a:ln>
        </p:spPr>
        <p:txBody>
          <a:bodyPr/>
          <a:lstStyle/>
          <a:p>
            <a:endParaRPr lang="es-CL"/>
          </a:p>
        </p:txBody>
      </p:sp>
      <p:sp>
        <p:nvSpPr>
          <p:cNvPr id="10" name="Shape 8"/>
          <p:cNvSpPr/>
          <p:nvPr/>
        </p:nvSpPr>
        <p:spPr>
          <a:xfrm>
            <a:off x="731520" y="2761488"/>
            <a:ext cx="566928" cy="566928"/>
          </a:xfrm>
          <a:prstGeom prst="ellipse">
            <a:avLst/>
          </a:prstGeom>
          <a:solidFill>
            <a:srgbClr val="13294B"/>
          </a:solidFill>
          <a:ln w="12700">
            <a:solidFill>
              <a:srgbClr val="13294B"/>
            </a:solidFill>
            <a:prstDash val="solid"/>
          </a:ln>
        </p:spPr>
        <p:txBody>
          <a:bodyPr/>
          <a:lstStyle/>
          <a:p>
            <a:endParaRPr lang="es-CL"/>
          </a:p>
        </p:txBody>
      </p:sp>
      <p:sp>
        <p:nvSpPr>
          <p:cNvPr id="11" name="Text 9"/>
          <p:cNvSpPr txBox="1"/>
          <p:nvPr/>
        </p:nvSpPr>
        <p:spPr>
          <a:xfrm>
            <a:off x="731520" y="2761488"/>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S13</a:t>
            </a:r>
            <a:endParaRPr lang="en-US" sz="1100" dirty="0"/>
          </a:p>
        </p:txBody>
      </p:sp>
      <p:sp>
        <p:nvSpPr>
          <p:cNvPr id="12" name="Text 10"/>
          <p:cNvSpPr txBox="1"/>
          <p:nvPr/>
        </p:nvSpPr>
        <p:spPr>
          <a:xfrm>
            <a:off x="1508760" y="2670048"/>
            <a:ext cx="9966960" cy="749808"/>
          </a:xfrm>
          <a:prstGeom prst="rect">
            <a:avLst/>
          </a:prstGeom>
          <a:noFill/>
          <a:ln/>
        </p:spPr>
        <p:txBody>
          <a:bodyPr wrap="square" lIns="0" tIns="0" rIns="0" bIns="0" rtlCol="0" anchor="ctr"/>
          <a:lstStyle/>
          <a:p>
            <a:pPr marL="0" indent="0">
              <a:buNone/>
            </a:pPr>
            <a:r>
              <a:rPr lang="en-US" sz="1300" dirty="0">
                <a:solidFill>
                  <a:srgbClr val="1E2430"/>
                </a:solidFill>
                <a:latin typeface="Calibri" pitchFamily="34" charset="0"/>
                <a:ea typeface="Calibri" pitchFamily="34" charset="-122"/>
                <a:cs typeface="Calibri" pitchFamily="34" charset="-120"/>
              </a:rPr>
              <a:t>Pruebas funcionales, de integración, seguridad y privacidad · despliegue en el ambiente UAT y APK firmada</a:t>
            </a:r>
            <a:endParaRPr lang="en-US" sz="1300" dirty="0"/>
          </a:p>
        </p:txBody>
      </p:sp>
      <p:sp>
        <p:nvSpPr>
          <p:cNvPr id="13" name="Shape 11"/>
          <p:cNvSpPr/>
          <p:nvPr/>
        </p:nvSpPr>
        <p:spPr>
          <a:xfrm>
            <a:off x="548640" y="3557016"/>
            <a:ext cx="11064240" cy="749808"/>
          </a:xfrm>
          <a:prstGeom prst="rect">
            <a:avLst/>
          </a:prstGeom>
          <a:solidFill>
            <a:srgbClr val="FFFFFF"/>
          </a:solidFill>
          <a:ln w="9525">
            <a:solidFill>
              <a:srgbClr val="D7DCE3"/>
            </a:solidFill>
            <a:prstDash val="solid"/>
          </a:ln>
        </p:spPr>
        <p:txBody>
          <a:bodyPr/>
          <a:lstStyle/>
          <a:p>
            <a:endParaRPr lang="es-CL"/>
          </a:p>
        </p:txBody>
      </p:sp>
      <p:sp>
        <p:nvSpPr>
          <p:cNvPr id="14" name="Shape 12"/>
          <p:cNvSpPr/>
          <p:nvPr/>
        </p:nvSpPr>
        <p:spPr>
          <a:xfrm>
            <a:off x="731520" y="3648456"/>
            <a:ext cx="566928" cy="566928"/>
          </a:xfrm>
          <a:prstGeom prst="ellipse">
            <a:avLst/>
          </a:prstGeom>
          <a:solidFill>
            <a:srgbClr val="13294B"/>
          </a:solidFill>
          <a:ln w="12700">
            <a:solidFill>
              <a:srgbClr val="13294B"/>
            </a:solidFill>
            <a:prstDash val="solid"/>
          </a:ln>
        </p:spPr>
        <p:txBody>
          <a:bodyPr/>
          <a:lstStyle/>
          <a:p>
            <a:endParaRPr lang="es-CL"/>
          </a:p>
        </p:txBody>
      </p:sp>
      <p:sp>
        <p:nvSpPr>
          <p:cNvPr id="15" name="Text 13"/>
          <p:cNvSpPr txBox="1"/>
          <p:nvPr/>
        </p:nvSpPr>
        <p:spPr>
          <a:xfrm>
            <a:off x="731520" y="3648456"/>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S14</a:t>
            </a:r>
            <a:endParaRPr lang="en-US" sz="1100" dirty="0"/>
          </a:p>
        </p:txBody>
      </p:sp>
      <p:sp>
        <p:nvSpPr>
          <p:cNvPr id="16" name="Text 14"/>
          <p:cNvSpPr txBox="1"/>
          <p:nvPr/>
        </p:nvSpPr>
        <p:spPr>
          <a:xfrm>
            <a:off x="1508760" y="3557016"/>
            <a:ext cx="9966960" cy="749808"/>
          </a:xfrm>
          <a:prstGeom prst="rect">
            <a:avLst/>
          </a:prstGeom>
          <a:noFill/>
          <a:ln/>
        </p:spPr>
        <p:txBody>
          <a:bodyPr wrap="square" lIns="0" tIns="0" rIns="0" bIns="0" rtlCol="0" anchor="ctr"/>
          <a:lstStyle/>
          <a:p>
            <a:pPr marL="0" indent="0">
              <a:buNone/>
            </a:pPr>
            <a:r>
              <a:rPr lang="en-US" sz="1300" dirty="0">
                <a:solidFill>
                  <a:srgbClr val="1E2430"/>
                </a:solidFill>
                <a:latin typeface="Calibri" pitchFamily="34" charset="0"/>
                <a:ea typeface="Calibri" pitchFamily="34" charset="-122"/>
                <a:cs typeface="Calibri" pitchFamily="34" charset="-120"/>
              </a:rPr>
              <a:t>Paso al ambiente UAT (H7, 10-11) · entrega final (H8, 13-11)</a:t>
            </a:r>
            <a:endParaRPr lang="en-US" sz="1300" dirty="0"/>
          </a:p>
        </p:txBody>
      </p:sp>
      <p:sp>
        <p:nvSpPr>
          <p:cNvPr id="17" name="Shape 15"/>
          <p:cNvSpPr/>
          <p:nvPr/>
        </p:nvSpPr>
        <p:spPr>
          <a:xfrm>
            <a:off x="548640" y="4443984"/>
            <a:ext cx="11064240" cy="749808"/>
          </a:xfrm>
          <a:prstGeom prst="rect">
            <a:avLst/>
          </a:prstGeom>
          <a:solidFill>
            <a:srgbClr val="FFFFFF"/>
          </a:solidFill>
          <a:ln w="9525">
            <a:solidFill>
              <a:srgbClr val="D7DCE3"/>
            </a:solidFill>
            <a:prstDash val="solid"/>
          </a:ln>
        </p:spPr>
        <p:txBody>
          <a:bodyPr/>
          <a:lstStyle/>
          <a:p>
            <a:endParaRPr lang="es-CL"/>
          </a:p>
        </p:txBody>
      </p:sp>
      <p:sp>
        <p:nvSpPr>
          <p:cNvPr id="18" name="Shape 16"/>
          <p:cNvSpPr/>
          <p:nvPr/>
        </p:nvSpPr>
        <p:spPr>
          <a:xfrm>
            <a:off x="731520" y="4535424"/>
            <a:ext cx="566928" cy="566928"/>
          </a:xfrm>
          <a:prstGeom prst="ellipse">
            <a:avLst/>
          </a:prstGeom>
          <a:solidFill>
            <a:srgbClr val="13294B"/>
          </a:solidFill>
          <a:ln w="12700">
            <a:solidFill>
              <a:srgbClr val="13294B"/>
            </a:solidFill>
            <a:prstDash val="solid"/>
          </a:ln>
        </p:spPr>
        <p:txBody>
          <a:bodyPr/>
          <a:lstStyle/>
          <a:p>
            <a:endParaRPr lang="es-CL"/>
          </a:p>
        </p:txBody>
      </p:sp>
      <p:sp>
        <p:nvSpPr>
          <p:cNvPr id="19" name="Text 17"/>
          <p:cNvSpPr txBox="1"/>
          <p:nvPr/>
        </p:nvSpPr>
        <p:spPr>
          <a:xfrm>
            <a:off x="731520" y="4535424"/>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S15</a:t>
            </a:r>
            <a:endParaRPr lang="en-US" sz="1100" dirty="0"/>
          </a:p>
        </p:txBody>
      </p:sp>
      <p:sp>
        <p:nvSpPr>
          <p:cNvPr id="20" name="Text 18"/>
          <p:cNvSpPr txBox="1"/>
          <p:nvPr/>
        </p:nvSpPr>
        <p:spPr>
          <a:xfrm>
            <a:off x="1508760" y="4443984"/>
            <a:ext cx="9966960" cy="749808"/>
          </a:xfrm>
          <a:prstGeom prst="rect">
            <a:avLst/>
          </a:prstGeom>
          <a:noFill/>
          <a:ln/>
        </p:spPr>
        <p:txBody>
          <a:bodyPr wrap="square" lIns="0" tIns="0" rIns="0" bIns="0" rtlCol="0" anchor="ctr"/>
          <a:lstStyle/>
          <a:p>
            <a:pPr marL="0" indent="0">
              <a:buNone/>
            </a:pPr>
            <a:r>
              <a:rPr lang="en-US" sz="1300" dirty="0">
                <a:solidFill>
                  <a:srgbClr val="1E2430"/>
                </a:solidFill>
                <a:latin typeface="Calibri" pitchFamily="34" charset="0"/>
                <a:ea typeface="Calibri" pitchFamily="34" charset="-122"/>
                <a:cs typeface="Calibri" pitchFamily="34" charset="-120"/>
              </a:rPr>
              <a:t>Correcciones menores y ensayo de la defensa</a:t>
            </a:r>
            <a:endParaRPr lang="en-US" sz="1300" dirty="0"/>
          </a:p>
        </p:txBody>
      </p:sp>
      <p:sp>
        <p:nvSpPr>
          <p:cNvPr id="21" name="Shape 19"/>
          <p:cNvSpPr/>
          <p:nvPr/>
        </p:nvSpPr>
        <p:spPr>
          <a:xfrm>
            <a:off x="548640" y="5330952"/>
            <a:ext cx="11064240" cy="749808"/>
          </a:xfrm>
          <a:prstGeom prst="rect">
            <a:avLst/>
          </a:prstGeom>
          <a:solidFill>
            <a:srgbClr val="FFFFFF"/>
          </a:solidFill>
          <a:ln w="9525">
            <a:solidFill>
              <a:srgbClr val="D7DCE3"/>
            </a:solidFill>
            <a:prstDash val="solid"/>
          </a:ln>
        </p:spPr>
        <p:txBody>
          <a:bodyPr/>
          <a:lstStyle/>
          <a:p>
            <a:endParaRPr lang="es-CL"/>
          </a:p>
        </p:txBody>
      </p:sp>
      <p:sp>
        <p:nvSpPr>
          <p:cNvPr id="22" name="Shape 20"/>
          <p:cNvSpPr/>
          <p:nvPr/>
        </p:nvSpPr>
        <p:spPr>
          <a:xfrm>
            <a:off x="731520" y="5422392"/>
            <a:ext cx="566928" cy="566928"/>
          </a:xfrm>
          <a:prstGeom prst="ellipse">
            <a:avLst/>
          </a:prstGeom>
          <a:solidFill>
            <a:srgbClr val="13294B"/>
          </a:solidFill>
          <a:ln w="12700">
            <a:solidFill>
              <a:srgbClr val="13294B"/>
            </a:solidFill>
            <a:prstDash val="solid"/>
          </a:ln>
        </p:spPr>
        <p:txBody>
          <a:bodyPr/>
          <a:lstStyle/>
          <a:p>
            <a:endParaRPr lang="es-CL"/>
          </a:p>
        </p:txBody>
      </p:sp>
      <p:sp>
        <p:nvSpPr>
          <p:cNvPr id="23" name="Text 21"/>
          <p:cNvSpPr txBox="1"/>
          <p:nvPr/>
        </p:nvSpPr>
        <p:spPr>
          <a:xfrm>
            <a:off x="731520" y="5422392"/>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S16</a:t>
            </a:r>
            <a:endParaRPr lang="en-US" sz="1100" dirty="0"/>
          </a:p>
        </p:txBody>
      </p:sp>
      <p:sp>
        <p:nvSpPr>
          <p:cNvPr id="24" name="Text 22"/>
          <p:cNvSpPr txBox="1"/>
          <p:nvPr/>
        </p:nvSpPr>
        <p:spPr>
          <a:xfrm>
            <a:off x="1508760" y="5330952"/>
            <a:ext cx="9966960" cy="749808"/>
          </a:xfrm>
          <a:prstGeom prst="rect">
            <a:avLst/>
          </a:prstGeom>
          <a:noFill/>
          <a:ln/>
        </p:spPr>
        <p:txBody>
          <a:bodyPr wrap="square" lIns="0" tIns="0" rIns="0" bIns="0" rtlCol="0" anchor="ctr"/>
          <a:lstStyle/>
          <a:p>
            <a:pPr marL="0" indent="0">
              <a:buNone/>
            </a:pPr>
            <a:r>
              <a:rPr lang="en-US" sz="1300" dirty="0">
                <a:solidFill>
                  <a:srgbClr val="1E2430"/>
                </a:solidFill>
                <a:latin typeface="Calibri" pitchFamily="34" charset="0"/>
                <a:ea typeface="Calibri" pitchFamily="34" charset="-122"/>
                <a:cs typeface="Calibri" pitchFamily="34" charset="-120"/>
              </a:rPr>
              <a:t>Defensa del proyecto (H9, 27-11)</a:t>
            </a:r>
            <a:endParaRPr lang="en-US" sz="13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9692640" y="-822960"/>
            <a:ext cx="3108960" cy="3108960"/>
          </a:xfrm>
          <a:prstGeom prst="ellipse">
            <a:avLst/>
          </a:prstGeom>
          <a:solidFill>
            <a:srgbClr val="234670"/>
          </a:solidFill>
          <a:ln w="12700">
            <a:solidFill>
              <a:srgbClr val="5B84B8"/>
            </a:solidFill>
            <a:prstDash val="solid"/>
          </a:ln>
        </p:spPr>
        <p:txBody>
          <a:bodyPr/>
          <a:lstStyle/>
          <a:p>
            <a:endParaRPr lang="es-CL"/>
          </a:p>
        </p:txBody>
      </p:sp>
      <p:sp>
        <p:nvSpPr>
          <p:cNvPr id="3" name="Shape 1"/>
          <p:cNvSpPr/>
          <p:nvPr/>
        </p:nvSpPr>
        <p:spPr>
          <a:xfrm>
            <a:off x="-548640" y="5394960"/>
            <a:ext cx="2011680" cy="2011680"/>
          </a:xfrm>
          <a:prstGeom prst="ellipse">
            <a:avLst/>
          </a:prstGeom>
          <a:solidFill>
            <a:srgbClr val="234670"/>
          </a:solidFill>
          <a:ln w="12700">
            <a:solidFill>
              <a:srgbClr val="5B84B8"/>
            </a:solidFill>
            <a:prstDash val="solid"/>
          </a:ln>
        </p:spPr>
        <p:txBody>
          <a:bodyPr/>
          <a:lstStyle/>
          <a:p>
            <a:endParaRPr lang="es-CL"/>
          </a:p>
        </p:txBody>
      </p:sp>
      <p:sp>
        <p:nvSpPr>
          <p:cNvPr id="4" name="Text 2"/>
          <p:cNvSpPr txBox="1"/>
          <p:nvPr/>
        </p:nvSpPr>
        <p:spPr>
          <a:xfrm>
            <a:off x="640080" y="822960"/>
            <a:ext cx="7315200" cy="365760"/>
          </a:xfrm>
          <a:prstGeom prst="rect">
            <a:avLst/>
          </a:prstGeom>
          <a:noFill/>
          <a:ln/>
        </p:spPr>
        <p:txBody>
          <a:bodyPr wrap="square" lIns="0" tIns="0" rIns="0" bIns="0" rtlCol="0" anchor="ctr"/>
          <a:lstStyle/>
          <a:p>
            <a:pPr marL="0" indent="0">
              <a:buNone/>
            </a:pPr>
            <a:r>
              <a:rPr lang="en-US" sz="1300" kern="0" spc="400" dirty="0">
                <a:solidFill>
                  <a:srgbClr val="8FB2DE"/>
                </a:solidFill>
                <a:latin typeface="Calibri" pitchFamily="34" charset="0"/>
                <a:ea typeface="Calibri" pitchFamily="34" charset="-122"/>
                <a:cs typeface="Calibri" pitchFamily="34" charset="-120"/>
              </a:rPr>
              <a:t>TEMAS ABIERTOS</a:t>
            </a:r>
            <a:endParaRPr lang="en-US" sz="1300" dirty="0"/>
          </a:p>
        </p:txBody>
      </p:sp>
      <p:sp>
        <p:nvSpPr>
          <p:cNvPr id="5" name="Text 3"/>
          <p:cNvSpPr txBox="1"/>
          <p:nvPr/>
        </p:nvSpPr>
        <p:spPr>
          <a:xfrm>
            <a:off x="640080" y="1280160"/>
            <a:ext cx="8686800" cy="146304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C3D3E8"/>
                </a:solidFill>
                <a:latin typeface="Calibri" pitchFamily="34" charset="0"/>
                <a:ea typeface="Calibri" pitchFamily="34" charset="-122"/>
                <a:cs typeface="Calibri" pitchFamily="34" charset="-120"/>
              </a:rPr>
              <a:t>Validar los supuestos de demanda y de duración de los servicios con datos reales de operación.</a:t>
            </a:r>
            <a:endParaRPr lang="en-US" sz="1400" dirty="0"/>
          </a:p>
          <a:p>
            <a:pPr marL="342900" indent="-342900">
              <a:spcAft>
                <a:spcPts val="800"/>
              </a:spcAft>
              <a:buSzPct val="100000"/>
              <a:buChar char="•"/>
            </a:pPr>
            <a:r>
              <a:rPr lang="en-US" sz="1400" dirty="0">
                <a:solidFill>
                  <a:srgbClr val="C3D3E8"/>
                </a:solidFill>
                <a:latin typeface="Calibri" pitchFamily="34" charset="0"/>
                <a:ea typeface="Calibri" pitchFamily="34" charset="-122"/>
                <a:cs typeface="Calibri" pitchFamily="34" charset="-120"/>
              </a:rPr>
              <a:t>Cargar la nómina real de barberos (hoy hay 4 barberos de prueba).</a:t>
            </a:r>
            <a:endParaRPr lang="en-US" sz="1400" dirty="0"/>
          </a:p>
          <a:p>
            <a:pPr marL="342900" indent="-342900">
              <a:spcAft>
                <a:spcPts val="800"/>
              </a:spcAft>
              <a:buSzPct val="100000"/>
              <a:buChar char="•"/>
            </a:pPr>
            <a:r>
              <a:rPr lang="en-US" sz="1400" dirty="0">
                <a:solidFill>
                  <a:srgbClr val="C3D3E8"/>
                </a:solidFill>
                <a:latin typeface="Calibri" pitchFamily="34" charset="0"/>
                <a:ea typeface="Calibri" pitchFamily="34" charset="-122"/>
                <a:cs typeface="Calibri" pitchFamily="34" charset="-120"/>
              </a:rPr>
              <a:t>Aprobar la fase de despliegue (SC-19) y definir el alojamiento del ambiente UAT.</a:t>
            </a:r>
            <a:endParaRPr lang="en-US" sz="1400" dirty="0"/>
          </a:p>
        </p:txBody>
      </p:sp>
      <p:sp>
        <p:nvSpPr>
          <p:cNvPr id="6" name="Shape 4"/>
          <p:cNvSpPr/>
          <p:nvPr/>
        </p:nvSpPr>
        <p:spPr>
          <a:xfrm>
            <a:off x="658368" y="3246120"/>
            <a:ext cx="2926080" cy="0"/>
          </a:xfrm>
          <a:prstGeom prst="line">
            <a:avLst/>
          </a:prstGeom>
          <a:noFill/>
          <a:ln w="12700">
            <a:solidFill>
              <a:srgbClr val="5B84B8"/>
            </a:solidFill>
            <a:prstDash val="solid"/>
          </a:ln>
        </p:spPr>
        <p:txBody>
          <a:bodyPr/>
          <a:lstStyle/>
          <a:p>
            <a:endParaRPr lang="es-CL"/>
          </a:p>
        </p:txBody>
      </p:sp>
      <p:sp>
        <p:nvSpPr>
          <p:cNvPr id="7" name="Text 5"/>
          <p:cNvSpPr txBox="1"/>
          <p:nvPr/>
        </p:nvSpPr>
        <p:spPr>
          <a:xfrm>
            <a:off x="640080" y="3429000"/>
            <a:ext cx="73152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Gracias</a:t>
            </a:r>
            <a:endParaRPr lang="en-US" sz="4400" dirty="0"/>
          </a:p>
        </p:txBody>
      </p:sp>
      <p:sp>
        <p:nvSpPr>
          <p:cNvPr id="8" name="Text 6"/>
          <p:cNvSpPr txBox="1"/>
          <p:nvPr/>
        </p:nvSpPr>
        <p:spPr>
          <a:xfrm>
            <a:off x="640080" y="4389120"/>
            <a:ext cx="7315200" cy="411480"/>
          </a:xfrm>
          <a:prstGeom prst="rect">
            <a:avLst/>
          </a:prstGeom>
          <a:noFill/>
          <a:ln/>
        </p:spPr>
        <p:txBody>
          <a:bodyPr wrap="square" lIns="0" tIns="0" rIns="0" bIns="0" rtlCol="0" anchor="ctr"/>
          <a:lstStyle/>
          <a:p>
            <a:pPr marL="0" indent="0">
              <a:buNone/>
            </a:pPr>
            <a:r>
              <a:rPr lang="en-US" sz="1500" i="1" dirty="0">
                <a:solidFill>
                  <a:srgbClr val="C3D3E8"/>
                </a:solidFill>
                <a:latin typeface="Calibri" pitchFamily="34" charset="0"/>
                <a:ea typeface="Calibri" pitchFamily="34" charset="-122"/>
                <a:cs typeface="Calibri" pitchFamily="34" charset="-120"/>
              </a:rPr>
              <a:t>Preguntas y comentarios son bienvenidos.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3930</Words>
  <Application>Microsoft Office PowerPoint</Application>
  <PresentationFormat>Panorámica</PresentationFormat>
  <Paragraphs>440</Paragraphs>
  <Slides>16</Slides>
  <Notes>16</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Duoc 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Avance del proyecto · Proyecto Barbería Big-Boys · 23-10-2026</dc:title>
  <dc:subject>PptxGenJS Presentation</dc:subject>
  <dc:creator>Yerko Rosales · Jonathan Ojeda</dc:creator>
  <cp:lastModifiedBy>YERKO ALEXIS ROSALES BOBADILLA</cp:lastModifiedBy>
  <cp:revision>3</cp:revision>
  <dcterms:created xsi:type="dcterms:W3CDTF">2026-10-23T14:02:44Z</dcterms:created>
  <dcterms:modified xsi:type="dcterms:W3CDTF">2026-10-23T16:01:21Z</dcterms:modified>
</cp:coreProperties>
</file>